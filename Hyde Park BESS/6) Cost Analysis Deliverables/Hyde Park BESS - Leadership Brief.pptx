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ser>
          <c:idx val="0"/>
          <c:order val="0"/>
          <c:tx>
            <c:strRef>
              <c:f>Sheet1!$B$1</c:f>
              <c:strCache>
                <c:ptCount val="1"/>
                <c:pt idx="0">
                  <c:v>base</c:v>
                </c:pt>
              </c:strCache>
            </c:strRef>
          </c:tx>
          <c:spPr>
            <a:noFill/>
            <a:ln>
              <a:noFill/>
            </a:ln>
          </c:spPr>
          <c:cat>
            <c:strRef>
              <c:f>Sheet1!$A$2:$A$8</c:f>
              <c:strCache>
                <c:ptCount val="7"/>
                <c:pt idx="0">
                  <c:v>Rev 3 approval</c:v>
                </c:pt>
                <c:pt idx="1">
                  <c:v>Decide now (6 levers)</c:v>
                </c:pt>
                <c:pt idx="2">
                  <c:v>Decide after a study (8 levers)</c:v>
                </c:pt>
                <c:pt idx="3">
                  <c:v>Re-scoped midpoint</c:v>
                </c:pt>
                <c:pt idx="4">
                  <c:v>Exposures not yet carried</c:v>
                </c:pt>
                <c:pt idx="5">
                  <c:v>Haugland reconciliation (if half is ours)</c:v>
                </c:pt>
                <c:pt idx="6">
                  <c:v>Honest planning midpoint</c:v>
                </c:pt>
              </c:strCache>
            </c:strRef>
          </c:cat>
          <c:val>
            <c:numRef>
              <c:f>Sheet1!$B$2:$B$8</c:f>
              <c:numCache>
                <c:formatCode>General</c:formatCode>
                <c:ptCount val="7"/>
                <c:pt idx="0">
                  <c:v>0</c:v>
                </c:pt>
                <c:pt idx="1">
                  <c:v>51.291</c:v>
                </c:pt>
                <c:pt idx="2">
                  <c:v>39.461</c:v>
                </c:pt>
                <c:pt idx="3">
                  <c:v>0</c:v>
                </c:pt>
                <c:pt idx="4">
                  <c:v>39.461</c:v>
                </c:pt>
                <c:pt idx="5">
                  <c:v>42.413</c:v>
                </c:pt>
                <c:pt idx="6">
                  <c:v>0</c:v>
                </c:pt>
              </c:numCache>
            </c:numRef>
          </c:val>
        </c:ser>
        <c:ser>
          <c:idx val="1"/>
          <c:order val="1"/>
          <c:tx>
            <c:strRef>
              <c:f>Sheet1!$C$1</c:f>
              <c:strCache>
                <c:ptCount val="1"/>
                <c:pt idx="0">
                  <c:v>total</c:v>
                </c:pt>
              </c:strCache>
            </c:strRef>
          </c:tx>
          <c:spPr>
            <a:solidFill>
              <a:srgbClr val="001E60"/>
            </a:solidFill>
          </c:spPr>
          <c:dLbls>
            <c:numFmt formatCode="&quot;$&quot;0.0&quot;M&quot;;;" sourceLinked="0"/>
            <c:txPr>
              <a:bodyPr/>
              <a:lstStyle/>
              <a:p>
                <a:pPr>
                  <a:defRPr sz="1000" b="1">
                    <a:solidFill>
                      <a:srgbClr val="FFFFFF"/>
                    </a:solidFill>
                  </a:defRPr>
                </a:pPr>
              </a:p>
            </c:txPr>
            <c:dLblPos val="inEnd"/>
            <c:showLegendKey val="0"/>
            <c:showVal val="1"/>
            <c:showCatName val="0"/>
            <c:showSerName val="0"/>
            <c:showPercent val="0"/>
            <c:showBubbleSize val="0"/>
            <c:showLeaderLines val="1"/>
          </c:dLbls>
          <c:cat>
            <c:strRef>
              <c:f>Sheet1!$A$2:$A$8</c:f>
              <c:strCache>
                <c:ptCount val="7"/>
                <c:pt idx="0">
                  <c:v>Rev 3 approval</c:v>
                </c:pt>
                <c:pt idx="1">
                  <c:v>Decide now (6 levers)</c:v>
                </c:pt>
                <c:pt idx="2">
                  <c:v>Decide after a study (8 levers)</c:v>
                </c:pt>
                <c:pt idx="3">
                  <c:v>Re-scoped midpoint</c:v>
                </c:pt>
                <c:pt idx="4">
                  <c:v>Exposures not yet carried</c:v>
                </c:pt>
                <c:pt idx="5">
                  <c:v>Haugland reconciliation (if half is ours)</c:v>
                </c:pt>
                <c:pt idx="6">
                  <c:v>Honest planning midpoint</c:v>
                </c:pt>
              </c:strCache>
            </c:strRef>
          </c:cat>
          <c:val>
            <c:numRef>
              <c:f>Sheet1!$C$2:$C$8</c:f>
              <c:numCache>
                <c:formatCode>General</c:formatCode>
                <c:ptCount val="7"/>
                <c:pt idx="0">
                  <c:v>57.247</c:v>
                </c:pt>
                <c:pt idx="1">
                  <c:v>0</c:v>
                </c:pt>
                <c:pt idx="2">
                  <c:v>0</c:v>
                </c:pt>
                <c:pt idx="3">
                  <c:v>39.461</c:v>
                </c:pt>
                <c:pt idx="4">
                  <c:v>0</c:v>
                </c:pt>
                <c:pt idx="5">
                  <c:v>0</c:v>
                </c:pt>
                <c:pt idx="6">
                  <c:v>51.056</c:v>
                </c:pt>
              </c:numCache>
            </c:numRef>
          </c:val>
        </c:ser>
        <c:ser>
          <c:idx val="2"/>
          <c:order val="2"/>
          <c:tx>
            <c:strRef>
              <c:f>Sheet1!$D$1</c:f>
              <c:strCache>
                <c:ptCount val="1"/>
                <c:pt idx="0">
                  <c:v>down</c:v>
                </c:pt>
              </c:strCache>
            </c:strRef>
          </c:tx>
          <c:spPr>
            <a:solidFill>
              <a:srgbClr val="2A8A8C"/>
            </a:solidFill>
          </c:spPr>
          <c:dLbls>
            <c:numFmt formatCode="&quot;$&quot;0.0&quot;M&quot;;;" sourceLinked="0"/>
            <c:txPr>
              <a:bodyPr/>
              <a:lstStyle/>
              <a:p>
                <a:pPr>
                  <a:defRPr sz="1000" b="1">
                    <a:solidFill>
                      <a:srgbClr val="FFFFFF"/>
                    </a:solidFill>
                  </a:defRPr>
                </a:pPr>
              </a:p>
            </c:txPr>
            <c:dLblPos val="inEnd"/>
            <c:showLegendKey val="0"/>
            <c:showVal val="1"/>
            <c:showCatName val="0"/>
            <c:showSerName val="0"/>
            <c:showPercent val="0"/>
            <c:showBubbleSize val="0"/>
            <c:showLeaderLines val="1"/>
          </c:dLbls>
          <c:cat>
            <c:strRef>
              <c:f>Sheet1!$A$2:$A$8</c:f>
              <c:strCache>
                <c:ptCount val="7"/>
                <c:pt idx="0">
                  <c:v>Rev 3 approval</c:v>
                </c:pt>
                <c:pt idx="1">
                  <c:v>Decide now (6 levers)</c:v>
                </c:pt>
                <c:pt idx="2">
                  <c:v>Decide after a study (8 levers)</c:v>
                </c:pt>
                <c:pt idx="3">
                  <c:v>Re-scoped midpoint</c:v>
                </c:pt>
                <c:pt idx="4">
                  <c:v>Exposures not yet carried</c:v>
                </c:pt>
                <c:pt idx="5">
                  <c:v>Haugland reconciliation (if half is ours)</c:v>
                </c:pt>
                <c:pt idx="6">
                  <c:v>Honest planning midpoint</c:v>
                </c:pt>
              </c:strCache>
            </c:strRef>
          </c:cat>
          <c:val>
            <c:numRef>
              <c:f>Sheet1!$D$2:$D$8</c:f>
              <c:numCache>
                <c:formatCode>General</c:formatCode>
                <c:ptCount val="7"/>
                <c:pt idx="0">
                  <c:v>0</c:v>
                </c:pt>
                <c:pt idx="1">
                  <c:v>5.956</c:v>
                </c:pt>
                <c:pt idx="2">
                  <c:v>11.83</c:v>
                </c:pt>
                <c:pt idx="3">
                  <c:v>0</c:v>
                </c:pt>
                <c:pt idx="4">
                  <c:v>0</c:v>
                </c:pt>
                <c:pt idx="5">
                  <c:v>0</c:v>
                </c:pt>
                <c:pt idx="6">
                  <c:v>0</c:v>
                </c:pt>
              </c:numCache>
            </c:numRef>
          </c:val>
        </c:ser>
        <c:ser>
          <c:idx val="3"/>
          <c:order val="3"/>
          <c:tx>
            <c:strRef>
              <c:f>Sheet1!$E$1</c:f>
              <c:strCache>
                <c:ptCount val="1"/>
                <c:pt idx="0">
                  <c:v>up</c:v>
                </c:pt>
              </c:strCache>
            </c:strRef>
          </c:tx>
          <c:spPr>
            <a:solidFill>
              <a:srgbClr val="6E1F2E"/>
            </a:solidFill>
          </c:spPr>
          <c:dLbls>
            <c:numFmt formatCode="&quot;$&quot;0.0&quot;M&quot;;;" sourceLinked="0"/>
            <c:txPr>
              <a:bodyPr/>
              <a:lstStyle/>
              <a:p>
                <a:pPr>
                  <a:defRPr sz="1000" b="1">
                    <a:solidFill>
                      <a:srgbClr val="FFFFFF"/>
                    </a:solidFill>
                  </a:defRPr>
                </a:pPr>
              </a:p>
            </c:txPr>
            <c:dLblPos val="inEnd"/>
            <c:showLegendKey val="0"/>
            <c:showVal val="1"/>
            <c:showCatName val="0"/>
            <c:showSerName val="0"/>
            <c:showPercent val="0"/>
            <c:showBubbleSize val="0"/>
            <c:showLeaderLines val="1"/>
          </c:dLbls>
          <c:cat>
            <c:strRef>
              <c:f>Sheet1!$A$2:$A$8</c:f>
              <c:strCache>
                <c:ptCount val="7"/>
                <c:pt idx="0">
                  <c:v>Rev 3 approval</c:v>
                </c:pt>
                <c:pt idx="1">
                  <c:v>Decide now (6 levers)</c:v>
                </c:pt>
                <c:pt idx="2">
                  <c:v>Decide after a study (8 levers)</c:v>
                </c:pt>
                <c:pt idx="3">
                  <c:v>Re-scoped midpoint</c:v>
                </c:pt>
                <c:pt idx="4">
                  <c:v>Exposures not yet carried</c:v>
                </c:pt>
                <c:pt idx="5">
                  <c:v>Haugland reconciliation (if half is ours)</c:v>
                </c:pt>
                <c:pt idx="6">
                  <c:v>Honest planning midpoint</c:v>
                </c:pt>
              </c:strCache>
            </c:strRef>
          </c:cat>
          <c:val>
            <c:numRef>
              <c:f>Sheet1!$E$2:$E$8</c:f>
              <c:numCache>
                <c:formatCode>General</c:formatCode>
                <c:ptCount val="7"/>
                <c:pt idx="0">
                  <c:v>0</c:v>
                </c:pt>
                <c:pt idx="1">
                  <c:v>0</c:v>
                </c:pt>
                <c:pt idx="2">
                  <c:v>0</c:v>
                </c:pt>
                <c:pt idx="3">
                  <c:v>0</c:v>
                </c:pt>
                <c:pt idx="4">
                  <c:v>2.953</c:v>
                </c:pt>
                <c:pt idx="5">
                  <c:v>8.642</c:v>
                </c:pt>
                <c:pt idx="6">
                  <c:v>0</c:v>
                </c:pt>
              </c:numCache>
            </c:numRef>
          </c:val>
        </c:ser>
        <c:gapWidth val="45"/>
        <c:overlap val="100"/>
        <c:axId val="-2068027336"/>
        <c:axId val="-2113994440"/>
      </c:barChart>
      <c:catAx>
        <c:axId val="-2068027336"/>
        <c:scaling>
          <c:orientation val="minMax"/>
        </c:scaling>
        <c:delete val="0"/>
        <c:axPos val="b"/>
        <c:majorTickMark val="out"/>
        <c:minorTickMark val="none"/>
        <c:tickLblPos val="nextTo"/>
        <c:txPr>
          <a:bodyPr/>
          <a:lstStyle/>
          <a:p>
            <a:pPr>
              <a:defRPr sz="900"/>
            </a:pPr>
          </a:p>
        </c:txPr>
        <c:crossAx val="-2113994440"/>
        <c:crosses val="autoZero"/>
        <c:auto val="1"/>
        <c:lblAlgn val="ctr"/>
        <c:lblOffset val="100"/>
        <c:noMultiLvlLbl val="0"/>
      </c:catAx>
      <c:valAx>
        <c:axId val="-2113994440"/>
        <c:scaling>
          <c:max val="60.0"/>
          <c:min val="30.0"/>
        </c:scaling>
        <c:delete val="0"/>
        <c:axPos val="l"/>
        <c:majorGridlines>
          <c:spPr>
            <a:ln>
              <a:solidFill>
                <a:srgbClr val="C9D1E0"/>
              </a:solidFill>
            </a:ln>
          </c:spPr>
        </c:majorGridlines>
        <c:numFmt formatCode="&quot;$&quot;0&quot;M&quot;" sourceLinked="0"/>
        <c:majorTickMark val="out"/>
        <c:minorTickMark val="none"/>
        <c:tickLblPos val="nextTo"/>
        <c:txPr>
          <a:bodyPr/>
          <a:lstStyle/>
          <a:p>
            <a:pPr>
              <a:defRPr sz="1000"/>
            </a:pPr>
          </a:p>
        </c:txPr>
        <c:crossAx val="-2068027336"/>
        <c:crosses val="autoZero"/>
        <c:majorUnit val="5.0"/>
      </c:valAx>
    </c:plotArea>
    <c:dispBlanksAs val="gap"/>
  </c:chart>
  <c:txPr>
    <a:bodyPr/>
    <a:lstStyle/>
    <a:p>
      <a:pPr>
        <a:defRPr sz="1000">
          <a:solidFill>
            <a:srgbClr val="1F2A44"/>
          </a:solidFill>
          <a:latin typeface="Calibr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Executive mode. The promise: by the end of this brief leadership can say what will be done to lower the cost, who owns each action, what it is worth and by when. The analysis behind every number is in the 41-slide reference deck, the whitepaper and the workbook; none of it is repeated here.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three numbers are the scope-challenge cases (scope_challenge.json). The honest planning range once the Haugland reconciliation and the unpriced exposures are added back is $44.5 to 54.8M; it is on slide 9, not here, because the question in the room is what can be done, and the answer is the two groups of decisions plus the target.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Bridge built from savings.json and scope_challenge.json. The 'honest planning midpoint' is the net case: re-scoped, plus the exposures the estimate does not carry, plus the Haugland midpoint loaded. The 48E credit is not on the bridge because it reduces the revenue requirement, not the project cost.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Group 1 is estimate hygiene plus one commercial term (C3). A1: the Nomad price is fixed until Final Acceptance, so the $1.13M escalation on the unpaid balance is not a cost. A2: two risk-register lines describe the same escalation in words. A4: whether the E&amp;S station overhead basis should load a vendor-furnished, vendor-commissioned contract is an Accounting ruling. B5: the Siemens budgetary quote of 12 Aug 2026 includes disconnects, PTs, relays and cabinets in the $300K skid price; Rev 3 carries them again. C3: paying at delivery rather than a year ahead changes AFUDC.</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Group 2 is value engineering. The biggest single item, B2, is a two-feeder interconnection if the hosting-capacity study says two feeders carry 5 MW each; it removes two breaker skids, two GSUs and two metering sets. B1 benchmarks the 710 man-hours per relay at Station 496 against two recent EMA relay-replacement actuals. B3 is the platform and retaining wall, sized today on a 2.5 ft fill placeholder.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Engineering's proposal was raised on 5 October 2026 after the leadership brief was built. Sizing: the Station 496 Rev 2 estimate ($7.25M on $3.90M of directs, loader 1.86) is entirely the 20-relay program and its loaders; it contains no line for the RTU (Orion+), the SEL RTAC/Axion or the dark-fiber transfer trip, although its clarifications name all three. The allowance of $0.30M to $0.55M direct covers hardware, panel, fiber terminations, 400 to 600 engineering hours, 300 to 500 install hours and 400 to 800 test hours; PM and internal siting hours are retained. Two feeders: half the lines that follow the feeder count (breaker skids, metering transclosures, duct bank to the feeder manholes, riser poles; the cable share at the high end); disconnects are excluded because B5 strikes them. Odds in the simulation: 60% each.</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48E storage credit for a utility-owned, 2028 construction start: 30% base with prevailing wage and apprenticeship; prohibited-foreign-entity restrictions phased in by begin-construction date; the IRA added an election out of normalization for storage. Confidence medium on the mechanism (law-firm summaries of the July 2025 reconciliation law and Notice 2026-15), low on the dollars until Tax opines. Research pass of 3 Oct 2026 logged in the research log.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from scope_challenge.json: the reference-class 75th percentile of station-direct $/kWh, rounded to $50. The reference class is the 35 built projects at or below 100 MWh verified on 5 Oct 2026 via EIA-860M and regulator records. The monthly report is the standing item in the containment plan.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civil layer (E) and Station 496 (F) carry the widest two-sided accuracy ranges in the integrated Monte Carlo (-$0.9M to +$2.6M and -$1.1M to +$2.0M). A competitive lump-sum converts that range into a contract price. Owner-furnished GSUs and skids match the Siemens budgetary quote of 12 Aug 2026 and the transformer lead-time guidance.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Tornado from the integrated Monte Carlo (20,000 trials, mc_scope_schedule.py): each driver's P10 to P90 effect on the loaded total. Variance shares are Spearman contributions to the spread of the managed outcome. The leadership point: the downside is concentrated in two items with owners, the upside is distributed across sixteen items that are mostly decisions.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containment plan from scope_challenge.json. The first gate is the November 2026 PAF; it carries the six no-study decisions and the honest exposures. Gate 1 closes the studies. Gate 2 sets the target. Gate 3 sets the contracting strategy. The standing item is the monthly report.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Integrated Monte Carlo (mc_scope_results.json): base = approval less reserves ($49.6M), plus layer accuracy ranges, plus threats not in the estimate at their odds, plus schedule cost, less the levers at their assessed odds (managed) or at full value (ceiling). Schedule: P50 slip 5 months, P80 9 months, 39% chance of more than 6 months.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Mirror of the open. This slide stays up during discussion. Each decision maps to a gate on slide 10 and to a row in the savings register in the workbook.</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only.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1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FFC7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737360"/>
            <a:ext cx="10515600" cy="1463040"/>
          </a:xfrm>
          <a:prstGeom prst="rect">
            <a:avLst/>
          </a:prstGeom>
          <a:noFill/>
        </p:spPr>
        <p:txBody>
          <a:bodyPr wrap="square" lIns="45720" rIns="45720" tIns="27432" bIns="27432" anchor="t">
            <a:spAutoFit/>
          </a:bodyPr>
          <a:lstStyle/>
          <a:p>
            <a:pPr algn="l">
              <a:lnSpc>
                <a:spcPct val="100000"/>
              </a:lnSpc>
              <a:spcAft>
                <a:spcPts val="400"/>
              </a:spcAft>
            </a:pPr>
            <a:r>
              <a:rPr sz="3800" b="1" i="0">
                <a:solidFill>
                  <a:srgbClr val="FFFFFF"/>
                </a:solidFill>
                <a:latin typeface="Georgia"/>
              </a:rPr>
              <a:t>Driving the Hyde Park BESS cost down: $57M to $43M, and who owns each dollar</a:t>
            </a:r>
          </a:p>
        </p:txBody>
      </p:sp>
      <p:sp>
        <p:nvSpPr>
          <p:cNvPr id="5" name="TextBox 4"/>
          <p:cNvSpPr txBox="1"/>
          <p:nvPr/>
        </p:nvSpPr>
        <p:spPr>
          <a:xfrm>
            <a:off x="731520" y="3429000"/>
            <a:ext cx="10515600" cy="914400"/>
          </a:xfrm>
          <a:prstGeom prst="rect">
            <a:avLst/>
          </a:prstGeom>
          <a:noFill/>
        </p:spPr>
        <p:txBody>
          <a:bodyPr wrap="square" lIns="45720" rIns="45720" tIns="27432" bIns="27432" anchor="t">
            <a:spAutoFit/>
          </a:bodyPr>
          <a:lstStyle/>
          <a:p>
            <a:pPr algn="l">
              <a:lnSpc>
                <a:spcPct val="105000"/>
              </a:lnSpc>
              <a:spcAft>
                <a:spcPts val="400"/>
              </a:spcAft>
            </a:pPr>
            <a:r>
              <a:rPr sz="1800" b="0" i="0">
                <a:solidFill>
                  <a:srgbClr val="C9D1E0"/>
                </a:solidFill>
                <a:latin typeface="Calibri"/>
              </a:rPr>
              <a:t>Sixteen levers, three gates and a design-to-cost target that take Project 21334 from the $57.2M approval level to a $38.5 to 42.9M re-scoped project, with the decisions leadership is asked to make now</a:t>
            </a:r>
          </a:p>
        </p:txBody>
      </p:sp>
      <p:sp>
        <p:nvSpPr>
          <p:cNvPr id="6" name="TextBox 5"/>
          <p:cNvSpPr txBox="1"/>
          <p:nvPr/>
        </p:nvSpPr>
        <p:spPr>
          <a:xfrm>
            <a:off x="731520" y="5029200"/>
            <a:ext cx="10515600" cy="411480"/>
          </a:xfrm>
          <a:prstGeom prst="rect">
            <a:avLst/>
          </a:prstGeom>
          <a:noFill/>
        </p:spPr>
        <p:txBody>
          <a:bodyPr wrap="square" lIns="45720" rIns="45720" tIns="27432" bIns="27432" anchor="t">
            <a:spAutoFit/>
          </a:bodyPr>
          <a:lstStyle/>
          <a:p>
            <a:pPr algn="l">
              <a:lnSpc>
                <a:spcPct val="105000"/>
              </a:lnSpc>
              <a:spcAft>
                <a:spcPts val="400"/>
              </a:spcAft>
            </a:pPr>
            <a:r>
              <a:rPr sz="1300" b="0" i="0">
                <a:solidFill>
                  <a:srgbClr val="FFC72C"/>
                </a:solidFill>
                <a:latin typeface="Calibri"/>
              </a:rPr>
              <a:t>Cost Estimating Center of Excellence  |  Leadership brief  |  Basis: ESF Total Rev 3, 24 Sep 2026  |  5 Oct 2026</a:t>
            </a:r>
          </a:p>
        </p:txBody>
      </p:sp>
      <p:sp>
        <p:nvSpPr>
          <p:cNvPr id="7" name="TextBox 6"/>
          <p:cNvSpPr txBox="1"/>
          <p:nvPr/>
        </p:nvSpPr>
        <p:spPr>
          <a:xfrm>
            <a:off x="731520" y="5440680"/>
            <a:ext cx="10515600" cy="320040"/>
          </a:xfrm>
          <a:prstGeom prst="rect">
            <a:avLst/>
          </a:prstGeom>
          <a:noFill/>
        </p:spPr>
        <p:txBody>
          <a:bodyPr wrap="square" lIns="45720" rIns="45720" tIns="27432" bIns="27432" anchor="t">
            <a:spAutoFit/>
          </a:bodyPr>
          <a:lstStyle/>
          <a:p>
            <a:pPr algn="l">
              <a:lnSpc>
                <a:spcPct val="105000"/>
              </a:lnSpc>
              <a:spcAft>
                <a:spcPts val="400"/>
              </a:spcAft>
            </a:pPr>
            <a:r>
              <a:rPr sz="1100" b="0" i="0">
                <a:solidFill>
                  <a:srgbClr val="C9D1E0"/>
                </a:solidFill>
                <a:latin typeface="Calibri"/>
              </a:rPr>
              <a:t>Internal. Contains vendor-confidential pricing. Backup: Hyde Park BESS Cost Analysis Deck (41 slides).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56032"/>
            <a:ext cx="11064240" cy="274320"/>
          </a:xfrm>
          <a:prstGeom prst="rect">
            <a:avLst/>
          </a:prstGeom>
          <a:noFill/>
        </p:spPr>
        <p:txBody>
          <a:bodyPr wrap="square" lIns="45720" rIns="45720" tIns="27432" bIns="27432" anchor="t">
            <a:spAutoFit/>
          </a:bodyPr>
          <a:lstStyle/>
          <a:p>
            <a:pPr algn="l">
              <a:lnSpc>
                <a:spcPct val="105000"/>
              </a:lnSpc>
              <a:spcAft>
                <a:spcPts val="400"/>
              </a:spcAft>
            </a:pPr>
            <a:r>
              <a:rPr sz="1100" b="1" i="0">
                <a:solidFill>
                  <a:srgbClr val="6E1F2E"/>
                </a:solidFill>
                <a:latin typeface="Calibri"/>
              </a:rPr>
              <a:t>WHAT CAN BE DONE</a:t>
            </a:r>
          </a:p>
        </p:txBody>
      </p:sp>
      <p:sp>
        <p:nvSpPr>
          <p:cNvPr id="4" name="TextBox 3"/>
          <p:cNvSpPr txBox="1"/>
          <p:nvPr/>
        </p:nvSpPr>
        <p:spPr>
          <a:xfrm>
            <a:off x="548640" y="475488"/>
            <a:ext cx="11064240" cy="868680"/>
          </a:xfrm>
          <a:prstGeom prst="rect">
            <a:avLst/>
          </a:prstGeom>
          <a:noFill/>
        </p:spPr>
        <p:txBody>
          <a:bodyPr wrap="square" lIns="45720" rIns="45720" tIns="27432" bIns="27432" anchor="t">
            <a:spAutoFit/>
          </a:bodyPr>
          <a:lstStyle/>
          <a:p>
            <a:pPr algn="l">
              <a:lnSpc>
                <a:spcPct val="100000"/>
              </a:lnSpc>
              <a:spcAft>
                <a:spcPts val="400"/>
              </a:spcAft>
            </a:pPr>
            <a:r>
              <a:rPr sz="2300" b="1" i="0">
                <a:solidFill>
                  <a:srgbClr val="001E60"/>
                </a:solidFill>
                <a:latin typeface="Georgia"/>
              </a:rPr>
              <a:t>The number can be driven from $57.2M to $38.5 to 42.9M. About a third of that needs only a decision.</a:t>
            </a:r>
          </a:p>
        </p:txBody>
      </p:sp>
      <p:sp>
        <p:nvSpPr>
          <p:cNvPr id="5" name="TextBox 4"/>
          <p:cNvSpPr txBox="1"/>
          <p:nvPr/>
        </p:nvSpPr>
        <p:spPr>
          <a:xfrm>
            <a:off x="548640" y="6419088"/>
            <a:ext cx="8229600" cy="274320"/>
          </a:xfrm>
          <a:prstGeom prst="rect">
            <a:avLst/>
          </a:prstGeom>
          <a:noFill/>
        </p:spPr>
        <p:txBody>
          <a:bodyPr wrap="square" lIns="45720" rIns="45720" tIns="27432" bIns="27432" anchor="t">
            <a:spAutoFit/>
          </a:bodyPr>
          <a:lstStyle/>
          <a:p>
            <a:pPr algn="l">
              <a:lnSpc>
                <a:spcPct val="105000"/>
              </a:lnSpc>
              <a:spcAft>
                <a:spcPts val="400"/>
              </a:spcAft>
            </a:pPr>
            <a:r>
              <a:rPr sz="1000" b="0" i="0">
                <a:solidFill>
                  <a:srgbClr val="6B7280"/>
                </a:solidFill>
                <a:latin typeface="Calibri"/>
              </a:rPr>
              <a:t>EstimatingCoE | Eversource Energy | Stewards of Affordability</a:t>
            </a:r>
          </a:p>
        </p:txBody>
      </p:sp>
      <p:sp>
        <p:nvSpPr>
          <p:cNvPr id="6" name="TextBox 5"/>
          <p:cNvSpPr txBox="1"/>
          <p:nvPr/>
        </p:nvSpPr>
        <p:spPr>
          <a:xfrm>
            <a:off x="10972800" y="6419088"/>
            <a:ext cx="685800" cy="274320"/>
          </a:xfrm>
          <a:prstGeom prst="rect">
            <a:avLst/>
          </a:prstGeom>
          <a:noFill/>
        </p:spPr>
        <p:txBody>
          <a:bodyPr wrap="square" lIns="45720" rIns="45720" tIns="27432" bIns="27432" anchor="t">
            <a:spAutoFit/>
          </a:bodyPr>
          <a:lstStyle/>
          <a:p>
            <a:pPr algn="r">
              <a:lnSpc>
                <a:spcPct val="105000"/>
              </a:lnSpc>
              <a:spcAft>
                <a:spcPts val="400"/>
              </a:spcAft>
            </a:pPr>
            <a:r>
              <a:rPr sz="1000" b="0" i="0">
                <a:solidFill>
                  <a:srgbClr val="6B7280"/>
                </a:solidFill>
                <a:latin typeface="Calibri"/>
              </a:rPr>
              <a:t>2</a:t>
            </a:r>
          </a:p>
        </p:txBody>
      </p:sp>
      <p:sp>
        <p:nvSpPr>
          <p:cNvPr id="7" name="Rectangle 6"/>
          <p:cNvSpPr/>
          <p:nvPr/>
        </p:nvSpPr>
        <p:spPr>
          <a:xfrm>
            <a:off x="548640" y="1417320"/>
            <a:ext cx="3566160" cy="1828800"/>
          </a:xfrm>
          <a:prstGeom prst="rect">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527048"/>
            <a:ext cx="3291840" cy="822960"/>
          </a:xfrm>
          <a:prstGeom prst="rect">
            <a:avLst/>
          </a:prstGeom>
          <a:noFill/>
        </p:spPr>
        <p:txBody>
          <a:bodyPr wrap="square" lIns="45720" rIns="45720" tIns="27432" bIns="27432" anchor="t">
            <a:spAutoFit/>
          </a:bodyPr>
          <a:lstStyle/>
          <a:p>
            <a:pPr algn="l">
              <a:lnSpc>
                <a:spcPct val="105000"/>
              </a:lnSpc>
              <a:spcAft>
                <a:spcPts val="400"/>
              </a:spcAft>
            </a:pPr>
            <a:r>
              <a:rPr sz="2600" b="1" i="0">
                <a:solidFill>
                  <a:srgbClr val="001E60"/>
                </a:solidFill>
                <a:latin typeface="Georgia"/>
              </a:rPr>
              <a:t>$57.2M</a:t>
            </a:r>
          </a:p>
        </p:txBody>
      </p:sp>
      <p:sp>
        <p:nvSpPr>
          <p:cNvPr id="9" name="TextBox 8"/>
          <p:cNvSpPr txBox="1"/>
          <p:nvPr/>
        </p:nvSpPr>
        <p:spPr>
          <a:xfrm>
            <a:off x="685800" y="1972817"/>
            <a:ext cx="3291840" cy="457200"/>
          </a:xfrm>
          <a:prstGeom prst="rect">
            <a:avLst/>
          </a:prstGeom>
          <a:noFill/>
        </p:spPr>
        <p:txBody>
          <a:bodyPr wrap="square" lIns="45720" rIns="45720" tIns="27432" bIns="27432" anchor="t">
            <a:spAutoFit/>
          </a:bodyPr>
          <a:lstStyle/>
          <a:p>
            <a:pPr algn="l">
              <a:lnSpc>
                <a:spcPct val="105000"/>
              </a:lnSpc>
              <a:spcAft>
                <a:spcPts val="400"/>
              </a:spcAft>
            </a:pPr>
            <a:r>
              <a:rPr sz="1500" b="1" i="0">
                <a:solidFill>
                  <a:srgbClr val="1F2A44"/>
                </a:solidFill>
                <a:latin typeface="Calibri"/>
              </a:rPr>
              <a:t>Approved, Rev 3</a:t>
            </a:r>
          </a:p>
        </p:txBody>
      </p:sp>
      <p:sp>
        <p:nvSpPr>
          <p:cNvPr id="10" name="TextBox 9"/>
          <p:cNvSpPr txBox="1"/>
          <p:nvPr/>
        </p:nvSpPr>
        <p:spPr>
          <a:xfrm>
            <a:off x="685800" y="2356865"/>
            <a:ext cx="3291840" cy="843533"/>
          </a:xfrm>
          <a:prstGeom prst="rect">
            <a:avLst/>
          </a:prstGeom>
          <a:noFill/>
        </p:spPr>
        <p:txBody>
          <a:bodyPr wrap="square" lIns="45720" rIns="45720" tIns="27432" bIns="27432" anchor="t">
            <a:spAutoFit/>
          </a:bodyPr>
          <a:lstStyle/>
          <a:p>
            <a:pPr algn="l">
              <a:lnSpc>
                <a:spcPct val="100000"/>
              </a:lnSpc>
              <a:spcAft>
                <a:spcPts val="400"/>
              </a:spcAft>
            </a:pPr>
            <a:r>
              <a:rPr sz="1250" b="0" i="0">
                <a:solidFill>
                  <a:srgbClr val="6B7280"/>
                </a:solidFill>
                <a:latin typeface="Calibri"/>
              </a:rPr>
              <a:t>24 Sep 2026; includes $7.6M of risk and contingency and $20.3M of loaders</a:t>
            </a:r>
          </a:p>
        </p:txBody>
      </p:sp>
      <p:sp>
        <p:nvSpPr>
          <p:cNvPr id="11" name="Rectangle 10"/>
          <p:cNvSpPr/>
          <p:nvPr/>
        </p:nvSpPr>
        <p:spPr>
          <a:xfrm>
            <a:off x="4297680" y="1417320"/>
            <a:ext cx="3566160" cy="1828800"/>
          </a:xfrm>
          <a:prstGeom prst="rect">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34840" y="1527048"/>
            <a:ext cx="3291840" cy="822960"/>
          </a:xfrm>
          <a:prstGeom prst="rect">
            <a:avLst/>
          </a:prstGeom>
          <a:noFill/>
        </p:spPr>
        <p:txBody>
          <a:bodyPr wrap="square" lIns="45720" rIns="45720" tIns="27432" bIns="27432" anchor="t">
            <a:spAutoFit/>
          </a:bodyPr>
          <a:lstStyle/>
          <a:p>
            <a:pPr algn="l">
              <a:lnSpc>
                <a:spcPct val="105000"/>
              </a:lnSpc>
              <a:spcAft>
                <a:spcPts val="400"/>
              </a:spcAft>
            </a:pPr>
            <a:r>
              <a:rPr sz="2600" b="1" i="0">
                <a:solidFill>
                  <a:srgbClr val="001E60"/>
                </a:solidFill>
                <a:latin typeface="Georgia"/>
              </a:rPr>
              <a:t>$50.7 to 52.6M</a:t>
            </a:r>
          </a:p>
        </p:txBody>
      </p:sp>
      <p:sp>
        <p:nvSpPr>
          <p:cNvPr id="13" name="TextBox 12"/>
          <p:cNvSpPr txBox="1"/>
          <p:nvPr/>
        </p:nvSpPr>
        <p:spPr>
          <a:xfrm>
            <a:off x="4434840" y="1972817"/>
            <a:ext cx="3291840" cy="457200"/>
          </a:xfrm>
          <a:prstGeom prst="rect">
            <a:avLst/>
          </a:prstGeom>
          <a:noFill/>
        </p:spPr>
        <p:txBody>
          <a:bodyPr wrap="square" lIns="45720" rIns="45720" tIns="27432" bIns="27432" anchor="t">
            <a:spAutoFit/>
          </a:bodyPr>
          <a:lstStyle/>
          <a:p>
            <a:pPr algn="l">
              <a:lnSpc>
                <a:spcPct val="105000"/>
              </a:lnSpc>
              <a:spcAft>
                <a:spcPts val="400"/>
              </a:spcAft>
            </a:pPr>
            <a:r>
              <a:rPr sz="1500" b="1" i="0">
                <a:solidFill>
                  <a:srgbClr val="1F2A44"/>
                </a:solidFill>
                <a:latin typeface="Calibri"/>
              </a:rPr>
              <a:t>Contained: decisions only</a:t>
            </a:r>
          </a:p>
        </p:txBody>
      </p:sp>
      <p:sp>
        <p:nvSpPr>
          <p:cNvPr id="14" name="TextBox 13"/>
          <p:cNvSpPr txBox="1"/>
          <p:nvPr/>
        </p:nvSpPr>
        <p:spPr>
          <a:xfrm>
            <a:off x="4434840" y="2356865"/>
            <a:ext cx="3291840" cy="843533"/>
          </a:xfrm>
          <a:prstGeom prst="rect">
            <a:avLst/>
          </a:prstGeom>
          <a:noFill/>
        </p:spPr>
        <p:txBody>
          <a:bodyPr wrap="square" lIns="45720" rIns="45720" tIns="27432" bIns="27432" anchor="t">
            <a:spAutoFit/>
          </a:bodyPr>
          <a:lstStyle/>
          <a:p>
            <a:pPr algn="l">
              <a:lnSpc>
                <a:spcPct val="100000"/>
              </a:lnSpc>
              <a:spcAft>
                <a:spcPts val="400"/>
              </a:spcAft>
            </a:pPr>
            <a:r>
              <a:rPr sz="1250" b="0" i="0">
                <a:solidFill>
                  <a:srgbClr val="6B7280"/>
                </a:solidFill>
                <a:latin typeface="Calibri"/>
              </a:rPr>
              <a:t>Six decisions, no scope change, no study, by the November 2026 PAF</a:t>
            </a:r>
          </a:p>
        </p:txBody>
      </p:sp>
      <p:sp>
        <p:nvSpPr>
          <p:cNvPr id="15" name="Rectangle 14"/>
          <p:cNvSpPr/>
          <p:nvPr/>
        </p:nvSpPr>
        <p:spPr>
          <a:xfrm>
            <a:off x="8046720" y="1417320"/>
            <a:ext cx="3566160" cy="1828800"/>
          </a:xfrm>
          <a:prstGeom prst="rect">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83880" y="1527048"/>
            <a:ext cx="3291840" cy="822960"/>
          </a:xfrm>
          <a:prstGeom prst="rect">
            <a:avLst/>
          </a:prstGeom>
          <a:noFill/>
        </p:spPr>
        <p:txBody>
          <a:bodyPr wrap="square" lIns="45720" rIns="45720" tIns="27432" bIns="27432" anchor="t">
            <a:spAutoFit/>
          </a:bodyPr>
          <a:lstStyle/>
          <a:p>
            <a:pPr algn="l">
              <a:lnSpc>
                <a:spcPct val="105000"/>
              </a:lnSpc>
              <a:spcAft>
                <a:spcPts val="400"/>
              </a:spcAft>
            </a:pPr>
            <a:r>
              <a:rPr sz="2600" b="1" i="0">
                <a:solidFill>
                  <a:srgbClr val="001E60"/>
                </a:solidFill>
                <a:latin typeface="Georgia"/>
              </a:rPr>
              <a:t>$38.5 to 42.9M</a:t>
            </a:r>
          </a:p>
        </p:txBody>
      </p:sp>
      <p:sp>
        <p:nvSpPr>
          <p:cNvPr id="17" name="TextBox 16"/>
          <p:cNvSpPr txBox="1"/>
          <p:nvPr/>
        </p:nvSpPr>
        <p:spPr>
          <a:xfrm>
            <a:off x="8183880" y="1972817"/>
            <a:ext cx="3291840" cy="457200"/>
          </a:xfrm>
          <a:prstGeom prst="rect">
            <a:avLst/>
          </a:prstGeom>
          <a:noFill/>
        </p:spPr>
        <p:txBody>
          <a:bodyPr wrap="square" lIns="45720" rIns="45720" tIns="27432" bIns="27432" anchor="t">
            <a:spAutoFit/>
          </a:bodyPr>
          <a:lstStyle/>
          <a:p>
            <a:pPr algn="l">
              <a:lnSpc>
                <a:spcPct val="105000"/>
              </a:lnSpc>
              <a:spcAft>
                <a:spcPts val="400"/>
              </a:spcAft>
            </a:pPr>
            <a:r>
              <a:rPr sz="1500" b="1" i="0">
                <a:solidFill>
                  <a:srgbClr val="1F2A44"/>
                </a:solidFill>
                <a:latin typeface="Calibri"/>
              </a:rPr>
              <a:t>Re-scoped after four studies</a:t>
            </a:r>
          </a:p>
        </p:txBody>
      </p:sp>
      <p:sp>
        <p:nvSpPr>
          <p:cNvPr id="18" name="TextBox 17"/>
          <p:cNvSpPr txBox="1"/>
          <p:nvPr/>
        </p:nvSpPr>
        <p:spPr>
          <a:xfrm>
            <a:off x="8183880" y="2356865"/>
            <a:ext cx="3291840" cy="843533"/>
          </a:xfrm>
          <a:prstGeom prst="rect">
            <a:avLst/>
          </a:prstGeom>
          <a:noFill/>
        </p:spPr>
        <p:txBody>
          <a:bodyPr wrap="square" lIns="45720" rIns="45720" tIns="27432" bIns="27432" anchor="t">
            <a:spAutoFit/>
          </a:bodyPr>
          <a:lstStyle/>
          <a:p>
            <a:pPr algn="l">
              <a:lnSpc>
                <a:spcPct val="100000"/>
              </a:lnSpc>
              <a:spcAft>
                <a:spcPts val="400"/>
              </a:spcAft>
            </a:pPr>
            <a:r>
              <a:rPr sz="1250" b="0" i="0">
                <a:solidFill>
                  <a:srgbClr val="6B7280"/>
                </a:solidFill>
                <a:latin typeface="Calibri"/>
              </a:rPr>
              <a:t>Geotech, hosting capacity, the Station 496 protection basis, the Haugland scope map; Q1 2027</a:t>
            </a:r>
          </a:p>
        </p:txBody>
      </p:sp>
      <p:sp>
        <p:nvSpPr>
          <p:cNvPr id="19" name="TextBox 18"/>
          <p:cNvSpPr txBox="1"/>
          <p:nvPr/>
        </p:nvSpPr>
        <p:spPr>
          <a:xfrm>
            <a:off x="548640" y="3520440"/>
            <a:ext cx="11064240" cy="2743200"/>
          </a:xfrm>
          <a:prstGeom prst="rect">
            <a:avLst/>
          </a:prstGeom>
          <a:noFill/>
        </p:spPr>
        <p:txBody>
          <a:bodyPr wrap="square" lIns="45720">
            <a:spAutoFit/>
          </a:bodyPr>
          <a:lstStyle/>
          <a:p>
            <a:pPr>
              <a:lnSpc>
                <a:spcPct val="105000"/>
              </a:lnSpc>
              <a:spcAft>
                <a:spcPts val="800"/>
              </a:spcAft>
            </a:pPr>
            <a:r>
              <a:rPr sz="1500">
                <a:solidFill>
                  <a:srgbClr val="FFC72C"/>
                </a:solidFill>
                <a:latin typeface="Calibri"/>
              </a:rPr>
              <a:t>▪  </a:t>
            </a:r>
            <a:r>
              <a:rPr b="1" sz="1500">
                <a:solidFill>
                  <a:srgbClr val="1F2A44"/>
                </a:solidFill>
                <a:latin typeface="Calibri"/>
              </a:rPr>
              <a:t>Decide now (no study): </a:t>
            </a:r>
            <a:r>
              <a:rPr sz="1500">
                <a:solidFill>
                  <a:srgbClr val="1F2A44"/>
                </a:solidFill>
                <a:latin typeface="Calibri"/>
              </a:rPr>
              <a:t>$4.9 to 7.0M loaded. Strike the escalation on a fixed price, re-word two risk lines that duplicate it, rule on the overhead basis, strike the double-counted disconnects, pay the battery at delivery.</a:t>
            </a:r>
          </a:p>
          <a:p>
            <a:pPr>
              <a:lnSpc>
                <a:spcPct val="105000"/>
              </a:lnSpc>
              <a:spcAft>
                <a:spcPts val="800"/>
              </a:spcAft>
            </a:pPr>
            <a:r>
              <a:rPr sz="1500">
                <a:solidFill>
                  <a:srgbClr val="FFC72C"/>
                </a:solidFill>
                <a:latin typeface="Calibri"/>
              </a:rPr>
              <a:t>▪  </a:t>
            </a:r>
            <a:r>
              <a:rPr b="1" sz="1500">
                <a:solidFill>
                  <a:srgbClr val="1F2A44"/>
                </a:solidFill>
                <a:latin typeface="Calibri"/>
              </a:rPr>
              <a:t>Decide after a study (Q1 2027): </a:t>
            </a:r>
            <a:r>
              <a:rPr sz="1500">
                <a:solidFill>
                  <a:srgbClr val="1F2A44"/>
                </a:solidFill>
                <a:latin typeface="Calibri"/>
              </a:rPr>
              <a:t>$10.6 to 13.1M loaded. Engineering's proposal (Station 496 to RTU, RTAC and transfer trip only; two feeders instead of four), civil sized after geotech, a crew build-up for install.</a:t>
            </a:r>
          </a:p>
          <a:p>
            <a:pPr>
              <a:lnSpc>
                <a:spcPct val="105000"/>
              </a:lnSpc>
              <a:spcAft>
                <a:spcPts val="800"/>
              </a:spcAft>
            </a:pPr>
            <a:r>
              <a:rPr sz="1500">
                <a:solidFill>
                  <a:srgbClr val="FFC72C"/>
                </a:solidFill>
                <a:latin typeface="Calibri"/>
              </a:rPr>
              <a:t>▪  </a:t>
            </a:r>
            <a:r>
              <a:rPr b="1" sz="1500">
                <a:solidFill>
                  <a:srgbClr val="1F2A44"/>
                </a:solidFill>
                <a:latin typeface="Calibri"/>
              </a:rPr>
              <a:t>Outside the estimate, larger than both: </a:t>
            </a:r>
            <a:r>
              <a:rPr sz="1500">
                <a:solidFill>
                  <a:srgbClr val="1F2A44"/>
                </a:solidFill>
                <a:latin typeface="Calibri"/>
              </a:rPr>
              <a:t>$11.2 to 16.5M of Section 48E credit on the revenue requirement, plus $2.8 to 4.1M if the landfill qualifies as an energy community. Owner: Tax.</a:t>
            </a:r>
          </a:p>
          <a:p>
            <a:pPr>
              <a:lnSpc>
                <a:spcPct val="105000"/>
              </a:lnSpc>
              <a:spcAft>
                <a:spcPts val="800"/>
              </a:spcAft>
            </a:pPr>
            <a:r>
              <a:rPr sz="1500">
                <a:solidFill>
                  <a:srgbClr val="FFC72C"/>
                </a:solidFill>
                <a:latin typeface="Calibri"/>
              </a:rPr>
              <a:t>▪  </a:t>
            </a:r>
            <a:r>
              <a:rPr b="1" sz="1500">
                <a:solidFill>
                  <a:srgbClr val="1F2A44"/>
                </a:solidFill>
                <a:latin typeface="Calibri"/>
              </a:rPr>
              <a:t>Then hold it: </a:t>
            </a:r>
            <a:r>
              <a:rPr sz="1500">
                <a:solidFill>
                  <a:srgbClr val="1F2A44"/>
                </a:solidFill>
                <a:latin typeface="Calibri"/>
              </a:rPr>
              <a:t>a station-direct design-to-cost target of $1,250 per kWh ($50M loaded), competitive lump-sum pricing before construction, and a monthly number someone owns.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56032"/>
            <a:ext cx="11064240" cy="274320"/>
          </a:xfrm>
          <a:prstGeom prst="rect">
            <a:avLst/>
          </a:prstGeom>
          <a:noFill/>
        </p:spPr>
        <p:txBody>
          <a:bodyPr wrap="square" lIns="45720" rIns="45720" tIns="27432" bIns="27432" anchor="t">
            <a:spAutoFit/>
          </a:bodyPr>
          <a:lstStyle/>
          <a:p>
            <a:pPr algn="l">
              <a:lnSpc>
                <a:spcPct val="105000"/>
              </a:lnSpc>
              <a:spcAft>
                <a:spcPts val="400"/>
              </a:spcAft>
            </a:pPr>
            <a:r>
              <a:rPr sz="1100" b="1" i="0">
                <a:solidFill>
                  <a:srgbClr val="6E1F2E"/>
                </a:solidFill>
                <a:latin typeface="Calibri"/>
              </a:rPr>
              <a:t>THE LEVERS, GROUPED BY WHAT THEY NEED</a:t>
            </a:r>
          </a:p>
        </p:txBody>
      </p:sp>
      <p:sp>
        <p:nvSpPr>
          <p:cNvPr id="4" name="TextBox 3"/>
          <p:cNvSpPr txBox="1"/>
          <p:nvPr/>
        </p:nvSpPr>
        <p:spPr>
          <a:xfrm>
            <a:off x="548640" y="475488"/>
            <a:ext cx="11064240" cy="868680"/>
          </a:xfrm>
          <a:prstGeom prst="rect">
            <a:avLst/>
          </a:prstGeom>
          <a:noFill/>
        </p:spPr>
        <p:txBody>
          <a:bodyPr wrap="square" lIns="45720" rIns="45720" tIns="27432" bIns="27432" anchor="t">
            <a:spAutoFit/>
          </a:bodyPr>
          <a:lstStyle/>
          <a:p>
            <a:pPr algn="l">
              <a:lnSpc>
                <a:spcPct val="100000"/>
              </a:lnSpc>
              <a:spcAft>
                <a:spcPts val="400"/>
              </a:spcAft>
            </a:pPr>
            <a:r>
              <a:rPr sz="2300" b="1" i="0">
                <a:solidFill>
                  <a:srgbClr val="001E60"/>
                </a:solidFill>
                <a:latin typeface="Georgia"/>
              </a:rPr>
              <a:t>Where the dollars come from: a bridge from the approval level to the re-scoped project, loaded</a:t>
            </a:r>
          </a:p>
        </p:txBody>
      </p:sp>
      <p:sp>
        <p:nvSpPr>
          <p:cNvPr id="5" name="TextBox 4"/>
          <p:cNvSpPr txBox="1"/>
          <p:nvPr/>
        </p:nvSpPr>
        <p:spPr>
          <a:xfrm>
            <a:off x="548640" y="6419088"/>
            <a:ext cx="8229600" cy="274320"/>
          </a:xfrm>
          <a:prstGeom prst="rect">
            <a:avLst/>
          </a:prstGeom>
          <a:noFill/>
        </p:spPr>
        <p:txBody>
          <a:bodyPr wrap="square" lIns="45720" rIns="45720" tIns="27432" bIns="27432" anchor="t">
            <a:spAutoFit/>
          </a:bodyPr>
          <a:lstStyle/>
          <a:p>
            <a:pPr algn="l">
              <a:lnSpc>
                <a:spcPct val="105000"/>
              </a:lnSpc>
              <a:spcAft>
                <a:spcPts val="400"/>
              </a:spcAft>
            </a:pPr>
            <a:r>
              <a:rPr sz="1000" b="0" i="0">
                <a:solidFill>
                  <a:srgbClr val="6B7280"/>
                </a:solidFill>
                <a:latin typeface="Calibri"/>
              </a:rPr>
              <a:t>EstimatingCoE | Eversource Energy | Stewards of Affordability</a:t>
            </a:r>
          </a:p>
        </p:txBody>
      </p:sp>
      <p:sp>
        <p:nvSpPr>
          <p:cNvPr id="6" name="TextBox 5"/>
          <p:cNvSpPr txBox="1"/>
          <p:nvPr/>
        </p:nvSpPr>
        <p:spPr>
          <a:xfrm>
            <a:off x="10972800" y="6419088"/>
            <a:ext cx="685800" cy="274320"/>
          </a:xfrm>
          <a:prstGeom prst="rect">
            <a:avLst/>
          </a:prstGeom>
          <a:noFill/>
        </p:spPr>
        <p:txBody>
          <a:bodyPr wrap="square" lIns="45720" rIns="45720" tIns="27432" bIns="27432" anchor="t">
            <a:spAutoFit/>
          </a:bodyPr>
          <a:lstStyle/>
          <a:p>
            <a:pPr algn="r">
              <a:lnSpc>
                <a:spcPct val="105000"/>
              </a:lnSpc>
              <a:spcAft>
                <a:spcPts val="400"/>
              </a:spcAft>
            </a:pPr>
            <a:r>
              <a:rPr sz="1000" b="0" i="0">
                <a:solidFill>
                  <a:srgbClr val="6B7280"/>
                </a:solidFill>
                <a:latin typeface="Calibri"/>
              </a:rPr>
              <a:t>3</a:t>
            </a:r>
          </a:p>
        </p:txBody>
      </p:sp>
      <p:graphicFrame>
        <p:nvGraphicFramePr>
          <p:cNvPr id="7" name="Chart 6"/>
          <p:cNvGraphicFramePr>
            <a:graphicFrameLocks noGrp="1"/>
          </p:cNvGraphicFramePr>
          <p:nvPr/>
        </p:nvGraphicFramePr>
        <p:xfrm>
          <a:off x="457200" y="1371600"/>
          <a:ext cx="7498079" cy="4846320"/>
        </p:xfrm>
        <a:graphic>
          <a:graphicData uri="http://schemas.openxmlformats.org/drawingml/2006/chart">
            <c:chart xmlns:c="http://schemas.openxmlformats.org/drawingml/2006/chart" r:id="rId2"/>
          </a:graphicData>
        </a:graphic>
      </p:graphicFrame>
      <p:graphicFrame>
        <p:nvGraphicFramePr>
          <p:cNvPr id="8" name="Table 7"/>
          <p:cNvGraphicFramePr>
            <a:graphicFrameLocks noGrp="1"/>
          </p:cNvGraphicFramePr>
          <p:nvPr/>
        </p:nvGraphicFramePr>
        <p:xfrm>
          <a:off x="8138160" y="1417320"/>
          <a:ext cx="3566160" cy="3108960"/>
        </p:xfrm>
        <a:graphic>
          <a:graphicData uri="http://schemas.openxmlformats.org/drawingml/2006/table">
            <a:tbl>
              <a:tblPr firstRow="1" bandRow="1">
                <a:tableStyleId>{5C22544A-7EE6-4342-B048-85BDC9FD1C3A}</a:tableStyleId>
              </a:tblPr>
              <a:tblGrid>
                <a:gridCol w="2194560"/>
                <a:gridCol w="1371600"/>
              </a:tblGrid>
              <a:tr h="444137">
                <a:tc>
                  <a:txBody>
                    <a:bodyPr/>
                    <a:lstStyle/>
                    <a:p>
                      <a:r>
                        <a:rPr sz="1100" b="1">
                          <a:solidFill>
                            <a:srgbClr val="FFFFFF"/>
                          </a:solidFill>
                          <a:latin typeface="Calibri"/>
                        </a:rPr>
                        <a:t>Group</a:t>
                      </a:r>
                    </a:p>
                  </a:txBody>
                  <a:tcPr marL="54864" marR="54864" marT="27432" marB="27432">
                    <a:solidFill>
                      <a:srgbClr val="001E60"/>
                    </a:solidFill>
                  </a:tcPr>
                </a:tc>
                <a:tc>
                  <a:txBody>
                    <a:bodyPr/>
                    <a:lstStyle/>
                    <a:p>
                      <a:pPr algn="r"/>
                      <a:r>
                        <a:rPr sz="1100" b="1">
                          <a:solidFill>
                            <a:srgbClr val="FFFFFF"/>
                          </a:solidFill>
                          <a:latin typeface="Calibri"/>
                        </a:rPr>
                        <a:t>Loaded</a:t>
                      </a:r>
                    </a:p>
                  </a:txBody>
                  <a:tcPr marL="54864" marR="54864" marT="27432" marB="27432">
                    <a:solidFill>
                      <a:srgbClr val="001E60"/>
                    </a:solidFill>
                  </a:tcPr>
                </a:tc>
              </a:tr>
              <a:tr h="444137">
                <a:tc>
                  <a:txBody>
                    <a:bodyPr/>
                    <a:lstStyle/>
                    <a:p>
                      <a:r>
                        <a:rPr sz="1100" b="0">
                          <a:solidFill>
                            <a:srgbClr val="1F2A44"/>
                          </a:solidFill>
                          <a:latin typeface="Calibri"/>
                        </a:rPr>
                        <a:t>Decide now, 6 levers</a:t>
                      </a:r>
                    </a:p>
                  </a:txBody>
                  <a:tcPr marL="54864" marR="54864" marT="27432" marB="27432" anchor="ctr">
                    <a:solidFill>
                      <a:srgbClr val="FFFFFF"/>
                    </a:solidFill>
                  </a:tcPr>
                </a:tc>
                <a:tc>
                  <a:txBody>
                    <a:bodyPr/>
                    <a:lstStyle/>
                    <a:p>
                      <a:pPr algn="r"/>
                      <a:r>
                        <a:rPr sz="1100" b="0">
                          <a:solidFill>
                            <a:srgbClr val="1F2A44"/>
                          </a:solidFill>
                          <a:latin typeface="Calibri"/>
                        </a:rPr>
                        <a:t>$4.9 to 7.0M</a:t>
                      </a:r>
                    </a:p>
                  </a:txBody>
                  <a:tcPr marL="54864" marR="54864" marT="27432" marB="27432" anchor="ctr">
                    <a:solidFill>
                      <a:srgbClr val="FFFFFF"/>
                    </a:solidFill>
                  </a:tcPr>
                </a:tc>
              </a:tr>
              <a:tr h="444137">
                <a:tc>
                  <a:txBody>
                    <a:bodyPr/>
                    <a:lstStyle/>
                    <a:p>
                      <a:r>
                        <a:rPr sz="1100" b="0">
                          <a:solidFill>
                            <a:srgbClr val="1F2A44"/>
                          </a:solidFill>
                          <a:latin typeface="Calibri"/>
                        </a:rPr>
                        <a:t>After a study, 8 levers</a:t>
                      </a:r>
                    </a:p>
                  </a:txBody>
                  <a:tcPr marL="54864" marR="54864" marT="27432" marB="27432" anchor="ctr">
                    <a:solidFill>
                      <a:srgbClr val="F2F4F8"/>
                    </a:solidFill>
                  </a:tcPr>
                </a:tc>
                <a:tc>
                  <a:txBody>
                    <a:bodyPr/>
                    <a:lstStyle/>
                    <a:p>
                      <a:pPr algn="r"/>
                      <a:r>
                        <a:rPr sz="1100" b="0">
                          <a:solidFill>
                            <a:srgbClr val="1F2A44"/>
                          </a:solidFill>
                          <a:latin typeface="Calibri"/>
                        </a:rPr>
                        <a:t>$10.6 to 13.1M</a:t>
                      </a:r>
                    </a:p>
                  </a:txBody>
                  <a:tcPr marL="54864" marR="54864" marT="27432" marB="27432" anchor="ctr">
                    <a:solidFill>
                      <a:srgbClr val="F2F4F8"/>
                    </a:solidFill>
                  </a:tcPr>
                </a:tc>
              </a:tr>
              <a:tr h="444137">
                <a:tc>
                  <a:txBody>
                    <a:bodyPr/>
                    <a:lstStyle/>
                    <a:p>
                      <a:r>
                        <a:rPr sz="1100" b="0">
                          <a:solidFill>
                            <a:srgbClr val="1F2A44"/>
                          </a:solidFill>
                          <a:latin typeface="Calibri"/>
                        </a:rPr>
                        <a:t>Subtotal, the estimate</a:t>
                      </a:r>
                    </a:p>
                  </a:txBody>
                  <a:tcPr marL="54864" marR="54864" marT="27432" marB="27432" anchor="ctr">
                    <a:solidFill>
                      <a:srgbClr val="FFFFFF"/>
                    </a:solidFill>
                  </a:tcPr>
                </a:tc>
                <a:tc>
                  <a:txBody>
                    <a:bodyPr/>
                    <a:lstStyle/>
                    <a:p>
                      <a:pPr algn="r"/>
                      <a:r>
                        <a:rPr sz="1100" b="0">
                          <a:solidFill>
                            <a:srgbClr val="1F2A44"/>
                          </a:solidFill>
                          <a:latin typeface="Calibri"/>
                        </a:rPr>
                        <a:t>$15.4 to 20.1M</a:t>
                      </a:r>
                    </a:p>
                  </a:txBody>
                  <a:tcPr marL="54864" marR="54864" marT="27432" marB="27432" anchor="ctr">
                    <a:solidFill>
                      <a:srgbClr val="FFFFFF"/>
                    </a:solidFill>
                  </a:tcPr>
                </a:tc>
              </a:tr>
              <a:tr h="444137">
                <a:tc>
                  <a:txBody>
                    <a:bodyPr/>
                    <a:lstStyle/>
                    <a:p>
                      <a:r>
                        <a:rPr sz="1100" b="0">
                          <a:solidFill>
                            <a:srgbClr val="1F2A44"/>
                          </a:solidFill>
                          <a:latin typeface="Calibri"/>
                        </a:rPr>
                        <a:t>Exposures to add back</a:t>
                      </a:r>
                    </a:p>
                  </a:txBody>
                  <a:tcPr marL="54864" marR="54864" marT="27432" marB="27432" anchor="ctr">
                    <a:solidFill>
                      <a:srgbClr val="F2F4F8"/>
                    </a:solidFill>
                  </a:tcPr>
                </a:tc>
                <a:tc>
                  <a:txBody>
                    <a:bodyPr/>
                    <a:lstStyle/>
                    <a:p>
                      <a:pPr algn="r"/>
                      <a:r>
                        <a:rPr sz="1100" b="0">
                          <a:solidFill>
                            <a:srgbClr val="1F2A44"/>
                          </a:solidFill>
                          <a:latin typeface="Calibri"/>
                        </a:rPr>
                        <a:t>-$2.0 to 3.9M</a:t>
                      </a:r>
                    </a:p>
                  </a:txBody>
                  <a:tcPr marL="54864" marR="54864" marT="27432" marB="27432" anchor="ctr">
                    <a:solidFill>
                      <a:srgbClr val="F2F4F8"/>
                    </a:solidFill>
                  </a:tcPr>
                </a:tc>
              </a:tr>
              <a:tr h="444137">
                <a:tc>
                  <a:txBody>
                    <a:bodyPr/>
                    <a:lstStyle/>
                    <a:p>
                      <a:r>
                        <a:rPr sz="1100" b="0">
                          <a:solidFill>
                            <a:srgbClr val="1F2A44"/>
                          </a:solidFill>
                          <a:latin typeface="Calibri"/>
                        </a:rPr>
                        <a:t>Haugland gap, direct</a:t>
                      </a:r>
                    </a:p>
                  </a:txBody>
                  <a:tcPr marL="54864" marR="54864" marT="27432" marB="27432" anchor="ctr">
                    <a:solidFill>
                      <a:srgbClr val="FFFFFF"/>
                    </a:solidFill>
                  </a:tcPr>
                </a:tc>
                <a:tc>
                  <a:txBody>
                    <a:bodyPr/>
                    <a:lstStyle/>
                    <a:p>
                      <a:pPr algn="r"/>
                      <a:r>
                        <a:rPr sz="1100" b="0">
                          <a:solidFill>
                            <a:srgbClr val="1F2A44"/>
                          </a:solidFill>
                          <a:latin typeface="Calibri"/>
                        </a:rPr>
                        <a:t>-$4 to 8M</a:t>
                      </a:r>
                    </a:p>
                  </a:txBody>
                  <a:tcPr marL="54864" marR="54864" marT="27432" marB="27432" anchor="ctr">
                    <a:solidFill>
                      <a:srgbClr val="FFFFFF"/>
                    </a:solidFill>
                  </a:tcPr>
                </a:tc>
              </a:tr>
              <a:tr h="444138">
                <a:tc>
                  <a:txBody>
                    <a:bodyPr/>
                    <a:lstStyle/>
                    <a:p>
                      <a:r>
                        <a:rPr sz="1100" b="0">
                          <a:solidFill>
                            <a:srgbClr val="1F2A44"/>
                          </a:solidFill>
                          <a:latin typeface="Calibri"/>
                        </a:rPr>
                        <a:t>48E and adder, revenue req.</a:t>
                      </a:r>
                    </a:p>
                  </a:txBody>
                  <a:tcPr marL="54864" marR="54864" marT="27432" marB="27432" anchor="ctr">
                    <a:solidFill>
                      <a:srgbClr val="F2F4F8"/>
                    </a:solidFill>
                  </a:tcPr>
                </a:tc>
                <a:tc>
                  <a:txBody>
                    <a:bodyPr/>
                    <a:lstStyle/>
                    <a:p>
                      <a:pPr algn="r"/>
                      <a:r>
                        <a:rPr sz="1100" b="0">
                          <a:solidFill>
                            <a:srgbClr val="1F2A44"/>
                          </a:solidFill>
                          <a:latin typeface="Calibri"/>
                        </a:rPr>
                        <a:t>$11.2 to 16.5M</a:t>
                      </a:r>
                    </a:p>
                  </a:txBody>
                  <a:tcPr marL="54864" marR="54864" marT="27432" marB="27432" anchor="ctr">
                    <a:solidFill>
                      <a:srgbClr val="F2F4F8"/>
                    </a:solidFill>
                  </a:tcPr>
                </a:tc>
              </a:tr>
            </a:tbl>
          </a:graphicData>
        </a:graphic>
      </p:graphicFrame>
      <p:sp>
        <p:nvSpPr>
          <p:cNvPr id="9" name="TextBox 8"/>
          <p:cNvSpPr txBox="1"/>
          <p:nvPr/>
        </p:nvSpPr>
        <p:spPr>
          <a:xfrm>
            <a:off x="8138160" y="4663440"/>
            <a:ext cx="3566160" cy="1645920"/>
          </a:xfrm>
          <a:prstGeom prst="rect">
            <a:avLst/>
          </a:prstGeom>
          <a:noFill/>
        </p:spPr>
        <p:txBody>
          <a:bodyPr wrap="square" lIns="45720" rIns="45720" tIns="27432" bIns="27432" anchor="t">
            <a:spAutoFit/>
          </a:bodyPr>
          <a:lstStyle/>
          <a:p>
            <a:pPr algn="l">
              <a:lnSpc>
                <a:spcPct val="105000"/>
              </a:lnSpc>
              <a:spcAft>
                <a:spcPts val="400"/>
              </a:spcAft>
            </a:pPr>
            <a:r>
              <a:rPr sz="1100" b="0" i="0">
                <a:solidFill>
                  <a:srgbClr val="6B7280"/>
                </a:solidFill>
                <a:latin typeface="Calibri"/>
              </a:rPr>
              <a:t>Midpoints plotted. Every lever is sized from the Rev 3 line items and loaded at the marginal loader of 1.44 (contingency, basis-driven indirects and AFUDC scale with directs). The two red steps are not levers: they are what must be managed so the savings stick (slide 9).</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56032"/>
            <a:ext cx="11064240" cy="274320"/>
          </a:xfrm>
          <a:prstGeom prst="rect">
            <a:avLst/>
          </a:prstGeom>
          <a:noFill/>
        </p:spPr>
        <p:txBody>
          <a:bodyPr wrap="square" lIns="45720" rIns="45720" tIns="27432" bIns="27432" anchor="t">
            <a:spAutoFit/>
          </a:bodyPr>
          <a:lstStyle/>
          <a:p>
            <a:pPr algn="l">
              <a:lnSpc>
                <a:spcPct val="105000"/>
              </a:lnSpc>
              <a:spcAft>
                <a:spcPts val="400"/>
              </a:spcAft>
            </a:pPr>
            <a:r>
              <a:rPr sz="1100" b="1" i="0">
                <a:solidFill>
                  <a:srgbClr val="6E1F2E"/>
                </a:solidFill>
                <a:latin typeface="Calibri"/>
              </a:rPr>
              <a:t>GROUP 1: DECISIONS, NO STUDY</a:t>
            </a:r>
          </a:p>
        </p:txBody>
      </p:sp>
      <p:sp>
        <p:nvSpPr>
          <p:cNvPr id="4" name="TextBox 3"/>
          <p:cNvSpPr txBox="1"/>
          <p:nvPr/>
        </p:nvSpPr>
        <p:spPr>
          <a:xfrm>
            <a:off x="548640" y="475488"/>
            <a:ext cx="11064240" cy="868680"/>
          </a:xfrm>
          <a:prstGeom prst="rect">
            <a:avLst/>
          </a:prstGeom>
          <a:noFill/>
        </p:spPr>
        <p:txBody>
          <a:bodyPr wrap="square" lIns="45720" rIns="45720" tIns="27432" bIns="27432" anchor="t">
            <a:spAutoFit/>
          </a:bodyPr>
          <a:lstStyle/>
          <a:p>
            <a:pPr algn="l">
              <a:lnSpc>
                <a:spcPct val="100000"/>
              </a:lnSpc>
              <a:spcAft>
                <a:spcPts val="400"/>
              </a:spcAft>
            </a:pPr>
            <a:r>
              <a:rPr sz="2300" b="1" i="0">
                <a:solidFill>
                  <a:srgbClr val="001E60"/>
                </a:solidFill>
                <a:latin typeface="Georgia"/>
              </a:rPr>
              <a:t>Decide now, before the November PAF: six levers worth $4.9 to 7.0M, none of which changes scope</a:t>
            </a:r>
          </a:p>
        </p:txBody>
      </p:sp>
      <p:sp>
        <p:nvSpPr>
          <p:cNvPr id="5" name="TextBox 4"/>
          <p:cNvSpPr txBox="1"/>
          <p:nvPr/>
        </p:nvSpPr>
        <p:spPr>
          <a:xfrm>
            <a:off x="548640" y="6419088"/>
            <a:ext cx="8229600" cy="274320"/>
          </a:xfrm>
          <a:prstGeom prst="rect">
            <a:avLst/>
          </a:prstGeom>
          <a:noFill/>
        </p:spPr>
        <p:txBody>
          <a:bodyPr wrap="square" lIns="45720" rIns="45720" tIns="27432" bIns="27432" anchor="t">
            <a:spAutoFit/>
          </a:bodyPr>
          <a:lstStyle/>
          <a:p>
            <a:pPr algn="l">
              <a:lnSpc>
                <a:spcPct val="105000"/>
              </a:lnSpc>
              <a:spcAft>
                <a:spcPts val="400"/>
              </a:spcAft>
            </a:pPr>
            <a:r>
              <a:rPr sz="1000" b="0" i="0">
                <a:solidFill>
                  <a:srgbClr val="6B7280"/>
                </a:solidFill>
                <a:latin typeface="Calibri"/>
              </a:rPr>
              <a:t>EstimatingCoE | Eversource Energy | Stewards of Affordability</a:t>
            </a:r>
          </a:p>
        </p:txBody>
      </p:sp>
      <p:sp>
        <p:nvSpPr>
          <p:cNvPr id="6" name="TextBox 5"/>
          <p:cNvSpPr txBox="1"/>
          <p:nvPr/>
        </p:nvSpPr>
        <p:spPr>
          <a:xfrm>
            <a:off x="10972800" y="6419088"/>
            <a:ext cx="685800" cy="274320"/>
          </a:xfrm>
          <a:prstGeom prst="rect">
            <a:avLst/>
          </a:prstGeom>
          <a:noFill/>
        </p:spPr>
        <p:txBody>
          <a:bodyPr wrap="square" lIns="45720" rIns="45720" tIns="27432" bIns="27432" anchor="t">
            <a:spAutoFit/>
          </a:bodyPr>
          <a:lstStyle/>
          <a:p>
            <a:pPr algn="r">
              <a:lnSpc>
                <a:spcPct val="105000"/>
              </a:lnSpc>
              <a:spcAft>
                <a:spcPts val="400"/>
              </a:spcAft>
            </a:pPr>
            <a:r>
              <a:rPr sz="1000" b="0" i="0">
                <a:solidFill>
                  <a:srgbClr val="6B7280"/>
                </a:solidFill>
                <a:latin typeface="Calibri"/>
              </a:rPr>
              <a:t>4</a:t>
            </a:r>
          </a:p>
        </p:txBody>
      </p:sp>
      <p:graphicFrame>
        <p:nvGraphicFramePr>
          <p:cNvPr id="7" name="Table 6"/>
          <p:cNvGraphicFramePr>
            <a:graphicFrameLocks noGrp="1"/>
          </p:cNvGraphicFramePr>
          <p:nvPr/>
        </p:nvGraphicFramePr>
        <p:xfrm>
          <a:off x="548640" y="1371600"/>
          <a:ext cx="11064239" cy="3931920"/>
        </p:xfrm>
        <a:graphic>
          <a:graphicData uri="http://schemas.openxmlformats.org/drawingml/2006/table">
            <a:tbl>
              <a:tblPr firstRow="1" bandRow="1">
                <a:tableStyleId>{5C22544A-7EE6-4342-B048-85BDC9FD1C3A}</a:tableStyleId>
              </a:tblPr>
              <a:tblGrid>
                <a:gridCol w="411480"/>
                <a:gridCol w="3749039"/>
                <a:gridCol w="1188720"/>
                <a:gridCol w="640080"/>
                <a:gridCol w="2377440"/>
                <a:gridCol w="1920240"/>
                <a:gridCol w="777240"/>
              </a:tblGrid>
              <a:tr h="491490">
                <a:tc>
                  <a:txBody>
                    <a:bodyPr/>
                    <a:lstStyle/>
                    <a:p>
                      <a:r>
                        <a:rPr sz="1150" b="1">
                          <a:solidFill>
                            <a:srgbClr val="FFFFFF"/>
                          </a:solidFill>
                          <a:latin typeface="Calibri"/>
                        </a:rPr>
                        <a:t>#</a:t>
                      </a:r>
                    </a:p>
                  </a:txBody>
                  <a:tcPr marL="54864" marR="54864" marT="27432" marB="27432">
                    <a:solidFill>
                      <a:srgbClr val="001E60"/>
                    </a:solidFill>
                  </a:tcPr>
                </a:tc>
                <a:tc>
                  <a:txBody>
                    <a:bodyPr/>
                    <a:lstStyle/>
                    <a:p>
                      <a:r>
                        <a:rPr sz="1150" b="1">
                          <a:solidFill>
                            <a:srgbClr val="FFFFFF"/>
                          </a:solidFill>
                          <a:latin typeface="Calibri"/>
                        </a:rPr>
                        <a:t>Lever</a:t>
                      </a:r>
                    </a:p>
                  </a:txBody>
                  <a:tcPr marL="54864" marR="54864" marT="27432" marB="27432">
                    <a:solidFill>
                      <a:srgbClr val="001E60"/>
                    </a:solidFill>
                  </a:tcPr>
                </a:tc>
                <a:tc>
                  <a:txBody>
                    <a:bodyPr/>
                    <a:lstStyle/>
                    <a:p>
                      <a:pPr algn="r"/>
                      <a:r>
                        <a:rPr sz="1150" b="1">
                          <a:solidFill>
                            <a:srgbClr val="FFFFFF"/>
                          </a:solidFill>
                          <a:latin typeface="Calibri"/>
                        </a:rPr>
                        <a:t>Loaded</a:t>
                      </a:r>
                    </a:p>
                  </a:txBody>
                  <a:tcPr marL="54864" marR="54864" marT="27432" marB="27432">
                    <a:solidFill>
                      <a:srgbClr val="001E60"/>
                    </a:solidFill>
                  </a:tcPr>
                </a:tc>
                <a:tc>
                  <a:txBody>
                    <a:bodyPr/>
                    <a:lstStyle/>
                    <a:p>
                      <a:pPr algn="r"/>
                      <a:r>
                        <a:rPr sz="1150" b="1">
                          <a:solidFill>
                            <a:srgbClr val="FFFFFF"/>
                          </a:solidFill>
                          <a:latin typeface="Calibri"/>
                        </a:rPr>
                        <a:t>Odds</a:t>
                      </a:r>
                    </a:p>
                  </a:txBody>
                  <a:tcPr marL="54864" marR="54864" marT="27432" marB="27432">
                    <a:solidFill>
                      <a:srgbClr val="001E60"/>
                    </a:solidFill>
                  </a:tcPr>
                </a:tc>
                <a:tc>
                  <a:txBody>
                    <a:bodyPr/>
                    <a:lstStyle/>
                    <a:p>
                      <a:r>
                        <a:rPr sz="1150" b="1">
                          <a:solidFill>
                            <a:srgbClr val="FFFFFF"/>
                          </a:solidFill>
                          <a:latin typeface="Calibri"/>
                        </a:rPr>
                        <a:t>What it takes</a:t>
                      </a:r>
                    </a:p>
                  </a:txBody>
                  <a:tcPr marL="54864" marR="54864" marT="27432" marB="27432">
                    <a:solidFill>
                      <a:srgbClr val="001E60"/>
                    </a:solidFill>
                  </a:tcPr>
                </a:tc>
                <a:tc>
                  <a:txBody>
                    <a:bodyPr/>
                    <a:lstStyle/>
                    <a:p>
                      <a:r>
                        <a:rPr sz="1150" b="1">
                          <a:solidFill>
                            <a:srgbClr val="FFFFFF"/>
                          </a:solidFill>
                          <a:latin typeface="Calibri"/>
                        </a:rPr>
                        <a:t>Owner</a:t>
                      </a:r>
                    </a:p>
                  </a:txBody>
                  <a:tcPr marL="54864" marR="54864" marT="27432" marB="27432">
                    <a:solidFill>
                      <a:srgbClr val="001E60"/>
                    </a:solidFill>
                  </a:tcPr>
                </a:tc>
                <a:tc>
                  <a:txBody>
                    <a:bodyPr/>
                    <a:lstStyle/>
                    <a:p>
                      <a:r>
                        <a:rPr sz="1150" b="1">
                          <a:solidFill>
                            <a:srgbClr val="FFFFFF"/>
                          </a:solidFill>
                          <a:latin typeface="Calibri"/>
                        </a:rPr>
                        <a:t>By</a:t>
                      </a:r>
                    </a:p>
                  </a:txBody>
                  <a:tcPr marL="54864" marR="54864" marT="27432" marB="27432">
                    <a:solidFill>
                      <a:srgbClr val="001E60"/>
                    </a:solidFill>
                  </a:tcPr>
                </a:tc>
              </a:tr>
              <a:tr h="491490">
                <a:tc>
                  <a:txBody>
                    <a:bodyPr/>
                    <a:lstStyle/>
                    <a:p>
                      <a:r>
                        <a:rPr sz="1150" b="1">
                          <a:solidFill>
                            <a:srgbClr val="FFFFFF"/>
                          </a:solidFill>
                          <a:latin typeface="Calibri"/>
                        </a:rPr>
                        <a:t>A1</a:t>
                      </a:r>
                    </a:p>
                  </a:txBody>
                  <a:tcPr marL="54864" marR="54864" marT="27432" marB="27432" anchor="ctr">
                    <a:solidFill>
                      <a:srgbClr val="2A8A8C"/>
                    </a:solidFill>
                  </a:tcPr>
                </a:tc>
                <a:tc>
                  <a:txBody>
                    <a:bodyPr/>
                    <a:lstStyle/>
                    <a:p>
                      <a:r>
                        <a:rPr sz="1150" b="0">
                          <a:solidFill>
                            <a:srgbClr val="1F2A44"/>
                          </a:solidFill>
                          <a:latin typeface="Calibri"/>
                        </a:rPr>
                        <a:t>Strike the escalation carried on the fixed-price battery</a:t>
                      </a:r>
                    </a:p>
                  </a:txBody>
                  <a:tcPr marL="54864" marR="54864" marT="27432" marB="27432" anchor="ctr">
                    <a:solidFill>
                      <a:srgbClr val="FFFFFF"/>
                    </a:solidFill>
                  </a:tcPr>
                </a:tc>
                <a:tc>
                  <a:txBody>
                    <a:bodyPr/>
                    <a:lstStyle/>
                    <a:p>
                      <a:pPr algn="r"/>
                      <a:r>
                        <a:rPr sz="1150" b="0">
                          <a:solidFill>
                            <a:srgbClr val="1F2A44"/>
                          </a:solidFill>
                          <a:latin typeface="Calibri"/>
                        </a:rPr>
                        <a:t>$1.6M</a:t>
                      </a:r>
                    </a:p>
                  </a:txBody>
                  <a:tcPr marL="54864" marR="54864" marT="27432" marB="27432" anchor="ctr">
                    <a:solidFill>
                      <a:srgbClr val="FFFFFF"/>
                    </a:solidFill>
                  </a:tcPr>
                </a:tc>
                <a:tc>
                  <a:txBody>
                    <a:bodyPr/>
                    <a:lstStyle/>
                    <a:p>
                      <a:pPr algn="r"/>
                      <a:r>
                        <a:rPr sz="1150" b="0">
                          <a:solidFill>
                            <a:srgbClr val="1F2A44"/>
                          </a:solidFill>
                          <a:latin typeface="Calibri"/>
                        </a:rPr>
                        <a:t>80%</a:t>
                      </a:r>
                    </a:p>
                  </a:txBody>
                  <a:tcPr marL="54864" marR="54864" marT="27432" marB="27432" anchor="ctr">
                    <a:solidFill>
                      <a:srgbClr val="FFFFFF"/>
                    </a:solidFill>
                  </a:tcPr>
                </a:tc>
                <a:tc>
                  <a:txBody>
                    <a:bodyPr/>
                    <a:lstStyle/>
                    <a:p>
                      <a:r>
                        <a:rPr sz="1150" b="0">
                          <a:solidFill>
                            <a:srgbClr val="1F2A44"/>
                          </a:solidFill>
                          <a:latin typeface="Calibri"/>
                        </a:rPr>
                        <a:t>Decision; Exhibit C read for pass-through</a:t>
                      </a:r>
                    </a:p>
                  </a:txBody>
                  <a:tcPr marL="54864" marR="54864" marT="27432" marB="27432" anchor="ctr">
                    <a:solidFill>
                      <a:srgbClr val="FFFFFF"/>
                    </a:solidFill>
                  </a:tcPr>
                </a:tc>
                <a:tc>
                  <a:txBody>
                    <a:bodyPr/>
                    <a:lstStyle/>
                    <a:p>
                      <a:r>
                        <a:rPr sz="1150" b="0">
                          <a:solidFill>
                            <a:srgbClr val="1F2A44"/>
                          </a:solidFill>
                          <a:latin typeface="Calibri"/>
                        </a:rPr>
                        <a:t>Cost Estimating / Sourcing</a:t>
                      </a:r>
                    </a:p>
                  </a:txBody>
                  <a:tcPr marL="54864" marR="54864" marT="27432" marB="27432" anchor="ctr">
                    <a:solidFill>
                      <a:srgbClr val="FFFFFF"/>
                    </a:solidFill>
                  </a:tcPr>
                </a:tc>
                <a:tc>
                  <a:txBody>
                    <a:bodyPr/>
                    <a:lstStyle/>
                    <a:p>
                      <a:r>
                        <a:rPr sz="1150" b="0">
                          <a:solidFill>
                            <a:srgbClr val="1F2A44"/>
                          </a:solidFill>
                          <a:latin typeface="Calibri"/>
                        </a:rPr>
                        <a:t>Nov 2026</a:t>
                      </a:r>
                    </a:p>
                  </a:txBody>
                  <a:tcPr marL="54864" marR="54864" marT="27432" marB="27432" anchor="ctr">
                    <a:solidFill>
                      <a:srgbClr val="FFFFFF"/>
                    </a:solidFill>
                  </a:tcPr>
                </a:tc>
              </a:tr>
              <a:tr h="491490">
                <a:tc>
                  <a:txBody>
                    <a:bodyPr/>
                    <a:lstStyle/>
                    <a:p>
                      <a:r>
                        <a:rPr sz="1150" b="1">
                          <a:solidFill>
                            <a:srgbClr val="FFFFFF"/>
                          </a:solidFill>
                          <a:latin typeface="Calibri"/>
                        </a:rPr>
                        <a:t>A2</a:t>
                      </a:r>
                    </a:p>
                  </a:txBody>
                  <a:tcPr marL="54864" marR="54864" marT="27432" marB="27432" anchor="ctr">
                    <a:solidFill>
                      <a:srgbClr val="2A8A8C"/>
                    </a:solidFill>
                  </a:tcPr>
                </a:tc>
                <a:tc>
                  <a:txBody>
                    <a:bodyPr/>
                    <a:lstStyle/>
                    <a:p>
                      <a:r>
                        <a:rPr sz="1150" b="0">
                          <a:solidFill>
                            <a:srgbClr val="1F2A44"/>
                          </a:solidFill>
                          <a:latin typeface="Calibri"/>
                        </a:rPr>
                        <a:t>Re-word two risk lines that duplicate that escalation</a:t>
                      </a:r>
                    </a:p>
                  </a:txBody>
                  <a:tcPr marL="54864" marR="54864" marT="27432" marB="27432" anchor="ctr">
                    <a:solidFill>
                      <a:srgbClr val="F2F4F8"/>
                    </a:solidFill>
                  </a:tcPr>
                </a:tc>
                <a:tc>
                  <a:txBody>
                    <a:bodyPr/>
                    <a:lstStyle/>
                    <a:p>
                      <a:pPr algn="r"/>
                      <a:r>
                        <a:rPr sz="1150" b="0">
                          <a:solidFill>
                            <a:srgbClr val="1F2A44"/>
                          </a:solidFill>
                          <a:latin typeface="Calibri"/>
                        </a:rPr>
                        <a:t>$1.3 to 1.8M</a:t>
                      </a:r>
                    </a:p>
                  </a:txBody>
                  <a:tcPr marL="54864" marR="54864" marT="27432" marB="27432" anchor="ctr">
                    <a:solidFill>
                      <a:srgbClr val="F2F4F8"/>
                    </a:solidFill>
                  </a:tcPr>
                </a:tc>
                <a:tc>
                  <a:txBody>
                    <a:bodyPr/>
                    <a:lstStyle/>
                    <a:p>
                      <a:pPr algn="r"/>
                      <a:r>
                        <a:rPr sz="1150" b="0">
                          <a:solidFill>
                            <a:srgbClr val="1F2A44"/>
                          </a:solidFill>
                          <a:latin typeface="Calibri"/>
                        </a:rPr>
                        <a:t>70%</a:t>
                      </a:r>
                    </a:p>
                  </a:txBody>
                  <a:tcPr marL="54864" marR="54864" marT="27432" marB="27432" anchor="ctr">
                    <a:solidFill>
                      <a:srgbClr val="F2F4F8"/>
                    </a:solidFill>
                  </a:tcPr>
                </a:tc>
                <a:tc>
                  <a:txBody>
                    <a:bodyPr/>
                    <a:lstStyle/>
                    <a:p>
                      <a:r>
                        <a:rPr sz="1150" b="0">
                          <a:solidFill>
                            <a:srgbClr val="1F2A44"/>
                          </a:solidFill>
                          <a:latin typeface="Calibri"/>
                        </a:rPr>
                        <a:t>Re-word and re-size the two lines</a:t>
                      </a:r>
                    </a:p>
                  </a:txBody>
                  <a:tcPr marL="54864" marR="54864" marT="27432" marB="27432" anchor="ctr">
                    <a:solidFill>
                      <a:srgbClr val="F2F4F8"/>
                    </a:solidFill>
                  </a:tcPr>
                </a:tc>
                <a:tc>
                  <a:txBody>
                    <a:bodyPr/>
                    <a:lstStyle/>
                    <a:p>
                      <a:r>
                        <a:rPr sz="1150" b="0">
                          <a:solidFill>
                            <a:srgbClr val="1F2A44"/>
                          </a:solidFill>
                          <a:latin typeface="Calibri"/>
                        </a:rPr>
                        <a:t>Cost Estimating + PM</a:t>
                      </a:r>
                    </a:p>
                  </a:txBody>
                  <a:tcPr marL="54864" marR="54864" marT="27432" marB="27432" anchor="ctr">
                    <a:solidFill>
                      <a:srgbClr val="F2F4F8"/>
                    </a:solidFill>
                  </a:tcPr>
                </a:tc>
                <a:tc>
                  <a:txBody>
                    <a:bodyPr/>
                    <a:lstStyle/>
                    <a:p>
                      <a:r>
                        <a:rPr sz="1150" b="0">
                          <a:solidFill>
                            <a:srgbClr val="1F2A44"/>
                          </a:solidFill>
                          <a:latin typeface="Calibri"/>
                        </a:rPr>
                        <a:t>Nov 2026</a:t>
                      </a:r>
                    </a:p>
                  </a:txBody>
                  <a:tcPr marL="54864" marR="54864" marT="27432" marB="27432" anchor="ctr">
                    <a:solidFill>
                      <a:srgbClr val="F2F4F8"/>
                    </a:solidFill>
                  </a:tcPr>
                </a:tc>
              </a:tr>
              <a:tr h="491490">
                <a:tc>
                  <a:txBody>
                    <a:bodyPr/>
                    <a:lstStyle/>
                    <a:p>
                      <a:r>
                        <a:rPr sz="1150" b="1">
                          <a:solidFill>
                            <a:srgbClr val="FFFFFF"/>
                          </a:solidFill>
                          <a:latin typeface="Calibri"/>
                        </a:rPr>
                        <a:t>A4</a:t>
                      </a:r>
                    </a:p>
                  </a:txBody>
                  <a:tcPr marL="54864" marR="54864" marT="27432" marB="27432" anchor="ctr">
                    <a:solidFill>
                      <a:srgbClr val="2A8A8C"/>
                    </a:solidFill>
                  </a:tcPr>
                </a:tc>
                <a:tc>
                  <a:txBody>
                    <a:bodyPr/>
                    <a:lstStyle/>
                    <a:p>
                      <a:r>
                        <a:rPr sz="1150" b="0">
                          <a:solidFill>
                            <a:srgbClr val="1F2A44"/>
                          </a:solidFill>
                          <a:latin typeface="Calibri"/>
                        </a:rPr>
                        <a:t>Take the E&amp;S overhead basis off the vendor contract</a:t>
                      </a:r>
                    </a:p>
                  </a:txBody>
                  <a:tcPr marL="54864" marR="54864" marT="27432" marB="27432" anchor="ctr">
                    <a:solidFill>
                      <a:srgbClr val="FFFFFF"/>
                    </a:solidFill>
                  </a:tcPr>
                </a:tc>
                <a:tc>
                  <a:txBody>
                    <a:bodyPr/>
                    <a:lstStyle/>
                    <a:p>
                      <a:pPr algn="r"/>
                      <a:r>
                        <a:rPr sz="1150" b="0">
                          <a:solidFill>
                            <a:srgbClr val="1F2A44"/>
                          </a:solidFill>
                          <a:latin typeface="Calibri"/>
                        </a:rPr>
                        <a:t>$1.0 to 2.1M</a:t>
                      </a:r>
                    </a:p>
                  </a:txBody>
                  <a:tcPr marL="54864" marR="54864" marT="27432" marB="27432" anchor="ctr">
                    <a:solidFill>
                      <a:srgbClr val="FFFFFF"/>
                    </a:solidFill>
                  </a:tcPr>
                </a:tc>
                <a:tc>
                  <a:txBody>
                    <a:bodyPr/>
                    <a:lstStyle/>
                    <a:p>
                      <a:pPr algn="r"/>
                      <a:r>
                        <a:rPr sz="1150" b="0">
                          <a:solidFill>
                            <a:srgbClr val="1F2A44"/>
                          </a:solidFill>
                          <a:latin typeface="Calibri"/>
                        </a:rPr>
                        <a:t>30%</a:t>
                      </a:r>
                    </a:p>
                  </a:txBody>
                  <a:tcPr marL="54864" marR="54864" marT="27432" marB="27432" anchor="ctr">
                    <a:solidFill>
                      <a:srgbClr val="FFFFFF"/>
                    </a:solidFill>
                  </a:tcPr>
                </a:tc>
                <a:tc>
                  <a:txBody>
                    <a:bodyPr/>
                    <a:lstStyle/>
                    <a:p>
                      <a:r>
                        <a:rPr sz="1150" b="0">
                          <a:solidFill>
                            <a:srgbClr val="1F2A44"/>
                          </a:solidFill>
                          <a:latin typeface="Calibri"/>
                        </a:rPr>
                        <a:t>Accounting ruling</a:t>
                      </a:r>
                    </a:p>
                  </a:txBody>
                  <a:tcPr marL="54864" marR="54864" marT="27432" marB="27432" anchor="ctr">
                    <a:solidFill>
                      <a:srgbClr val="FFFFFF"/>
                    </a:solidFill>
                  </a:tcPr>
                </a:tc>
                <a:tc>
                  <a:txBody>
                    <a:bodyPr/>
                    <a:lstStyle/>
                    <a:p>
                      <a:r>
                        <a:rPr sz="1150" b="0">
                          <a:solidFill>
                            <a:srgbClr val="1F2A44"/>
                          </a:solidFill>
                          <a:latin typeface="Calibri"/>
                        </a:rPr>
                        <a:t>Accounting / Cost Estimating</a:t>
                      </a:r>
                    </a:p>
                  </a:txBody>
                  <a:tcPr marL="54864" marR="54864" marT="27432" marB="27432" anchor="ctr">
                    <a:solidFill>
                      <a:srgbClr val="FFFFFF"/>
                    </a:solidFill>
                  </a:tcPr>
                </a:tc>
                <a:tc>
                  <a:txBody>
                    <a:bodyPr/>
                    <a:lstStyle/>
                    <a:p>
                      <a:r>
                        <a:rPr sz="1150" b="0">
                          <a:solidFill>
                            <a:srgbClr val="1F2A44"/>
                          </a:solidFill>
                          <a:latin typeface="Calibri"/>
                        </a:rPr>
                        <a:t>Nov 2026</a:t>
                      </a:r>
                    </a:p>
                  </a:txBody>
                  <a:tcPr marL="54864" marR="54864" marT="27432" marB="27432" anchor="ctr">
                    <a:solidFill>
                      <a:srgbClr val="FFFFFF"/>
                    </a:solidFill>
                  </a:tcPr>
                </a:tc>
              </a:tr>
              <a:tr h="491490">
                <a:tc>
                  <a:txBody>
                    <a:bodyPr/>
                    <a:lstStyle/>
                    <a:p>
                      <a:r>
                        <a:rPr sz="1150" b="1">
                          <a:solidFill>
                            <a:srgbClr val="FFFFFF"/>
                          </a:solidFill>
                          <a:latin typeface="Calibri"/>
                        </a:rPr>
                        <a:t>A5</a:t>
                      </a:r>
                    </a:p>
                  </a:txBody>
                  <a:tcPr marL="54864" marR="54864" marT="27432" marB="27432" anchor="ctr">
                    <a:solidFill>
                      <a:srgbClr val="2A8A8C"/>
                    </a:solidFill>
                  </a:tcPr>
                </a:tc>
                <a:tc>
                  <a:txBody>
                    <a:bodyPr/>
                    <a:lstStyle/>
                    <a:p>
                      <a:r>
                        <a:rPr sz="1150" b="0">
                          <a:solidFill>
                            <a:srgbClr val="1F2A44"/>
                          </a:solidFill>
                          <a:latin typeface="Calibri"/>
                        </a:rPr>
                        <a:t>Split commissioning hours with Nomad in the test plan</a:t>
                      </a:r>
                    </a:p>
                  </a:txBody>
                  <a:tcPr marL="54864" marR="54864" marT="27432" marB="27432" anchor="ctr">
                    <a:solidFill>
                      <a:srgbClr val="F2F4F8"/>
                    </a:solidFill>
                  </a:tcPr>
                </a:tc>
                <a:tc>
                  <a:txBody>
                    <a:bodyPr/>
                    <a:lstStyle/>
                    <a:p>
                      <a:pPr algn="r"/>
                      <a:r>
                        <a:rPr sz="1150" b="0">
                          <a:solidFill>
                            <a:srgbClr val="1F2A44"/>
                          </a:solidFill>
                          <a:latin typeface="Calibri"/>
                        </a:rPr>
                        <a:t>$0.2 to 0.5M</a:t>
                      </a:r>
                    </a:p>
                  </a:txBody>
                  <a:tcPr marL="54864" marR="54864" marT="27432" marB="27432" anchor="ctr">
                    <a:solidFill>
                      <a:srgbClr val="F2F4F8"/>
                    </a:solidFill>
                  </a:tcPr>
                </a:tc>
                <a:tc>
                  <a:txBody>
                    <a:bodyPr/>
                    <a:lstStyle/>
                    <a:p>
                      <a:pPr algn="r"/>
                      <a:r>
                        <a:rPr sz="1150" b="0">
                          <a:solidFill>
                            <a:srgbClr val="1F2A44"/>
                          </a:solidFill>
                          <a:latin typeface="Calibri"/>
                        </a:rPr>
                        <a:t>50%</a:t>
                      </a:r>
                    </a:p>
                  </a:txBody>
                  <a:tcPr marL="54864" marR="54864" marT="27432" marB="27432" anchor="ctr">
                    <a:solidFill>
                      <a:srgbClr val="F2F4F8"/>
                    </a:solidFill>
                  </a:tcPr>
                </a:tc>
                <a:tc>
                  <a:txBody>
                    <a:bodyPr/>
                    <a:lstStyle/>
                    <a:p>
                      <a:r>
                        <a:rPr sz="1150" b="0">
                          <a:solidFill>
                            <a:srgbClr val="1F2A44"/>
                          </a:solidFill>
                          <a:latin typeface="Calibri"/>
                        </a:rPr>
                        <a:t>Test plan split written</a:t>
                      </a:r>
                    </a:p>
                  </a:txBody>
                  <a:tcPr marL="54864" marR="54864" marT="27432" marB="27432" anchor="ctr">
                    <a:solidFill>
                      <a:srgbClr val="F2F4F8"/>
                    </a:solidFill>
                  </a:tcPr>
                </a:tc>
                <a:tc>
                  <a:txBody>
                    <a:bodyPr/>
                    <a:lstStyle/>
                    <a:p>
                      <a:r>
                        <a:rPr sz="1150" b="0">
                          <a:solidFill>
                            <a:srgbClr val="1F2A44"/>
                          </a:solidFill>
                          <a:latin typeface="Calibri"/>
                        </a:rPr>
                        <a:t>Capital Projects Eng. + Nomad</a:t>
                      </a:r>
                    </a:p>
                  </a:txBody>
                  <a:tcPr marL="54864" marR="54864" marT="27432" marB="27432" anchor="ctr">
                    <a:solidFill>
                      <a:srgbClr val="F2F4F8"/>
                    </a:solidFill>
                  </a:tcPr>
                </a:tc>
                <a:tc>
                  <a:txBody>
                    <a:bodyPr/>
                    <a:lstStyle/>
                    <a:p>
                      <a:r>
                        <a:rPr sz="1150" b="0">
                          <a:solidFill>
                            <a:srgbClr val="1F2A44"/>
                          </a:solidFill>
                          <a:latin typeface="Calibri"/>
                        </a:rPr>
                        <a:t>Nov 2026</a:t>
                      </a:r>
                    </a:p>
                  </a:txBody>
                  <a:tcPr marL="54864" marR="54864" marT="27432" marB="27432" anchor="ctr">
                    <a:solidFill>
                      <a:srgbClr val="F2F4F8"/>
                    </a:solidFill>
                  </a:tcPr>
                </a:tc>
              </a:tr>
              <a:tr h="491490">
                <a:tc>
                  <a:txBody>
                    <a:bodyPr/>
                    <a:lstStyle/>
                    <a:p>
                      <a:r>
                        <a:rPr sz="1150" b="1">
                          <a:solidFill>
                            <a:srgbClr val="FFFFFF"/>
                          </a:solidFill>
                          <a:latin typeface="Calibri"/>
                        </a:rPr>
                        <a:t>B5</a:t>
                      </a:r>
                    </a:p>
                  </a:txBody>
                  <a:tcPr marL="54864" marR="54864" marT="27432" marB="27432" anchor="ctr">
                    <a:solidFill>
                      <a:srgbClr val="001E60"/>
                    </a:solidFill>
                  </a:tcPr>
                </a:tc>
                <a:tc>
                  <a:txBody>
                    <a:bodyPr/>
                    <a:lstStyle/>
                    <a:p>
                      <a:r>
                        <a:rPr sz="1150" b="0">
                          <a:solidFill>
                            <a:srgbClr val="1F2A44"/>
                          </a:solidFill>
                          <a:latin typeface="Calibri"/>
                        </a:rPr>
                        <a:t>Strike the disconnects and PTs the Siemens skids already carry</a:t>
                      </a:r>
                    </a:p>
                  </a:txBody>
                  <a:tcPr marL="54864" marR="54864" marT="27432" marB="27432" anchor="ctr">
                    <a:solidFill>
                      <a:srgbClr val="FFFFFF"/>
                    </a:solidFill>
                  </a:tcPr>
                </a:tc>
                <a:tc>
                  <a:txBody>
                    <a:bodyPr/>
                    <a:lstStyle/>
                    <a:p>
                      <a:pPr algn="r"/>
                      <a:r>
                        <a:rPr sz="1150" b="0">
                          <a:solidFill>
                            <a:srgbClr val="1F2A44"/>
                          </a:solidFill>
                          <a:latin typeface="Calibri"/>
                        </a:rPr>
                        <a:t>$0.4M</a:t>
                      </a:r>
                    </a:p>
                  </a:txBody>
                  <a:tcPr marL="54864" marR="54864" marT="27432" marB="27432" anchor="ctr">
                    <a:solidFill>
                      <a:srgbClr val="FFFFFF"/>
                    </a:solidFill>
                  </a:tcPr>
                </a:tc>
                <a:tc>
                  <a:txBody>
                    <a:bodyPr/>
                    <a:lstStyle/>
                    <a:p>
                      <a:pPr algn="r"/>
                      <a:r>
                        <a:rPr sz="1150" b="0">
                          <a:solidFill>
                            <a:srgbClr val="1F2A44"/>
                          </a:solidFill>
                          <a:latin typeface="Calibri"/>
                        </a:rPr>
                        <a:t>90%</a:t>
                      </a:r>
                    </a:p>
                  </a:txBody>
                  <a:tcPr marL="54864" marR="54864" marT="27432" marB="27432" anchor="ctr">
                    <a:solidFill>
                      <a:srgbClr val="FFFFFF"/>
                    </a:solidFill>
                  </a:tcPr>
                </a:tc>
                <a:tc>
                  <a:txBody>
                    <a:bodyPr/>
                    <a:lstStyle/>
                    <a:p>
                      <a:r>
                        <a:rPr sz="1150" b="0">
                          <a:solidFill>
                            <a:srgbClr val="1F2A44"/>
                          </a:solidFill>
                          <a:latin typeface="Calibri"/>
                        </a:rPr>
                        <a:t>Siemens confirms skid scope in writing</a:t>
                      </a:r>
                    </a:p>
                  </a:txBody>
                  <a:tcPr marL="54864" marR="54864" marT="27432" marB="27432" anchor="ctr">
                    <a:solidFill>
                      <a:srgbClr val="FFFFFF"/>
                    </a:solidFill>
                  </a:tcPr>
                </a:tc>
                <a:tc>
                  <a:txBody>
                    <a:bodyPr/>
                    <a:lstStyle/>
                    <a:p>
                      <a:r>
                        <a:rPr sz="1150" b="0">
                          <a:solidFill>
                            <a:srgbClr val="1F2A44"/>
                          </a:solidFill>
                          <a:latin typeface="Calibri"/>
                        </a:rPr>
                        <a:t>Substation Eng. + Cost Estimating</a:t>
                      </a:r>
                    </a:p>
                  </a:txBody>
                  <a:tcPr marL="54864" marR="54864" marT="27432" marB="27432" anchor="ctr">
                    <a:solidFill>
                      <a:srgbClr val="FFFFFF"/>
                    </a:solidFill>
                  </a:tcPr>
                </a:tc>
                <a:tc>
                  <a:txBody>
                    <a:bodyPr/>
                    <a:lstStyle/>
                    <a:p>
                      <a:r>
                        <a:rPr sz="1150" b="0">
                          <a:solidFill>
                            <a:srgbClr val="1F2A44"/>
                          </a:solidFill>
                          <a:latin typeface="Calibri"/>
                        </a:rPr>
                        <a:t>Nov 2026</a:t>
                      </a:r>
                    </a:p>
                  </a:txBody>
                  <a:tcPr marL="54864" marR="54864" marT="27432" marB="27432" anchor="ctr">
                    <a:solidFill>
                      <a:srgbClr val="FFFFFF"/>
                    </a:solidFill>
                  </a:tcPr>
                </a:tc>
              </a:tr>
              <a:tr h="491490">
                <a:tc>
                  <a:txBody>
                    <a:bodyPr/>
                    <a:lstStyle/>
                    <a:p>
                      <a:r>
                        <a:rPr sz="1150" b="1">
                          <a:solidFill>
                            <a:srgbClr val="FFFFFF"/>
                          </a:solidFill>
                          <a:latin typeface="Calibri"/>
                        </a:rPr>
                        <a:t>C3</a:t>
                      </a:r>
                    </a:p>
                  </a:txBody>
                  <a:tcPr marL="54864" marR="54864" marT="27432" marB="27432" anchor="ctr">
                    <a:solidFill>
                      <a:srgbClr val="6E1F2E"/>
                    </a:solidFill>
                  </a:tcPr>
                </a:tc>
                <a:tc>
                  <a:txBody>
                    <a:bodyPr/>
                    <a:lstStyle/>
                    <a:p>
                      <a:r>
                        <a:rPr sz="1150" b="0">
                          <a:solidFill>
                            <a:srgbClr val="1F2A44"/>
                          </a:solidFill>
                          <a:latin typeface="Calibri"/>
                        </a:rPr>
                        <a:t>Pay the battery at delivery, not a year ahead (AFUDC)</a:t>
                      </a:r>
                    </a:p>
                  </a:txBody>
                  <a:tcPr marL="54864" marR="54864" marT="27432" marB="27432" anchor="ctr">
                    <a:solidFill>
                      <a:srgbClr val="F2F4F8"/>
                    </a:solidFill>
                  </a:tcPr>
                </a:tc>
                <a:tc>
                  <a:txBody>
                    <a:bodyPr/>
                    <a:lstStyle/>
                    <a:p>
                      <a:pPr algn="r"/>
                      <a:r>
                        <a:rPr sz="1150" b="0">
                          <a:solidFill>
                            <a:srgbClr val="1F2A44"/>
                          </a:solidFill>
                          <a:latin typeface="Calibri"/>
                        </a:rPr>
                        <a:t>$0.3 to 0.7M</a:t>
                      </a:r>
                    </a:p>
                  </a:txBody>
                  <a:tcPr marL="54864" marR="54864" marT="27432" marB="27432" anchor="ctr">
                    <a:solidFill>
                      <a:srgbClr val="F2F4F8"/>
                    </a:solidFill>
                  </a:tcPr>
                </a:tc>
                <a:tc>
                  <a:txBody>
                    <a:bodyPr/>
                    <a:lstStyle/>
                    <a:p>
                      <a:pPr algn="r"/>
                      <a:r>
                        <a:rPr sz="1150" b="0">
                          <a:solidFill>
                            <a:srgbClr val="1F2A44"/>
                          </a:solidFill>
                          <a:latin typeface="Calibri"/>
                        </a:rPr>
                        <a:t>50%</a:t>
                      </a:r>
                    </a:p>
                  </a:txBody>
                  <a:tcPr marL="54864" marR="54864" marT="27432" marB="27432" anchor="ctr">
                    <a:solidFill>
                      <a:srgbClr val="F2F4F8"/>
                    </a:solidFill>
                  </a:tcPr>
                </a:tc>
                <a:tc>
                  <a:txBody>
                    <a:bodyPr/>
                    <a:lstStyle/>
                    <a:p>
                      <a:r>
                        <a:rPr sz="1150" b="0">
                          <a:solidFill>
                            <a:srgbClr val="1F2A44"/>
                          </a:solidFill>
                          <a:latin typeface="Calibri"/>
                        </a:rPr>
                        <a:t>Nomad milestone schedule in the SOV</a:t>
                      </a:r>
                    </a:p>
                  </a:txBody>
                  <a:tcPr marL="54864" marR="54864" marT="27432" marB="27432" anchor="ctr">
                    <a:solidFill>
                      <a:srgbClr val="F2F4F8"/>
                    </a:solidFill>
                  </a:tcPr>
                </a:tc>
                <a:tc>
                  <a:txBody>
                    <a:bodyPr/>
                    <a:lstStyle/>
                    <a:p>
                      <a:r>
                        <a:rPr sz="1150" b="0">
                          <a:solidFill>
                            <a:srgbClr val="1F2A44"/>
                          </a:solidFill>
                          <a:latin typeface="Calibri"/>
                        </a:rPr>
                        <a:t>PM + Sourcing + Treasury</a:t>
                      </a:r>
                    </a:p>
                  </a:txBody>
                  <a:tcPr marL="54864" marR="54864" marT="27432" marB="27432" anchor="ctr">
                    <a:solidFill>
                      <a:srgbClr val="F2F4F8"/>
                    </a:solidFill>
                  </a:tcPr>
                </a:tc>
                <a:tc>
                  <a:txBody>
                    <a:bodyPr/>
                    <a:lstStyle/>
                    <a:p>
                      <a:r>
                        <a:rPr sz="1150" b="0">
                          <a:solidFill>
                            <a:srgbClr val="1F2A44"/>
                          </a:solidFill>
                          <a:latin typeface="Calibri"/>
                        </a:rPr>
                        <a:t>Nov 2026</a:t>
                      </a:r>
                    </a:p>
                  </a:txBody>
                  <a:tcPr marL="54864" marR="54864" marT="27432" marB="27432" anchor="ctr">
                    <a:solidFill>
                      <a:srgbClr val="F2F4F8"/>
                    </a:solidFill>
                  </a:tcPr>
                </a:tc>
              </a:tr>
              <a:tr h="491490">
                <a:tc>
                  <a:txBody>
                    <a:bodyPr/>
                    <a:lstStyle/>
                    <a:p>
                      <a:r>
                        <a:rPr sz="1150" b="1">
                          <a:solidFill>
                            <a:srgbClr val="1F2A44"/>
                          </a:solidFill>
                          <a:latin typeface="Calibri"/>
                        </a:rPr>
                        <a:t/>
                      </a:r>
                    </a:p>
                  </a:txBody>
                  <a:tcPr marL="54864" marR="54864" marT="27432" marB="27432" anchor="ctr">
                    <a:solidFill>
                      <a:srgbClr val="FFFFFF"/>
                    </a:solidFill>
                  </a:tcPr>
                </a:tc>
                <a:tc>
                  <a:txBody>
                    <a:bodyPr/>
                    <a:lstStyle/>
                    <a:p>
                      <a:r>
                        <a:rPr sz="1150" b="1">
                          <a:solidFill>
                            <a:srgbClr val="1F2A44"/>
                          </a:solidFill>
                          <a:latin typeface="Calibri"/>
                        </a:rPr>
                        <a:t>Total</a:t>
                      </a:r>
                    </a:p>
                  </a:txBody>
                  <a:tcPr marL="54864" marR="54864" marT="27432" marB="27432" anchor="ctr">
                    <a:solidFill>
                      <a:srgbClr val="FFFFFF"/>
                    </a:solidFill>
                  </a:tcPr>
                </a:tc>
                <a:tc>
                  <a:txBody>
                    <a:bodyPr/>
                    <a:lstStyle/>
                    <a:p>
                      <a:pPr algn="r"/>
                      <a:r>
                        <a:rPr sz="1150" b="1">
                          <a:solidFill>
                            <a:srgbClr val="1F2A44"/>
                          </a:solidFill>
                          <a:latin typeface="Calibri"/>
                        </a:rPr>
                        <a:t>$4.9 to 7.0M</a:t>
                      </a:r>
                    </a:p>
                  </a:txBody>
                  <a:tcPr marL="54864" marR="54864" marT="27432" marB="27432" anchor="ctr">
                    <a:solidFill>
                      <a:srgbClr val="FFFFFF"/>
                    </a:solidFill>
                  </a:tcPr>
                </a:tc>
                <a:tc>
                  <a:txBody>
                    <a:bodyPr/>
                    <a:lstStyle/>
                    <a:p>
                      <a:pPr algn="r"/>
                      <a:r>
                        <a:rPr sz="1150" b="1">
                          <a:solidFill>
                            <a:srgbClr val="1F2A44"/>
                          </a:solidFill>
                          <a:latin typeface="Calibri"/>
                        </a:rPr>
                        <a:t/>
                      </a:r>
                    </a:p>
                  </a:txBody>
                  <a:tcPr marL="54864" marR="54864" marT="27432" marB="27432" anchor="ctr">
                    <a:solidFill>
                      <a:srgbClr val="FFFFFF"/>
                    </a:solidFill>
                  </a:tcPr>
                </a:tc>
                <a:tc>
                  <a:txBody>
                    <a:bodyPr/>
                    <a:lstStyle/>
                    <a:p>
                      <a:r>
                        <a:rPr sz="1150" b="1">
                          <a:solidFill>
                            <a:srgbClr val="1F2A44"/>
                          </a:solidFill>
                          <a:latin typeface="Calibri"/>
                        </a:rPr>
                        <a:t/>
                      </a:r>
                    </a:p>
                  </a:txBody>
                  <a:tcPr marL="54864" marR="54864" marT="27432" marB="27432" anchor="ctr">
                    <a:solidFill>
                      <a:srgbClr val="FFFFFF"/>
                    </a:solidFill>
                  </a:tcPr>
                </a:tc>
                <a:tc>
                  <a:txBody>
                    <a:bodyPr/>
                    <a:lstStyle/>
                    <a:p>
                      <a:r>
                        <a:rPr sz="1150" b="1">
                          <a:solidFill>
                            <a:srgbClr val="1F2A44"/>
                          </a:solidFill>
                          <a:latin typeface="Calibri"/>
                        </a:rPr>
                        <a:t/>
                      </a:r>
                    </a:p>
                  </a:txBody>
                  <a:tcPr marL="54864" marR="54864" marT="27432" marB="27432" anchor="ctr">
                    <a:solidFill>
                      <a:srgbClr val="FFFFFF"/>
                    </a:solidFill>
                  </a:tcPr>
                </a:tc>
                <a:tc>
                  <a:txBody>
                    <a:bodyPr/>
                    <a:lstStyle/>
                    <a:p>
                      <a:r>
                        <a:rPr sz="1150" b="1">
                          <a:solidFill>
                            <a:srgbClr val="1F2A44"/>
                          </a:solidFill>
                          <a:latin typeface="Calibri"/>
                        </a:rPr>
                        <a:t/>
                      </a:r>
                    </a:p>
                  </a:txBody>
                  <a:tcPr marL="54864" marR="54864" marT="27432" marB="27432" anchor="ctr">
                    <a:solidFill>
                      <a:srgbClr val="FFFFFF"/>
                    </a:solidFill>
                  </a:tcPr>
                </a:tc>
              </a:tr>
            </a:tbl>
          </a:graphicData>
        </a:graphic>
      </p:graphicFrame>
      <p:sp>
        <p:nvSpPr>
          <p:cNvPr id="8" name="TextBox 7"/>
          <p:cNvSpPr txBox="1"/>
          <p:nvPr/>
        </p:nvSpPr>
        <p:spPr>
          <a:xfrm>
            <a:off x="548640" y="5440680"/>
            <a:ext cx="11064240" cy="914400"/>
          </a:xfrm>
          <a:prstGeom prst="rect">
            <a:avLst/>
          </a:prstGeom>
          <a:noFill/>
        </p:spPr>
        <p:txBody>
          <a:bodyPr wrap="square" lIns="45720">
            <a:spAutoFit/>
          </a:bodyPr>
          <a:lstStyle/>
          <a:p>
            <a:pPr>
              <a:lnSpc>
                <a:spcPct val="105000"/>
              </a:lnSpc>
              <a:spcAft>
                <a:spcPts val="600"/>
              </a:spcAft>
            </a:pPr>
            <a:r>
              <a:rPr sz="1400">
                <a:solidFill>
                  <a:srgbClr val="FFC72C"/>
                </a:solidFill>
                <a:latin typeface="Calibri"/>
              </a:rPr>
              <a:t>▪  </a:t>
            </a:r>
            <a:r>
              <a:rPr b="1" sz="1400">
                <a:solidFill>
                  <a:srgbClr val="1F2A44"/>
                </a:solidFill>
                <a:latin typeface="Calibri"/>
              </a:rPr>
              <a:t>The ask: </a:t>
            </a:r>
            <a:r>
              <a:rPr sz="1400">
                <a:solidFill>
                  <a:srgbClr val="1F2A44"/>
                </a:solidFill>
                <a:latin typeface="Calibri"/>
              </a:rPr>
              <a:t>approve these six as estimate corrections for the November 2026 PAF. The odds are the simulation's assessed probability of each landing; the expected value of the six is about $3.9M.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56032"/>
            <a:ext cx="11064240" cy="274320"/>
          </a:xfrm>
          <a:prstGeom prst="rect">
            <a:avLst/>
          </a:prstGeom>
          <a:noFill/>
        </p:spPr>
        <p:txBody>
          <a:bodyPr wrap="square" lIns="45720" rIns="45720" tIns="27432" bIns="27432" anchor="t">
            <a:spAutoFit/>
          </a:bodyPr>
          <a:lstStyle/>
          <a:p>
            <a:pPr algn="l">
              <a:lnSpc>
                <a:spcPct val="105000"/>
              </a:lnSpc>
              <a:spcAft>
                <a:spcPts val="400"/>
              </a:spcAft>
            </a:pPr>
            <a:r>
              <a:rPr sz="1100" b="1" i="0">
                <a:solidFill>
                  <a:srgbClr val="6E1F2E"/>
                </a:solidFill>
                <a:latin typeface="Calibri"/>
              </a:rPr>
              <a:t>GROUP 2: DECISIONS THAT NEED A STUDY</a:t>
            </a:r>
          </a:p>
        </p:txBody>
      </p:sp>
      <p:sp>
        <p:nvSpPr>
          <p:cNvPr id="4" name="TextBox 3"/>
          <p:cNvSpPr txBox="1"/>
          <p:nvPr/>
        </p:nvSpPr>
        <p:spPr>
          <a:xfrm>
            <a:off x="548640" y="475488"/>
            <a:ext cx="11064240" cy="868680"/>
          </a:xfrm>
          <a:prstGeom prst="rect">
            <a:avLst/>
          </a:prstGeom>
          <a:noFill/>
        </p:spPr>
        <p:txBody>
          <a:bodyPr wrap="square" lIns="45720" rIns="45720" tIns="27432" bIns="27432" anchor="t">
            <a:spAutoFit/>
          </a:bodyPr>
          <a:lstStyle/>
          <a:p>
            <a:pPr algn="l">
              <a:lnSpc>
                <a:spcPct val="100000"/>
              </a:lnSpc>
              <a:spcAft>
                <a:spcPts val="400"/>
              </a:spcAft>
            </a:pPr>
            <a:r>
              <a:rPr sz="2300" b="1" i="0">
                <a:solidFill>
                  <a:srgbClr val="001E60"/>
                </a:solidFill>
                <a:latin typeface="Georgia"/>
              </a:rPr>
              <a:t>Decide at Gate 1 (Q1 2027): eight levers worth $10.6 to 13.1M, each closed by a study already on the critical path</a:t>
            </a:r>
          </a:p>
        </p:txBody>
      </p:sp>
      <p:sp>
        <p:nvSpPr>
          <p:cNvPr id="5" name="TextBox 4"/>
          <p:cNvSpPr txBox="1"/>
          <p:nvPr/>
        </p:nvSpPr>
        <p:spPr>
          <a:xfrm>
            <a:off x="548640" y="6419088"/>
            <a:ext cx="8229600" cy="274320"/>
          </a:xfrm>
          <a:prstGeom prst="rect">
            <a:avLst/>
          </a:prstGeom>
          <a:noFill/>
        </p:spPr>
        <p:txBody>
          <a:bodyPr wrap="square" lIns="45720" rIns="45720" tIns="27432" bIns="27432" anchor="t">
            <a:spAutoFit/>
          </a:bodyPr>
          <a:lstStyle/>
          <a:p>
            <a:pPr algn="l">
              <a:lnSpc>
                <a:spcPct val="105000"/>
              </a:lnSpc>
              <a:spcAft>
                <a:spcPts val="400"/>
              </a:spcAft>
            </a:pPr>
            <a:r>
              <a:rPr sz="1000" b="0" i="0">
                <a:solidFill>
                  <a:srgbClr val="6B7280"/>
                </a:solidFill>
                <a:latin typeface="Calibri"/>
              </a:rPr>
              <a:t>EstimatingCoE | Eversource Energy | Stewards of Affordability</a:t>
            </a:r>
          </a:p>
        </p:txBody>
      </p:sp>
      <p:sp>
        <p:nvSpPr>
          <p:cNvPr id="6" name="TextBox 5"/>
          <p:cNvSpPr txBox="1"/>
          <p:nvPr/>
        </p:nvSpPr>
        <p:spPr>
          <a:xfrm>
            <a:off x="10972800" y="6419088"/>
            <a:ext cx="685800" cy="274320"/>
          </a:xfrm>
          <a:prstGeom prst="rect">
            <a:avLst/>
          </a:prstGeom>
          <a:noFill/>
        </p:spPr>
        <p:txBody>
          <a:bodyPr wrap="square" lIns="45720" rIns="45720" tIns="27432" bIns="27432" anchor="t">
            <a:spAutoFit/>
          </a:bodyPr>
          <a:lstStyle/>
          <a:p>
            <a:pPr algn="r">
              <a:lnSpc>
                <a:spcPct val="105000"/>
              </a:lnSpc>
              <a:spcAft>
                <a:spcPts val="400"/>
              </a:spcAft>
            </a:pPr>
            <a:r>
              <a:rPr sz="1000" b="0" i="0">
                <a:solidFill>
                  <a:srgbClr val="6B7280"/>
                </a:solidFill>
                <a:latin typeface="Calibri"/>
              </a:rPr>
              <a:t>5</a:t>
            </a:r>
          </a:p>
        </p:txBody>
      </p:sp>
      <p:graphicFrame>
        <p:nvGraphicFramePr>
          <p:cNvPr id="7" name="Table 6"/>
          <p:cNvGraphicFramePr>
            <a:graphicFrameLocks noGrp="1"/>
          </p:cNvGraphicFramePr>
          <p:nvPr/>
        </p:nvGraphicFramePr>
        <p:xfrm>
          <a:off x="548640" y="1371600"/>
          <a:ext cx="11064240" cy="4480560"/>
        </p:xfrm>
        <a:graphic>
          <a:graphicData uri="http://schemas.openxmlformats.org/drawingml/2006/table">
            <a:tbl>
              <a:tblPr firstRow="1" bandRow="1">
                <a:tableStyleId>{5C22544A-7EE6-4342-B048-85BDC9FD1C3A}</a:tableStyleId>
              </a:tblPr>
              <a:tblGrid>
                <a:gridCol w="411480"/>
                <a:gridCol w="3566160"/>
                <a:gridCol w="1371600"/>
                <a:gridCol w="640080"/>
                <a:gridCol w="2377440"/>
                <a:gridCol w="1920240"/>
                <a:gridCol w="777240"/>
              </a:tblGrid>
              <a:tr h="448056">
                <a:tc>
                  <a:txBody>
                    <a:bodyPr/>
                    <a:lstStyle/>
                    <a:p>
                      <a:r>
                        <a:rPr sz="1100" b="1">
                          <a:solidFill>
                            <a:srgbClr val="FFFFFF"/>
                          </a:solidFill>
                          <a:latin typeface="Calibri"/>
                        </a:rPr>
                        <a:t>#</a:t>
                      </a:r>
                    </a:p>
                  </a:txBody>
                  <a:tcPr marL="54864" marR="54864" marT="27432" marB="27432">
                    <a:solidFill>
                      <a:srgbClr val="001E60"/>
                    </a:solidFill>
                  </a:tcPr>
                </a:tc>
                <a:tc>
                  <a:txBody>
                    <a:bodyPr/>
                    <a:lstStyle/>
                    <a:p>
                      <a:r>
                        <a:rPr sz="1100" b="1">
                          <a:solidFill>
                            <a:srgbClr val="FFFFFF"/>
                          </a:solidFill>
                          <a:latin typeface="Calibri"/>
                        </a:rPr>
                        <a:t>Lever</a:t>
                      </a:r>
                    </a:p>
                  </a:txBody>
                  <a:tcPr marL="54864" marR="54864" marT="27432" marB="27432">
                    <a:solidFill>
                      <a:srgbClr val="001E60"/>
                    </a:solidFill>
                  </a:tcPr>
                </a:tc>
                <a:tc>
                  <a:txBody>
                    <a:bodyPr/>
                    <a:lstStyle/>
                    <a:p>
                      <a:pPr algn="r"/>
                      <a:r>
                        <a:rPr sz="1100" b="1">
                          <a:solidFill>
                            <a:srgbClr val="FFFFFF"/>
                          </a:solidFill>
                          <a:latin typeface="Calibri"/>
                        </a:rPr>
                        <a:t>Loaded</a:t>
                      </a:r>
                    </a:p>
                  </a:txBody>
                  <a:tcPr marL="54864" marR="54864" marT="27432" marB="27432">
                    <a:solidFill>
                      <a:srgbClr val="001E60"/>
                    </a:solidFill>
                  </a:tcPr>
                </a:tc>
                <a:tc>
                  <a:txBody>
                    <a:bodyPr/>
                    <a:lstStyle/>
                    <a:p>
                      <a:pPr algn="r"/>
                      <a:r>
                        <a:rPr sz="1100" b="1">
                          <a:solidFill>
                            <a:srgbClr val="FFFFFF"/>
                          </a:solidFill>
                          <a:latin typeface="Calibri"/>
                        </a:rPr>
                        <a:t>Odds</a:t>
                      </a:r>
                    </a:p>
                  </a:txBody>
                  <a:tcPr marL="54864" marR="54864" marT="27432" marB="27432">
                    <a:solidFill>
                      <a:srgbClr val="001E60"/>
                    </a:solidFill>
                  </a:tcPr>
                </a:tc>
                <a:tc>
                  <a:txBody>
                    <a:bodyPr/>
                    <a:lstStyle/>
                    <a:p>
                      <a:r>
                        <a:rPr sz="1100" b="1">
                          <a:solidFill>
                            <a:srgbClr val="FFFFFF"/>
                          </a:solidFill>
                          <a:latin typeface="Calibri"/>
                        </a:rPr>
                        <a:t>What closes it</a:t>
                      </a:r>
                    </a:p>
                  </a:txBody>
                  <a:tcPr marL="54864" marR="54864" marT="27432" marB="27432">
                    <a:solidFill>
                      <a:srgbClr val="001E60"/>
                    </a:solidFill>
                  </a:tcPr>
                </a:tc>
                <a:tc>
                  <a:txBody>
                    <a:bodyPr/>
                    <a:lstStyle/>
                    <a:p>
                      <a:r>
                        <a:rPr sz="1100" b="1">
                          <a:solidFill>
                            <a:srgbClr val="FFFFFF"/>
                          </a:solidFill>
                          <a:latin typeface="Calibri"/>
                        </a:rPr>
                        <a:t>Owner</a:t>
                      </a:r>
                    </a:p>
                  </a:txBody>
                  <a:tcPr marL="54864" marR="54864" marT="27432" marB="27432">
                    <a:solidFill>
                      <a:srgbClr val="001E60"/>
                    </a:solidFill>
                  </a:tcPr>
                </a:tc>
                <a:tc>
                  <a:txBody>
                    <a:bodyPr/>
                    <a:lstStyle/>
                    <a:p>
                      <a:r>
                        <a:rPr sz="1100" b="1">
                          <a:solidFill>
                            <a:srgbClr val="FFFFFF"/>
                          </a:solidFill>
                          <a:latin typeface="Calibri"/>
                        </a:rPr>
                        <a:t>By</a:t>
                      </a:r>
                    </a:p>
                  </a:txBody>
                  <a:tcPr marL="54864" marR="54864" marT="27432" marB="27432">
                    <a:solidFill>
                      <a:srgbClr val="001E60"/>
                    </a:solidFill>
                  </a:tcPr>
                </a:tc>
              </a:tr>
              <a:tr h="448056">
                <a:tc>
                  <a:txBody>
                    <a:bodyPr/>
                    <a:lstStyle/>
                    <a:p>
                      <a:r>
                        <a:rPr sz="1100" b="1">
                          <a:solidFill>
                            <a:srgbClr val="FFFFFF"/>
                          </a:solidFill>
                          <a:latin typeface="Calibri"/>
                        </a:rPr>
                        <a:t>A3</a:t>
                      </a:r>
                    </a:p>
                  </a:txBody>
                  <a:tcPr marL="54864" marR="54864" marT="27432" marB="27432" anchor="ctr">
                    <a:solidFill>
                      <a:srgbClr val="2A8A8C"/>
                    </a:solidFill>
                  </a:tcPr>
                </a:tc>
                <a:tc>
                  <a:txBody>
                    <a:bodyPr/>
                    <a:lstStyle/>
                    <a:p>
                      <a:r>
                        <a:rPr sz="1100" b="0">
                          <a:solidFill>
                            <a:srgbClr val="1F2A44"/>
                          </a:solidFill>
                          <a:latin typeface="Calibri"/>
                        </a:rPr>
                        <a:t>Confirm the four design-basis items Haugland priced as deducts</a:t>
                      </a:r>
                    </a:p>
                  </a:txBody>
                  <a:tcPr marL="54864" marR="54864" marT="27432" marB="27432" anchor="ctr">
                    <a:solidFill>
                      <a:srgbClr val="FFFFFF"/>
                    </a:solidFill>
                  </a:tcPr>
                </a:tc>
                <a:tc>
                  <a:txBody>
                    <a:bodyPr/>
                    <a:lstStyle/>
                    <a:p>
                      <a:pPr algn="r"/>
                      <a:r>
                        <a:rPr sz="1100" b="0">
                          <a:solidFill>
                            <a:srgbClr val="1F2A44"/>
                          </a:solidFill>
                          <a:latin typeface="Calibri"/>
                        </a:rPr>
                        <a:t>$0.9 to 1.2M</a:t>
                      </a:r>
                    </a:p>
                  </a:txBody>
                  <a:tcPr marL="54864" marR="54864" marT="27432" marB="27432" anchor="ctr">
                    <a:solidFill>
                      <a:srgbClr val="FFFFFF"/>
                    </a:solidFill>
                  </a:tcPr>
                </a:tc>
                <a:tc>
                  <a:txBody>
                    <a:bodyPr/>
                    <a:lstStyle/>
                    <a:p>
                      <a:pPr algn="r"/>
                      <a:r>
                        <a:rPr sz="1100" b="0">
                          <a:solidFill>
                            <a:srgbClr val="1F2A44"/>
                          </a:solidFill>
                          <a:latin typeface="Calibri"/>
                        </a:rPr>
                        <a:t>with T1</a:t>
                      </a:r>
                    </a:p>
                  </a:txBody>
                  <a:tcPr marL="54864" marR="54864" marT="27432" marB="27432" anchor="ctr">
                    <a:solidFill>
                      <a:srgbClr val="FFFFFF"/>
                    </a:solidFill>
                  </a:tcPr>
                </a:tc>
                <a:tc>
                  <a:txBody>
                    <a:bodyPr/>
                    <a:lstStyle/>
                    <a:p>
                      <a:r>
                        <a:rPr sz="1100" b="0">
                          <a:solidFill>
                            <a:srgbClr val="1F2A44"/>
                          </a:solidFill>
                          <a:latin typeface="Calibri"/>
                        </a:rPr>
                        <a:t>Haugland-to-Rev 3 scope map, signed</a:t>
                      </a:r>
                    </a:p>
                  </a:txBody>
                  <a:tcPr marL="54864" marR="54864" marT="27432" marB="27432" anchor="ctr">
                    <a:solidFill>
                      <a:srgbClr val="FFFFFF"/>
                    </a:solidFill>
                  </a:tcPr>
                </a:tc>
                <a:tc>
                  <a:txBody>
                    <a:bodyPr/>
                    <a:lstStyle/>
                    <a:p>
                      <a:r>
                        <a:rPr sz="1100" b="0">
                          <a:solidFill>
                            <a:srgbClr val="1F2A44"/>
                          </a:solidFill>
                          <a:latin typeface="Calibri"/>
                        </a:rPr>
                        <a:t>Substation Engineering</a:t>
                      </a:r>
                    </a:p>
                  </a:txBody>
                  <a:tcPr marL="54864" marR="54864" marT="27432" marB="27432" anchor="ctr">
                    <a:solidFill>
                      <a:srgbClr val="FFFFFF"/>
                    </a:solidFill>
                  </a:tcPr>
                </a:tc>
                <a:tc>
                  <a:txBody>
                    <a:bodyPr/>
                    <a:lstStyle/>
                    <a:p>
                      <a:r>
                        <a:rPr sz="1100" b="0">
                          <a:solidFill>
                            <a:srgbClr val="1F2A44"/>
                          </a:solidFill>
                          <a:latin typeface="Calibri"/>
                        </a:rPr>
                        <a:t>Q1 2027</a:t>
                      </a:r>
                    </a:p>
                  </a:txBody>
                  <a:tcPr marL="54864" marR="54864" marT="27432" marB="27432" anchor="ctr">
                    <a:solidFill>
                      <a:srgbClr val="FFFFFF"/>
                    </a:solidFill>
                  </a:tcPr>
                </a:tc>
              </a:tr>
              <a:tr h="448056">
                <a:tc>
                  <a:txBody>
                    <a:bodyPr/>
                    <a:lstStyle/>
                    <a:p>
                      <a:r>
                        <a:rPr sz="1100" b="1">
                          <a:solidFill>
                            <a:srgbClr val="FFFFFF"/>
                          </a:solidFill>
                          <a:latin typeface="Calibri"/>
                        </a:rPr>
                        <a:t>B1</a:t>
                      </a:r>
                    </a:p>
                  </a:txBody>
                  <a:tcPr marL="54864" marR="54864" marT="27432" marB="27432" anchor="ctr">
                    <a:solidFill>
                      <a:srgbClr val="001E60"/>
                    </a:solidFill>
                  </a:tcPr>
                </a:tc>
                <a:tc>
                  <a:txBody>
                    <a:bodyPr/>
                    <a:lstStyle/>
                    <a:p>
                      <a:r>
                        <a:rPr sz="1100" b="0">
                          <a:solidFill>
                            <a:srgbClr val="1F2A44"/>
                          </a:solidFill>
                          <a:latin typeface="Calibri"/>
                        </a:rPr>
                        <a:t>Station 496: relay program out; RTU, RTAC and transfer trip only</a:t>
                      </a:r>
                    </a:p>
                  </a:txBody>
                  <a:tcPr marL="54864" marR="54864" marT="27432" marB="27432" anchor="ctr">
                    <a:solidFill>
                      <a:srgbClr val="F2F4F8"/>
                    </a:solidFill>
                  </a:tcPr>
                </a:tc>
                <a:tc>
                  <a:txBody>
                    <a:bodyPr/>
                    <a:lstStyle/>
                    <a:p>
                      <a:pPr algn="r"/>
                      <a:r>
                        <a:rPr sz="1100" b="0">
                          <a:solidFill>
                            <a:srgbClr val="1F2A44"/>
                          </a:solidFill>
                          <a:latin typeface="Calibri"/>
                        </a:rPr>
                        <a:t>$6.1 to 6.6M</a:t>
                      </a:r>
                    </a:p>
                  </a:txBody>
                  <a:tcPr marL="54864" marR="54864" marT="27432" marB="27432" anchor="ctr">
                    <a:solidFill>
                      <a:srgbClr val="F2F4F8"/>
                    </a:solidFill>
                  </a:tcPr>
                </a:tc>
                <a:tc>
                  <a:txBody>
                    <a:bodyPr/>
                    <a:lstStyle/>
                    <a:p>
                      <a:pPr algn="r"/>
                      <a:r>
                        <a:rPr sz="1100" b="0">
                          <a:solidFill>
                            <a:srgbClr val="1F2A44"/>
                          </a:solidFill>
                          <a:latin typeface="Calibri"/>
                        </a:rPr>
                        <a:t>60%</a:t>
                      </a:r>
                    </a:p>
                  </a:txBody>
                  <a:tcPr marL="54864" marR="54864" marT="27432" marB="27432" anchor="ctr">
                    <a:solidFill>
                      <a:srgbClr val="F2F4F8"/>
                    </a:solidFill>
                  </a:tcPr>
                </a:tc>
                <a:tc>
                  <a:txBody>
                    <a:bodyPr/>
                    <a:lstStyle/>
                    <a:p>
                      <a:r>
                        <a:rPr sz="1100" b="0">
                          <a:solidFill>
                            <a:srgbClr val="1F2A44"/>
                          </a:solidFill>
                          <a:latin typeface="Calibri"/>
                        </a:rPr>
                        <a:t>Protection-basis memo; RTU/RTAC scope priced</a:t>
                      </a:r>
                    </a:p>
                  </a:txBody>
                  <a:tcPr marL="54864" marR="54864" marT="27432" marB="27432" anchor="ctr">
                    <a:solidFill>
                      <a:srgbClr val="F2F4F8"/>
                    </a:solidFill>
                  </a:tcPr>
                </a:tc>
                <a:tc>
                  <a:txBody>
                    <a:bodyPr/>
                    <a:lstStyle/>
                    <a:p>
                      <a:r>
                        <a:rPr sz="1100" b="0">
                          <a:solidFill>
                            <a:srgbClr val="1F2A44"/>
                          </a:solidFill>
                          <a:latin typeface="Calibri"/>
                        </a:rPr>
                        <a:t>P&amp;C Engineering + System Protection</a:t>
                      </a:r>
                    </a:p>
                  </a:txBody>
                  <a:tcPr marL="54864" marR="54864" marT="27432" marB="27432" anchor="ctr">
                    <a:solidFill>
                      <a:srgbClr val="F2F4F8"/>
                    </a:solidFill>
                  </a:tcPr>
                </a:tc>
                <a:tc>
                  <a:txBody>
                    <a:bodyPr/>
                    <a:lstStyle/>
                    <a:p>
                      <a:r>
                        <a:rPr sz="1100" b="0">
                          <a:solidFill>
                            <a:srgbClr val="1F2A44"/>
                          </a:solidFill>
                          <a:latin typeface="Calibri"/>
                        </a:rPr>
                        <a:t>Dec 2026</a:t>
                      </a:r>
                    </a:p>
                  </a:txBody>
                  <a:tcPr marL="54864" marR="54864" marT="27432" marB="27432" anchor="ctr">
                    <a:solidFill>
                      <a:srgbClr val="F2F4F8"/>
                    </a:solidFill>
                  </a:tcPr>
                </a:tc>
              </a:tr>
              <a:tr h="448056">
                <a:tc>
                  <a:txBody>
                    <a:bodyPr/>
                    <a:lstStyle/>
                    <a:p>
                      <a:r>
                        <a:rPr sz="1100" b="1">
                          <a:solidFill>
                            <a:srgbClr val="FFFFFF"/>
                          </a:solidFill>
                          <a:latin typeface="Calibri"/>
                        </a:rPr>
                        <a:t>B2</a:t>
                      </a:r>
                    </a:p>
                  </a:txBody>
                  <a:tcPr marL="54864" marR="54864" marT="27432" marB="27432" anchor="ctr">
                    <a:solidFill>
                      <a:srgbClr val="001E60"/>
                    </a:solidFill>
                  </a:tcPr>
                </a:tc>
                <a:tc>
                  <a:txBody>
                    <a:bodyPr/>
                    <a:lstStyle/>
                    <a:p>
                      <a:r>
                        <a:rPr sz="1100" b="0">
                          <a:solidFill>
                            <a:srgbClr val="1F2A44"/>
                          </a:solidFill>
                          <a:latin typeface="Calibri"/>
                        </a:rPr>
                        <a:t>Two feeders instead of four: two skids, two metering sets, two duct-bank runs</a:t>
                      </a:r>
                    </a:p>
                  </a:txBody>
                  <a:tcPr marL="54864" marR="54864" marT="27432" marB="27432" anchor="ctr">
                    <a:solidFill>
                      <a:srgbClr val="FFFFFF"/>
                    </a:solidFill>
                  </a:tcPr>
                </a:tc>
                <a:tc>
                  <a:txBody>
                    <a:bodyPr/>
                    <a:lstStyle/>
                    <a:p>
                      <a:pPr algn="r"/>
                      <a:r>
                        <a:rPr sz="1100" b="0">
                          <a:solidFill>
                            <a:srgbClr val="1F2A44"/>
                          </a:solidFill>
                          <a:latin typeface="Calibri"/>
                        </a:rPr>
                        <a:t>$1.5 to 1.7M</a:t>
                      </a:r>
                    </a:p>
                  </a:txBody>
                  <a:tcPr marL="54864" marR="54864" marT="27432" marB="27432" anchor="ctr">
                    <a:solidFill>
                      <a:srgbClr val="FFFFFF"/>
                    </a:solidFill>
                  </a:tcPr>
                </a:tc>
                <a:tc>
                  <a:txBody>
                    <a:bodyPr/>
                    <a:lstStyle/>
                    <a:p>
                      <a:pPr algn="r"/>
                      <a:r>
                        <a:rPr sz="1100" b="0">
                          <a:solidFill>
                            <a:srgbClr val="1F2A44"/>
                          </a:solidFill>
                          <a:latin typeface="Calibri"/>
                        </a:rPr>
                        <a:t>60%</a:t>
                      </a:r>
                    </a:p>
                  </a:txBody>
                  <a:tcPr marL="54864" marR="54864" marT="27432" marB="27432" anchor="ctr">
                    <a:solidFill>
                      <a:srgbClr val="FFFFFF"/>
                    </a:solidFill>
                  </a:tcPr>
                </a:tc>
                <a:tc>
                  <a:txBody>
                    <a:bodyPr/>
                    <a:lstStyle/>
                    <a:p>
                      <a:r>
                        <a:rPr sz="1100" b="0">
                          <a:solidFill>
                            <a:srgbClr val="1F2A44"/>
                          </a:solidFill>
                          <a:latin typeface="Calibri"/>
                        </a:rPr>
                        <a:t>Hosting-capacity study at 5 MW per feeder; N-1 accepted</a:t>
                      </a:r>
                    </a:p>
                  </a:txBody>
                  <a:tcPr marL="54864" marR="54864" marT="27432" marB="27432" anchor="ctr">
                    <a:solidFill>
                      <a:srgbClr val="FFFFFF"/>
                    </a:solidFill>
                  </a:tcPr>
                </a:tc>
                <a:tc>
                  <a:txBody>
                    <a:bodyPr/>
                    <a:lstStyle/>
                    <a:p>
                      <a:r>
                        <a:rPr sz="1100" b="0">
                          <a:solidFill>
                            <a:srgbClr val="1F2A44"/>
                          </a:solidFill>
                          <a:latin typeface="Calibri"/>
                        </a:rPr>
                        <a:t>System Planning + Substation Eng.</a:t>
                      </a:r>
                    </a:p>
                  </a:txBody>
                  <a:tcPr marL="54864" marR="54864" marT="27432" marB="27432" anchor="ctr">
                    <a:solidFill>
                      <a:srgbClr val="FFFFFF"/>
                    </a:solidFill>
                  </a:tcPr>
                </a:tc>
                <a:tc>
                  <a:txBody>
                    <a:bodyPr/>
                    <a:lstStyle/>
                    <a:p>
                      <a:r>
                        <a:rPr sz="1100" b="0">
                          <a:solidFill>
                            <a:srgbClr val="1F2A44"/>
                          </a:solidFill>
                          <a:latin typeface="Calibri"/>
                        </a:rPr>
                        <a:t>Q1 2027</a:t>
                      </a:r>
                    </a:p>
                  </a:txBody>
                  <a:tcPr marL="54864" marR="54864" marT="27432" marB="27432" anchor="ctr">
                    <a:solidFill>
                      <a:srgbClr val="FFFFFF"/>
                    </a:solidFill>
                  </a:tcPr>
                </a:tc>
              </a:tr>
              <a:tr h="448056">
                <a:tc>
                  <a:txBody>
                    <a:bodyPr/>
                    <a:lstStyle/>
                    <a:p>
                      <a:r>
                        <a:rPr sz="1100" b="1">
                          <a:solidFill>
                            <a:srgbClr val="FFFFFF"/>
                          </a:solidFill>
                          <a:latin typeface="Calibri"/>
                        </a:rPr>
                        <a:t>B3</a:t>
                      </a:r>
                    </a:p>
                  </a:txBody>
                  <a:tcPr marL="54864" marR="54864" marT="27432" marB="27432" anchor="ctr">
                    <a:solidFill>
                      <a:srgbClr val="001E60"/>
                    </a:solidFill>
                  </a:tcPr>
                </a:tc>
                <a:tc>
                  <a:txBody>
                    <a:bodyPr/>
                    <a:lstStyle/>
                    <a:p>
                      <a:r>
                        <a:rPr sz="1100" b="0">
                          <a:solidFill>
                            <a:srgbClr val="1F2A44"/>
                          </a:solidFill>
                          <a:latin typeface="Calibri"/>
                        </a:rPr>
                        <a:t>Size the platform and wall after geotech, not before</a:t>
                      </a:r>
                    </a:p>
                  </a:txBody>
                  <a:tcPr marL="54864" marR="54864" marT="27432" marB="27432" anchor="ctr">
                    <a:solidFill>
                      <a:srgbClr val="F2F4F8"/>
                    </a:solidFill>
                  </a:tcPr>
                </a:tc>
                <a:tc>
                  <a:txBody>
                    <a:bodyPr/>
                    <a:lstStyle/>
                    <a:p>
                      <a:pPr algn="r"/>
                      <a:r>
                        <a:rPr sz="1100" b="0">
                          <a:solidFill>
                            <a:srgbClr val="1F2A44"/>
                          </a:solidFill>
                          <a:latin typeface="Calibri"/>
                        </a:rPr>
                        <a:t>$0.4 to 1.2M</a:t>
                      </a:r>
                    </a:p>
                  </a:txBody>
                  <a:tcPr marL="54864" marR="54864" marT="27432" marB="27432" anchor="ctr">
                    <a:solidFill>
                      <a:srgbClr val="F2F4F8"/>
                    </a:solidFill>
                  </a:tcPr>
                </a:tc>
                <a:tc>
                  <a:txBody>
                    <a:bodyPr/>
                    <a:lstStyle/>
                    <a:p>
                      <a:pPr algn="r"/>
                      <a:r>
                        <a:rPr sz="1100" b="0">
                          <a:solidFill>
                            <a:srgbClr val="1F2A44"/>
                          </a:solidFill>
                          <a:latin typeface="Calibri"/>
                        </a:rPr>
                        <a:t>40%</a:t>
                      </a:r>
                    </a:p>
                  </a:txBody>
                  <a:tcPr marL="54864" marR="54864" marT="27432" marB="27432" anchor="ctr">
                    <a:solidFill>
                      <a:srgbClr val="F2F4F8"/>
                    </a:solidFill>
                  </a:tcPr>
                </a:tc>
                <a:tc>
                  <a:txBody>
                    <a:bodyPr/>
                    <a:lstStyle/>
                    <a:p>
                      <a:r>
                        <a:rPr sz="1100" b="0">
                          <a:solidFill>
                            <a:srgbClr val="1F2A44"/>
                          </a:solidFill>
                          <a:latin typeface="Calibri"/>
                        </a:rPr>
                        <a:t>Geotech report; MassDEP post-closure conditions</a:t>
                      </a:r>
                    </a:p>
                  </a:txBody>
                  <a:tcPr marL="54864" marR="54864" marT="27432" marB="27432" anchor="ctr">
                    <a:solidFill>
                      <a:srgbClr val="F2F4F8"/>
                    </a:solidFill>
                  </a:tcPr>
                </a:tc>
                <a:tc>
                  <a:txBody>
                    <a:bodyPr/>
                    <a:lstStyle/>
                    <a:p>
                      <a:r>
                        <a:rPr sz="1100" b="0">
                          <a:solidFill>
                            <a:srgbClr val="1F2A44"/>
                          </a:solidFill>
                          <a:latin typeface="Calibri"/>
                        </a:rPr>
                        <a:t>Civil + Capital Projects Eng.</a:t>
                      </a:r>
                    </a:p>
                  </a:txBody>
                  <a:tcPr marL="54864" marR="54864" marT="27432" marB="27432" anchor="ctr">
                    <a:solidFill>
                      <a:srgbClr val="F2F4F8"/>
                    </a:solidFill>
                  </a:tcPr>
                </a:tc>
                <a:tc>
                  <a:txBody>
                    <a:bodyPr/>
                    <a:lstStyle/>
                    <a:p>
                      <a:r>
                        <a:rPr sz="1100" b="0">
                          <a:solidFill>
                            <a:srgbClr val="1F2A44"/>
                          </a:solidFill>
                          <a:latin typeface="Calibri"/>
                        </a:rPr>
                        <a:t>Q1 2027</a:t>
                      </a:r>
                    </a:p>
                  </a:txBody>
                  <a:tcPr marL="54864" marR="54864" marT="27432" marB="27432" anchor="ctr">
                    <a:solidFill>
                      <a:srgbClr val="F2F4F8"/>
                    </a:solidFill>
                  </a:tcPr>
                </a:tc>
              </a:tr>
              <a:tr h="448056">
                <a:tc>
                  <a:txBody>
                    <a:bodyPr/>
                    <a:lstStyle/>
                    <a:p>
                      <a:r>
                        <a:rPr sz="1100" b="1">
                          <a:solidFill>
                            <a:srgbClr val="FFFFFF"/>
                          </a:solidFill>
                          <a:latin typeface="Calibri"/>
                        </a:rPr>
                        <a:t>B4</a:t>
                      </a:r>
                    </a:p>
                  </a:txBody>
                  <a:tcPr marL="54864" marR="54864" marT="27432" marB="27432" anchor="ctr">
                    <a:solidFill>
                      <a:srgbClr val="001E60"/>
                    </a:solidFill>
                  </a:tcPr>
                </a:tc>
                <a:tc>
                  <a:txBody>
                    <a:bodyPr/>
                    <a:lstStyle/>
                    <a:p>
                      <a:r>
                        <a:rPr sz="1100" b="0">
                          <a:solidFill>
                            <a:srgbClr val="1F2A44"/>
                          </a:solidFill>
                          <a:latin typeface="Calibri"/>
                        </a:rPr>
                        <a:t>Battery install labor from a crew build-up</a:t>
                      </a:r>
                    </a:p>
                  </a:txBody>
                  <a:tcPr marL="54864" marR="54864" marT="27432" marB="27432" anchor="ctr">
                    <a:solidFill>
                      <a:srgbClr val="FFFFFF"/>
                    </a:solidFill>
                  </a:tcPr>
                </a:tc>
                <a:tc>
                  <a:txBody>
                    <a:bodyPr/>
                    <a:lstStyle/>
                    <a:p>
                      <a:pPr algn="r"/>
                      <a:r>
                        <a:rPr sz="1100" b="0">
                          <a:solidFill>
                            <a:srgbClr val="1F2A44"/>
                          </a:solidFill>
                          <a:latin typeface="Calibri"/>
                        </a:rPr>
                        <a:t>$0.7 to 1.1M</a:t>
                      </a:r>
                    </a:p>
                  </a:txBody>
                  <a:tcPr marL="54864" marR="54864" marT="27432" marB="27432" anchor="ctr">
                    <a:solidFill>
                      <a:srgbClr val="FFFFFF"/>
                    </a:solidFill>
                  </a:tcPr>
                </a:tc>
                <a:tc>
                  <a:txBody>
                    <a:bodyPr/>
                    <a:lstStyle/>
                    <a:p>
                      <a:pPr algn="r"/>
                      <a:r>
                        <a:rPr sz="1100" b="0">
                          <a:solidFill>
                            <a:srgbClr val="1F2A44"/>
                          </a:solidFill>
                          <a:latin typeface="Calibri"/>
                        </a:rPr>
                        <a:t>60%</a:t>
                      </a:r>
                    </a:p>
                  </a:txBody>
                  <a:tcPr marL="54864" marR="54864" marT="27432" marB="27432" anchor="ctr">
                    <a:solidFill>
                      <a:srgbClr val="FFFFFF"/>
                    </a:solidFill>
                  </a:tcPr>
                </a:tc>
                <a:tc>
                  <a:txBody>
                    <a:bodyPr/>
                    <a:lstStyle/>
                    <a:p>
                      <a:r>
                        <a:rPr sz="1100" b="0">
                          <a:solidFill>
                            <a:srgbClr val="1F2A44"/>
                          </a:solidFill>
                          <a:latin typeface="Calibri"/>
                        </a:rPr>
                        <a:t>Crew build-up with Nomad and HEG</a:t>
                      </a:r>
                    </a:p>
                  </a:txBody>
                  <a:tcPr marL="54864" marR="54864" marT="27432" marB="27432" anchor="ctr">
                    <a:solidFill>
                      <a:srgbClr val="FFFFFF"/>
                    </a:solidFill>
                  </a:tcPr>
                </a:tc>
                <a:tc>
                  <a:txBody>
                    <a:bodyPr/>
                    <a:lstStyle/>
                    <a:p>
                      <a:r>
                        <a:rPr sz="1100" b="0">
                          <a:solidFill>
                            <a:srgbClr val="1F2A44"/>
                          </a:solidFill>
                          <a:latin typeface="Calibri"/>
                        </a:rPr>
                        <a:t>Cost Estimating + Nomad + HEG</a:t>
                      </a:r>
                    </a:p>
                  </a:txBody>
                  <a:tcPr marL="54864" marR="54864" marT="27432" marB="27432" anchor="ctr">
                    <a:solidFill>
                      <a:srgbClr val="FFFFFF"/>
                    </a:solidFill>
                  </a:tcPr>
                </a:tc>
                <a:tc>
                  <a:txBody>
                    <a:bodyPr/>
                    <a:lstStyle/>
                    <a:p>
                      <a:r>
                        <a:rPr sz="1100" b="0">
                          <a:solidFill>
                            <a:srgbClr val="1F2A44"/>
                          </a:solidFill>
                          <a:latin typeface="Calibri"/>
                        </a:rPr>
                        <a:t>Q1 2027</a:t>
                      </a:r>
                    </a:p>
                  </a:txBody>
                  <a:tcPr marL="54864" marR="54864" marT="27432" marB="27432" anchor="ctr">
                    <a:solidFill>
                      <a:srgbClr val="FFFFFF"/>
                    </a:solidFill>
                  </a:tcPr>
                </a:tc>
              </a:tr>
              <a:tr h="448056">
                <a:tc>
                  <a:txBody>
                    <a:bodyPr/>
                    <a:lstStyle/>
                    <a:p>
                      <a:r>
                        <a:rPr sz="1100" b="1">
                          <a:solidFill>
                            <a:srgbClr val="FFFFFF"/>
                          </a:solidFill>
                          <a:latin typeface="Calibri"/>
                        </a:rPr>
                        <a:t>B6</a:t>
                      </a:r>
                    </a:p>
                  </a:txBody>
                  <a:tcPr marL="54864" marR="54864" marT="27432" marB="27432" anchor="ctr">
                    <a:solidFill>
                      <a:srgbClr val="001E60"/>
                    </a:solidFill>
                  </a:tcPr>
                </a:tc>
                <a:tc>
                  <a:txBody>
                    <a:bodyPr/>
                    <a:lstStyle/>
                    <a:p>
                      <a:r>
                        <a:rPr sz="1100" b="0">
                          <a:solidFill>
                            <a:srgbClr val="1F2A44"/>
                          </a:solidFill>
                          <a:latin typeface="Calibri"/>
                        </a:rPr>
                        <a:t>GSU install hours and count settled in writing</a:t>
                      </a:r>
                    </a:p>
                  </a:txBody>
                  <a:tcPr marL="54864" marR="54864" marT="27432" marB="27432" anchor="ctr">
                    <a:solidFill>
                      <a:srgbClr val="F2F4F8"/>
                    </a:solidFill>
                  </a:tcPr>
                </a:tc>
                <a:tc>
                  <a:txBody>
                    <a:bodyPr/>
                    <a:lstStyle/>
                    <a:p>
                      <a:pPr algn="r"/>
                      <a:r>
                        <a:rPr sz="1100" b="0">
                          <a:solidFill>
                            <a:srgbClr val="1F2A44"/>
                          </a:solidFill>
                          <a:latin typeface="Calibri"/>
                        </a:rPr>
                        <a:t>$0.3 to 0.3M</a:t>
                      </a:r>
                    </a:p>
                  </a:txBody>
                  <a:tcPr marL="54864" marR="54864" marT="27432" marB="27432" anchor="ctr">
                    <a:solidFill>
                      <a:srgbClr val="F2F4F8"/>
                    </a:solidFill>
                  </a:tcPr>
                </a:tc>
                <a:tc>
                  <a:txBody>
                    <a:bodyPr/>
                    <a:lstStyle/>
                    <a:p>
                      <a:pPr algn="r"/>
                      <a:r>
                        <a:rPr sz="1100" b="0">
                          <a:solidFill>
                            <a:srgbClr val="1F2A44"/>
                          </a:solidFill>
                          <a:latin typeface="Calibri"/>
                        </a:rPr>
                        <a:t>60%</a:t>
                      </a:r>
                    </a:p>
                  </a:txBody>
                  <a:tcPr marL="54864" marR="54864" marT="27432" marB="27432" anchor="ctr">
                    <a:solidFill>
                      <a:srgbClr val="F2F4F8"/>
                    </a:solidFill>
                  </a:tcPr>
                </a:tc>
                <a:tc>
                  <a:txBody>
                    <a:bodyPr/>
                    <a:lstStyle/>
                    <a:p>
                      <a:r>
                        <a:rPr sz="1100" b="0">
                          <a:solidFill>
                            <a:srgbClr val="1F2A44"/>
                          </a:solidFill>
                          <a:latin typeface="Calibri"/>
                        </a:rPr>
                        <a:t>Topology and GSU count in writing</a:t>
                      </a:r>
                    </a:p>
                  </a:txBody>
                  <a:tcPr marL="54864" marR="54864" marT="27432" marB="27432" anchor="ctr">
                    <a:solidFill>
                      <a:srgbClr val="F2F4F8"/>
                    </a:solidFill>
                  </a:tcPr>
                </a:tc>
                <a:tc>
                  <a:txBody>
                    <a:bodyPr/>
                    <a:lstStyle/>
                    <a:p>
                      <a:r>
                        <a:rPr sz="1100" b="0">
                          <a:solidFill>
                            <a:srgbClr val="1F2A44"/>
                          </a:solidFill>
                          <a:latin typeface="Calibri"/>
                        </a:rPr>
                        <a:t>Substation Eng. + Nomad</a:t>
                      </a:r>
                    </a:p>
                  </a:txBody>
                  <a:tcPr marL="54864" marR="54864" marT="27432" marB="27432" anchor="ctr">
                    <a:solidFill>
                      <a:srgbClr val="F2F4F8"/>
                    </a:solidFill>
                  </a:tcPr>
                </a:tc>
                <a:tc>
                  <a:txBody>
                    <a:bodyPr/>
                    <a:lstStyle/>
                    <a:p>
                      <a:r>
                        <a:rPr sz="1100" b="0">
                          <a:solidFill>
                            <a:srgbClr val="1F2A44"/>
                          </a:solidFill>
                          <a:latin typeface="Calibri"/>
                        </a:rPr>
                        <a:t>Q1 2027</a:t>
                      </a:r>
                    </a:p>
                  </a:txBody>
                  <a:tcPr marL="54864" marR="54864" marT="27432" marB="27432" anchor="ctr">
                    <a:solidFill>
                      <a:srgbClr val="F2F4F8"/>
                    </a:solidFill>
                  </a:tcPr>
                </a:tc>
              </a:tr>
              <a:tr h="448056">
                <a:tc>
                  <a:txBody>
                    <a:bodyPr/>
                    <a:lstStyle/>
                    <a:p>
                      <a:r>
                        <a:rPr sz="1100" b="1">
                          <a:solidFill>
                            <a:srgbClr val="FFFFFF"/>
                          </a:solidFill>
                          <a:latin typeface="Calibri"/>
                        </a:rPr>
                        <a:t>B7</a:t>
                      </a:r>
                    </a:p>
                  </a:txBody>
                  <a:tcPr marL="54864" marR="54864" marT="27432" marB="27432" anchor="ctr">
                    <a:solidFill>
                      <a:srgbClr val="001E60"/>
                    </a:solidFill>
                  </a:tcPr>
                </a:tc>
                <a:tc>
                  <a:txBody>
                    <a:bodyPr/>
                    <a:lstStyle/>
                    <a:p>
                      <a:r>
                        <a:rPr sz="1100" b="0">
                          <a:solidFill>
                            <a:srgbClr val="1F2A44"/>
                          </a:solidFill>
                          <a:latin typeface="Calibri"/>
                        </a:rPr>
                        <a:t>Lighting to the security need, not 12 HPS luminaires</a:t>
                      </a:r>
                    </a:p>
                  </a:txBody>
                  <a:tcPr marL="54864" marR="54864" marT="27432" marB="27432" anchor="ctr">
                    <a:solidFill>
                      <a:srgbClr val="FFFFFF"/>
                    </a:solidFill>
                  </a:tcPr>
                </a:tc>
                <a:tc>
                  <a:txBody>
                    <a:bodyPr/>
                    <a:lstStyle/>
                    <a:p>
                      <a:pPr algn="r"/>
                      <a:r>
                        <a:rPr sz="1100" b="0">
                          <a:solidFill>
                            <a:srgbClr val="1F2A44"/>
                          </a:solidFill>
                          <a:latin typeface="Calibri"/>
                        </a:rPr>
                        <a:t>$0.2 to 0.3M</a:t>
                      </a:r>
                    </a:p>
                  </a:txBody>
                  <a:tcPr marL="54864" marR="54864" marT="27432" marB="27432" anchor="ctr">
                    <a:solidFill>
                      <a:srgbClr val="FFFFFF"/>
                    </a:solidFill>
                  </a:tcPr>
                </a:tc>
                <a:tc>
                  <a:txBody>
                    <a:bodyPr/>
                    <a:lstStyle/>
                    <a:p>
                      <a:pPr algn="r"/>
                      <a:r>
                        <a:rPr sz="1100" b="0">
                          <a:solidFill>
                            <a:srgbClr val="1F2A44"/>
                          </a:solidFill>
                          <a:latin typeface="Calibri"/>
                        </a:rPr>
                        <a:t>70%</a:t>
                      </a:r>
                    </a:p>
                  </a:txBody>
                  <a:tcPr marL="54864" marR="54864" marT="27432" marB="27432" anchor="ctr">
                    <a:solidFill>
                      <a:srgbClr val="FFFFFF"/>
                    </a:solidFill>
                  </a:tcPr>
                </a:tc>
                <a:tc>
                  <a:txBody>
                    <a:bodyPr/>
                    <a:lstStyle/>
                    <a:p>
                      <a:r>
                        <a:rPr sz="1100" b="0">
                          <a:solidFill>
                            <a:srgbClr val="1F2A44"/>
                          </a:solidFill>
                          <a:latin typeface="Calibri"/>
                        </a:rPr>
                        <a:t>Lighting design</a:t>
                      </a:r>
                    </a:p>
                  </a:txBody>
                  <a:tcPr marL="54864" marR="54864" marT="27432" marB="27432" anchor="ctr">
                    <a:solidFill>
                      <a:srgbClr val="FFFFFF"/>
                    </a:solidFill>
                  </a:tcPr>
                </a:tc>
                <a:tc>
                  <a:txBody>
                    <a:bodyPr/>
                    <a:lstStyle/>
                    <a:p>
                      <a:r>
                        <a:rPr sz="1100" b="0">
                          <a:solidFill>
                            <a:srgbClr val="1F2A44"/>
                          </a:solidFill>
                          <a:latin typeface="Calibri"/>
                        </a:rPr>
                        <a:t>Substation Eng.</a:t>
                      </a:r>
                    </a:p>
                  </a:txBody>
                  <a:tcPr marL="54864" marR="54864" marT="27432" marB="27432" anchor="ctr">
                    <a:solidFill>
                      <a:srgbClr val="FFFFFF"/>
                    </a:solidFill>
                  </a:tcPr>
                </a:tc>
                <a:tc>
                  <a:txBody>
                    <a:bodyPr/>
                    <a:lstStyle/>
                    <a:p>
                      <a:r>
                        <a:rPr sz="1100" b="0">
                          <a:solidFill>
                            <a:srgbClr val="1F2A44"/>
                          </a:solidFill>
                          <a:latin typeface="Calibri"/>
                        </a:rPr>
                        <a:t>Q1 2027</a:t>
                      </a:r>
                    </a:p>
                  </a:txBody>
                  <a:tcPr marL="54864" marR="54864" marT="27432" marB="27432" anchor="ctr">
                    <a:solidFill>
                      <a:srgbClr val="FFFFFF"/>
                    </a:solidFill>
                  </a:tcPr>
                </a:tc>
              </a:tr>
              <a:tr h="448056">
                <a:tc>
                  <a:txBody>
                    <a:bodyPr/>
                    <a:lstStyle/>
                    <a:p>
                      <a:r>
                        <a:rPr sz="1100" b="1">
                          <a:solidFill>
                            <a:srgbClr val="FFFFFF"/>
                          </a:solidFill>
                          <a:latin typeface="Calibri"/>
                        </a:rPr>
                        <a:t>B8</a:t>
                      </a:r>
                    </a:p>
                  </a:txBody>
                  <a:tcPr marL="54864" marR="54864" marT="27432" marB="27432" anchor="ctr">
                    <a:solidFill>
                      <a:srgbClr val="001E60"/>
                    </a:solidFill>
                  </a:tcPr>
                </a:tc>
                <a:tc>
                  <a:txBody>
                    <a:bodyPr/>
                    <a:lstStyle/>
                    <a:p>
                      <a:r>
                        <a:rPr sz="1100" b="0">
                          <a:solidFill>
                            <a:srgbClr val="1F2A44"/>
                          </a:solidFill>
                          <a:latin typeface="Calibri"/>
                        </a:rPr>
                        <a:t>Siting and PM task budgets from outside counsel</a:t>
                      </a:r>
                    </a:p>
                  </a:txBody>
                  <a:tcPr marL="54864" marR="54864" marT="27432" marB="27432" anchor="ctr">
                    <a:solidFill>
                      <a:srgbClr val="F2F4F8"/>
                    </a:solidFill>
                  </a:tcPr>
                </a:tc>
                <a:tc>
                  <a:txBody>
                    <a:bodyPr/>
                    <a:lstStyle/>
                    <a:p>
                      <a:pPr algn="r"/>
                      <a:r>
                        <a:rPr sz="1100" b="0">
                          <a:solidFill>
                            <a:srgbClr val="1F2A44"/>
                          </a:solidFill>
                          <a:latin typeface="Calibri"/>
                        </a:rPr>
                        <a:t>$0.5 to 0.8M</a:t>
                      </a:r>
                    </a:p>
                  </a:txBody>
                  <a:tcPr marL="54864" marR="54864" marT="27432" marB="27432" anchor="ctr">
                    <a:solidFill>
                      <a:srgbClr val="F2F4F8"/>
                    </a:solidFill>
                  </a:tcPr>
                </a:tc>
                <a:tc>
                  <a:txBody>
                    <a:bodyPr/>
                    <a:lstStyle/>
                    <a:p>
                      <a:pPr algn="r"/>
                      <a:r>
                        <a:rPr sz="1100" b="0">
                          <a:solidFill>
                            <a:srgbClr val="1F2A44"/>
                          </a:solidFill>
                          <a:latin typeface="Calibri"/>
                        </a:rPr>
                        <a:t>40%</a:t>
                      </a:r>
                    </a:p>
                  </a:txBody>
                  <a:tcPr marL="54864" marR="54864" marT="27432" marB="27432" anchor="ctr">
                    <a:solidFill>
                      <a:srgbClr val="F2F4F8"/>
                    </a:solidFill>
                  </a:tcPr>
                </a:tc>
                <a:tc>
                  <a:txBody>
                    <a:bodyPr/>
                    <a:lstStyle/>
                    <a:p>
                      <a:r>
                        <a:rPr sz="1100" b="0">
                          <a:solidFill>
                            <a:srgbClr val="1F2A44"/>
                          </a:solidFill>
                          <a:latin typeface="Calibri"/>
                        </a:rPr>
                        <a:t>Task budget from outside counsel</a:t>
                      </a:r>
                    </a:p>
                  </a:txBody>
                  <a:tcPr marL="54864" marR="54864" marT="27432" marB="27432" anchor="ctr">
                    <a:solidFill>
                      <a:srgbClr val="F2F4F8"/>
                    </a:solidFill>
                  </a:tcPr>
                </a:tc>
                <a:tc>
                  <a:txBody>
                    <a:bodyPr/>
                    <a:lstStyle/>
                    <a:p>
                      <a:r>
                        <a:rPr sz="1100" b="0">
                          <a:solidFill>
                            <a:srgbClr val="1F2A44"/>
                          </a:solidFill>
                          <a:latin typeface="Calibri"/>
                        </a:rPr>
                        <a:t>Siting + PM</a:t>
                      </a:r>
                    </a:p>
                  </a:txBody>
                  <a:tcPr marL="54864" marR="54864" marT="27432" marB="27432" anchor="ctr">
                    <a:solidFill>
                      <a:srgbClr val="F2F4F8"/>
                    </a:solidFill>
                  </a:tcPr>
                </a:tc>
                <a:tc>
                  <a:txBody>
                    <a:bodyPr/>
                    <a:lstStyle/>
                    <a:p>
                      <a:r>
                        <a:rPr sz="1100" b="0">
                          <a:solidFill>
                            <a:srgbClr val="1F2A44"/>
                          </a:solidFill>
                          <a:latin typeface="Calibri"/>
                        </a:rPr>
                        <a:t>Q1 2027</a:t>
                      </a:r>
                    </a:p>
                  </a:txBody>
                  <a:tcPr marL="54864" marR="54864" marT="27432" marB="27432" anchor="ctr">
                    <a:solidFill>
                      <a:srgbClr val="F2F4F8"/>
                    </a:solidFill>
                  </a:tcPr>
                </a:tc>
              </a:tr>
              <a:tr h="448056">
                <a:tc>
                  <a:txBody>
                    <a:bodyPr/>
                    <a:lstStyle/>
                    <a:p>
                      <a:r>
                        <a:rPr sz="1100" b="1">
                          <a:solidFill>
                            <a:srgbClr val="1F2A44"/>
                          </a:solidFill>
                          <a:latin typeface="Calibri"/>
                        </a:rPr>
                        <a:t/>
                      </a:r>
                    </a:p>
                  </a:txBody>
                  <a:tcPr marL="54864" marR="54864" marT="27432" marB="27432" anchor="ctr">
                    <a:solidFill>
                      <a:srgbClr val="FFFFFF"/>
                    </a:solidFill>
                  </a:tcPr>
                </a:tc>
                <a:tc>
                  <a:txBody>
                    <a:bodyPr/>
                    <a:lstStyle/>
                    <a:p>
                      <a:r>
                        <a:rPr sz="1100" b="1">
                          <a:solidFill>
                            <a:srgbClr val="1F2A44"/>
                          </a:solidFill>
                          <a:latin typeface="Calibri"/>
                        </a:rPr>
                        <a:t>Total</a:t>
                      </a:r>
                    </a:p>
                  </a:txBody>
                  <a:tcPr marL="54864" marR="54864" marT="27432" marB="27432" anchor="ctr">
                    <a:solidFill>
                      <a:srgbClr val="FFFFFF"/>
                    </a:solidFill>
                  </a:tcPr>
                </a:tc>
                <a:tc>
                  <a:txBody>
                    <a:bodyPr/>
                    <a:lstStyle/>
                    <a:p>
                      <a:pPr algn="r"/>
                      <a:r>
                        <a:rPr sz="1100" b="1">
                          <a:solidFill>
                            <a:srgbClr val="1F2A44"/>
                          </a:solidFill>
                          <a:latin typeface="Calibri"/>
                        </a:rPr>
                        <a:t>$10.6 to 13.1M</a:t>
                      </a:r>
                    </a:p>
                  </a:txBody>
                  <a:tcPr marL="54864" marR="54864" marT="27432" marB="27432" anchor="ctr">
                    <a:solidFill>
                      <a:srgbClr val="FFFFFF"/>
                    </a:solidFill>
                  </a:tcPr>
                </a:tc>
                <a:tc>
                  <a:txBody>
                    <a:bodyPr/>
                    <a:lstStyle/>
                    <a:p>
                      <a:pPr algn="r"/>
                      <a:r>
                        <a:rPr sz="1100" b="1">
                          <a:solidFill>
                            <a:srgbClr val="1F2A44"/>
                          </a:solidFill>
                          <a:latin typeface="Calibri"/>
                        </a:rPr>
                        <a:t/>
                      </a:r>
                    </a:p>
                  </a:txBody>
                  <a:tcPr marL="54864" marR="54864" marT="27432" marB="27432" anchor="ctr">
                    <a:solidFill>
                      <a:srgbClr val="FFFFFF"/>
                    </a:solidFill>
                  </a:tcPr>
                </a:tc>
                <a:tc>
                  <a:txBody>
                    <a:bodyPr/>
                    <a:lstStyle/>
                    <a:p>
                      <a:r>
                        <a:rPr sz="1100" b="1">
                          <a:solidFill>
                            <a:srgbClr val="1F2A44"/>
                          </a:solidFill>
                          <a:latin typeface="Calibri"/>
                        </a:rPr>
                        <a:t/>
                      </a:r>
                    </a:p>
                  </a:txBody>
                  <a:tcPr marL="54864" marR="54864" marT="27432" marB="27432" anchor="ctr">
                    <a:solidFill>
                      <a:srgbClr val="FFFFFF"/>
                    </a:solidFill>
                  </a:tcPr>
                </a:tc>
                <a:tc>
                  <a:txBody>
                    <a:bodyPr/>
                    <a:lstStyle/>
                    <a:p>
                      <a:r>
                        <a:rPr sz="1100" b="1">
                          <a:solidFill>
                            <a:srgbClr val="1F2A44"/>
                          </a:solidFill>
                          <a:latin typeface="Calibri"/>
                        </a:rPr>
                        <a:t/>
                      </a:r>
                    </a:p>
                  </a:txBody>
                  <a:tcPr marL="54864" marR="54864" marT="27432" marB="27432" anchor="ctr">
                    <a:solidFill>
                      <a:srgbClr val="FFFFFF"/>
                    </a:solidFill>
                  </a:tcPr>
                </a:tc>
                <a:tc>
                  <a:txBody>
                    <a:bodyPr/>
                    <a:lstStyle/>
                    <a:p>
                      <a:r>
                        <a:rPr sz="1100" b="1">
                          <a:solidFill>
                            <a:srgbClr val="1F2A44"/>
                          </a:solidFill>
                          <a:latin typeface="Calibri"/>
                        </a:rPr>
                        <a:t/>
                      </a:r>
                    </a:p>
                  </a:txBody>
                  <a:tcPr marL="54864" marR="54864" marT="27432" marB="27432" anchor="ctr">
                    <a:solidFill>
                      <a:srgbClr val="FFFFFF"/>
                    </a:solidFill>
                  </a:tcPr>
                </a:tc>
              </a:tr>
            </a:tbl>
          </a:graphicData>
        </a:graphic>
      </p:graphicFrame>
      <p:sp>
        <p:nvSpPr>
          <p:cNvPr id="8" name="TextBox 7"/>
          <p:cNvSpPr txBox="1"/>
          <p:nvPr/>
        </p:nvSpPr>
        <p:spPr>
          <a:xfrm>
            <a:off x="548640" y="5897880"/>
            <a:ext cx="11064240" cy="548640"/>
          </a:xfrm>
          <a:prstGeom prst="rect">
            <a:avLst/>
          </a:prstGeom>
          <a:noFill/>
        </p:spPr>
        <p:txBody>
          <a:bodyPr wrap="square" lIns="45720">
            <a:spAutoFit/>
          </a:bodyPr>
          <a:lstStyle/>
          <a:p>
            <a:pPr>
              <a:lnSpc>
                <a:spcPct val="105000"/>
              </a:lnSpc>
              <a:spcAft>
                <a:spcPts val="600"/>
              </a:spcAft>
            </a:pPr>
            <a:r>
              <a:rPr sz="1400">
                <a:solidFill>
                  <a:srgbClr val="FFC72C"/>
                </a:solidFill>
                <a:latin typeface="Calibri"/>
              </a:rPr>
              <a:t>▪  </a:t>
            </a:r>
            <a:r>
              <a:rPr b="1" sz="1400">
                <a:solidFill>
                  <a:srgbClr val="1F2A44"/>
                </a:solidFill>
                <a:latin typeface="Calibri"/>
              </a:rPr>
              <a:t>The ask: </a:t>
            </a:r>
            <a:r>
              <a:rPr sz="1400">
                <a:solidFill>
                  <a:srgbClr val="1F2A44"/>
                </a:solidFill>
                <a:latin typeface="Calibri"/>
              </a:rPr>
              <a:t>fund and schedule the four closers now (geotech, hosting capacity at 5 MW per feeder, the Station 496 protection-basis memo, the Haugland scope map) so every one of these is decided before IFC, not discovered after.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56032"/>
            <a:ext cx="11064240" cy="274320"/>
          </a:xfrm>
          <a:prstGeom prst="rect">
            <a:avLst/>
          </a:prstGeom>
          <a:noFill/>
        </p:spPr>
        <p:txBody>
          <a:bodyPr wrap="square" lIns="45720" rIns="45720" tIns="27432" bIns="27432" anchor="t">
            <a:spAutoFit/>
          </a:bodyPr>
          <a:lstStyle/>
          <a:p>
            <a:pPr algn="l">
              <a:lnSpc>
                <a:spcPct val="105000"/>
              </a:lnSpc>
              <a:spcAft>
                <a:spcPts val="400"/>
              </a:spcAft>
            </a:pPr>
            <a:r>
              <a:rPr sz="1100" b="1" i="0">
                <a:solidFill>
                  <a:srgbClr val="6E1F2E"/>
                </a:solidFill>
                <a:latin typeface="Calibri"/>
              </a:rPr>
              <a:t>GROUP 2, THE TWO LARGEST LEVERS, ON ONE MEMO AND ONE STUDY</a:t>
            </a:r>
          </a:p>
        </p:txBody>
      </p:sp>
      <p:sp>
        <p:nvSpPr>
          <p:cNvPr id="4" name="TextBox 3"/>
          <p:cNvSpPr txBox="1"/>
          <p:nvPr/>
        </p:nvSpPr>
        <p:spPr>
          <a:xfrm>
            <a:off x="548640" y="475488"/>
            <a:ext cx="11064240" cy="868680"/>
          </a:xfrm>
          <a:prstGeom prst="rect">
            <a:avLst/>
          </a:prstGeom>
          <a:noFill/>
        </p:spPr>
        <p:txBody>
          <a:bodyPr wrap="square" lIns="45720" rIns="45720" tIns="27432" bIns="27432" anchor="t">
            <a:spAutoFit/>
          </a:bodyPr>
          <a:lstStyle/>
          <a:p>
            <a:pPr algn="l">
              <a:lnSpc>
                <a:spcPct val="100000"/>
              </a:lnSpc>
              <a:spcAft>
                <a:spcPts val="400"/>
              </a:spcAft>
            </a:pPr>
            <a:r>
              <a:rPr sz="2300" b="1" i="0">
                <a:solidFill>
                  <a:srgbClr val="001E60"/>
                </a:solidFill>
                <a:latin typeface="Georgia"/>
              </a:rPr>
              <a:t>Engineering's 5 Oct proposal is worth $7.6 to 8.3M: Station 496 to RTU, RTAC and transfer trip only, and two feeders</a:t>
            </a:r>
          </a:p>
        </p:txBody>
      </p:sp>
      <p:sp>
        <p:nvSpPr>
          <p:cNvPr id="5" name="TextBox 4"/>
          <p:cNvSpPr txBox="1"/>
          <p:nvPr/>
        </p:nvSpPr>
        <p:spPr>
          <a:xfrm>
            <a:off x="548640" y="6419088"/>
            <a:ext cx="8229600" cy="274320"/>
          </a:xfrm>
          <a:prstGeom prst="rect">
            <a:avLst/>
          </a:prstGeom>
          <a:noFill/>
        </p:spPr>
        <p:txBody>
          <a:bodyPr wrap="square" lIns="45720" rIns="45720" tIns="27432" bIns="27432" anchor="t">
            <a:spAutoFit/>
          </a:bodyPr>
          <a:lstStyle/>
          <a:p>
            <a:pPr algn="l">
              <a:lnSpc>
                <a:spcPct val="105000"/>
              </a:lnSpc>
              <a:spcAft>
                <a:spcPts val="400"/>
              </a:spcAft>
            </a:pPr>
            <a:r>
              <a:rPr sz="1000" b="0" i="0">
                <a:solidFill>
                  <a:srgbClr val="6B7280"/>
                </a:solidFill>
                <a:latin typeface="Calibri"/>
              </a:rPr>
              <a:t>EstimatingCoE | Eversource Energy | Stewards of Affordability</a:t>
            </a:r>
          </a:p>
        </p:txBody>
      </p:sp>
      <p:sp>
        <p:nvSpPr>
          <p:cNvPr id="6" name="TextBox 5"/>
          <p:cNvSpPr txBox="1"/>
          <p:nvPr/>
        </p:nvSpPr>
        <p:spPr>
          <a:xfrm>
            <a:off x="10972800" y="6419088"/>
            <a:ext cx="685800" cy="274320"/>
          </a:xfrm>
          <a:prstGeom prst="rect">
            <a:avLst/>
          </a:prstGeom>
          <a:noFill/>
        </p:spPr>
        <p:txBody>
          <a:bodyPr wrap="square" lIns="45720" rIns="45720" tIns="27432" bIns="27432" anchor="t">
            <a:spAutoFit/>
          </a:bodyPr>
          <a:lstStyle/>
          <a:p>
            <a:pPr algn="r">
              <a:lnSpc>
                <a:spcPct val="105000"/>
              </a:lnSpc>
              <a:spcAft>
                <a:spcPts val="400"/>
              </a:spcAft>
            </a:pPr>
            <a:r>
              <a:rPr sz="1000" b="0" i="0">
                <a:solidFill>
                  <a:srgbClr val="6B7280"/>
                </a:solidFill>
                <a:latin typeface="Calibri"/>
              </a:rPr>
              <a:t>6</a:t>
            </a:r>
          </a:p>
        </p:txBody>
      </p:sp>
      <p:sp>
        <p:nvSpPr>
          <p:cNvPr id="7" name="Rectangle 6"/>
          <p:cNvSpPr/>
          <p:nvPr/>
        </p:nvSpPr>
        <p:spPr>
          <a:xfrm>
            <a:off x="548640" y="1417320"/>
            <a:ext cx="3566160" cy="1737360"/>
          </a:xfrm>
          <a:prstGeom prst="rect">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527048"/>
            <a:ext cx="3291840" cy="822960"/>
          </a:xfrm>
          <a:prstGeom prst="rect">
            <a:avLst/>
          </a:prstGeom>
          <a:noFill/>
        </p:spPr>
        <p:txBody>
          <a:bodyPr wrap="square" lIns="45720" rIns="45720" tIns="27432" bIns="27432" anchor="t">
            <a:spAutoFit/>
          </a:bodyPr>
          <a:lstStyle/>
          <a:p>
            <a:pPr algn="l">
              <a:lnSpc>
                <a:spcPct val="105000"/>
              </a:lnSpc>
              <a:spcAft>
                <a:spcPts val="400"/>
              </a:spcAft>
            </a:pPr>
            <a:r>
              <a:rPr sz="2800" b="1" i="0">
                <a:solidFill>
                  <a:srgbClr val="001E60"/>
                </a:solidFill>
                <a:latin typeface="Georgia"/>
              </a:rPr>
              <a:t>$6.1 to 6.6M</a:t>
            </a:r>
          </a:p>
        </p:txBody>
      </p:sp>
      <p:sp>
        <p:nvSpPr>
          <p:cNvPr id="9" name="TextBox 8"/>
          <p:cNvSpPr txBox="1"/>
          <p:nvPr/>
        </p:nvSpPr>
        <p:spPr>
          <a:xfrm>
            <a:off x="685800" y="2007107"/>
            <a:ext cx="3291840" cy="457200"/>
          </a:xfrm>
          <a:prstGeom prst="rect">
            <a:avLst/>
          </a:prstGeom>
          <a:noFill/>
        </p:spPr>
        <p:txBody>
          <a:bodyPr wrap="square" lIns="45720" rIns="45720" tIns="27432" bIns="27432" anchor="t">
            <a:spAutoFit/>
          </a:bodyPr>
          <a:lstStyle/>
          <a:p>
            <a:pPr algn="l">
              <a:lnSpc>
                <a:spcPct val="105000"/>
              </a:lnSpc>
              <a:spcAft>
                <a:spcPts val="400"/>
              </a:spcAft>
            </a:pPr>
            <a:r>
              <a:rPr sz="1500" b="1" i="0">
                <a:solidFill>
                  <a:srgbClr val="1F2A44"/>
                </a:solidFill>
                <a:latin typeface="Calibri"/>
              </a:rPr>
              <a:t>Station 496, net</a:t>
            </a:r>
          </a:p>
        </p:txBody>
      </p:sp>
      <p:sp>
        <p:nvSpPr>
          <p:cNvPr id="10" name="TextBox 9"/>
          <p:cNvSpPr txBox="1"/>
          <p:nvPr/>
        </p:nvSpPr>
        <p:spPr>
          <a:xfrm>
            <a:off x="685800" y="2391156"/>
            <a:ext cx="3291840" cy="717803"/>
          </a:xfrm>
          <a:prstGeom prst="rect">
            <a:avLst/>
          </a:prstGeom>
          <a:noFill/>
        </p:spPr>
        <p:txBody>
          <a:bodyPr wrap="square" lIns="45720" rIns="45720" tIns="27432" bIns="27432" anchor="t">
            <a:spAutoFit/>
          </a:bodyPr>
          <a:lstStyle/>
          <a:p>
            <a:pPr algn="l">
              <a:lnSpc>
                <a:spcPct val="100000"/>
              </a:lnSpc>
              <a:spcAft>
                <a:spcPts val="400"/>
              </a:spcAft>
            </a:pPr>
            <a:r>
              <a:rPr sz="1250" b="0" i="0">
                <a:solidFill>
                  <a:srgbClr val="6B7280"/>
                </a:solidFill>
                <a:latin typeface="Calibri"/>
              </a:rPr>
              <a:t>$7.25M relay program out; $0.7 to 1.1M kept for the RTU, RTAC and transfer trip, which Rev 2 names but does not price</a:t>
            </a:r>
          </a:p>
        </p:txBody>
      </p:sp>
      <p:sp>
        <p:nvSpPr>
          <p:cNvPr id="11" name="Rectangle 10"/>
          <p:cNvSpPr/>
          <p:nvPr/>
        </p:nvSpPr>
        <p:spPr>
          <a:xfrm>
            <a:off x="4297680" y="1417320"/>
            <a:ext cx="3566160" cy="1737360"/>
          </a:xfrm>
          <a:prstGeom prst="rect">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34840" y="1527048"/>
            <a:ext cx="3291840" cy="822960"/>
          </a:xfrm>
          <a:prstGeom prst="rect">
            <a:avLst/>
          </a:prstGeom>
          <a:noFill/>
        </p:spPr>
        <p:txBody>
          <a:bodyPr wrap="square" lIns="45720" rIns="45720" tIns="27432" bIns="27432" anchor="t">
            <a:spAutoFit/>
          </a:bodyPr>
          <a:lstStyle/>
          <a:p>
            <a:pPr algn="l">
              <a:lnSpc>
                <a:spcPct val="105000"/>
              </a:lnSpc>
              <a:spcAft>
                <a:spcPts val="400"/>
              </a:spcAft>
            </a:pPr>
            <a:r>
              <a:rPr sz="2800" b="1" i="0">
                <a:solidFill>
                  <a:srgbClr val="001E60"/>
                </a:solidFill>
                <a:latin typeface="Georgia"/>
              </a:rPr>
              <a:t>$1.5 to 1.7M</a:t>
            </a:r>
          </a:p>
        </p:txBody>
      </p:sp>
      <p:sp>
        <p:nvSpPr>
          <p:cNvPr id="13" name="TextBox 12"/>
          <p:cNvSpPr txBox="1"/>
          <p:nvPr/>
        </p:nvSpPr>
        <p:spPr>
          <a:xfrm>
            <a:off x="4434840" y="2007107"/>
            <a:ext cx="3291840" cy="457200"/>
          </a:xfrm>
          <a:prstGeom prst="rect">
            <a:avLst/>
          </a:prstGeom>
          <a:noFill/>
        </p:spPr>
        <p:txBody>
          <a:bodyPr wrap="square" lIns="45720" rIns="45720" tIns="27432" bIns="27432" anchor="t">
            <a:spAutoFit/>
          </a:bodyPr>
          <a:lstStyle/>
          <a:p>
            <a:pPr algn="l">
              <a:lnSpc>
                <a:spcPct val="105000"/>
              </a:lnSpc>
              <a:spcAft>
                <a:spcPts val="400"/>
              </a:spcAft>
            </a:pPr>
            <a:r>
              <a:rPr sz="1500" b="1" i="0">
                <a:solidFill>
                  <a:srgbClr val="1F2A44"/>
                </a:solidFill>
                <a:latin typeface="Calibri"/>
              </a:rPr>
              <a:t>Two feeders, loaded</a:t>
            </a:r>
          </a:p>
        </p:txBody>
      </p:sp>
      <p:sp>
        <p:nvSpPr>
          <p:cNvPr id="14" name="TextBox 13"/>
          <p:cNvSpPr txBox="1"/>
          <p:nvPr/>
        </p:nvSpPr>
        <p:spPr>
          <a:xfrm>
            <a:off x="4434840" y="2391156"/>
            <a:ext cx="3291840" cy="717803"/>
          </a:xfrm>
          <a:prstGeom prst="rect">
            <a:avLst/>
          </a:prstGeom>
          <a:noFill/>
        </p:spPr>
        <p:txBody>
          <a:bodyPr wrap="square" lIns="45720" rIns="45720" tIns="27432" bIns="27432" anchor="t">
            <a:spAutoFit/>
          </a:bodyPr>
          <a:lstStyle/>
          <a:p>
            <a:pPr algn="l">
              <a:lnSpc>
                <a:spcPct val="100000"/>
              </a:lnSpc>
              <a:spcAft>
                <a:spcPts val="400"/>
              </a:spcAft>
            </a:pPr>
            <a:r>
              <a:rPr sz="1250" b="0" i="0">
                <a:solidFill>
                  <a:srgbClr val="6B7280"/>
                </a:solidFill>
                <a:latin typeface="Calibri"/>
              </a:rPr>
              <a:t>Two breaker skids, two metering sets, two duct-bank runs, two riser-pole pairs; four GSUs unchanged</a:t>
            </a:r>
          </a:p>
        </p:txBody>
      </p:sp>
      <p:sp>
        <p:nvSpPr>
          <p:cNvPr id="15" name="Rectangle 14"/>
          <p:cNvSpPr/>
          <p:nvPr/>
        </p:nvSpPr>
        <p:spPr>
          <a:xfrm>
            <a:off x="8046720" y="1417320"/>
            <a:ext cx="3566160" cy="1737360"/>
          </a:xfrm>
          <a:prstGeom prst="rect">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83880" y="1527048"/>
            <a:ext cx="3291840" cy="822960"/>
          </a:xfrm>
          <a:prstGeom prst="rect">
            <a:avLst/>
          </a:prstGeom>
          <a:noFill/>
        </p:spPr>
        <p:txBody>
          <a:bodyPr wrap="square" lIns="45720" rIns="45720" tIns="27432" bIns="27432" anchor="t">
            <a:spAutoFit/>
          </a:bodyPr>
          <a:lstStyle/>
          <a:p>
            <a:pPr algn="l">
              <a:lnSpc>
                <a:spcPct val="105000"/>
              </a:lnSpc>
              <a:spcAft>
                <a:spcPts val="400"/>
              </a:spcAft>
            </a:pPr>
            <a:r>
              <a:rPr sz="2800" b="1" i="0">
                <a:solidFill>
                  <a:srgbClr val="001E60"/>
                </a:solidFill>
                <a:latin typeface="Georgia"/>
              </a:rPr>
              <a:t>$42.4 to 45.0M</a:t>
            </a:r>
          </a:p>
        </p:txBody>
      </p:sp>
      <p:sp>
        <p:nvSpPr>
          <p:cNvPr id="17" name="TextBox 16"/>
          <p:cNvSpPr txBox="1"/>
          <p:nvPr/>
        </p:nvSpPr>
        <p:spPr>
          <a:xfrm>
            <a:off x="8183880" y="2007107"/>
            <a:ext cx="3291840" cy="457200"/>
          </a:xfrm>
          <a:prstGeom prst="rect">
            <a:avLst/>
          </a:prstGeom>
          <a:noFill/>
        </p:spPr>
        <p:txBody>
          <a:bodyPr wrap="square" lIns="45720" rIns="45720" tIns="27432" bIns="27432" anchor="t">
            <a:spAutoFit/>
          </a:bodyPr>
          <a:lstStyle/>
          <a:p>
            <a:pPr algn="l">
              <a:lnSpc>
                <a:spcPct val="105000"/>
              </a:lnSpc>
              <a:spcAft>
                <a:spcPts val="400"/>
              </a:spcAft>
            </a:pPr>
            <a:r>
              <a:rPr sz="1500" b="1" i="0">
                <a:solidFill>
                  <a:srgbClr val="1F2A44"/>
                </a:solidFill>
                <a:latin typeface="Calibri"/>
              </a:rPr>
              <a:t>Contained case plus this</a:t>
            </a:r>
          </a:p>
        </p:txBody>
      </p:sp>
      <p:sp>
        <p:nvSpPr>
          <p:cNvPr id="18" name="TextBox 17"/>
          <p:cNvSpPr txBox="1"/>
          <p:nvPr/>
        </p:nvSpPr>
        <p:spPr>
          <a:xfrm>
            <a:off x="8183880" y="2391156"/>
            <a:ext cx="3291840" cy="717803"/>
          </a:xfrm>
          <a:prstGeom prst="rect">
            <a:avLst/>
          </a:prstGeom>
          <a:noFill/>
        </p:spPr>
        <p:txBody>
          <a:bodyPr wrap="square" lIns="45720" rIns="45720" tIns="27432" bIns="27432" anchor="t">
            <a:spAutoFit/>
          </a:bodyPr>
          <a:lstStyle/>
          <a:p>
            <a:pPr algn="l">
              <a:lnSpc>
                <a:spcPct val="100000"/>
              </a:lnSpc>
              <a:spcAft>
                <a:spcPts val="400"/>
              </a:spcAft>
            </a:pPr>
            <a:r>
              <a:rPr sz="1250" b="0" i="0">
                <a:solidFill>
                  <a:srgbClr val="6B7280"/>
                </a:solidFill>
                <a:latin typeface="Calibri"/>
              </a:rPr>
              <a:t>The six no-study decisions and the proposal; nothing else in the register</a:t>
            </a:r>
          </a:p>
        </p:txBody>
      </p:sp>
      <p:graphicFrame>
        <p:nvGraphicFramePr>
          <p:cNvPr id="19" name="Table 18"/>
          <p:cNvGraphicFramePr>
            <a:graphicFrameLocks noGrp="1"/>
          </p:cNvGraphicFramePr>
          <p:nvPr/>
        </p:nvGraphicFramePr>
        <p:xfrm>
          <a:off x="548640" y="3291840"/>
          <a:ext cx="11064240" cy="2468880"/>
        </p:xfrm>
        <a:graphic>
          <a:graphicData uri="http://schemas.openxmlformats.org/drawingml/2006/table">
            <a:tbl>
              <a:tblPr firstRow="1" bandRow="1">
                <a:tableStyleId>{5C22544A-7EE6-4342-B048-85BDC9FD1C3A}</a:tableStyleId>
              </a:tblPr>
              <a:tblGrid>
                <a:gridCol w="5486400"/>
                <a:gridCol w="2011680"/>
                <a:gridCol w="914400"/>
                <a:gridCol w="2651760"/>
              </a:tblGrid>
              <a:tr h="411480">
                <a:tc>
                  <a:txBody>
                    <a:bodyPr/>
                    <a:lstStyle/>
                    <a:p>
                      <a:r>
                        <a:rPr sz="1000" b="1">
                          <a:solidFill>
                            <a:srgbClr val="FFFFFF"/>
                          </a:solidFill>
                          <a:latin typeface="Calibri"/>
                        </a:rPr>
                        <a:t>What makes it real</a:t>
                      </a:r>
                    </a:p>
                  </a:txBody>
                  <a:tcPr marL="54864" marR="54864" marT="27432" marB="27432">
                    <a:solidFill>
                      <a:srgbClr val="001E60"/>
                    </a:solidFill>
                  </a:tcPr>
                </a:tc>
                <a:tc>
                  <a:txBody>
                    <a:bodyPr/>
                    <a:lstStyle/>
                    <a:p>
                      <a:r>
                        <a:rPr sz="1000" b="1">
                          <a:solidFill>
                            <a:srgbClr val="FFFFFF"/>
                          </a:solidFill>
                          <a:latin typeface="Calibri"/>
                        </a:rPr>
                        <a:t>Owner</a:t>
                      </a:r>
                    </a:p>
                  </a:txBody>
                  <a:tcPr marL="54864" marR="54864" marT="27432" marB="27432">
                    <a:solidFill>
                      <a:srgbClr val="001E60"/>
                    </a:solidFill>
                  </a:tcPr>
                </a:tc>
                <a:tc>
                  <a:txBody>
                    <a:bodyPr/>
                    <a:lstStyle/>
                    <a:p>
                      <a:r>
                        <a:rPr sz="1000" b="1">
                          <a:solidFill>
                            <a:srgbClr val="FFFFFF"/>
                          </a:solidFill>
                          <a:latin typeface="Calibri"/>
                        </a:rPr>
                        <a:t>By</a:t>
                      </a:r>
                    </a:p>
                  </a:txBody>
                  <a:tcPr marL="54864" marR="54864" marT="27432" marB="27432">
                    <a:solidFill>
                      <a:srgbClr val="001E60"/>
                    </a:solidFill>
                  </a:tcPr>
                </a:tc>
                <a:tc>
                  <a:txBody>
                    <a:bodyPr/>
                    <a:lstStyle/>
                    <a:p>
                      <a:r>
                        <a:rPr sz="1000" b="1">
                          <a:solidFill>
                            <a:srgbClr val="FFFFFF"/>
                          </a:solidFill>
                          <a:latin typeface="Calibri"/>
                        </a:rPr>
                        <a:t>What it decides</a:t>
                      </a:r>
                    </a:p>
                  </a:txBody>
                  <a:tcPr marL="54864" marR="54864" marT="27432" marB="27432">
                    <a:solidFill>
                      <a:srgbClr val="001E60"/>
                    </a:solidFill>
                  </a:tcPr>
                </a:tc>
              </a:tr>
              <a:tr h="411480">
                <a:tc>
                  <a:txBody>
                    <a:bodyPr/>
                    <a:lstStyle/>
                    <a:p>
                      <a:r>
                        <a:rPr sz="1000" b="0">
                          <a:solidFill>
                            <a:srgbClr val="1F2A44"/>
                          </a:solidFill>
                          <a:latin typeface="Calibri"/>
                        </a:rPr>
                        <a:t>Protection-basis memo: the existing SEL-551 and REF610 relays plus an RTAC transfer trip over the dark fiber meet the interconnection requirement</a:t>
                      </a:r>
                    </a:p>
                  </a:txBody>
                  <a:tcPr marL="54864" marR="54864" marT="27432" marB="27432" anchor="ctr">
                    <a:solidFill>
                      <a:srgbClr val="FFFFFF"/>
                    </a:solidFill>
                  </a:tcPr>
                </a:tc>
                <a:tc>
                  <a:txBody>
                    <a:bodyPr/>
                    <a:lstStyle/>
                    <a:p>
                      <a:r>
                        <a:rPr sz="1000" b="0">
                          <a:solidFill>
                            <a:srgbClr val="1F2A44"/>
                          </a:solidFill>
                          <a:latin typeface="Calibri"/>
                        </a:rPr>
                        <a:t>System Protection</a:t>
                      </a:r>
                    </a:p>
                  </a:txBody>
                  <a:tcPr marL="54864" marR="54864" marT="27432" marB="27432" anchor="ctr">
                    <a:solidFill>
                      <a:srgbClr val="FFFFFF"/>
                    </a:solidFill>
                  </a:tcPr>
                </a:tc>
                <a:tc>
                  <a:txBody>
                    <a:bodyPr/>
                    <a:lstStyle/>
                    <a:p>
                      <a:r>
                        <a:rPr sz="1000" b="0">
                          <a:solidFill>
                            <a:srgbClr val="1F2A44"/>
                          </a:solidFill>
                          <a:latin typeface="Calibri"/>
                        </a:rPr>
                        <a:t>Dec 2026</a:t>
                      </a:r>
                    </a:p>
                  </a:txBody>
                  <a:tcPr marL="54864" marR="54864" marT="27432" marB="27432" anchor="ctr">
                    <a:solidFill>
                      <a:srgbClr val="FFFFFF"/>
                    </a:solidFill>
                  </a:tcPr>
                </a:tc>
                <a:tc>
                  <a:txBody>
                    <a:bodyPr/>
                    <a:lstStyle/>
                    <a:p>
                      <a:r>
                        <a:rPr sz="1000" b="0">
                          <a:solidFill>
                            <a:srgbClr val="1F2A44"/>
                          </a:solidFill>
                          <a:latin typeface="Calibri"/>
                        </a:rPr>
                        <a:t>Without it the $7.25M stays</a:t>
                      </a:r>
                    </a:p>
                  </a:txBody>
                  <a:tcPr marL="54864" marR="54864" marT="27432" marB="27432" anchor="ctr">
                    <a:solidFill>
                      <a:srgbClr val="FFFFFF"/>
                    </a:solidFill>
                  </a:tcPr>
                </a:tc>
              </a:tr>
              <a:tr h="411480">
                <a:tc>
                  <a:txBody>
                    <a:bodyPr/>
                    <a:lstStyle/>
                    <a:p>
                      <a:r>
                        <a:rPr sz="1000" b="0">
                          <a:solidFill>
                            <a:srgbClr val="1F2A44"/>
                          </a:solidFill>
                          <a:latin typeface="Calibri"/>
                        </a:rPr>
                        <a:t>Price the RTU, RTAC/Axion, panel, fiber terminations and point lists (named in Rev 2, no line)</a:t>
                      </a:r>
                    </a:p>
                  </a:txBody>
                  <a:tcPr marL="54864" marR="54864" marT="27432" marB="27432" anchor="ctr">
                    <a:solidFill>
                      <a:srgbClr val="F2F4F8"/>
                    </a:solidFill>
                  </a:tcPr>
                </a:tc>
                <a:tc>
                  <a:txBody>
                    <a:bodyPr/>
                    <a:lstStyle/>
                    <a:p>
                      <a:r>
                        <a:rPr sz="1000" b="0">
                          <a:solidFill>
                            <a:srgbClr val="1F2A44"/>
                          </a:solidFill>
                          <a:latin typeface="Calibri"/>
                        </a:rPr>
                        <a:t>P&amp;C Eng. + Cost Estimating</a:t>
                      </a:r>
                    </a:p>
                  </a:txBody>
                  <a:tcPr marL="54864" marR="54864" marT="27432" marB="27432" anchor="ctr">
                    <a:solidFill>
                      <a:srgbClr val="F2F4F8"/>
                    </a:solidFill>
                  </a:tcPr>
                </a:tc>
                <a:tc>
                  <a:txBody>
                    <a:bodyPr/>
                    <a:lstStyle/>
                    <a:p>
                      <a:r>
                        <a:rPr sz="1000" b="0">
                          <a:solidFill>
                            <a:srgbClr val="1F2A44"/>
                          </a:solidFill>
                          <a:latin typeface="Calibri"/>
                        </a:rPr>
                        <a:t>Nov 2026</a:t>
                      </a:r>
                    </a:p>
                  </a:txBody>
                  <a:tcPr marL="54864" marR="54864" marT="27432" marB="27432" anchor="ctr">
                    <a:solidFill>
                      <a:srgbClr val="F2F4F8"/>
                    </a:solidFill>
                  </a:tcPr>
                </a:tc>
                <a:tc>
                  <a:txBody>
                    <a:bodyPr/>
                    <a:lstStyle/>
                    <a:p>
                      <a:r>
                        <a:rPr sz="1000" b="0">
                          <a:solidFill>
                            <a:srgbClr val="1F2A44"/>
                          </a:solidFill>
                          <a:latin typeface="Calibri"/>
                        </a:rPr>
                        <a:t>Allowance of $0.30 to 0.55M direct until then</a:t>
                      </a:r>
                    </a:p>
                  </a:txBody>
                  <a:tcPr marL="54864" marR="54864" marT="27432" marB="27432" anchor="ctr">
                    <a:solidFill>
                      <a:srgbClr val="F2F4F8"/>
                    </a:solidFill>
                  </a:tcPr>
                </a:tc>
              </a:tr>
              <a:tr h="411480">
                <a:tc>
                  <a:txBody>
                    <a:bodyPr/>
                    <a:lstStyle/>
                    <a:p>
                      <a:r>
                        <a:rPr sz="1000" b="0">
                          <a:solidFill>
                            <a:srgbClr val="1F2A44"/>
                          </a:solidFill>
                          <a:latin typeface="Calibri"/>
                        </a:rPr>
                        <a:t>Asset-condition check on the legacy relays</a:t>
                      </a:r>
                    </a:p>
                  </a:txBody>
                  <a:tcPr marL="54864" marR="54864" marT="27432" marB="27432" anchor="ctr">
                    <a:solidFill>
                      <a:srgbClr val="FFFFFF"/>
                    </a:solidFill>
                  </a:tcPr>
                </a:tc>
                <a:tc>
                  <a:txBody>
                    <a:bodyPr/>
                    <a:lstStyle/>
                    <a:p>
                      <a:r>
                        <a:rPr sz="1000" b="0">
                          <a:solidFill>
                            <a:srgbClr val="1F2A44"/>
                          </a:solidFill>
                          <a:latin typeface="Calibri"/>
                        </a:rPr>
                        <a:t>Asset Management</a:t>
                      </a:r>
                    </a:p>
                  </a:txBody>
                  <a:tcPr marL="54864" marR="54864" marT="27432" marB="27432" anchor="ctr">
                    <a:solidFill>
                      <a:srgbClr val="FFFFFF"/>
                    </a:solidFill>
                  </a:tcPr>
                </a:tc>
                <a:tc>
                  <a:txBody>
                    <a:bodyPr/>
                    <a:lstStyle/>
                    <a:p>
                      <a:r>
                        <a:rPr sz="1000" b="0">
                          <a:solidFill>
                            <a:srgbClr val="1F2A44"/>
                          </a:solidFill>
                          <a:latin typeface="Calibri"/>
                        </a:rPr>
                        <a:t>Dec 2026</a:t>
                      </a:r>
                    </a:p>
                  </a:txBody>
                  <a:tcPr marL="54864" marR="54864" marT="27432" marB="27432" anchor="ctr">
                    <a:solidFill>
                      <a:srgbClr val="FFFFFF"/>
                    </a:solidFill>
                  </a:tcPr>
                </a:tc>
                <a:tc>
                  <a:txBody>
                    <a:bodyPr/>
                    <a:lstStyle/>
                    <a:p>
                      <a:r>
                        <a:rPr sz="1000" b="0">
                          <a:solidFill>
                            <a:srgbClr val="1F2A44"/>
                          </a:solidFill>
                          <a:latin typeface="Calibri"/>
                        </a:rPr>
                        <a:t>If they must go anyway, the cost moves to that program; customers do not save it</a:t>
                      </a:r>
                    </a:p>
                  </a:txBody>
                  <a:tcPr marL="54864" marR="54864" marT="27432" marB="27432" anchor="ctr">
                    <a:solidFill>
                      <a:srgbClr val="FFFFFF"/>
                    </a:solidFill>
                  </a:tcPr>
                </a:tc>
              </a:tr>
              <a:tr h="411480">
                <a:tc>
                  <a:txBody>
                    <a:bodyPr/>
                    <a:lstStyle/>
                    <a:p>
                      <a:r>
                        <a:rPr sz="1000" b="0">
                          <a:solidFill>
                            <a:srgbClr val="1F2A44"/>
                          </a:solidFill>
                          <a:latin typeface="Calibri"/>
                        </a:rPr>
                        <a:t>Hosting-capacity and protection study at 5 MW per feeder; N-1 position accepted in writing</a:t>
                      </a:r>
                    </a:p>
                  </a:txBody>
                  <a:tcPr marL="54864" marR="54864" marT="27432" marB="27432" anchor="ctr">
                    <a:solidFill>
                      <a:srgbClr val="F2F4F8"/>
                    </a:solidFill>
                  </a:tcPr>
                </a:tc>
                <a:tc>
                  <a:txBody>
                    <a:bodyPr/>
                    <a:lstStyle/>
                    <a:p>
                      <a:r>
                        <a:rPr sz="1000" b="0">
                          <a:solidFill>
                            <a:srgbClr val="1F2A44"/>
                          </a:solidFill>
                          <a:latin typeface="Calibri"/>
                        </a:rPr>
                        <a:t>System Planning</a:t>
                      </a:r>
                    </a:p>
                  </a:txBody>
                  <a:tcPr marL="54864" marR="54864" marT="27432" marB="27432" anchor="ctr">
                    <a:solidFill>
                      <a:srgbClr val="F2F4F8"/>
                    </a:solidFill>
                  </a:tcPr>
                </a:tc>
                <a:tc>
                  <a:txBody>
                    <a:bodyPr/>
                    <a:lstStyle/>
                    <a:p>
                      <a:r>
                        <a:rPr sz="1000" b="0">
                          <a:solidFill>
                            <a:srgbClr val="1F2A44"/>
                          </a:solidFill>
                          <a:latin typeface="Calibri"/>
                        </a:rPr>
                        <a:t>Q1 2027</a:t>
                      </a:r>
                    </a:p>
                  </a:txBody>
                  <a:tcPr marL="54864" marR="54864" marT="27432" marB="27432" anchor="ctr">
                    <a:solidFill>
                      <a:srgbClr val="F2F4F8"/>
                    </a:solidFill>
                  </a:tcPr>
                </a:tc>
                <a:tc>
                  <a:txBody>
                    <a:bodyPr/>
                    <a:lstStyle/>
                    <a:p>
                      <a:r>
                        <a:rPr sz="1000" b="0">
                          <a:solidFill>
                            <a:srgbClr val="1F2A44"/>
                          </a:solidFill>
                          <a:latin typeface="Calibri"/>
                        </a:rPr>
                        <a:t>Two feeders, and whether voltage mitigation is needed ($0.2M to $0.5M exposure)</a:t>
                      </a:r>
                    </a:p>
                  </a:txBody>
                  <a:tcPr marL="54864" marR="54864" marT="27432" marB="27432" anchor="ctr">
                    <a:solidFill>
                      <a:srgbClr val="F2F4F8"/>
                    </a:solidFill>
                  </a:tcPr>
                </a:tc>
              </a:tr>
              <a:tr h="411480">
                <a:tc>
                  <a:txBody>
                    <a:bodyPr/>
                    <a:lstStyle/>
                    <a:p>
                      <a:r>
                        <a:rPr sz="1000" b="0">
                          <a:solidFill>
                            <a:srgbClr val="1F2A44"/>
                          </a:solidFill>
                          <a:latin typeface="Calibri"/>
                        </a:rPr>
                        <a:t>D-Line 24211 re-scoped to two tie-ins</a:t>
                      </a:r>
                    </a:p>
                  </a:txBody>
                  <a:tcPr marL="54864" marR="54864" marT="27432" marB="27432" anchor="ctr">
                    <a:solidFill>
                      <a:srgbClr val="FFFFFF"/>
                    </a:solidFill>
                  </a:tcPr>
                </a:tc>
                <a:tc>
                  <a:txBody>
                    <a:bodyPr/>
                    <a:lstStyle/>
                    <a:p>
                      <a:r>
                        <a:rPr sz="1000" b="0">
                          <a:solidFill>
                            <a:srgbClr val="1F2A44"/>
                          </a:solidFill>
                          <a:latin typeface="Calibri"/>
                        </a:rPr>
                        <a:t>Distribution Eng.</a:t>
                      </a:r>
                    </a:p>
                  </a:txBody>
                  <a:tcPr marL="54864" marR="54864" marT="27432" marB="27432" anchor="ctr">
                    <a:solidFill>
                      <a:srgbClr val="FFFFFF"/>
                    </a:solidFill>
                  </a:tcPr>
                </a:tc>
                <a:tc>
                  <a:txBody>
                    <a:bodyPr/>
                    <a:lstStyle/>
                    <a:p>
                      <a:r>
                        <a:rPr sz="1000" b="0">
                          <a:solidFill>
                            <a:srgbClr val="1F2A44"/>
                          </a:solidFill>
                          <a:latin typeface="Calibri"/>
                        </a:rPr>
                        <a:t>Q1 2027</a:t>
                      </a:r>
                    </a:p>
                  </a:txBody>
                  <a:tcPr marL="54864" marR="54864" marT="27432" marB="27432" anchor="ctr">
                    <a:solidFill>
                      <a:srgbClr val="FFFFFF"/>
                    </a:solidFill>
                  </a:tcPr>
                </a:tc>
                <a:tc>
                  <a:txBody>
                    <a:bodyPr/>
                    <a:lstStyle/>
                    <a:p>
                      <a:r>
                        <a:rPr sz="1000" b="0">
                          <a:solidFill>
                            <a:srgbClr val="1F2A44"/>
                          </a:solidFill>
                          <a:latin typeface="Calibri"/>
                        </a:rPr>
                        <a:t>Outside 21334; the 2023 $4.8M memo shrinks too</a:t>
                      </a:r>
                    </a:p>
                  </a:txBody>
                  <a:tcPr marL="54864" marR="54864" marT="27432" marB="27432" anchor="ctr">
                    <a:solidFill>
                      <a:srgbClr val="FFFFFF"/>
                    </a:solidFill>
                  </a:tcPr>
                </a:tc>
              </a:tr>
            </a:tbl>
          </a:graphicData>
        </a:graphic>
      </p:graphicFrame>
      <p:sp>
        <p:nvSpPr>
          <p:cNvPr id="20" name="TextBox 19"/>
          <p:cNvSpPr txBox="1"/>
          <p:nvPr/>
        </p:nvSpPr>
        <p:spPr>
          <a:xfrm>
            <a:off x="548640" y="5897880"/>
            <a:ext cx="11064240" cy="548640"/>
          </a:xfrm>
          <a:prstGeom prst="rect">
            <a:avLst/>
          </a:prstGeom>
          <a:noFill/>
        </p:spPr>
        <p:txBody>
          <a:bodyPr wrap="square" lIns="45720">
            <a:spAutoFit/>
          </a:bodyPr>
          <a:lstStyle/>
          <a:p>
            <a:pPr>
              <a:lnSpc>
                <a:spcPct val="105000"/>
              </a:lnSpc>
              <a:spcAft>
                <a:spcPts val="600"/>
              </a:spcAft>
            </a:pPr>
            <a:r>
              <a:rPr sz="1200">
                <a:solidFill>
                  <a:srgbClr val="FFC72C"/>
                </a:solidFill>
                <a:latin typeface="Calibri"/>
              </a:rPr>
              <a:t>▪  </a:t>
            </a:r>
            <a:r>
              <a:rPr b="1" sz="1200">
                <a:solidFill>
                  <a:srgbClr val="1F2A44"/>
                </a:solidFill>
                <a:latin typeface="Calibri"/>
              </a:rPr>
              <a:t>The honest reading: </a:t>
            </a:r>
            <a:r>
              <a:rPr sz="1200">
                <a:solidFill>
                  <a:srgbClr val="1F2A44"/>
                </a:solidFill>
                <a:latin typeface="Calibri"/>
              </a:rPr>
              <a:t>the largest single lever in the register and about a quarter of the simulated variance on its own. It is a saving to customers only if the relays were BESS-driven scope; say which before it goes in the PAF.</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56032"/>
            <a:ext cx="11064240" cy="274320"/>
          </a:xfrm>
          <a:prstGeom prst="rect">
            <a:avLst/>
          </a:prstGeom>
          <a:noFill/>
        </p:spPr>
        <p:txBody>
          <a:bodyPr wrap="square" lIns="45720" rIns="45720" tIns="27432" bIns="27432" anchor="t">
            <a:spAutoFit/>
          </a:bodyPr>
          <a:lstStyle/>
          <a:p>
            <a:pPr algn="l">
              <a:lnSpc>
                <a:spcPct val="105000"/>
              </a:lnSpc>
              <a:spcAft>
                <a:spcPts val="400"/>
              </a:spcAft>
            </a:pPr>
            <a:r>
              <a:rPr sz="1100" b="1" i="0">
                <a:solidFill>
                  <a:srgbClr val="6E1F2E"/>
                </a:solidFill>
                <a:latin typeface="Calibri"/>
              </a:rPr>
              <a:t>GROUP 3: REVENUE REQUIREMENT</a:t>
            </a:r>
          </a:p>
        </p:txBody>
      </p:sp>
      <p:sp>
        <p:nvSpPr>
          <p:cNvPr id="4" name="TextBox 3"/>
          <p:cNvSpPr txBox="1"/>
          <p:nvPr/>
        </p:nvSpPr>
        <p:spPr>
          <a:xfrm>
            <a:off x="548640" y="475488"/>
            <a:ext cx="11064240" cy="868680"/>
          </a:xfrm>
          <a:prstGeom prst="rect">
            <a:avLst/>
          </a:prstGeom>
          <a:noFill/>
        </p:spPr>
        <p:txBody>
          <a:bodyPr wrap="square" lIns="45720" rIns="45720" tIns="27432" bIns="27432" anchor="t">
            <a:spAutoFit/>
          </a:bodyPr>
          <a:lstStyle/>
          <a:p>
            <a:pPr algn="l">
              <a:lnSpc>
                <a:spcPct val="100000"/>
              </a:lnSpc>
              <a:spcAft>
                <a:spcPts val="400"/>
              </a:spcAft>
            </a:pPr>
            <a:r>
              <a:rPr sz="2300" b="1" i="0">
                <a:solidFill>
                  <a:srgbClr val="001E60"/>
                </a:solidFill>
                <a:latin typeface="Georgia"/>
              </a:rPr>
              <a:t>The largest lever is not in the estimate: $8.4 to 12.4M of Section 48E credit to customers, and nobody owns it yet</a:t>
            </a:r>
          </a:p>
        </p:txBody>
      </p:sp>
      <p:sp>
        <p:nvSpPr>
          <p:cNvPr id="5" name="TextBox 4"/>
          <p:cNvSpPr txBox="1"/>
          <p:nvPr/>
        </p:nvSpPr>
        <p:spPr>
          <a:xfrm>
            <a:off x="548640" y="6419088"/>
            <a:ext cx="8229600" cy="274320"/>
          </a:xfrm>
          <a:prstGeom prst="rect">
            <a:avLst/>
          </a:prstGeom>
          <a:noFill/>
        </p:spPr>
        <p:txBody>
          <a:bodyPr wrap="square" lIns="45720" rIns="45720" tIns="27432" bIns="27432" anchor="t">
            <a:spAutoFit/>
          </a:bodyPr>
          <a:lstStyle/>
          <a:p>
            <a:pPr algn="l">
              <a:lnSpc>
                <a:spcPct val="105000"/>
              </a:lnSpc>
              <a:spcAft>
                <a:spcPts val="400"/>
              </a:spcAft>
            </a:pPr>
            <a:r>
              <a:rPr sz="1000" b="0" i="0">
                <a:solidFill>
                  <a:srgbClr val="6B7280"/>
                </a:solidFill>
                <a:latin typeface="Calibri"/>
              </a:rPr>
              <a:t>EstimatingCoE | Eversource Energy | Stewards of Affordability</a:t>
            </a:r>
          </a:p>
        </p:txBody>
      </p:sp>
      <p:sp>
        <p:nvSpPr>
          <p:cNvPr id="6" name="TextBox 5"/>
          <p:cNvSpPr txBox="1"/>
          <p:nvPr/>
        </p:nvSpPr>
        <p:spPr>
          <a:xfrm>
            <a:off x="10972800" y="6419088"/>
            <a:ext cx="685800" cy="274320"/>
          </a:xfrm>
          <a:prstGeom prst="rect">
            <a:avLst/>
          </a:prstGeom>
          <a:noFill/>
        </p:spPr>
        <p:txBody>
          <a:bodyPr wrap="square" lIns="45720" rIns="45720" tIns="27432" bIns="27432" anchor="t">
            <a:spAutoFit/>
          </a:bodyPr>
          <a:lstStyle/>
          <a:p>
            <a:pPr algn="r">
              <a:lnSpc>
                <a:spcPct val="105000"/>
              </a:lnSpc>
              <a:spcAft>
                <a:spcPts val="400"/>
              </a:spcAft>
            </a:pPr>
            <a:r>
              <a:rPr sz="1000" b="0" i="0">
                <a:solidFill>
                  <a:srgbClr val="6B7280"/>
                </a:solidFill>
                <a:latin typeface="Calibri"/>
              </a:rPr>
              <a:t>7</a:t>
            </a:r>
          </a:p>
        </p:txBody>
      </p:sp>
      <p:sp>
        <p:nvSpPr>
          <p:cNvPr id="7" name="Rectangle 6"/>
          <p:cNvSpPr/>
          <p:nvPr/>
        </p:nvSpPr>
        <p:spPr>
          <a:xfrm>
            <a:off x="548640" y="1417320"/>
            <a:ext cx="3566160" cy="1737360"/>
          </a:xfrm>
          <a:prstGeom prst="rect">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527048"/>
            <a:ext cx="3291840" cy="822960"/>
          </a:xfrm>
          <a:prstGeom prst="rect">
            <a:avLst/>
          </a:prstGeom>
          <a:noFill/>
        </p:spPr>
        <p:txBody>
          <a:bodyPr wrap="square" lIns="45720" rIns="45720" tIns="27432" bIns="27432" anchor="t">
            <a:spAutoFit/>
          </a:bodyPr>
          <a:lstStyle/>
          <a:p>
            <a:pPr algn="l">
              <a:lnSpc>
                <a:spcPct val="105000"/>
              </a:lnSpc>
              <a:spcAft>
                <a:spcPts val="400"/>
              </a:spcAft>
            </a:pPr>
            <a:r>
              <a:rPr sz="2800" b="1" i="0">
                <a:solidFill>
                  <a:srgbClr val="001E60"/>
                </a:solidFill>
                <a:latin typeface="Georgia"/>
              </a:rPr>
              <a:t>$8.4 to 12.4M</a:t>
            </a:r>
          </a:p>
        </p:txBody>
      </p:sp>
      <p:sp>
        <p:nvSpPr>
          <p:cNvPr id="9" name="TextBox 8"/>
          <p:cNvSpPr txBox="1"/>
          <p:nvPr/>
        </p:nvSpPr>
        <p:spPr>
          <a:xfrm>
            <a:off x="685800" y="2007107"/>
            <a:ext cx="3291840" cy="457200"/>
          </a:xfrm>
          <a:prstGeom prst="rect">
            <a:avLst/>
          </a:prstGeom>
          <a:noFill/>
        </p:spPr>
        <p:txBody>
          <a:bodyPr wrap="square" lIns="45720" rIns="45720" tIns="27432" bIns="27432" anchor="t">
            <a:spAutoFit/>
          </a:bodyPr>
          <a:lstStyle/>
          <a:p>
            <a:pPr algn="l">
              <a:lnSpc>
                <a:spcPct val="105000"/>
              </a:lnSpc>
              <a:spcAft>
                <a:spcPts val="400"/>
              </a:spcAft>
            </a:pPr>
            <a:r>
              <a:rPr sz="1500" b="1" i="0">
                <a:solidFill>
                  <a:srgbClr val="1F2A44"/>
                </a:solidFill>
                <a:latin typeface="Calibri"/>
              </a:rPr>
              <a:t>30% credit, eligible basis</a:t>
            </a:r>
          </a:p>
        </p:txBody>
      </p:sp>
      <p:sp>
        <p:nvSpPr>
          <p:cNvPr id="10" name="TextBox 9"/>
          <p:cNvSpPr txBox="1"/>
          <p:nvPr/>
        </p:nvSpPr>
        <p:spPr>
          <a:xfrm>
            <a:off x="685800" y="2391156"/>
            <a:ext cx="3291840" cy="717803"/>
          </a:xfrm>
          <a:prstGeom prst="rect">
            <a:avLst/>
          </a:prstGeom>
          <a:noFill/>
        </p:spPr>
        <p:txBody>
          <a:bodyPr wrap="square" lIns="45720" rIns="45720" tIns="27432" bIns="27432" anchor="t">
            <a:spAutoFit/>
          </a:bodyPr>
          <a:lstStyle/>
          <a:p>
            <a:pPr algn="l">
              <a:lnSpc>
                <a:spcPct val="100000"/>
              </a:lnSpc>
              <a:spcAft>
                <a:spcPts val="400"/>
              </a:spcAft>
            </a:pPr>
            <a:r>
              <a:rPr sz="1250" b="0" i="0">
                <a:solidFill>
                  <a:srgbClr val="6B7280"/>
                </a:solidFill>
                <a:latin typeface="Calibri"/>
              </a:rPr>
              <a:t>Battery, install, balance of plant ($28M); up to $41M with station, site and testing</a:t>
            </a:r>
          </a:p>
        </p:txBody>
      </p:sp>
      <p:sp>
        <p:nvSpPr>
          <p:cNvPr id="11" name="Rectangle 10"/>
          <p:cNvSpPr/>
          <p:nvPr/>
        </p:nvSpPr>
        <p:spPr>
          <a:xfrm>
            <a:off x="4297680" y="1417320"/>
            <a:ext cx="3566160" cy="1737360"/>
          </a:xfrm>
          <a:prstGeom prst="rect">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34840" y="1527048"/>
            <a:ext cx="3291840" cy="822960"/>
          </a:xfrm>
          <a:prstGeom prst="rect">
            <a:avLst/>
          </a:prstGeom>
          <a:noFill/>
        </p:spPr>
        <p:txBody>
          <a:bodyPr wrap="square" lIns="45720" rIns="45720" tIns="27432" bIns="27432" anchor="t">
            <a:spAutoFit/>
          </a:bodyPr>
          <a:lstStyle/>
          <a:p>
            <a:pPr algn="l">
              <a:lnSpc>
                <a:spcPct val="105000"/>
              </a:lnSpc>
              <a:spcAft>
                <a:spcPts val="400"/>
              </a:spcAft>
            </a:pPr>
            <a:r>
              <a:rPr sz="2800" b="1" i="0">
                <a:solidFill>
                  <a:srgbClr val="001E60"/>
                </a:solidFill>
                <a:latin typeface="Georgia"/>
              </a:rPr>
              <a:t>+$2.8 to 4.1M</a:t>
            </a:r>
          </a:p>
        </p:txBody>
      </p:sp>
      <p:sp>
        <p:nvSpPr>
          <p:cNvPr id="13" name="TextBox 12"/>
          <p:cNvSpPr txBox="1"/>
          <p:nvPr/>
        </p:nvSpPr>
        <p:spPr>
          <a:xfrm>
            <a:off x="4434840" y="2007107"/>
            <a:ext cx="3291840" cy="457200"/>
          </a:xfrm>
          <a:prstGeom prst="rect">
            <a:avLst/>
          </a:prstGeom>
          <a:noFill/>
        </p:spPr>
        <p:txBody>
          <a:bodyPr wrap="square" lIns="45720" rIns="45720" tIns="27432" bIns="27432" anchor="t">
            <a:spAutoFit/>
          </a:bodyPr>
          <a:lstStyle/>
          <a:p>
            <a:pPr algn="l">
              <a:lnSpc>
                <a:spcPct val="105000"/>
              </a:lnSpc>
              <a:spcAft>
                <a:spcPts val="400"/>
              </a:spcAft>
            </a:pPr>
            <a:r>
              <a:rPr sz="1500" b="1" i="0">
                <a:solidFill>
                  <a:srgbClr val="1F2A44"/>
                </a:solidFill>
                <a:latin typeface="Calibri"/>
              </a:rPr>
              <a:t>Energy-community adder</a:t>
            </a:r>
          </a:p>
        </p:txBody>
      </p:sp>
      <p:sp>
        <p:nvSpPr>
          <p:cNvPr id="14" name="TextBox 13"/>
          <p:cNvSpPr txBox="1"/>
          <p:nvPr/>
        </p:nvSpPr>
        <p:spPr>
          <a:xfrm>
            <a:off x="4434840" y="2391156"/>
            <a:ext cx="3291840" cy="717803"/>
          </a:xfrm>
          <a:prstGeom prst="rect">
            <a:avLst/>
          </a:prstGeom>
          <a:noFill/>
        </p:spPr>
        <p:txBody>
          <a:bodyPr wrap="square" lIns="45720" rIns="45720" tIns="27432" bIns="27432" anchor="t">
            <a:spAutoFit/>
          </a:bodyPr>
          <a:lstStyle/>
          <a:p>
            <a:pPr algn="l">
              <a:lnSpc>
                <a:spcPct val="100000"/>
              </a:lnSpc>
              <a:spcAft>
                <a:spcPts val="400"/>
              </a:spcAft>
            </a:pPr>
            <a:r>
              <a:rPr sz="1250" b="0" i="0">
                <a:solidFill>
                  <a:srgbClr val="6B7280"/>
                </a:solidFill>
                <a:latin typeface="Calibri"/>
              </a:rPr>
              <a:t>Only if the closed landfill qualifies as a brownfield; not assumed</a:t>
            </a:r>
          </a:p>
        </p:txBody>
      </p:sp>
      <p:sp>
        <p:nvSpPr>
          <p:cNvPr id="15" name="Rectangle 14"/>
          <p:cNvSpPr/>
          <p:nvPr/>
        </p:nvSpPr>
        <p:spPr>
          <a:xfrm>
            <a:off x="8046720" y="1417320"/>
            <a:ext cx="3566160" cy="1737360"/>
          </a:xfrm>
          <a:prstGeom prst="rect">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83880" y="1527048"/>
            <a:ext cx="3291840" cy="822960"/>
          </a:xfrm>
          <a:prstGeom prst="rect">
            <a:avLst/>
          </a:prstGeom>
          <a:noFill/>
        </p:spPr>
        <p:txBody>
          <a:bodyPr wrap="square" lIns="45720" rIns="45720" tIns="27432" bIns="27432" anchor="t">
            <a:spAutoFit/>
          </a:bodyPr>
          <a:lstStyle/>
          <a:p>
            <a:pPr algn="l">
              <a:lnSpc>
                <a:spcPct val="105000"/>
              </a:lnSpc>
              <a:spcAft>
                <a:spcPts val="400"/>
              </a:spcAft>
            </a:pPr>
            <a:r>
              <a:rPr sz="2800" b="1" i="0">
                <a:solidFill>
                  <a:srgbClr val="001E60"/>
                </a:solidFill>
                <a:latin typeface="Georgia"/>
              </a:rPr>
              <a:t>65%</a:t>
            </a:r>
          </a:p>
        </p:txBody>
      </p:sp>
      <p:sp>
        <p:nvSpPr>
          <p:cNvPr id="17" name="TextBox 16"/>
          <p:cNvSpPr txBox="1"/>
          <p:nvPr/>
        </p:nvSpPr>
        <p:spPr>
          <a:xfrm>
            <a:off x="8183880" y="2007107"/>
            <a:ext cx="3291840" cy="457200"/>
          </a:xfrm>
          <a:prstGeom prst="rect">
            <a:avLst/>
          </a:prstGeom>
          <a:noFill/>
        </p:spPr>
        <p:txBody>
          <a:bodyPr wrap="square" lIns="45720" rIns="45720" tIns="27432" bIns="27432" anchor="t">
            <a:spAutoFit/>
          </a:bodyPr>
          <a:lstStyle/>
          <a:p>
            <a:pPr algn="l">
              <a:lnSpc>
                <a:spcPct val="105000"/>
              </a:lnSpc>
              <a:spcAft>
                <a:spcPts val="400"/>
              </a:spcAft>
            </a:pPr>
            <a:r>
              <a:rPr sz="1500" b="1" i="0">
                <a:solidFill>
                  <a:srgbClr val="1F2A44"/>
                </a:solidFill>
                <a:latin typeface="Calibri"/>
              </a:rPr>
              <a:t>Non-PFE cost ratio</a:t>
            </a:r>
          </a:p>
        </p:txBody>
      </p:sp>
      <p:sp>
        <p:nvSpPr>
          <p:cNvPr id="18" name="TextBox 17"/>
          <p:cNvSpPr txBox="1"/>
          <p:nvPr/>
        </p:nvSpPr>
        <p:spPr>
          <a:xfrm>
            <a:off x="8183880" y="2391156"/>
            <a:ext cx="3291840" cy="717803"/>
          </a:xfrm>
          <a:prstGeom prst="rect">
            <a:avLst/>
          </a:prstGeom>
          <a:noFill/>
        </p:spPr>
        <p:txBody>
          <a:bodyPr wrap="square" lIns="45720" rIns="45720" tIns="27432" bIns="27432" anchor="t">
            <a:spAutoFit/>
          </a:bodyPr>
          <a:lstStyle/>
          <a:p>
            <a:pPr algn="l">
              <a:lnSpc>
                <a:spcPct val="100000"/>
              </a:lnSpc>
              <a:spcAft>
                <a:spcPts val="400"/>
              </a:spcAft>
            </a:pPr>
            <a:r>
              <a:rPr sz="1250" b="0" i="0">
                <a:solidFill>
                  <a:srgbClr val="6B7280"/>
                </a:solidFill>
                <a:latin typeface="Calibri"/>
              </a:rPr>
              <a:t>Cell origin on the Voyager units decides whether the credit is zero</a:t>
            </a:r>
          </a:p>
        </p:txBody>
      </p:sp>
      <p:graphicFrame>
        <p:nvGraphicFramePr>
          <p:cNvPr id="19" name="Table 18"/>
          <p:cNvGraphicFramePr>
            <a:graphicFrameLocks noGrp="1"/>
          </p:cNvGraphicFramePr>
          <p:nvPr/>
        </p:nvGraphicFramePr>
        <p:xfrm>
          <a:off x="548640" y="3383280"/>
          <a:ext cx="11064240" cy="2286000"/>
        </p:xfrm>
        <a:graphic>
          <a:graphicData uri="http://schemas.openxmlformats.org/drawingml/2006/table">
            <a:tbl>
              <a:tblPr firstRow="1" bandRow="1">
                <a:tableStyleId>{5C22544A-7EE6-4342-B048-85BDC9FD1C3A}</a:tableStyleId>
              </a:tblPr>
              <a:tblGrid>
                <a:gridCol w="4754880"/>
                <a:gridCol w="2194560"/>
                <a:gridCol w="1371600"/>
                <a:gridCol w="2743200"/>
              </a:tblGrid>
              <a:tr h="457200">
                <a:tc>
                  <a:txBody>
                    <a:bodyPr/>
                    <a:lstStyle/>
                    <a:p>
                      <a:r>
                        <a:rPr sz="1200" b="1">
                          <a:solidFill>
                            <a:srgbClr val="FFFFFF"/>
                          </a:solidFill>
                          <a:latin typeface="Calibri"/>
                        </a:rPr>
                        <a:t>Decision</a:t>
                      </a:r>
                    </a:p>
                  </a:txBody>
                  <a:tcPr marL="54864" marR="54864" marT="27432" marB="27432">
                    <a:solidFill>
                      <a:srgbClr val="001E60"/>
                    </a:solidFill>
                  </a:tcPr>
                </a:tc>
                <a:tc>
                  <a:txBody>
                    <a:bodyPr/>
                    <a:lstStyle/>
                    <a:p>
                      <a:r>
                        <a:rPr sz="1200" b="1">
                          <a:solidFill>
                            <a:srgbClr val="FFFFFF"/>
                          </a:solidFill>
                          <a:latin typeface="Calibri"/>
                        </a:rPr>
                        <a:t>Owner</a:t>
                      </a:r>
                    </a:p>
                  </a:txBody>
                  <a:tcPr marL="54864" marR="54864" marT="27432" marB="27432">
                    <a:solidFill>
                      <a:srgbClr val="001E60"/>
                    </a:solidFill>
                  </a:tcPr>
                </a:tc>
                <a:tc>
                  <a:txBody>
                    <a:bodyPr/>
                    <a:lstStyle/>
                    <a:p>
                      <a:r>
                        <a:rPr sz="1200" b="1">
                          <a:solidFill>
                            <a:srgbClr val="FFFFFF"/>
                          </a:solidFill>
                          <a:latin typeface="Calibri"/>
                        </a:rPr>
                        <a:t>By</a:t>
                      </a:r>
                    </a:p>
                  </a:txBody>
                  <a:tcPr marL="54864" marR="54864" marT="27432" marB="27432">
                    <a:solidFill>
                      <a:srgbClr val="001E60"/>
                    </a:solidFill>
                  </a:tcPr>
                </a:tc>
                <a:tc>
                  <a:txBody>
                    <a:bodyPr/>
                    <a:lstStyle/>
                    <a:p>
                      <a:r>
                        <a:rPr sz="1200" b="1">
                          <a:solidFill>
                            <a:srgbClr val="FFFFFF"/>
                          </a:solidFill>
                          <a:latin typeface="Calibri"/>
                        </a:rPr>
                        <a:t>Why it matters</a:t>
                      </a:r>
                    </a:p>
                  </a:txBody>
                  <a:tcPr marL="54864" marR="54864" marT="27432" marB="27432">
                    <a:solidFill>
                      <a:srgbClr val="001E60"/>
                    </a:solidFill>
                  </a:tcPr>
                </a:tc>
              </a:tr>
              <a:tr h="457200">
                <a:tc>
                  <a:txBody>
                    <a:bodyPr/>
                    <a:lstStyle/>
                    <a:p>
                      <a:r>
                        <a:rPr sz="1200" b="0">
                          <a:solidFill>
                            <a:srgbClr val="1F2A44"/>
                          </a:solidFill>
                          <a:latin typeface="Calibri"/>
                        </a:rPr>
                        <a:t>Eligible-basis opinion: which layers are energy storage property</a:t>
                      </a:r>
                    </a:p>
                  </a:txBody>
                  <a:tcPr marL="54864" marR="54864" marT="27432" marB="27432" anchor="ctr">
                    <a:solidFill>
                      <a:srgbClr val="FFFFFF"/>
                    </a:solidFill>
                  </a:tcPr>
                </a:tc>
                <a:tc>
                  <a:txBody>
                    <a:bodyPr/>
                    <a:lstStyle/>
                    <a:p>
                      <a:r>
                        <a:rPr sz="1200" b="0">
                          <a:solidFill>
                            <a:srgbClr val="1F2A44"/>
                          </a:solidFill>
                          <a:latin typeface="Calibri"/>
                        </a:rPr>
                        <a:t>Tax</a:t>
                      </a:r>
                    </a:p>
                  </a:txBody>
                  <a:tcPr marL="54864" marR="54864" marT="27432" marB="27432" anchor="ctr">
                    <a:solidFill>
                      <a:srgbClr val="FFFFFF"/>
                    </a:solidFill>
                  </a:tcPr>
                </a:tc>
                <a:tc>
                  <a:txBody>
                    <a:bodyPr/>
                    <a:lstStyle/>
                    <a:p>
                      <a:r>
                        <a:rPr sz="1200" b="0">
                          <a:solidFill>
                            <a:srgbClr val="1F2A44"/>
                          </a:solidFill>
                          <a:latin typeface="Calibri"/>
                        </a:rPr>
                        <a:t>Dec 2026</a:t>
                      </a:r>
                    </a:p>
                  </a:txBody>
                  <a:tcPr marL="54864" marR="54864" marT="27432" marB="27432" anchor="ctr">
                    <a:solidFill>
                      <a:srgbClr val="FFFFFF"/>
                    </a:solidFill>
                  </a:tcPr>
                </a:tc>
                <a:tc>
                  <a:txBody>
                    <a:bodyPr/>
                    <a:lstStyle/>
                    <a:p>
                      <a:r>
                        <a:rPr sz="1200" b="0">
                          <a:solidFill>
                            <a:srgbClr val="1F2A44"/>
                          </a:solidFill>
                          <a:latin typeface="Calibri"/>
                        </a:rPr>
                        <a:t>Sets the $28M to $41M range</a:t>
                      </a:r>
                    </a:p>
                  </a:txBody>
                  <a:tcPr marL="54864" marR="54864" marT="27432" marB="27432" anchor="ctr">
                    <a:solidFill>
                      <a:srgbClr val="FFFFFF"/>
                    </a:solidFill>
                  </a:tcPr>
                </a:tc>
              </a:tr>
              <a:tr h="457200">
                <a:tc>
                  <a:txBody>
                    <a:bodyPr/>
                    <a:lstStyle/>
                    <a:p>
                      <a:r>
                        <a:rPr sz="1200" b="0">
                          <a:solidFill>
                            <a:srgbClr val="1F2A44"/>
                          </a:solidFill>
                          <a:latin typeface="Calibri"/>
                        </a:rPr>
                        <a:t>FEOC cost-ratio test on the Nomad cells (Notice 2026-15)</a:t>
                      </a:r>
                    </a:p>
                  </a:txBody>
                  <a:tcPr marL="54864" marR="54864" marT="27432" marB="27432" anchor="ctr">
                    <a:solidFill>
                      <a:srgbClr val="F2F4F8"/>
                    </a:solidFill>
                  </a:tcPr>
                </a:tc>
                <a:tc>
                  <a:txBody>
                    <a:bodyPr/>
                    <a:lstStyle/>
                    <a:p>
                      <a:r>
                        <a:rPr sz="1200" b="0">
                          <a:solidFill>
                            <a:srgbClr val="1F2A44"/>
                          </a:solidFill>
                          <a:latin typeface="Calibri"/>
                        </a:rPr>
                        <a:t>Tax + Sourcing + Nomad</a:t>
                      </a:r>
                    </a:p>
                  </a:txBody>
                  <a:tcPr marL="54864" marR="54864" marT="27432" marB="27432" anchor="ctr">
                    <a:solidFill>
                      <a:srgbClr val="F2F4F8"/>
                    </a:solidFill>
                  </a:tcPr>
                </a:tc>
                <a:tc>
                  <a:txBody>
                    <a:bodyPr/>
                    <a:lstStyle/>
                    <a:p>
                      <a:r>
                        <a:rPr sz="1200" b="0">
                          <a:solidFill>
                            <a:srgbClr val="1F2A44"/>
                          </a:solidFill>
                          <a:latin typeface="Calibri"/>
                        </a:rPr>
                        <a:t>Before final drawings</a:t>
                      </a:r>
                    </a:p>
                  </a:txBody>
                  <a:tcPr marL="54864" marR="54864" marT="27432" marB="27432" anchor="ctr">
                    <a:solidFill>
                      <a:srgbClr val="F2F4F8"/>
                    </a:solidFill>
                  </a:tcPr>
                </a:tc>
                <a:tc>
                  <a:txBody>
                    <a:bodyPr/>
                    <a:lstStyle/>
                    <a:p>
                      <a:r>
                        <a:rPr sz="1200" b="0">
                          <a:solidFill>
                            <a:srgbClr val="1F2A44"/>
                          </a:solidFill>
                          <a:latin typeface="Calibri"/>
                        </a:rPr>
                        <a:t>A failed test is a zero credit</a:t>
                      </a:r>
                    </a:p>
                  </a:txBody>
                  <a:tcPr marL="54864" marR="54864" marT="27432" marB="27432" anchor="ctr">
                    <a:solidFill>
                      <a:srgbClr val="F2F4F8"/>
                    </a:solidFill>
                  </a:tcPr>
                </a:tc>
              </a:tr>
              <a:tr h="457200">
                <a:tc>
                  <a:txBody>
                    <a:bodyPr/>
                    <a:lstStyle/>
                    <a:p>
                      <a:r>
                        <a:rPr sz="1200" b="0">
                          <a:solidFill>
                            <a:srgbClr val="1F2A44"/>
                          </a:solidFill>
                          <a:latin typeface="Calibri"/>
                        </a:rPr>
                        <a:t>Normalization election; DPU treatment of the credit</a:t>
                      </a:r>
                    </a:p>
                  </a:txBody>
                  <a:tcPr marL="54864" marR="54864" marT="27432" marB="27432" anchor="ctr">
                    <a:solidFill>
                      <a:srgbClr val="FFFFFF"/>
                    </a:solidFill>
                  </a:tcPr>
                </a:tc>
                <a:tc>
                  <a:txBody>
                    <a:bodyPr/>
                    <a:lstStyle/>
                    <a:p>
                      <a:r>
                        <a:rPr sz="1200" b="0">
                          <a:solidFill>
                            <a:srgbClr val="1F2A44"/>
                          </a:solidFill>
                          <a:latin typeface="Calibri"/>
                        </a:rPr>
                        <a:t>Regulatory</a:t>
                      </a:r>
                    </a:p>
                  </a:txBody>
                  <a:tcPr marL="54864" marR="54864" marT="27432" marB="27432" anchor="ctr">
                    <a:solidFill>
                      <a:srgbClr val="FFFFFF"/>
                    </a:solidFill>
                  </a:tcPr>
                </a:tc>
                <a:tc>
                  <a:txBody>
                    <a:bodyPr/>
                    <a:lstStyle/>
                    <a:p>
                      <a:r>
                        <a:rPr sz="1200" b="0">
                          <a:solidFill>
                            <a:srgbClr val="1F2A44"/>
                          </a:solidFill>
                          <a:latin typeface="Calibri"/>
                        </a:rPr>
                        <a:t>2027 filing</a:t>
                      </a:r>
                    </a:p>
                  </a:txBody>
                  <a:tcPr marL="54864" marR="54864" marT="27432" marB="27432" anchor="ctr">
                    <a:solidFill>
                      <a:srgbClr val="FFFFFF"/>
                    </a:solidFill>
                  </a:tcPr>
                </a:tc>
                <a:tc>
                  <a:txBody>
                    <a:bodyPr/>
                    <a:lstStyle/>
                    <a:p>
                      <a:r>
                        <a:rPr sz="1200" b="0">
                          <a:solidFill>
                            <a:srgbClr val="1F2A44"/>
                          </a:solidFill>
                          <a:latin typeface="Calibri"/>
                        </a:rPr>
                        <a:t>Decides how fast customers see it</a:t>
                      </a:r>
                    </a:p>
                  </a:txBody>
                  <a:tcPr marL="54864" marR="54864" marT="27432" marB="27432" anchor="ctr">
                    <a:solidFill>
                      <a:srgbClr val="FFFFFF"/>
                    </a:solidFill>
                  </a:tcPr>
                </a:tc>
              </a:tr>
              <a:tr h="457200">
                <a:tc>
                  <a:txBody>
                    <a:bodyPr/>
                    <a:lstStyle/>
                    <a:p>
                      <a:r>
                        <a:rPr sz="1200" b="0">
                          <a:solidFill>
                            <a:srgbClr val="1F2A44"/>
                          </a:solidFill>
                          <a:latin typeface="Calibri"/>
                        </a:rPr>
                        <a:t>Prevailing wage and apprenticeship in the construction contracts</a:t>
                      </a:r>
                    </a:p>
                  </a:txBody>
                  <a:tcPr marL="54864" marR="54864" marT="27432" marB="27432" anchor="ctr">
                    <a:solidFill>
                      <a:srgbClr val="F2F4F8"/>
                    </a:solidFill>
                  </a:tcPr>
                </a:tc>
                <a:tc>
                  <a:txBody>
                    <a:bodyPr/>
                    <a:lstStyle/>
                    <a:p>
                      <a:r>
                        <a:rPr sz="1200" b="0">
                          <a:solidFill>
                            <a:srgbClr val="1F2A44"/>
                          </a:solidFill>
                          <a:latin typeface="Calibri"/>
                        </a:rPr>
                        <a:t>Sourcing + Construction</a:t>
                      </a:r>
                    </a:p>
                  </a:txBody>
                  <a:tcPr marL="54864" marR="54864" marT="27432" marB="27432" anchor="ctr">
                    <a:solidFill>
                      <a:srgbClr val="F2F4F8"/>
                    </a:solidFill>
                  </a:tcPr>
                </a:tc>
                <a:tc>
                  <a:txBody>
                    <a:bodyPr/>
                    <a:lstStyle/>
                    <a:p>
                      <a:r>
                        <a:rPr sz="1200" b="0">
                          <a:solidFill>
                            <a:srgbClr val="1F2A44"/>
                          </a:solidFill>
                          <a:latin typeface="Calibri"/>
                        </a:rPr>
                        <a:t>Gate 3</a:t>
                      </a:r>
                    </a:p>
                  </a:txBody>
                  <a:tcPr marL="54864" marR="54864" marT="27432" marB="27432" anchor="ctr">
                    <a:solidFill>
                      <a:srgbClr val="F2F4F8"/>
                    </a:solidFill>
                  </a:tcPr>
                </a:tc>
                <a:tc>
                  <a:txBody>
                    <a:bodyPr/>
                    <a:lstStyle/>
                    <a:p>
                      <a:r>
                        <a:rPr sz="1200" b="0">
                          <a:solidFill>
                            <a:srgbClr val="1F2A44"/>
                          </a:solidFill>
                          <a:latin typeface="Calibri"/>
                        </a:rPr>
                        <a:t>6% credit becomes 30%</a:t>
                      </a:r>
                    </a:p>
                  </a:txBody>
                  <a:tcPr marL="54864" marR="54864" marT="27432" marB="27432" anchor="ctr">
                    <a:solidFill>
                      <a:srgbClr val="F2F4F8"/>
                    </a:solidFill>
                  </a:tcPr>
                </a:tc>
              </a:tr>
            </a:tbl>
          </a:graphicData>
        </a:graphic>
      </p:graphicFrame>
      <p:sp>
        <p:nvSpPr>
          <p:cNvPr id="20" name="TextBox 19"/>
          <p:cNvSpPr txBox="1"/>
          <p:nvPr/>
        </p:nvSpPr>
        <p:spPr>
          <a:xfrm>
            <a:off x="548640" y="5806440"/>
            <a:ext cx="11064240" cy="548640"/>
          </a:xfrm>
          <a:prstGeom prst="rect">
            <a:avLst/>
          </a:prstGeom>
          <a:noFill/>
        </p:spPr>
        <p:txBody>
          <a:bodyPr wrap="square" lIns="45720">
            <a:spAutoFit/>
          </a:bodyPr>
          <a:lstStyle/>
          <a:p>
            <a:pPr>
              <a:lnSpc>
                <a:spcPct val="105000"/>
              </a:lnSpc>
              <a:spcAft>
                <a:spcPts val="600"/>
              </a:spcAft>
            </a:pPr>
            <a:r>
              <a:rPr sz="1400">
                <a:solidFill>
                  <a:srgbClr val="FFC72C"/>
                </a:solidFill>
                <a:latin typeface="Calibri"/>
              </a:rPr>
              <a:t>▪  </a:t>
            </a:r>
            <a:r>
              <a:rPr b="1" sz="1400">
                <a:solidFill>
                  <a:srgbClr val="1F2A44"/>
                </a:solidFill>
                <a:latin typeface="Calibri"/>
              </a:rPr>
              <a:t>The ask: </a:t>
            </a:r>
            <a:r>
              <a:rPr sz="1400">
                <a:solidFill>
                  <a:srgbClr val="1F2A44"/>
                </a:solidFill>
                <a:latin typeface="Calibri"/>
              </a:rPr>
              <a:t>open the 48E memo with Tax this month. It is larger than every estimate lever combined and it has a construction-start deadline.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56032"/>
            <a:ext cx="11064240" cy="274320"/>
          </a:xfrm>
          <a:prstGeom prst="rect">
            <a:avLst/>
          </a:prstGeom>
          <a:noFill/>
        </p:spPr>
        <p:txBody>
          <a:bodyPr wrap="square" lIns="45720" rIns="45720" tIns="27432" bIns="27432" anchor="t">
            <a:spAutoFit/>
          </a:bodyPr>
          <a:lstStyle/>
          <a:p>
            <a:pPr algn="l">
              <a:lnSpc>
                <a:spcPct val="105000"/>
              </a:lnSpc>
              <a:spcAft>
                <a:spcPts val="400"/>
              </a:spcAft>
            </a:pPr>
            <a:r>
              <a:rPr sz="1100" b="1" i="0">
                <a:solidFill>
                  <a:srgbClr val="6E1F2E"/>
                </a:solidFill>
                <a:latin typeface="Calibri"/>
              </a:rPr>
              <a:t>GATE 2: DESIGN-TO-COST (BEFORE IFC, MID-2027)</a:t>
            </a:r>
          </a:p>
        </p:txBody>
      </p:sp>
      <p:sp>
        <p:nvSpPr>
          <p:cNvPr id="4" name="TextBox 3"/>
          <p:cNvSpPr txBox="1"/>
          <p:nvPr/>
        </p:nvSpPr>
        <p:spPr>
          <a:xfrm>
            <a:off x="548640" y="475488"/>
            <a:ext cx="11064240" cy="868680"/>
          </a:xfrm>
          <a:prstGeom prst="rect">
            <a:avLst/>
          </a:prstGeom>
          <a:noFill/>
        </p:spPr>
        <p:txBody>
          <a:bodyPr wrap="square" lIns="45720" rIns="45720" tIns="27432" bIns="27432" anchor="t">
            <a:spAutoFit/>
          </a:bodyPr>
          <a:lstStyle/>
          <a:p>
            <a:pPr algn="l">
              <a:lnSpc>
                <a:spcPct val="100000"/>
              </a:lnSpc>
              <a:spcAft>
                <a:spcPts val="400"/>
              </a:spcAft>
            </a:pPr>
            <a:r>
              <a:rPr sz="2300" b="1" i="0">
                <a:solidFill>
                  <a:srgbClr val="001E60"/>
                </a:solidFill>
                <a:latin typeface="Georgia"/>
              </a:rPr>
              <a:t>Hold it: a station-direct target of $1,250 per kWh, $50M loaded, with change control and a monthly number</a:t>
            </a:r>
          </a:p>
        </p:txBody>
      </p:sp>
      <p:sp>
        <p:nvSpPr>
          <p:cNvPr id="5" name="TextBox 4"/>
          <p:cNvSpPr txBox="1"/>
          <p:nvPr/>
        </p:nvSpPr>
        <p:spPr>
          <a:xfrm>
            <a:off x="548640" y="6419088"/>
            <a:ext cx="8229600" cy="274320"/>
          </a:xfrm>
          <a:prstGeom prst="rect">
            <a:avLst/>
          </a:prstGeom>
          <a:noFill/>
        </p:spPr>
        <p:txBody>
          <a:bodyPr wrap="square" lIns="45720" rIns="45720" tIns="27432" bIns="27432" anchor="t">
            <a:spAutoFit/>
          </a:bodyPr>
          <a:lstStyle/>
          <a:p>
            <a:pPr algn="l">
              <a:lnSpc>
                <a:spcPct val="105000"/>
              </a:lnSpc>
              <a:spcAft>
                <a:spcPts val="400"/>
              </a:spcAft>
            </a:pPr>
            <a:r>
              <a:rPr sz="1000" b="0" i="0">
                <a:solidFill>
                  <a:srgbClr val="6B7280"/>
                </a:solidFill>
                <a:latin typeface="Calibri"/>
              </a:rPr>
              <a:t>EstimatingCoE | Eversource Energy | Stewards of Affordability</a:t>
            </a:r>
          </a:p>
        </p:txBody>
      </p:sp>
      <p:sp>
        <p:nvSpPr>
          <p:cNvPr id="6" name="TextBox 5"/>
          <p:cNvSpPr txBox="1"/>
          <p:nvPr/>
        </p:nvSpPr>
        <p:spPr>
          <a:xfrm>
            <a:off x="10972800" y="6419088"/>
            <a:ext cx="685800" cy="274320"/>
          </a:xfrm>
          <a:prstGeom prst="rect">
            <a:avLst/>
          </a:prstGeom>
          <a:noFill/>
        </p:spPr>
        <p:txBody>
          <a:bodyPr wrap="square" lIns="45720" rIns="45720" tIns="27432" bIns="27432" anchor="t">
            <a:spAutoFit/>
          </a:bodyPr>
          <a:lstStyle/>
          <a:p>
            <a:pPr algn="r">
              <a:lnSpc>
                <a:spcPct val="105000"/>
              </a:lnSpc>
              <a:spcAft>
                <a:spcPts val="400"/>
              </a:spcAft>
            </a:pPr>
            <a:r>
              <a:rPr sz="1000" b="0" i="0">
                <a:solidFill>
                  <a:srgbClr val="6B7280"/>
                </a:solidFill>
                <a:latin typeface="Calibri"/>
              </a:rPr>
              <a:t>8</a:t>
            </a:r>
          </a:p>
        </p:txBody>
      </p:sp>
      <p:sp>
        <p:nvSpPr>
          <p:cNvPr id="7" name="Rectangle 6"/>
          <p:cNvSpPr/>
          <p:nvPr/>
        </p:nvSpPr>
        <p:spPr>
          <a:xfrm>
            <a:off x="548640" y="1417320"/>
            <a:ext cx="3566160" cy="1828800"/>
          </a:xfrm>
          <a:prstGeom prst="rect">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527048"/>
            <a:ext cx="3291840" cy="822960"/>
          </a:xfrm>
          <a:prstGeom prst="rect">
            <a:avLst/>
          </a:prstGeom>
          <a:noFill/>
        </p:spPr>
        <p:txBody>
          <a:bodyPr wrap="square" lIns="45720" rIns="45720" tIns="27432" bIns="27432" anchor="t">
            <a:spAutoFit/>
          </a:bodyPr>
          <a:lstStyle/>
          <a:p>
            <a:pPr algn="l">
              <a:lnSpc>
                <a:spcPct val="105000"/>
              </a:lnSpc>
              <a:spcAft>
                <a:spcPts val="400"/>
              </a:spcAft>
            </a:pPr>
            <a:r>
              <a:rPr sz="3600" b="1" i="0">
                <a:solidFill>
                  <a:srgbClr val="001E60"/>
                </a:solidFill>
                <a:latin typeface="Georgia"/>
              </a:rPr>
              <a:t>$1,250/kWh</a:t>
            </a:r>
          </a:p>
        </p:txBody>
      </p:sp>
      <p:sp>
        <p:nvSpPr>
          <p:cNvPr id="9" name="TextBox 8"/>
          <p:cNvSpPr txBox="1"/>
          <p:nvPr/>
        </p:nvSpPr>
        <p:spPr>
          <a:xfrm>
            <a:off x="685800" y="2144268"/>
            <a:ext cx="3291840" cy="457200"/>
          </a:xfrm>
          <a:prstGeom prst="rect">
            <a:avLst/>
          </a:prstGeom>
          <a:noFill/>
        </p:spPr>
        <p:txBody>
          <a:bodyPr wrap="square" lIns="45720" rIns="45720" tIns="27432" bIns="27432" anchor="t">
            <a:spAutoFit/>
          </a:bodyPr>
          <a:lstStyle/>
          <a:p>
            <a:pPr algn="l">
              <a:lnSpc>
                <a:spcPct val="105000"/>
              </a:lnSpc>
              <a:spcAft>
                <a:spcPts val="400"/>
              </a:spcAft>
            </a:pPr>
            <a:r>
              <a:rPr sz="1500" b="1" i="0">
                <a:solidFill>
                  <a:srgbClr val="1F2A44"/>
                </a:solidFill>
                <a:latin typeface="Calibri"/>
              </a:rPr>
              <a:t>Station-direct target</a:t>
            </a:r>
          </a:p>
        </p:txBody>
      </p:sp>
      <p:sp>
        <p:nvSpPr>
          <p:cNvPr id="10" name="TextBox 9"/>
          <p:cNvSpPr txBox="1"/>
          <p:nvPr/>
        </p:nvSpPr>
        <p:spPr>
          <a:xfrm>
            <a:off x="685800" y="2528315"/>
            <a:ext cx="3291840" cy="672083"/>
          </a:xfrm>
          <a:prstGeom prst="rect">
            <a:avLst/>
          </a:prstGeom>
          <a:noFill/>
        </p:spPr>
        <p:txBody>
          <a:bodyPr wrap="square" lIns="45720" rIns="45720" tIns="27432" bIns="27432" anchor="t">
            <a:spAutoFit/>
          </a:bodyPr>
          <a:lstStyle/>
          <a:p>
            <a:pPr algn="l">
              <a:lnSpc>
                <a:spcPct val="100000"/>
              </a:lnSpc>
              <a:spcAft>
                <a:spcPts val="400"/>
              </a:spcAft>
            </a:pPr>
            <a:r>
              <a:rPr sz="1250" b="0" i="0">
                <a:solidFill>
                  <a:srgbClr val="6B7280"/>
                </a:solidFill>
                <a:latin typeface="Calibri"/>
              </a:rPr>
              <a:t>$25M direct: the reference-class 75th percentile for a built project this size</a:t>
            </a:r>
          </a:p>
        </p:txBody>
      </p:sp>
      <p:sp>
        <p:nvSpPr>
          <p:cNvPr id="11" name="Rectangle 10"/>
          <p:cNvSpPr/>
          <p:nvPr/>
        </p:nvSpPr>
        <p:spPr>
          <a:xfrm>
            <a:off x="4297680" y="1417320"/>
            <a:ext cx="3566160" cy="1828800"/>
          </a:xfrm>
          <a:prstGeom prst="rect">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34840" y="1527048"/>
            <a:ext cx="3291840" cy="822960"/>
          </a:xfrm>
          <a:prstGeom prst="rect">
            <a:avLst/>
          </a:prstGeom>
          <a:noFill/>
        </p:spPr>
        <p:txBody>
          <a:bodyPr wrap="square" lIns="45720" rIns="45720" tIns="27432" bIns="27432" anchor="t">
            <a:spAutoFit/>
          </a:bodyPr>
          <a:lstStyle/>
          <a:p>
            <a:pPr algn="l">
              <a:lnSpc>
                <a:spcPct val="105000"/>
              </a:lnSpc>
              <a:spcAft>
                <a:spcPts val="400"/>
              </a:spcAft>
            </a:pPr>
            <a:r>
              <a:rPr sz="3600" b="1" i="0">
                <a:solidFill>
                  <a:srgbClr val="001E60"/>
                </a:solidFill>
                <a:latin typeface="Georgia"/>
              </a:rPr>
              <a:t>$1,483/kWh</a:t>
            </a:r>
          </a:p>
        </p:txBody>
      </p:sp>
      <p:sp>
        <p:nvSpPr>
          <p:cNvPr id="13" name="TextBox 12"/>
          <p:cNvSpPr txBox="1"/>
          <p:nvPr/>
        </p:nvSpPr>
        <p:spPr>
          <a:xfrm>
            <a:off x="4434840" y="2144268"/>
            <a:ext cx="3291840" cy="457200"/>
          </a:xfrm>
          <a:prstGeom prst="rect">
            <a:avLst/>
          </a:prstGeom>
          <a:noFill/>
        </p:spPr>
        <p:txBody>
          <a:bodyPr wrap="square" lIns="45720" rIns="45720" tIns="27432" bIns="27432" anchor="t">
            <a:spAutoFit/>
          </a:bodyPr>
          <a:lstStyle/>
          <a:p>
            <a:pPr algn="l">
              <a:lnSpc>
                <a:spcPct val="105000"/>
              </a:lnSpc>
              <a:spcAft>
                <a:spcPts val="400"/>
              </a:spcAft>
            </a:pPr>
            <a:r>
              <a:rPr sz="1500" b="1" i="0">
                <a:solidFill>
                  <a:srgbClr val="1F2A44"/>
                </a:solidFill>
                <a:latin typeface="Calibri"/>
              </a:rPr>
              <a:t>Where Rev 3 sits</a:t>
            </a:r>
          </a:p>
        </p:txBody>
      </p:sp>
      <p:sp>
        <p:nvSpPr>
          <p:cNvPr id="14" name="TextBox 13"/>
          <p:cNvSpPr txBox="1"/>
          <p:nvPr/>
        </p:nvSpPr>
        <p:spPr>
          <a:xfrm>
            <a:off x="4434840" y="2528315"/>
            <a:ext cx="3291840" cy="672083"/>
          </a:xfrm>
          <a:prstGeom prst="rect">
            <a:avLst/>
          </a:prstGeom>
          <a:noFill/>
        </p:spPr>
        <p:txBody>
          <a:bodyPr wrap="square" lIns="45720" rIns="45720" tIns="27432" bIns="27432" anchor="t">
            <a:spAutoFit/>
          </a:bodyPr>
          <a:lstStyle/>
          <a:p>
            <a:pPr algn="l">
              <a:lnSpc>
                <a:spcPct val="100000"/>
              </a:lnSpc>
              <a:spcAft>
                <a:spcPts val="400"/>
              </a:spcAft>
            </a:pPr>
            <a:r>
              <a:rPr sz="1250" b="0" i="0">
                <a:solidFill>
                  <a:srgbClr val="6B7280"/>
                </a:solidFill>
                <a:latin typeface="Calibri"/>
              </a:rPr>
              <a:t>$29.7M direct, the 77th percentile of 35 built projects at or below 100 MWh</a:t>
            </a:r>
          </a:p>
        </p:txBody>
      </p:sp>
      <p:sp>
        <p:nvSpPr>
          <p:cNvPr id="15" name="Rectangle 14"/>
          <p:cNvSpPr/>
          <p:nvPr/>
        </p:nvSpPr>
        <p:spPr>
          <a:xfrm>
            <a:off x="8046720" y="1417320"/>
            <a:ext cx="3566160" cy="1828800"/>
          </a:xfrm>
          <a:prstGeom prst="rect">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83880" y="1527048"/>
            <a:ext cx="3291840" cy="822960"/>
          </a:xfrm>
          <a:prstGeom prst="rect">
            <a:avLst/>
          </a:prstGeom>
          <a:noFill/>
        </p:spPr>
        <p:txBody>
          <a:bodyPr wrap="square" lIns="45720" rIns="45720" tIns="27432" bIns="27432" anchor="t">
            <a:spAutoFit/>
          </a:bodyPr>
          <a:lstStyle/>
          <a:p>
            <a:pPr algn="l">
              <a:lnSpc>
                <a:spcPct val="105000"/>
              </a:lnSpc>
              <a:spcAft>
                <a:spcPts val="400"/>
              </a:spcAft>
            </a:pPr>
            <a:r>
              <a:rPr sz="3600" b="1" i="0">
                <a:solidFill>
                  <a:srgbClr val="001E60"/>
                </a:solidFill>
                <a:latin typeface="Georgia"/>
              </a:rPr>
              <a:t>$50M</a:t>
            </a:r>
          </a:p>
        </p:txBody>
      </p:sp>
      <p:sp>
        <p:nvSpPr>
          <p:cNvPr id="17" name="TextBox 16"/>
          <p:cNvSpPr txBox="1"/>
          <p:nvPr/>
        </p:nvSpPr>
        <p:spPr>
          <a:xfrm>
            <a:off x="8183880" y="2144268"/>
            <a:ext cx="3291840" cy="457200"/>
          </a:xfrm>
          <a:prstGeom prst="rect">
            <a:avLst/>
          </a:prstGeom>
          <a:noFill/>
        </p:spPr>
        <p:txBody>
          <a:bodyPr wrap="square" lIns="45720" rIns="45720" tIns="27432" bIns="27432" anchor="t">
            <a:spAutoFit/>
          </a:bodyPr>
          <a:lstStyle/>
          <a:p>
            <a:pPr algn="l">
              <a:lnSpc>
                <a:spcPct val="105000"/>
              </a:lnSpc>
              <a:spcAft>
                <a:spcPts val="400"/>
              </a:spcAft>
            </a:pPr>
            <a:r>
              <a:rPr sz="1500" b="1" i="0">
                <a:solidFill>
                  <a:srgbClr val="1F2A44"/>
                </a:solidFill>
                <a:latin typeface="Calibri"/>
              </a:rPr>
              <a:t>Loaded target</a:t>
            </a:r>
          </a:p>
        </p:txBody>
      </p:sp>
      <p:sp>
        <p:nvSpPr>
          <p:cNvPr id="18" name="TextBox 17"/>
          <p:cNvSpPr txBox="1"/>
          <p:nvPr/>
        </p:nvSpPr>
        <p:spPr>
          <a:xfrm>
            <a:off x="8183880" y="2528315"/>
            <a:ext cx="3291840" cy="672083"/>
          </a:xfrm>
          <a:prstGeom prst="rect">
            <a:avLst/>
          </a:prstGeom>
          <a:noFill/>
        </p:spPr>
        <p:txBody>
          <a:bodyPr wrap="square" lIns="45720" rIns="45720" tIns="27432" bIns="27432" anchor="t">
            <a:spAutoFit/>
          </a:bodyPr>
          <a:lstStyle/>
          <a:p>
            <a:pPr algn="l">
              <a:lnSpc>
                <a:spcPct val="100000"/>
              </a:lnSpc>
              <a:spcAft>
                <a:spcPts val="400"/>
              </a:spcAft>
            </a:pPr>
            <a:r>
              <a:rPr sz="1250" b="0" i="0">
                <a:solidFill>
                  <a:srgbClr val="6B7280"/>
                </a:solidFill>
                <a:latin typeface="Calibri"/>
              </a:rPr>
              <a:t>The contained case, held through IFC, construction pricing and in-service</a:t>
            </a:r>
          </a:p>
        </p:txBody>
      </p:sp>
      <p:sp>
        <p:nvSpPr>
          <p:cNvPr id="19" name="TextBox 18"/>
          <p:cNvSpPr txBox="1"/>
          <p:nvPr/>
        </p:nvSpPr>
        <p:spPr>
          <a:xfrm>
            <a:off x="548640" y="3520440"/>
            <a:ext cx="11064240" cy="2834640"/>
          </a:xfrm>
          <a:prstGeom prst="rect">
            <a:avLst/>
          </a:prstGeom>
          <a:noFill/>
        </p:spPr>
        <p:txBody>
          <a:bodyPr wrap="square" lIns="45720">
            <a:spAutoFit/>
          </a:bodyPr>
          <a:lstStyle/>
          <a:p>
            <a:pPr>
              <a:lnSpc>
                <a:spcPct val="105000"/>
              </a:lnSpc>
              <a:spcAft>
                <a:spcPts val="800"/>
              </a:spcAft>
            </a:pPr>
            <a:r>
              <a:rPr sz="1500">
                <a:solidFill>
                  <a:srgbClr val="FFC72C"/>
                </a:solidFill>
                <a:latin typeface="Calibri"/>
              </a:rPr>
              <a:t>▪  </a:t>
            </a:r>
            <a:r>
              <a:rPr b="1" sz="1500">
                <a:solidFill>
                  <a:srgbClr val="1F2A44"/>
                </a:solidFill>
                <a:latin typeface="Calibri"/>
              </a:rPr>
              <a:t>Why a target and not a forecast: </a:t>
            </a:r>
            <a:r>
              <a:rPr sz="1500">
                <a:solidFill>
                  <a:srgbClr val="1F2A44"/>
                </a:solidFill>
                <a:latin typeface="Calibri"/>
              </a:rPr>
              <a:t>an estimate that is re-forecast every revision has moved from $43.9M to $57.2M in three years. A target with change control turns it into a managed number.</a:t>
            </a:r>
          </a:p>
          <a:p>
            <a:pPr>
              <a:lnSpc>
                <a:spcPct val="105000"/>
              </a:lnSpc>
              <a:spcAft>
                <a:spcPts val="800"/>
              </a:spcAft>
            </a:pPr>
            <a:r>
              <a:rPr sz="1500">
                <a:solidFill>
                  <a:srgbClr val="FFC72C"/>
                </a:solidFill>
                <a:latin typeface="Calibri"/>
              </a:rPr>
              <a:t>▪  </a:t>
            </a:r>
            <a:r>
              <a:rPr b="1" sz="1500">
                <a:solidFill>
                  <a:srgbClr val="1F2A44"/>
                </a:solidFill>
                <a:latin typeface="Calibri"/>
              </a:rPr>
              <a:t>The rule: </a:t>
            </a:r>
            <a:r>
              <a:rPr sz="1500">
                <a:solidFill>
                  <a:srgbClr val="1F2A44"/>
                </a:solidFill>
                <a:latin typeface="Calibri"/>
              </a:rPr>
              <a:t>no scope is added without a funded source. A change control board with the CoE decides every addition against the target, in writing.</a:t>
            </a:r>
          </a:p>
          <a:p>
            <a:pPr>
              <a:lnSpc>
                <a:spcPct val="105000"/>
              </a:lnSpc>
              <a:spcAft>
                <a:spcPts val="800"/>
              </a:spcAft>
            </a:pPr>
            <a:r>
              <a:rPr sz="1500">
                <a:solidFill>
                  <a:srgbClr val="FFC72C"/>
                </a:solidFill>
                <a:latin typeface="Calibri"/>
              </a:rPr>
              <a:t>▪  </a:t>
            </a:r>
            <a:r>
              <a:rPr b="1" sz="1500">
                <a:solidFill>
                  <a:srgbClr val="1F2A44"/>
                </a:solidFill>
                <a:latin typeface="Calibri"/>
              </a:rPr>
              <a:t>The measure: </a:t>
            </a:r>
            <a:r>
              <a:rPr sz="1500">
                <a:solidFill>
                  <a:srgbClr val="1F2A44"/>
                </a:solidFill>
                <a:latin typeface="Calibri"/>
              </a:rPr>
              <a:t>station-direct $/kWh against target, forecast at completion, open scope questions, the exposures register. One page, monthly, to the sponsor, until in-service.</a:t>
            </a:r>
          </a:p>
          <a:p>
            <a:pPr>
              <a:lnSpc>
                <a:spcPct val="105000"/>
              </a:lnSpc>
              <a:spcAft>
                <a:spcPts val="800"/>
              </a:spcAft>
            </a:pPr>
            <a:r>
              <a:rPr sz="1500">
                <a:solidFill>
                  <a:srgbClr val="FFC72C"/>
                </a:solidFill>
                <a:latin typeface="Calibri"/>
              </a:rPr>
              <a:t>▪  </a:t>
            </a:r>
            <a:r>
              <a:rPr b="1" sz="1500">
                <a:solidFill>
                  <a:srgbClr val="1F2A44"/>
                </a:solidFill>
                <a:latin typeface="Calibri"/>
              </a:rPr>
              <a:t>Why this level: </a:t>
            </a:r>
            <a:r>
              <a:rPr sz="1500">
                <a:solidFill>
                  <a:srgbClr val="1F2A44"/>
                </a:solidFill>
                <a:latin typeface="Calibri"/>
              </a:rPr>
              <a:t>it is defensible outside the company. A regulator can be told the project was designed to the 75th percentile of what utilities have actually built, and why it stopped where it stopped.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56032"/>
            <a:ext cx="11064240" cy="274320"/>
          </a:xfrm>
          <a:prstGeom prst="rect">
            <a:avLst/>
          </a:prstGeom>
          <a:noFill/>
        </p:spPr>
        <p:txBody>
          <a:bodyPr wrap="square" lIns="45720" rIns="45720" tIns="27432" bIns="27432" anchor="t">
            <a:spAutoFit/>
          </a:bodyPr>
          <a:lstStyle/>
          <a:p>
            <a:pPr algn="l">
              <a:lnSpc>
                <a:spcPct val="105000"/>
              </a:lnSpc>
              <a:spcAft>
                <a:spcPts val="400"/>
              </a:spcAft>
            </a:pPr>
            <a:r>
              <a:rPr sz="1100" b="1" i="0">
                <a:solidFill>
                  <a:srgbClr val="6E1F2E"/>
                </a:solidFill>
                <a:latin typeface="Calibri"/>
              </a:rPr>
              <a:t>GATE 3: COMMERCIAL STRATEGY (Q3 2027)</a:t>
            </a:r>
          </a:p>
        </p:txBody>
      </p:sp>
      <p:sp>
        <p:nvSpPr>
          <p:cNvPr id="4" name="TextBox 3"/>
          <p:cNvSpPr txBox="1"/>
          <p:nvPr/>
        </p:nvSpPr>
        <p:spPr>
          <a:xfrm>
            <a:off x="548640" y="475488"/>
            <a:ext cx="11064240" cy="868680"/>
          </a:xfrm>
          <a:prstGeom prst="rect">
            <a:avLst/>
          </a:prstGeom>
          <a:noFill/>
        </p:spPr>
        <p:txBody>
          <a:bodyPr wrap="square" lIns="45720" rIns="45720" tIns="27432" bIns="27432" anchor="t">
            <a:spAutoFit/>
          </a:bodyPr>
          <a:lstStyle/>
          <a:p>
            <a:pPr algn="l">
              <a:lnSpc>
                <a:spcPct val="100000"/>
              </a:lnSpc>
              <a:spcAft>
                <a:spcPts val="400"/>
              </a:spcAft>
            </a:pPr>
            <a:r>
              <a:rPr sz="2300" b="1" i="0">
                <a:solidFill>
                  <a:srgbClr val="001E60"/>
                </a:solidFill>
                <a:latin typeface="Georgia"/>
              </a:rPr>
              <a:t>Buy it differently: competitive lump-sum pricing before construction, owner-furnished equipment, a change-order cap</a:t>
            </a:r>
          </a:p>
        </p:txBody>
      </p:sp>
      <p:sp>
        <p:nvSpPr>
          <p:cNvPr id="5" name="TextBox 4"/>
          <p:cNvSpPr txBox="1"/>
          <p:nvPr/>
        </p:nvSpPr>
        <p:spPr>
          <a:xfrm>
            <a:off x="548640" y="6419088"/>
            <a:ext cx="8229600" cy="274320"/>
          </a:xfrm>
          <a:prstGeom prst="rect">
            <a:avLst/>
          </a:prstGeom>
          <a:noFill/>
        </p:spPr>
        <p:txBody>
          <a:bodyPr wrap="square" lIns="45720" rIns="45720" tIns="27432" bIns="27432" anchor="t">
            <a:spAutoFit/>
          </a:bodyPr>
          <a:lstStyle/>
          <a:p>
            <a:pPr algn="l">
              <a:lnSpc>
                <a:spcPct val="105000"/>
              </a:lnSpc>
              <a:spcAft>
                <a:spcPts val="400"/>
              </a:spcAft>
            </a:pPr>
            <a:r>
              <a:rPr sz="1000" b="0" i="0">
                <a:solidFill>
                  <a:srgbClr val="6B7280"/>
                </a:solidFill>
                <a:latin typeface="Calibri"/>
              </a:rPr>
              <a:t>EstimatingCoE | Eversource Energy | Stewards of Affordability</a:t>
            </a:r>
          </a:p>
        </p:txBody>
      </p:sp>
      <p:sp>
        <p:nvSpPr>
          <p:cNvPr id="6" name="TextBox 5"/>
          <p:cNvSpPr txBox="1"/>
          <p:nvPr/>
        </p:nvSpPr>
        <p:spPr>
          <a:xfrm>
            <a:off x="10972800" y="6419088"/>
            <a:ext cx="685800" cy="274320"/>
          </a:xfrm>
          <a:prstGeom prst="rect">
            <a:avLst/>
          </a:prstGeom>
          <a:noFill/>
        </p:spPr>
        <p:txBody>
          <a:bodyPr wrap="square" lIns="45720" rIns="45720" tIns="27432" bIns="27432" anchor="t">
            <a:spAutoFit/>
          </a:bodyPr>
          <a:lstStyle/>
          <a:p>
            <a:pPr algn="r">
              <a:lnSpc>
                <a:spcPct val="105000"/>
              </a:lnSpc>
              <a:spcAft>
                <a:spcPts val="400"/>
              </a:spcAft>
            </a:pPr>
            <a:r>
              <a:rPr sz="1000" b="0" i="0">
                <a:solidFill>
                  <a:srgbClr val="6B7280"/>
                </a:solidFill>
                <a:latin typeface="Calibri"/>
              </a:rPr>
              <a:t>9</a:t>
            </a:r>
          </a:p>
        </p:txBody>
      </p:sp>
      <p:graphicFrame>
        <p:nvGraphicFramePr>
          <p:cNvPr id="7" name="Table 6"/>
          <p:cNvGraphicFramePr>
            <a:graphicFrameLocks noGrp="1"/>
          </p:cNvGraphicFramePr>
          <p:nvPr/>
        </p:nvGraphicFramePr>
        <p:xfrm>
          <a:off x="548640" y="1371600"/>
          <a:ext cx="11064240" cy="3566160"/>
        </p:xfrm>
        <a:graphic>
          <a:graphicData uri="http://schemas.openxmlformats.org/drawingml/2006/table">
            <a:tbl>
              <a:tblPr firstRow="1" bandRow="1">
                <a:tableStyleId>{5C22544A-7EE6-4342-B048-85BDC9FD1C3A}</a:tableStyleId>
              </a:tblPr>
              <a:tblGrid>
                <a:gridCol w="4206240"/>
                <a:gridCol w="4023360"/>
                <a:gridCol w="1920240"/>
                <a:gridCol w="914400"/>
              </a:tblGrid>
              <a:tr h="594360">
                <a:tc>
                  <a:txBody>
                    <a:bodyPr/>
                    <a:lstStyle/>
                    <a:p>
                      <a:r>
                        <a:rPr sz="1200" b="1">
                          <a:solidFill>
                            <a:srgbClr val="FFFFFF"/>
                          </a:solidFill>
                          <a:latin typeface="Calibri"/>
                        </a:rPr>
                        <a:t>Action</a:t>
                      </a:r>
                    </a:p>
                  </a:txBody>
                  <a:tcPr marL="54864" marR="54864" marT="27432" marB="27432">
                    <a:solidFill>
                      <a:srgbClr val="001E60"/>
                    </a:solidFill>
                  </a:tcPr>
                </a:tc>
                <a:tc>
                  <a:txBody>
                    <a:bodyPr/>
                    <a:lstStyle/>
                    <a:p>
                      <a:r>
                        <a:rPr sz="1200" b="1">
                          <a:solidFill>
                            <a:srgbClr val="FFFFFF"/>
                          </a:solidFill>
                          <a:latin typeface="Calibri"/>
                        </a:rPr>
                        <a:t>What it changes</a:t>
                      </a:r>
                    </a:p>
                  </a:txBody>
                  <a:tcPr marL="54864" marR="54864" marT="27432" marB="27432">
                    <a:solidFill>
                      <a:srgbClr val="001E60"/>
                    </a:solidFill>
                  </a:tcPr>
                </a:tc>
                <a:tc>
                  <a:txBody>
                    <a:bodyPr/>
                    <a:lstStyle/>
                    <a:p>
                      <a:r>
                        <a:rPr sz="1200" b="1">
                          <a:solidFill>
                            <a:srgbClr val="FFFFFF"/>
                          </a:solidFill>
                          <a:latin typeface="Calibri"/>
                        </a:rPr>
                        <a:t>Owner</a:t>
                      </a:r>
                    </a:p>
                  </a:txBody>
                  <a:tcPr marL="54864" marR="54864" marT="27432" marB="27432">
                    <a:solidFill>
                      <a:srgbClr val="001E60"/>
                    </a:solidFill>
                  </a:tcPr>
                </a:tc>
                <a:tc>
                  <a:txBody>
                    <a:bodyPr/>
                    <a:lstStyle/>
                    <a:p>
                      <a:r>
                        <a:rPr sz="1200" b="1">
                          <a:solidFill>
                            <a:srgbClr val="FFFFFF"/>
                          </a:solidFill>
                          <a:latin typeface="Calibri"/>
                        </a:rPr>
                        <a:t>By</a:t>
                      </a:r>
                    </a:p>
                  </a:txBody>
                  <a:tcPr marL="54864" marR="54864" marT="27432" marB="27432">
                    <a:solidFill>
                      <a:srgbClr val="001E60"/>
                    </a:solidFill>
                  </a:tcPr>
                </a:tc>
              </a:tr>
              <a:tr h="594360">
                <a:tc>
                  <a:txBody>
                    <a:bodyPr/>
                    <a:lstStyle/>
                    <a:p>
                      <a:r>
                        <a:rPr sz="1200" b="0">
                          <a:solidFill>
                            <a:srgbClr val="1F2A44"/>
                          </a:solidFill>
                          <a:latin typeface="Calibri"/>
                        </a:rPr>
                        <a:t>Competitive lump-sum pricing for station, civil and install: Haugland plus two bidders</a:t>
                      </a:r>
                    </a:p>
                  </a:txBody>
                  <a:tcPr marL="54864" marR="54864" marT="27432" marB="27432" anchor="ctr">
                    <a:solidFill>
                      <a:srgbClr val="FFFFFF"/>
                    </a:solidFill>
                  </a:tcPr>
                </a:tc>
                <a:tc>
                  <a:txBody>
                    <a:bodyPr/>
                    <a:lstStyle/>
                    <a:p>
                      <a:r>
                        <a:rPr sz="1200" b="0">
                          <a:solidFill>
                            <a:srgbClr val="1F2A44"/>
                          </a:solidFill>
                          <a:latin typeface="Calibri"/>
                        </a:rPr>
                        <a:t>Converts a unit-library estimate at 30% engineering into a bid; retires the +25% construction stress test</a:t>
                      </a:r>
                    </a:p>
                  </a:txBody>
                  <a:tcPr marL="54864" marR="54864" marT="27432" marB="27432" anchor="ctr">
                    <a:solidFill>
                      <a:srgbClr val="FFFFFF"/>
                    </a:solidFill>
                  </a:tcPr>
                </a:tc>
                <a:tc>
                  <a:txBody>
                    <a:bodyPr/>
                    <a:lstStyle/>
                    <a:p>
                      <a:r>
                        <a:rPr sz="1200" b="0">
                          <a:solidFill>
                            <a:srgbClr val="1F2A44"/>
                          </a:solidFill>
                          <a:latin typeface="Calibri"/>
                        </a:rPr>
                        <a:t>Sourcing + PM</a:t>
                      </a:r>
                    </a:p>
                  </a:txBody>
                  <a:tcPr marL="54864" marR="54864" marT="27432" marB="27432" anchor="ctr">
                    <a:solidFill>
                      <a:srgbClr val="FFFFFF"/>
                    </a:solidFill>
                  </a:tcPr>
                </a:tc>
                <a:tc>
                  <a:txBody>
                    <a:bodyPr/>
                    <a:lstStyle/>
                    <a:p>
                      <a:r>
                        <a:rPr sz="1200" b="0">
                          <a:solidFill>
                            <a:srgbClr val="1F2A44"/>
                          </a:solidFill>
                          <a:latin typeface="Calibri"/>
                        </a:rPr>
                        <a:t>Q3 2027</a:t>
                      </a:r>
                    </a:p>
                  </a:txBody>
                  <a:tcPr marL="54864" marR="54864" marT="27432" marB="27432" anchor="ctr">
                    <a:solidFill>
                      <a:srgbClr val="FFFFFF"/>
                    </a:solidFill>
                  </a:tcPr>
                </a:tc>
              </a:tr>
              <a:tr h="594360">
                <a:tc>
                  <a:txBody>
                    <a:bodyPr/>
                    <a:lstStyle/>
                    <a:p>
                      <a:r>
                        <a:rPr sz="1200" b="0">
                          <a:solidFill>
                            <a:srgbClr val="1F2A44"/>
                          </a:solidFill>
                          <a:latin typeface="Calibri"/>
                        </a:rPr>
                        <a:t>Owner-furnished GSUs and breaker skids on alliance pricing</a:t>
                      </a:r>
                    </a:p>
                  </a:txBody>
                  <a:tcPr marL="54864" marR="54864" marT="27432" marB="27432" anchor="ctr">
                    <a:solidFill>
                      <a:srgbClr val="F2F4F8"/>
                    </a:solidFill>
                  </a:tcPr>
                </a:tc>
                <a:tc>
                  <a:txBody>
                    <a:bodyPr/>
                    <a:lstStyle/>
                    <a:p>
                      <a:r>
                        <a:rPr sz="1200" b="0">
                          <a:solidFill>
                            <a:srgbClr val="1F2A44"/>
                          </a:solidFill>
                          <a:latin typeface="Calibri"/>
                        </a:rPr>
                        <a:t>Takes contractor markup off $3.8M of equipment; locks the 29 to 70 week transformer lead time</a:t>
                      </a:r>
                    </a:p>
                  </a:txBody>
                  <a:tcPr marL="54864" marR="54864" marT="27432" marB="27432" anchor="ctr">
                    <a:solidFill>
                      <a:srgbClr val="F2F4F8"/>
                    </a:solidFill>
                  </a:tcPr>
                </a:tc>
                <a:tc>
                  <a:txBody>
                    <a:bodyPr/>
                    <a:lstStyle/>
                    <a:p>
                      <a:r>
                        <a:rPr sz="1200" b="0">
                          <a:solidFill>
                            <a:srgbClr val="1F2A44"/>
                          </a:solidFill>
                          <a:latin typeface="Calibri"/>
                        </a:rPr>
                        <a:t>Sourcing + Substation Eng.</a:t>
                      </a:r>
                    </a:p>
                  </a:txBody>
                  <a:tcPr marL="54864" marR="54864" marT="27432" marB="27432" anchor="ctr">
                    <a:solidFill>
                      <a:srgbClr val="F2F4F8"/>
                    </a:solidFill>
                  </a:tcPr>
                </a:tc>
                <a:tc>
                  <a:txBody>
                    <a:bodyPr/>
                    <a:lstStyle/>
                    <a:p>
                      <a:r>
                        <a:rPr sz="1200" b="0">
                          <a:solidFill>
                            <a:srgbClr val="1F2A44"/>
                          </a:solidFill>
                          <a:latin typeface="Calibri"/>
                        </a:rPr>
                        <a:t>Q2 2027</a:t>
                      </a:r>
                    </a:p>
                  </a:txBody>
                  <a:tcPr marL="54864" marR="54864" marT="27432" marB="27432" anchor="ctr">
                    <a:solidFill>
                      <a:srgbClr val="F2F4F8"/>
                    </a:solidFill>
                  </a:tcPr>
                </a:tc>
              </a:tr>
              <a:tr h="594360">
                <a:tc>
                  <a:txBody>
                    <a:bodyPr/>
                    <a:lstStyle/>
                    <a:p>
                      <a:r>
                        <a:rPr sz="1200" b="0">
                          <a:solidFill>
                            <a:srgbClr val="1F2A44"/>
                          </a:solidFill>
                          <a:latin typeface="Calibri"/>
                        </a:rPr>
                        <a:t>Nomad payment milestones aligned to the January 2028 delivery</a:t>
                      </a:r>
                    </a:p>
                  </a:txBody>
                  <a:tcPr marL="54864" marR="54864" marT="27432" marB="27432" anchor="ctr">
                    <a:solidFill>
                      <a:srgbClr val="FFFFFF"/>
                    </a:solidFill>
                  </a:tcPr>
                </a:tc>
                <a:tc>
                  <a:txBody>
                    <a:bodyPr/>
                    <a:lstStyle/>
                    <a:p>
                      <a:r>
                        <a:rPr sz="1200" b="0">
                          <a:solidFill>
                            <a:srgbClr val="1F2A44"/>
                          </a:solidFill>
                          <a:latin typeface="Calibri"/>
                        </a:rPr>
                        <a:t>Removes a year of AFUDC on $12M; protects the siting float</a:t>
                      </a:r>
                    </a:p>
                  </a:txBody>
                  <a:tcPr marL="54864" marR="54864" marT="27432" marB="27432" anchor="ctr">
                    <a:solidFill>
                      <a:srgbClr val="FFFFFF"/>
                    </a:solidFill>
                  </a:tcPr>
                </a:tc>
                <a:tc>
                  <a:txBody>
                    <a:bodyPr/>
                    <a:lstStyle/>
                    <a:p>
                      <a:r>
                        <a:rPr sz="1200" b="0">
                          <a:solidFill>
                            <a:srgbClr val="1F2A44"/>
                          </a:solidFill>
                          <a:latin typeface="Calibri"/>
                        </a:rPr>
                        <a:t>PM + Sourcing + Treasury</a:t>
                      </a:r>
                    </a:p>
                  </a:txBody>
                  <a:tcPr marL="54864" marR="54864" marT="27432" marB="27432" anchor="ctr">
                    <a:solidFill>
                      <a:srgbClr val="FFFFFF"/>
                    </a:solidFill>
                  </a:tcPr>
                </a:tc>
                <a:tc>
                  <a:txBody>
                    <a:bodyPr/>
                    <a:lstStyle/>
                    <a:p>
                      <a:r>
                        <a:rPr sz="1200" b="0">
                          <a:solidFill>
                            <a:srgbClr val="1F2A44"/>
                          </a:solidFill>
                          <a:latin typeface="Calibri"/>
                        </a:rPr>
                        <a:t>Nov 2026</a:t>
                      </a:r>
                    </a:p>
                  </a:txBody>
                  <a:tcPr marL="54864" marR="54864" marT="27432" marB="27432" anchor="ctr">
                    <a:solidFill>
                      <a:srgbClr val="FFFFFF"/>
                    </a:solidFill>
                  </a:tcPr>
                </a:tc>
              </a:tr>
              <a:tr h="594360">
                <a:tc>
                  <a:txBody>
                    <a:bodyPr/>
                    <a:lstStyle/>
                    <a:p>
                      <a:r>
                        <a:rPr sz="1200" b="0">
                          <a:solidFill>
                            <a:srgbClr val="1F2A44"/>
                          </a:solidFill>
                          <a:latin typeface="Calibri"/>
                        </a:rPr>
                        <a:t>Change-order cap and a tariff pass-through clause read before signature</a:t>
                      </a:r>
                    </a:p>
                  </a:txBody>
                  <a:tcPr marL="54864" marR="54864" marT="27432" marB="27432" anchor="ctr">
                    <a:solidFill>
                      <a:srgbClr val="F2F4F8"/>
                    </a:solidFill>
                  </a:tcPr>
                </a:tc>
                <a:tc>
                  <a:txBody>
                    <a:bodyPr/>
                    <a:lstStyle/>
                    <a:p>
                      <a:r>
                        <a:rPr sz="1200" b="0">
                          <a:solidFill>
                            <a:srgbClr val="1F2A44"/>
                          </a:solidFill>
                          <a:latin typeface="Calibri"/>
                        </a:rPr>
                        <a:t>Bounds the $0.6M Nomad change-order exposure in the simulation</a:t>
                      </a:r>
                    </a:p>
                  </a:txBody>
                  <a:tcPr marL="54864" marR="54864" marT="27432" marB="27432" anchor="ctr">
                    <a:solidFill>
                      <a:srgbClr val="F2F4F8"/>
                    </a:solidFill>
                  </a:tcPr>
                </a:tc>
                <a:tc>
                  <a:txBody>
                    <a:bodyPr/>
                    <a:lstStyle/>
                    <a:p>
                      <a:r>
                        <a:rPr sz="1200" b="0">
                          <a:solidFill>
                            <a:srgbClr val="1F2A44"/>
                          </a:solidFill>
                          <a:latin typeface="Calibri"/>
                        </a:rPr>
                        <a:t>Sourcing + Legal</a:t>
                      </a:r>
                    </a:p>
                  </a:txBody>
                  <a:tcPr marL="54864" marR="54864" marT="27432" marB="27432" anchor="ctr">
                    <a:solidFill>
                      <a:srgbClr val="F2F4F8"/>
                    </a:solidFill>
                  </a:tcPr>
                </a:tc>
                <a:tc>
                  <a:txBody>
                    <a:bodyPr/>
                    <a:lstStyle/>
                    <a:p>
                      <a:r>
                        <a:rPr sz="1200" b="0">
                          <a:solidFill>
                            <a:srgbClr val="1F2A44"/>
                          </a:solidFill>
                          <a:latin typeface="Calibri"/>
                        </a:rPr>
                        <a:t>Nov 2026</a:t>
                      </a:r>
                    </a:p>
                  </a:txBody>
                  <a:tcPr marL="54864" marR="54864" marT="27432" marB="27432" anchor="ctr">
                    <a:solidFill>
                      <a:srgbClr val="F2F4F8"/>
                    </a:solidFill>
                  </a:tcPr>
                </a:tc>
              </a:tr>
              <a:tr h="594360">
                <a:tc>
                  <a:txBody>
                    <a:bodyPr/>
                    <a:lstStyle/>
                    <a:p>
                      <a:r>
                        <a:rPr sz="1200" b="0">
                          <a:solidFill>
                            <a:srgbClr val="1F2A44"/>
                          </a:solidFill>
                          <a:latin typeface="Calibri"/>
                        </a:rPr>
                        <a:t>Outage windows at Station 496 priced explicitly for whatever work remains</a:t>
                      </a:r>
                    </a:p>
                  </a:txBody>
                  <a:tcPr marL="54864" marR="54864" marT="27432" marB="27432" anchor="ctr">
                    <a:solidFill>
                      <a:srgbClr val="FFFFFF"/>
                    </a:solidFill>
                  </a:tcPr>
                </a:tc>
                <a:tc>
                  <a:txBody>
                    <a:bodyPr/>
                    <a:lstStyle/>
                    <a:p>
                      <a:r>
                        <a:rPr sz="1200" b="0">
                          <a:solidFill>
                            <a:srgbClr val="1F2A44"/>
                          </a:solidFill>
                          <a:latin typeface="Calibri"/>
                        </a:rPr>
                        <a:t>Unpriced today; small if the relay program goes</a:t>
                      </a:r>
                    </a:p>
                  </a:txBody>
                  <a:tcPr marL="54864" marR="54864" marT="27432" marB="27432" anchor="ctr">
                    <a:solidFill>
                      <a:srgbClr val="FFFFFF"/>
                    </a:solidFill>
                  </a:tcPr>
                </a:tc>
                <a:tc>
                  <a:txBody>
                    <a:bodyPr/>
                    <a:lstStyle/>
                    <a:p>
                      <a:r>
                        <a:rPr sz="1200" b="0">
                          <a:solidFill>
                            <a:srgbClr val="1F2A44"/>
                          </a:solidFill>
                          <a:latin typeface="Calibri"/>
                        </a:rPr>
                        <a:t>P&amp;C Eng. + EMA</a:t>
                      </a:r>
                    </a:p>
                  </a:txBody>
                  <a:tcPr marL="54864" marR="54864" marT="27432" marB="27432" anchor="ctr">
                    <a:solidFill>
                      <a:srgbClr val="FFFFFF"/>
                    </a:solidFill>
                  </a:tcPr>
                </a:tc>
                <a:tc>
                  <a:txBody>
                    <a:bodyPr/>
                    <a:lstStyle/>
                    <a:p>
                      <a:r>
                        <a:rPr sz="1200" b="0">
                          <a:solidFill>
                            <a:srgbClr val="1F2A44"/>
                          </a:solidFill>
                          <a:latin typeface="Calibri"/>
                        </a:rPr>
                        <a:t>Gate 1</a:t>
                      </a:r>
                    </a:p>
                  </a:txBody>
                  <a:tcPr marL="54864" marR="54864" marT="27432" marB="27432" anchor="ctr">
                    <a:solidFill>
                      <a:srgbClr val="FFFFFF"/>
                    </a:solidFill>
                  </a:tcPr>
                </a:tc>
              </a:tr>
            </a:tbl>
          </a:graphicData>
        </a:graphic>
      </p:graphicFrame>
      <p:sp>
        <p:nvSpPr>
          <p:cNvPr id="8" name="TextBox 7"/>
          <p:cNvSpPr txBox="1"/>
          <p:nvPr/>
        </p:nvSpPr>
        <p:spPr>
          <a:xfrm>
            <a:off x="548640" y="5074920"/>
            <a:ext cx="11064240" cy="1280160"/>
          </a:xfrm>
          <a:prstGeom prst="rect">
            <a:avLst/>
          </a:prstGeom>
          <a:noFill/>
        </p:spPr>
        <p:txBody>
          <a:bodyPr wrap="square" lIns="45720">
            <a:spAutoFit/>
          </a:bodyPr>
          <a:lstStyle/>
          <a:p>
            <a:pPr>
              <a:lnSpc>
                <a:spcPct val="105000"/>
              </a:lnSpc>
              <a:spcAft>
                <a:spcPts val="600"/>
              </a:spcAft>
            </a:pPr>
            <a:r>
              <a:rPr sz="1400">
                <a:solidFill>
                  <a:srgbClr val="FFC72C"/>
                </a:solidFill>
                <a:latin typeface="Calibri"/>
              </a:rPr>
              <a:t>▪  </a:t>
            </a:r>
            <a:r>
              <a:rPr b="1" sz="1400">
                <a:solidFill>
                  <a:srgbClr val="1F2A44"/>
                </a:solidFill>
                <a:latin typeface="Calibri"/>
              </a:rPr>
              <a:t>The ask: </a:t>
            </a:r>
            <a:r>
              <a:rPr sz="1400">
                <a:solidFill>
                  <a:srgbClr val="1F2A44"/>
                </a:solidFill>
                <a:latin typeface="Calibri"/>
              </a:rPr>
              <a:t>approve the contracting strategy at Gate 3 rather than defaulting to the alliance contractor on unit rates. The simulation's two largest accuracy ranges, the civil layer and Station 496, are both unit-library numbers with no bid behind them.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56032"/>
            <a:ext cx="11064240" cy="274320"/>
          </a:xfrm>
          <a:prstGeom prst="rect">
            <a:avLst/>
          </a:prstGeom>
          <a:noFill/>
        </p:spPr>
        <p:txBody>
          <a:bodyPr wrap="square" lIns="45720" rIns="45720" tIns="27432" bIns="27432" anchor="t">
            <a:spAutoFit/>
          </a:bodyPr>
          <a:lstStyle/>
          <a:p>
            <a:pPr algn="l">
              <a:lnSpc>
                <a:spcPct val="105000"/>
              </a:lnSpc>
              <a:spcAft>
                <a:spcPts val="400"/>
              </a:spcAft>
            </a:pPr>
            <a:r>
              <a:rPr sz="1100" b="1" i="0">
                <a:solidFill>
                  <a:srgbClr val="6E1F2E"/>
                </a:solidFill>
                <a:latin typeface="Calibri"/>
              </a:rPr>
              <a:t>WHAT MUST BE MANAGED SO THE SAVINGS STICK</a:t>
            </a:r>
          </a:p>
        </p:txBody>
      </p:sp>
      <p:sp>
        <p:nvSpPr>
          <p:cNvPr id="4" name="TextBox 3"/>
          <p:cNvSpPr txBox="1"/>
          <p:nvPr/>
        </p:nvSpPr>
        <p:spPr>
          <a:xfrm>
            <a:off x="548640" y="475488"/>
            <a:ext cx="11064240" cy="868680"/>
          </a:xfrm>
          <a:prstGeom prst="rect">
            <a:avLst/>
          </a:prstGeom>
          <a:noFill/>
        </p:spPr>
        <p:txBody>
          <a:bodyPr wrap="square" lIns="45720" rIns="45720" tIns="27432" bIns="27432" anchor="t">
            <a:spAutoFit/>
          </a:bodyPr>
          <a:lstStyle/>
          <a:p>
            <a:pPr algn="l">
              <a:lnSpc>
                <a:spcPct val="100000"/>
              </a:lnSpc>
              <a:spcAft>
                <a:spcPts val="400"/>
              </a:spcAft>
            </a:pPr>
            <a:r>
              <a:rPr sz="2300" b="1" i="0">
                <a:solidFill>
                  <a:srgbClr val="001E60"/>
                </a:solidFill>
                <a:latin typeface="Georgia"/>
              </a:rPr>
              <a:t>Two risks can eat every dollar saved: the Haugland reconciliation and the siting calendar. Both have an owner and a date.</a:t>
            </a:r>
          </a:p>
        </p:txBody>
      </p:sp>
      <p:sp>
        <p:nvSpPr>
          <p:cNvPr id="5" name="TextBox 4"/>
          <p:cNvSpPr txBox="1"/>
          <p:nvPr/>
        </p:nvSpPr>
        <p:spPr>
          <a:xfrm>
            <a:off x="548640" y="6419088"/>
            <a:ext cx="8229600" cy="274320"/>
          </a:xfrm>
          <a:prstGeom prst="rect">
            <a:avLst/>
          </a:prstGeom>
          <a:noFill/>
        </p:spPr>
        <p:txBody>
          <a:bodyPr wrap="square" lIns="45720" rIns="45720" tIns="27432" bIns="27432" anchor="t">
            <a:spAutoFit/>
          </a:bodyPr>
          <a:lstStyle/>
          <a:p>
            <a:pPr algn="l">
              <a:lnSpc>
                <a:spcPct val="105000"/>
              </a:lnSpc>
              <a:spcAft>
                <a:spcPts val="400"/>
              </a:spcAft>
            </a:pPr>
            <a:r>
              <a:rPr sz="1000" b="0" i="0">
                <a:solidFill>
                  <a:srgbClr val="6B7280"/>
                </a:solidFill>
                <a:latin typeface="Calibri"/>
              </a:rPr>
              <a:t>EstimatingCoE | Eversource Energy | Stewards of Affordability</a:t>
            </a:r>
          </a:p>
        </p:txBody>
      </p:sp>
      <p:sp>
        <p:nvSpPr>
          <p:cNvPr id="6" name="TextBox 5"/>
          <p:cNvSpPr txBox="1"/>
          <p:nvPr/>
        </p:nvSpPr>
        <p:spPr>
          <a:xfrm>
            <a:off x="10972800" y="6419088"/>
            <a:ext cx="685800" cy="274320"/>
          </a:xfrm>
          <a:prstGeom prst="rect">
            <a:avLst/>
          </a:prstGeom>
          <a:noFill/>
        </p:spPr>
        <p:txBody>
          <a:bodyPr wrap="square" lIns="45720" rIns="45720" tIns="27432" bIns="27432" anchor="t">
            <a:spAutoFit/>
          </a:bodyPr>
          <a:lstStyle/>
          <a:p>
            <a:pPr algn="r">
              <a:lnSpc>
                <a:spcPct val="105000"/>
              </a:lnSpc>
              <a:spcAft>
                <a:spcPts val="400"/>
              </a:spcAft>
            </a:pPr>
            <a:r>
              <a:rPr sz="1000" b="0" i="0">
                <a:solidFill>
                  <a:srgbClr val="6B7280"/>
                </a:solidFill>
                <a:latin typeface="Calibri"/>
              </a:rPr>
              <a:t>10</a:t>
            </a:r>
          </a:p>
        </p:txBody>
      </p:sp>
      <p:pic>
        <p:nvPicPr>
          <p:cNvPr id="7" name="Picture 6" descr="mc_lead_tornado.png"/>
          <p:cNvPicPr>
            <a:picLocks noChangeAspect="1"/>
          </p:cNvPicPr>
          <p:nvPr/>
        </p:nvPicPr>
        <p:blipFill>
          <a:blip r:embed="rId2"/>
          <a:stretch>
            <a:fillRect/>
          </a:stretch>
        </p:blipFill>
        <p:spPr>
          <a:xfrm>
            <a:off x="365760" y="1371600"/>
            <a:ext cx="6766560" cy="4446597"/>
          </a:xfrm>
          <a:prstGeom prst="rect">
            <a:avLst/>
          </a:prstGeom>
        </p:spPr>
      </p:pic>
      <p:sp>
        <p:nvSpPr>
          <p:cNvPr id="8" name="TextBox 7"/>
          <p:cNvSpPr txBox="1"/>
          <p:nvPr/>
        </p:nvSpPr>
        <p:spPr>
          <a:xfrm>
            <a:off x="7315200" y="1417320"/>
            <a:ext cx="4389120" cy="4937760"/>
          </a:xfrm>
          <a:prstGeom prst="rect">
            <a:avLst/>
          </a:prstGeom>
          <a:noFill/>
        </p:spPr>
        <p:txBody>
          <a:bodyPr wrap="square" lIns="45720">
            <a:spAutoFit/>
          </a:bodyPr>
          <a:lstStyle/>
          <a:p>
            <a:pPr>
              <a:lnSpc>
                <a:spcPct val="105000"/>
              </a:lnSpc>
              <a:spcAft>
                <a:spcPts val="700"/>
              </a:spcAft>
            </a:pPr>
            <a:r>
              <a:rPr sz="1200">
                <a:solidFill>
                  <a:srgbClr val="FFC72C"/>
                </a:solidFill>
                <a:latin typeface="Calibri"/>
              </a:rPr>
              <a:t>▪  </a:t>
            </a:r>
            <a:r>
              <a:rPr b="1" sz="1200">
                <a:solidFill>
                  <a:srgbClr val="1F2A44"/>
                </a:solidFill>
                <a:latin typeface="Calibri"/>
              </a:rPr>
              <a:t>Haugland reconciliation, +$4 to 8M direct, 43% of the variance. </a:t>
            </a:r>
            <a:r>
              <a:rPr sz="1200">
                <a:solidFill>
                  <a:srgbClr val="1F2A44"/>
                </a:solidFill>
                <a:latin typeface="Calibri"/>
              </a:rPr>
              <a:t>Haugland's Class 3 base for overlapping scope is $19.2M; Rev 3 carries $8.3M. Until a signed scope map says which is right, every saving on slides 4 and 5 is provisional. Owner: PM + Cost Estimating + HEG. By: before the November PAF.</a:t>
            </a:r>
          </a:p>
          <a:p>
            <a:pPr>
              <a:lnSpc>
                <a:spcPct val="105000"/>
              </a:lnSpc>
              <a:spcAft>
                <a:spcPts val="700"/>
              </a:spcAft>
            </a:pPr>
            <a:r>
              <a:rPr sz="1200">
                <a:solidFill>
                  <a:srgbClr val="FFC72C"/>
                </a:solidFill>
                <a:latin typeface="Calibri"/>
              </a:rPr>
              <a:t>▪  </a:t>
            </a:r>
            <a:r>
              <a:rPr b="1" sz="1200">
                <a:solidFill>
                  <a:srgbClr val="1F2A44"/>
                </a:solidFill>
                <a:latin typeface="Calibri"/>
              </a:rPr>
              <a:t>Siting schedule, +5 months at P50, +9 at P80, 11% of the variance. </a:t>
            </a:r>
            <a:r>
              <a:rPr sz="1200">
                <a:solidFill>
                  <a:srgbClr val="1F2A44"/>
                </a:solidFill>
                <a:latin typeface="Calibri"/>
              </a:rPr>
              <a:t>Every month costs about $0.37M in AFUDC, escalation and PM. Action: file Article 80 early, pre-brief the abutters on screening and sound, set the ZBA date within 90 days of filing. Owner: Siting + PM. By: Q1 2027.</a:t>
            </a:r>
          </a:p>
          <a:p>
            <a:pPr>
              <a:lnSpc>
                <a:spcPct val="105000"/>
              </a:lnSpc>
              <a:spcAft>
                <a:spcPts val="700"/>
              </a:spcAft>
            </a:pPr>
            <a:r>
              <a:rPr sz="1200">
                <a:solidFill>
                  <a:srgbClr val="FFC72C"/>
                </a:solidFill>
                <a:latin typeface="Calibri"/>
              </a:rPr>
              <a:t>▪  </a:t>
            </a:r>
            <a:r>
              <a:rPr b="1" sz="1200">
                <a:solidFill>
                  <a:srgbClr val="1F2A44"/>
                </a:solidFill>
                <a:latin typeface="Calibri"/>
              </a:rPr>
              <a:t>Station 496 is now the second driver, 26% of the variance. </a:t>
            </a:r>
            <a:r>
              <a:rPr sz="1200">
                <a:solidFill>
                  <a:srgbClr val="1F2A44"/>
                </a:solidFill>
                <a:latin typeface="Calibri"/>
              </a:rPr>
              <a:t>A $6M swing that turns on one protection-basis memo; until it is signed the number has two modes.</a:t>
            </a:r>
          </a:p>
          <a:p>
            <a:pPr>
              <a:lnSpc>
                <a:spcPct val="105000"/>
              </a:lnSpc>
              <a:spcAft>
                <a:spcPts val="700"/>
              </a:spcAft>
            </a:pPr>
            <a:r>
              <a:rPr sz="1200">
                <a:solidFill>
                  <a:srgbClr val="FFC72C"/>
                </a:solidFill>
                <a:latin typeface="Calibri"/>
              </a:rPr>
              <a:t>▪  </a:t>
            </a:r>
            <a:r>
              <a:rPr b="1" sz="1200">
                <a:solidFill>
                  <a:srgbClr val="1F2A44"/>
                </a:solidFill>
                <a:latin typeface="Calibri"/>
              </a:rPr>
              <a:t>Exposures to carry honestly, $2.0 to 3.9M. </a:t>
            </a:r>
            <a:r>
              <a:rPr sz="1200">
                <a:solidFill>
                  <a:srgbClr val="1F2A44"/>
                </a:solidFill>
                <a:latin typeface="Calibri"/>
              </a:rPr>
              <a:t>Sound mitigation ($467K dropped from the 2023 estimate), visual screening, police details, NFPA 855 changes, the GSU count. Price them now; a surprise in 2028 costs more than a line today.</a:t>
            </a:r>
          </a:p>
          <a:p>
            <a:pPr>
              <a:lnSpc>
                <a:spcPct val="105000"/>
              </a:lnSpc>
              <a:spcAft>
                <a:spcPts val="700"/>
              </a:spcAft>
            </a:pPr>
            <a:r>
              <a:rPr sz="1200">
                <a:solidFill>
                  <a:srgbClr val="FFC72C"/>
                </a:solidFill>
                <a:latin typeface="Calibri"/>
              </a:rPr>
              <a:t>▪  </a:t>
            </a:r>
            <a:r>
              <a:rPr b="1" sz="1200">
                <a:solidFill>
                  <a:srgbClr val="1F2A44"/>
                </a:solidFill>
                <a:latin typeface="Calibri"/>
              </a:rPr>
              <a:t>Everything on the left is ours to take. </a:t>
            </a:r>
            <a:r>
              <a:rPr sz="1200">
                <a:solidFill>
                  <a:srgbClr val="1F2A44"/>
                </a:solidFill>
                <a:latin typeface="Calibri"/>
              </a:rPr>
              <a:t>No single lever exceeds $2M; together they are worth about $9.9M at the assessed odds and $16.8M if every one lands.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56032"/>
            <a:ext cx="11064240" cy="274320"/>
          </a:xfrm>
          <a:prstGeom prst="rect">
            <a:avLst/>
          </a:prstGeom>
          <a:noFill/>
        </p:spPr>
        <p:txBody>
          <a:bodyPr wrap="square" lIns="45720" rIns="45720" tIns="27432" bIns="27432" anchor="t">
            <a:spAutoFit/>
          </a:bodyPr>
          <a:lstStyle/>
          <a:p>
            <a:pPr algn="l">
              <a:lnSpc>
                <a:spcPct val="105000"/>
              </a:lnSpc>
              <a:spcAft>
                <a:spcPts val="400"/>
              </a:spcAft>
            </a:pPr>
            <a:r>
              <a:rPr sz="1100" b="1" i="0">
                <a:solidFill>
                  <a:srgbClr val="6E1F2E"/>
                </a:solidFill>
                <a:latin typeface="Calibri"/>
              </a:rPr>
              <a:t>SAVE, CONTAIN, REDUCE</a:t>
            </a:r>
          </a:p>
        </p:txBody>
      </p:sp>
      <p:sp>
        <p:nvSpPr>
          <p:cNvPr id="4" name="TextBox 3"/>
          <p:cNvSpPr txBox="1"/>
          <p:nvPr/>
        </p:nvSpPr>
        <p:spPr>
          <a:xfrm>
            <a:off x="548640" y="475488"/>
            <a:ext cx="11064240" cy="868680"/>
          </a:xfrm>
          <a:prstGeom prst="rect">
            <a:avLst/>
          </a:prstGeom>
          <a:noFill/>
        </p:spPr>
        <p:txBody>
          <a:bodyPr wrap="square" lIns="45720" rIns="45720" tIns="27432" bIns="27432" anchor="t">
            <a:spAutoFit/>
          </a:bodyPr>
          <a:lstStyle/>
          <a:p>
            <a:pPr algn="l">
              <a:lnSpc>
                <a:spcPct val="100000"/>
              </a:lnSpc>
              <a:spcAft>
                <a:spcPts val="400"/>
              </a:spcAft>
            </a:pPr>
            <a:r>
              <a:rPr sz="2300" b="1" i="0">
                <a:solidFill>
                  <a:srgbClr val="001E60"/>
                </a:solidFill>
                <a:latin typeface="Georgia"/>
              </a:rPr>
              <a:t>The plan on one page: five gates, each with an owner, a date and the dollars it decides</a:t>
            </a:r>
          </a:p>
        </p:txBody>
      </p:sp>
      <p:sp>
        <p:nvSpPr>
          <p:cNvPr id="5" name="TextBox 4"/>
          <p:cNvSpPr txBox="1"/>
          <p:nvPr/>
        </p:nvSpPr>
        <p:spPr>
          <a:xfrm>
            <a:off x="548640" y="6419088"/>
            <a:ext cx="8229600" cy="274320"/>
          </a:xfrm>
          <a:prstGeom prst="rect">
            <a:avLst/>
          </a:prstGeom>
          <a:noFill/>
        </p:spPr>
        <p:txBody>
          <a:bodyPr wrap="square" lIns="45720" rIns="45720" tIns="27432" bIns="27432" anchor="t">
            <a:spAutoFit/>
          </a:bodyPr>
          <a:lstStyle/>
          <a:p>
            <a:pPr algn="l">
              <a:lnSpc>
                <a:spcPct val="105000"/>
              </a:lnSpc>
              <a:spcAft>
                <a:spcPts val="400"/>
              </a:spcAft>
            </a:pPr>
            <a:r>
              <a:rPr sz="1000" b="0" i="0">
                <a:solidFill>
                  <a:srgbClr val="6B7280"/>
                </a:solidFill>
                <a:latin typeface="Calibri"/>
              </a:rPr>
              <a:t>EstimatingCoE | Eversource Energy | Stewards of Affordability</a:t>
            </a:r>
          </a:p>
        </p:txBody>
      </p:sp>
      <p:sp>
        <p:nvSpPr>
          <p:cNvPr id="6" name="TextBox 5"/>
          <p:cNvSpPr txBox="1"/>
          <p:nvPr/>
        </p:nvSpPr>
        <p:spPr>
          <a:xfrm>
            <a:off x="10972800" y="6419088"/>
            <a:ext cx="685800" cy="274320"/>
          </a:xfrm>
          <a:prstGeom prst="rect">
            <a:avLst/>
          </a:prstGeom>
          <a:noFill/>
        </p:spPr>
        <p:txBody>
          <a:bodyPr wrap="square" lIns="45720" rIns="45720" tIns="27432" bIns="27432" anchor="t">
            <a:spAutoFit/>
          </a:bodyPr>
          <a:lstStyle/>
          <a:p>
            <a:pPr algn="r">
              <a:lnSpc>
                <a:spcPct val="105000"/>
              </a:lnSpc>
              <a:spcAft>
                <a:spcPts val="400"/>
              </a:spcAft>
            </a:pPr>
            <a:r>
              <a:rPr sz="1000" b="0" i="0">
                <a:solidFill>
                  <a:srgbClr val="6B7280"/>
                </a:solidFill>
                <a:latin typeface="Calibri"/>
              </a:rPr>
              <a:t>11</a:t>
            </a:r>
          </a:p>
        </p:txBody>
      </p:sp>
      <p:graphicFrame>
        <p:nvGraphicFramePr>
          <p:cNvPr id="7" name="Table 6"/>
          <p:cNvGraphicFramePr>
            <a:graphicFrameLocks noGrp="1"/>
          </p:cNvGraphicFramePr>
          <p:nvPr/>
        </p:nvGraphicFramePr>
        <p:xfrm>
          <a:off x="548640" y="1371600"/>
          <a:ext cx="11064240" cy="4572000"/>
        </p:xfrm>
        <a:graphic>
          <a:graphicData uri="http://schemas.openxmlformats.org/drawingml/2006/table">
            <a:tbl>
              <a:tblPr firstRow="1" bandRow="1">
                <a:tableStyleId>{5C22544A-7EE6-4342-B048-85BDC9FD1C3A}</a:tableStyleId>
              </a:tblPr>
              <a:tblGrid>
                <a:gridCol w="1920240"/>
                <a:gridCol w="5120640"/>
                <a:gridCol w="1920240"/>
                <a:gridCol w="2103120"/>
              </a:tblGrid>
              <a:tr h="762000">
                <a:tc>
                  <a:txBody>
                    <a:bodyPr/>
                    <a:lstStyle/>
                    <a:p>
                      <a:r>
                        <a:rPr sz="1100" b="1">
                          <a:solidFill>
                            <a:srgbClr val="FFFFFF"/>
                          </a:solidFill>
                          <a:latin typeface="Calibri"/>
                        </a:rPr>
                        <a:t>When</a:t>
                      </a:r>
                    </a:p>
                  </a:txBody>
                  <a:tcPr marL="54864" marR="54864" marT="27432" marB="27432">
                    <a:solidFill>
                      <a:srgbClr val="001E60"/>
                    </a:solidFill>
                  </a:tcPr>
                </a:tc>
                <a:tc>
                  <a:txBody>
                    <a:bodyPr/>
                    <a:lstStyle/>
                    <a:p>
                      <a:r>
                        <a:rPr sz="1100" b="1">
                          <a:solidFill>
                            <a:srgbClr val="FFFFFF"/>
                          </a:solidFill>
                          <a:latin typeface="Calibri"/>
                        </a:rPr>
                        <a:t>What</a:t>
                      </a:r>
                    </a:p>
                  </a:txBody>
                  <a:tcPr marL="54864" marR="54864" marT="27432" marB="27432">
                    <a:solidFill>
                      <a:srgbClr val="001E60"/>
                    </a:solidFill>
                  </a:tcPr>
                </a:tc>
                <a:tc>
                  <a:txBody>
                    <a:bodyPr/>
                    <a:lstStyle/>
                    <a:p>
                      <a:r>
                        <a:rPr sz="1100" b="1">
                          <a:solidFill>
                            <a:srgbClr val="FFFFFF"/>
                          </a:solidFill>
                          <a:latin typeface="Calibri"/>
                        </a:rPr>
                        <a:t>Who</a:t>
                      </a:r>
                    </a:p>
                  </a:txBody>
                  <a:tcPr marL="54864" marR="54864" marT="27432" marB="27432">
                    <a:solidFill>
                      <a:srgbClr val="001E60"/>
                    </a:solidFill>
                  </a:tcPr>
                </a:tc>
                <a:tc>
                  <a:txBody>
                    <a:bodyPr/>
                    <a:lstStyle/>
                    <a:p>
                      <a:r>
                        <a:rPr sz="1100" b="1">
                          <a:solidFill>
                            <a:srgbClr val="FFFFFF"/>
                          </a:solidFill>
                          <a:latin typeface="Calibri"/>
                        </a:rPr>
                        <a:t>What it decides</a:t>
                      </a:r>
                    </a:p>
                  </a:txBody>
                  <a:tcPr marL="54864" marR="54864" marT="27432" marB="27432">
                    <a:solidFill>
                      <a:srgbClr val="001E60"/>
                    </a:solidFill>
                  </a:tcPr>
                </a:tc>
              </a:tr>
              <a:tr h="762000">
                <a:tc>
                  <a:txBody>
                    <a:bodyPr/>
                    <a:lstStyle/>
                    <a:p>
                      <a:r>
                        <a:rPr sz="1100" b="0">
                          <a:solidFill>
                            <a:srgbClr val="1F2A44"/>
                          </a:solidFill>
                          <a:latin typeface="Calibri"/>
                        </a:rPr>
                        <a:t>Now to the Nov 2026 PAF</a:t>
                      </a:r>
                    </a:p>
                  </a:txBody>
                  <a:tcPr marL="54864" marR="54864" marT="27432" marB="27432" anchor="ctr">
                    <a:solidFill>
                      <a:srgbClr val="FFFFFF"/>
                    </a:solidFill>
                  </a:tcPr>
                </a:tc>
                <a:tc>
                  <a:txBody>
                    <a:bodyPr/>
                    <a:lstStyle/>
                    <a:p>
                      <a:r>
                        <a:rPr sz="1100" b="0">
                          <a:solidFill>
                            <a:srgbClr val="1F2A44"/>
                          </a:solidFill>
                          <a:latin typeface="Calibri"/>
                        </a:rPr>
                        <a:t>The six no-study decisions (A1, A2, A4, A5, B5, C3); sound mitigation and screening priced or registered; the 48E memo opened with Tax</a:t>
                      </a:r>
                    </a:p>
                  </a:txBody>
                  <a:tcPr marL="54864" marR="54864" marT="27432" marB="27432" anchor="ctr">
                    <a:solidFill>
                      <a:srgbClr val="FFFFFF"/>
                    </a:solidFill>
                  </a:tcPr>
                </a:tc>
                <a:tc>
                  <a:txBody>
                    <a:bodyPr/>
                    <a:lstStyle/>
                    <a:p>
                      <a:r>
                        <a:rPr sz="1100" b="0">
                          <a:solidFill>
                            <a:srgbClr val="1F2A44"/>
                          </a:solidFill>
                          <a:latin typeface="Calibri"/>
                        </a:rPr>
                        <a:t>Cost Estimating, PM, Accounting, Tax</a:t>
                      </a:r>
                    </a:p>
                  </a:txBody>
                  <a:tcPr marL="54864" marR="54864" marT="27432" marB="27432" anchor="ctr">
                    <a:solidFill>
                      <a:srgbClr val="FFFFFF"/>
                    </a:solidFill>
                  </a:tcPr>
                </a:tc>
                <a:tc>
                  <a:txBody>
                    <a:bodyPr/>
                    <a:lstStyle/>
                    <a:p>
                      <a:r>
                        <a:rPr sz="1100" b="0">
                          <a:solidFill>
                            <a:srgbClr val="1F2A44"/>
                          </a:solidFill>
                          <a:latin typeface="Calibri"/>
                        </a:rPr>
                        <a:t>Estimate hygiene, about $3M to $5M loaded; the exposures carried honestly</a:t>
                      </a:r>
                    </a:p>
                  </a:txBody>
                  <a:tcPr marL="54864" marR="54864" marT="27432" marB="27432" anchor="ctr">
                    <a:solidFill>
                      <a:srgbClr val="FFFFFF"/>
                    </a:solidFill>
                  </a:tcPr>
                </a:tc>
              </a:tr>
              <a:tr h="762000">
                <a:tc>
                  <a:txBody>
                    <a:bodyPr/>
                    <a:lstStyle/>
                    <a:p>
                      <a:r>
                        <a:rPr sz="1100" b="0">
                          <a:solidFill>
                            <a:srgbClr val="1F2A44"/>
                          </a:solidFill>
                          <a:latin typeface="Calibri"/>
                        </a:rPr>
                        <a:t>Gate 1, design basis (Q1 2027)</a:t>
                      </a:r>
                    </a:p>
                  </a:txBody>
                  <a:tcPr marL="54864" marR="54864" marT="27432" marB="27432" anchor="ctr">
                    <a:solidFill>
                      <a:srgbClr val="F2F4F8"/>
                    </a:solidFill>
                  </a:tcPr>
                </a:tc>
                <a:tc>
                  <a:txBody>
                    <a:bodyPr/>
                    <a:lstStyle/>
                    <a:p>
                      <a:r>
                        <a:rPr sz="1100" b="0">
                          <a:solidFill>
                            <a:srgbClr val="1F2A44"/>
                          </a:solidFill>
                          <a:latin typeface="Calibri"/>
                        </a:rPr>
                        <a:t>Geotech report; NFPA 855 hazard mitigation analysis; hosting-capacity and protection study at 5 MW per feeder; Station 496 protection-basis memo; GSU count and topology in writing; Haugland-to-Rev 3 scope map signed</a:t>
                      </a:r>
                    </a:p>
                  </a:txBody>
                  <a:tcPr marL="54864" marR="54864" marT="27432" marB="27432" anchor="ctr">
                    <a:solidFill>
                      <a:srgbClr val="F2F4F8"/>
                    </a:solidFill>
                  </a:tcPr>
                </a:tc>
                <a:tc>
                  <a:txBody>
                    <a:bodyPr/>
                    <a:lstStyle/>
                    <a:p>
                      <a:r>
                        <a:rPr sz="1100" b="0">
                          <a:solidFill>
                            <a:srgbClr val="1F2A44"/>
                          </a:solidFill>
                          <a:latin typeface="Calibri"/>
                        </a:rPr>
                        <a:t>Substation Eng., Civil, System Planning, System Protection, HEG</a:t>
                      </a:r>
                    </a:p>
                  </a:txBody>
                  <a:tcPr marL="54864" marR="54864" marT="27432" marB="27432" anchor="ctr">
                    <a:solidFill>
                      <a:srgbClr val="F2F4F8"/>
                    </a:solidFill>
                  </a:tcPr>
                </a:tc>
                <a:tc>
                  <a:txBody>
                    <a:bodyPr/>
                    <a:lstStyle/>
                    <a:p>
                      <a:r>
                        <a:rPr sz="1100" b="0">
                          <a:solidFill>
                            <a:srgbClr val="1F2A44"/>
                          </a:solidFill>
                          <a:latin typeface="Calibri"/>
                        </a:rPr>
                        <a:t>The Station 496 case ($6.1 to 6.6M), the two-feeder case ($1.5 to 1.7M), the civil layer, the GSU exposure, the Haugland gap</a:t>
                      </a:r>
                    </a:p>
                  </a:txBody>
                  <a:tcPr marL="54864" marR="54864" marT="27432" marB="27432" anchor="ctr">
                    <a:solidFill>
                      <a:srgbClr val="F2F4F8"/>
                    </a:solidFill>
                  </a:tcPr>
                </a:tc>
              </a:tr>
              <a:tr h="762000">
                <a:tc>
                  <a:txBody>
                    <a:bodyPr/>
                    <a:lstStyle/>
                    <a:p>
                      <a:r>
                        <a:rPr sz="1100" b="0">
                          <a:solidFill>
                            <a:srgbClr val="1F2A44"/>
                          </a:solidFill>
                          <a:latin typeface="Calibri"/>
                        </a:rPr>
                        <a:t>Gate 2, design-to-cost (before IFC, mid-2027)</a:t>
                      </a:r>
                    </a:p>
                  </a:txBody>
                  <a:tcPr marL="54864" marR="54864" marT="27432" marB="27432" anchor="ctr">
                    <a:solidFill>
                      <a:srgbClr val="FFFFFF"/>
                    </a:solidFill>
                  </a:tcPr>
                </a:tc>
                <a:tc>
                  <a:txBody>
                    <a:bodyPr/>
                    <a:lstStyle/>
                    <a:p>
                      <a:r>
                        <a:rPr sz="1100" b="0">
                          <a:solidFill>
                            <a:srgbClr val="1F2A44"/>
                          </a:solidFill>
                          <a:latin typeface="Calibri"/>
                        </a:rPr>
                        <a:t>Station-direct target of $1,250 per kWh and $50M loaded; monthly trend review; change control board with the CoE; no scope added without a funded source</a:t>
                      </a:r>
                    </a:p>
                  </a:txBody>
                  <a:tcPr marL="54864" marR="54864" marT="27432" marB="27432" anchor="ctr">
                    <a:solidFill>
                      <a:srgbClr val="FFFFFF"/>
                    </a:solidFill>
                  </a:tcPr>
                </a:tc>
                <a:tc>
                  <a:txBody>
                    <a:bodyPr/>
                    <a:lstStyle/>
                    <a:p>
                      <a:r>
                        <a:rPr sz="1100" b="0">
                          <a:solidFill>
                            <a:srgbClr val="1F2A44"/>
                          </a:solidFill>
                          <a:latin typeface="Calibri"/>
                        </a:rPr>
                        <a:t>PM (accountable), Cost Estimating, sponsor</a:t>
                      </a:r>
                    </a:p>
                  </a:txBody>
                  <a:tcPr marL="54864" marR="54864" marT="27432" marB="27432" anchor="ctr">
                    <a:solidFill>
                      <a:srgbClr val="FFFFFF"/>
                    </a:solidFill>
                  </a:tcPr>
                </a:tc>
                <a:tc>
                  <a:txBody>
                    <a:bodyPr/>
                    <a:lstStyle/>
                    <a:p>
                      <a:r>
                        <a:rPr sz="1100" b="0">
                          <a:solidFill>
                            <a:srgbClr val="1F2A44"/>
                          </a:solidFill>
                          <a:latin typeface="Calibri"/>
                        </a:rPr>
                        <a:t>Turns the estimate into a managed number instead of a forecast</a:t>
                      </a:r>
                    </a:p>
                  </a:txBody>
                  <a:tcPr marL="54864" marR="54864" marT="27432" marB="27432" anchor="ctr">
                    <a:solidFill>
                      <a:srgbClr val="FFFFFF"/>
                    </a:solidFill>
                  </a:tcPr>
                </a:tc>
              </a:tr>
              <a:tr h="762000">
                <a:tc>
                  <a:txBody>
                    <a:bodyPr/>
                    <a:lstStyle/>
                    <a:p>
                      <a:r>
                        <a:rPr sz="1100" b="0">
                          <a:solidFill>
                            <a:srgbClr val="1F2A44"/>
                          </a:solidFill>
                          <a:latin typeface="Calibri"/>
                        </a:rPr>
                        <a:t>Gate 3, commercial strategy (Q3 2027)</a:t>
                      </a:r>
                    </a:p>
                  </a:txBody>
                  <a:tcPr marL="54864" marR="54864" marT="27432" marB="27432" anchor="ctr">
                    <a:solidFill>
                      <a:srgbClr val="F2F4F8"/>
                    </a:solidFill>
                  </a:tcPr>
                </a:tc>
                <a:tc>
                  <a:txBody>
                    <a:bodyPr/>
                    <a:lstStyle/>
                    <a:p>
                      <a:r>
                        <a:rPr sz="1100" b="0">
                          <a:solidFill>
                            <a:srgbClr val="1F2A44"/>
                          </a:solidFill>
                          <a:latin typeface="Calibri"/>
                        </a:rPr>
                        <a:t>Competitive lump-sum pricing for station, civil and install (Haugland plus two); owner-furnished GSUs and skids; Nomad milestones aligned to delivery; change-order cap; Station 496 outage windows priced</a:t>
                      </a:r>
                    </a:p>
                  </a:txBody>
                  <a:tcPr marL="54864" marR="54864" marT="27432" marB="27432" anchor="ctr">
                    <a:solidFill>
                      <a:srgbClr val="F2F4F8"/>
                    </a:solidFill>
                  </a:tcPr>
                </a:tc>
                <a:tc>
                  <a:txBody>
                    <a:bodyPr/>
                    <a:lstStyle/>
                    <a:p>
                      <a:r>
                        <a:rPr sz="1100" b="0">
                          <a:solidFill>
                            <a:srgbClr val="1F2A44"/>
                          </a:solidFill>
                          <a:latin typeface="Calibri"/>
                        </a:rPr>
                        <a:t>Sourcing, PM, Construction</a:t>
                      </a:r>
                    </a:p>
                  </a:txBody>
                  <a:tcPr marL="54864" marR="54864" marT="27432" marB="27432" anchor="ctr">
                    <a:solidFill>
                      <a:srgbClr val="F2F4F8"/>
                    </a:solidFill>
                  </a:tcPr>
                </a:tc>
                <a:tc>
                  <a:txBody>
                    <a:bodyPr/>
                    <a:lstStyle/>
                    <a:p>
                      <a:r>
                        <a:rPr sz="1100" b="0">
                          <a:solidFill>
                            <a:srgbClr val="1F2A44"/>
                          </a:solidFill>
                          <a:latin typeface="Calibri"/>
                        </a:rPr>
                        <a:t>Converts unit-library construction into a bid; retires the +25% construction stress test</a:t>
                      </a:r>
                    </a:p>
                  </a:txBody>
                  <a:tcPr marL="54864" marR="54864" marT="27432" marB="27432" anchor="ctr">
                    <a:solidFill>
                      <a:srgbClr val="F2F4F8"/>
                    </a:solidFill>
                  </a:tcPr>
                </a:tc>
              </a:tr>
              <a:tr h="762000">
                <a:tc>
                  <a:txBody>
                    <a:bodyPr/>
                    <a:lstStyle/>
                    <a:p>
                      <a:r>
                        <a:rPr sz="1100" b="0">
                          <a:solidFill>
                            <a:srgbClr val="1F2A44"/>
                          </a:solidFill>
                          <a:latin typeface="Calibri"/>
                        </a:rPr>
                        <a:t>Standing, monthly to in-service</a:t>
                      </a:r>
                    </a:p>
                  </a:txBody>
                  <a:tcPr marL="54864" marR="54864" marT="27432" marB="27432" anchor="ctr">
                    <a:solidFill>
                      <a:srgbClr val="FFFFFF"/>
                    </a:solidFill>
                  </a:tcPr>
                </a:tc>
                <a:tc>
                  <a:txBody>
                    <a:bodyPr/>
                    <a:lstStyle/>
                    <a:p>
                      <a:r>
                        <a:rPr sz="1100" b="0">
                          <a:solidFill>
                            <a:srgbClr val="1F2A44"/>
                          </a:solidFill>
                          <a:latin typeface="Calibri"/>
                        </a:rPr>
                        <a:t>One-page cost-containment report: station-direct $/kWh against target, forecast at completion, open scope questions, exposures register, the 48E and FEOC milestones</a:t>
                      </a:r>
                    </a:p>
                  </a:txBody>
                  <a:tcPr marL="54864" marR="54864" marT="27432" marB="27432" anchor="ctr">
                    <a:solidFill>
                      <a:srgbClr val="FFFFFF"/>
                    </a:solidFill>
                  </a:tcPr>
                </a:tc>
                <a:tc>
                  <a:txBody>
                    <a:bodyPr/>
                    <a:lstStyle/>
                    <a:p>
                      <a:r>
                        <a:rPr sz="1100" b="0">
                          <a:solidFill>
                            <a:srgbClr val="1F2A44"/>
                          </a:solidFill>
                          <a:latin typeface="Calibri"/>
                        </a:rPr>
                        <a:t>PM, CoE</a:t>
                      </a:r>
                    </a:p>
                  </a:txBody>
                  <a:tcPr marL="54864" marR="54864" marT="27432" marB="27432" anchor="ctr">
                    <a:solidFill>
                      <a:srgbClr val="FFFFFF"/>
                    </a:solidFill>
                  </a:tcPr>
                </a:tc>
                <a:tc>
                  <a:txBody>
                    <a:bodyPr/>
                    <a:lstStyle/>
                    <a:p>
                      <a:r>
                        <a:rPr sz="1100" b="0">
                          <a:solidFill>
                            <a:srgbClr val="1F2A44"/>
                          </a:solidFill>
                          <a:latin typeface="Calibri"/>
                        </a:rPr>
                        <a:t>What leadership sees every month</a:t>
                      </a:r>
                    </a:p>
                  </a:txBody>
                  <a:tcPr marL="54864" marR="54864" marT="27432" marB="27432" anchor="ctr">
                    <a:solidFill>
                      <a:srgbClr val="FFFFFF"/>
                    </a:solidFill>
                  </a:tcPr>
                </a:tc>
              </a:tr>
            </a:tbl>
          </a:graphicData>
        </a:graphic>
      </p:graphicFrame>
      <p:sp>
        <p:nvSpPr>
          <p:cNvPr id="8" name="TextBox 7"/>
          <p:cNvSpPr txBox="1"/>
          <p:nvPr/>
        </p:nvSpPr>
        <p:spPr>
          <a:xfrm>
            <a:off x="548640" y="6035040"/>
            <a:ext cx="11064240" cy="320040"/>
          </a:xfrm>
          <a:prstGeom prst="rect">
            <a:avLst/>
          </a:prstGeom>
          <a:noFill/>
        </p:spPr>
        <p:txBody>
          <a:bodyPr wrap="square" lIns="45720" rIns="45720" tIns="27432" bIns="27432" anchor="t">
            <a:spAutoFit/>
          </a:bodyPr>
          <a:lstStyle/>
          <a:p>
            <a:pPr algn="l">
              <a:lnSpc>
                <a:spcPct val="105000"/>
              </a:lnSpc>
              <a:spcAft>
                <a:spcPts val="400"/>
              </a:spcAft>
            </a:pPr>
            <a:r>
              <a:rPr sz="1100" b="0" i="0">
                <a:solidFill>
                  <a:srgbClr val="6B7280"/>
                </a:solidFill>
                <a:latin typeface="Calibri"/>
              </a:rPr>
              <a:t>Target: $1,250 per kWh station-direct ($25M direct, $50M loaded); the CoE reports the trend monthly from the November 2026 PAF.</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56032"/>
            <a:ext cx="11064240" cy="274320"/>
          </a:xfrm>
          <a:prstGeom prst="rect">
            <a:avLst/>
          </a:prstGeom>
          <a:noFill/>
        </p:spPr>
        <p:txBody>
          <a:bodyPr wrap="square" lIns="45720" rIns="45720" tIns="27432" bIns="27432" anchor="t">
            <a:spAutoFit/>
          </a:bodyPr>
          <a:lstStyle/>
          <a:p>
            <a:pPr algn="l">
              <a:lnSpc>
                <a:spcPct val="105000"/>
              </a:lnSpc>
              <a:spcAft>
                <a:spcPts val="400"/>
              </a:spcAft>
            </a:pPr>
            <a:r>
              <a:rPr sz="1100" b="1" i="0">
                <a:solidFill>
                  <a:srgbClr val="6E1F2E"/>
                </a:solidFill>
                <a:latin typeface="Calibri"/>
              </a:rPr>
              <a:t>20,000 TRIALS ON COST, SCOPE AND SCHEDULE</a:t>
            </a:r>
          </a:p>
        </p:txBody>
      </p:sp>
      <p:sp>
        <p:nvSpPr>
          <p:cNvPr id="4" name="TextBox 3"/>
          <p:cNvSpPr txBox="1"/>
          <p:nvPr/>
        </p:nvSpPr>
        <p:spPr>
          <a:xfrm>
            <a:off x="548640" y="475488"/>
            <a:ext cx="11064240" cy="868680"/>
          </a:xfrm>
          <a:prstGeom prst="rect">
            <a:avLst/>
          </a:prstGeom>
          <a:noFill/>
        </p:spPr>
        <p:txBody>
          <a:bodyPr wrap="square" lIns="45720" rIns="45720" tIns="27432" bIns="27432" anchor="t">
            <a:spAutoFit/>
          </a:bodyPr>
          <a:lstStyle/>
          <a:p>
            <a:pPr algn="l">
              <a:lnSpc>
                <a:spcPct val="100000"/>
              </a:lnSpc>
              <a:spcAft>
                <a:spcPts val="400"/>
              </a:spcAft>
            </a:pPr>
            <a:r>
              <a:rPr sz="2300" b="1" i="0">
                <a:solidFill>
                  <a:srgbClr val="001E60"/>
                </a:solidFill>
                <a:latin typeface="Georgia"/>
              </a:rPr>
              <a:t>What the plan is worth: $10.1M at the median if the levers are worked at their odds, $16.8M if every one lands</a:t>
            </a:r>
          </a:p>
        </p:txBody>
      </p:sp>
      <p:sp>
        <p:nvSpPr>
          <p:cNvPr id="5" name="TextBox 4"/>
          <p:cNvSpPr txBox="1"/>
          <p:nvPr/>
        </p:nvSpPr>
        <p:spPr>
          <a:xfrm>
            <a:off x="548640" y="6419088"/>
            <a:ext cx="8229600" cy="274320"/>
          </a:xfrm>
          <a:prstGeom prst="rect">
            <a:avLst/>
          </a:prstGeom>
          <a:noFill/>
        </p:spPr>
        <p:txBody>
          <a:bodyPr wrap="square" lIns="45720" rIns="45720" tIns="27432" bIns="27432" anchor="t">
            <a:spAutoFit/>
          </a:bodyPr>
          <a:lstStyle/>
          <a:p>
            <a:pPr algn="l">
              <a:lnSpc>
                <a:spcPct val="105000"/>
              </a:lnSpc>
              <a:spcAft>
                <a:spcPts val="400"/>
              </a:spcAft>
            </a:pPr>
            <a:r>
              <a:rPr sz="1000" b="0" i="0">
                <a:solidFill>
                  <a:srgbClr val="6B7280"/>
                </a:solidFill>
                <a:latin typeface="Calibri"/>
              </a:rPr>
              <a:t>EstimatingCoE | Eversource Energy | Stewards of Affordability</a:t>
            </a:r>
          </a:p>
        </p:txBody>
      </p:sp>
      <p:sp>
        <p:nvSpPr>
          <p:cNvPr id="6" name="TextBox 5"/>
          <p:cNvSpPr txBox="1"/>
          <p:nvPr/>
        </p:nvSpPr>
        <p:spPr>
          <a:xfrm>
            <a:off x="10972800" y="6419088"/>
            <a:ext cx="685800" cy="274320"/>
          </a:xfrm>
          <a:prstGeom prst="rect">
            <a:avLst/>
          </a:prstGeom>
          <a:noFill/>
        </p:spPr>
        <p:txBody>
          <a:bodyPr wrap="square" lIns="45720" rIns="45720" tIns="27432" bIns="27432" anchor="t">
            <a:spAutoFit/>
          </a:bodyPr>
          <a:lstStyle/>
          <a:p>
            <a:pPr algn="r">
              <a:lnSpc>
                <a:spcPct val="105000"/>
              </a:lnSpc>
              <a:spcAft>
                <a:spcPts val="400"/>
              </a:spcAft>
            </a:pPr>
            <a:r>
              <a:rPr sz="1000" b="0" i="0">
                <a:solidFill>
                  <a:srgbClr val="6B7280"/>
                </a:solidFill>
                <a:latin typeface="Calibri"/>
              </a:rPr>
              <a:t>12</a:t>
            </a:r>
          </a:p>
        </p:txBody>
      </p:sp>
      <p:pic>
        <p:nvPicPr>
          <p:cNvPr id="7" name="Picture 6" descr="mc_scope_hist.png"/>
          <p:cNvPicPr>
            <a:picLocks noChangeAspect="1"/>
          </p:cNvPicPr>
          <p:nvPr/>
        </p:nvPicPr>
        <p:blipFill>
          <a:blip r:embed="rId2"/>
          <a:stretch>
            <a:fillRect/>
          </a:stretch>
        </p:blipFill>
        <p:spPr>
          <a:xfrm>
            <a:off x="457200" y="1417320"/>
            <a:ext cx="6583680" cy="3394710"/>
          </a:xfrm>
          <a:prstGeom prst="rect">
            <a:avLst/>
          </a:prstGeom>
        </p:spPr>
      </p:pic>
      <p:graphicFrame>
        <p:nvGraphicFramePr>
          <p:cNvPr id="8" name="Table 7"/>
          <p:cNvGraphicFramePr>
            <a:graphicFrameLocks noGrp="1"/>
          </p:cNvGraphicFramePr>
          <p:nvPr/>
        </p:nvGraphicFramePr>
        <p:xfrm>
          <a:off x="7315200" y="1463040"/>
          <a:ext cx="4389120" cy="2103120"/>
        </p:xfrm>
        <a:graphic>
          <a:graphicData uri="http://schemas.openxmlformats.org/drawingml/2006/table">
            <a:tbl>
              <a:tblPr firstRow="1" bandRow="1">
                <a:tableStyleId>{5C22544A-7EE6-4342-B048-85BDC9FD1C3A}</a:tableStyleId>
              </a:tblPr>
              <a:tblGrid>
                <a:gridCol w="1645920"/>
                <a:gridCol w="822960"/>
                <a:gridCol w="822960"/>
                <a:gridCol w="1097280"/>
              </a:tblGrid>
              <a:tr h="525780">
                <a:tc>
                  <a:txBody>
                    <a:bodyPr/>
                    <a:lstStyle/>
                    <a:p>
                      <a:r>
                        <a:rPr sz="1150" b="1">
                          <a:solidFill>
                            <a:srgbClr val="FFFFFF"/>
                          </a:solidFill>
                          <a:latin typeface="Calibri"/>
                        </a:rPr>
                        <a:t>Posture</a:t>
                      </a:r>
                    </a:p>
                  </a:txBody>
                  <a:tcPr marL="54864" marR="54864" marT="27432" marB="27432">
                    <a:solidFill>
                      <a:srgbClr val="001E60"/>
                    </a:solidFill>
                  </a:tcPr>
                </a:tc>
                <a:tc>
                  <a:txBody>
                    <a:bodyPr/>
                    <a:lstStyle/>
                    <a:p>
                      <a:pPr algn="r"/>
                      <a:r>
                        <a:rPr sz="1150" b="1">
                          <a:solidFill>
                            <a:srgbClr val="FFFFFF"/>
                          </a:solidFill>
                          <a:latin typeface="Calibri"/>
                        </a:rPr>
                        <a:t>P50</a:t>
                      </a:r>
                    </a:p>
                  </a:txBody>
                  <a:tcPr marL="54864" marR="54864" marT="27432" marB="27432">
                    <a:solidFill>
                      <a:srgbClr val="001E60"/>
                    </a:solidFill>
                  </a:tcPr>
                </a:tc>
                <a:tc>
                  <a:txBody>
                    <a:bodyPr/>
                    <a:lstStyle/>
                    <a:p>
                      <a:pPr algn="r"/>
                      <a:r>
                        <a:rPr sz="1150" b="1">
                          <a:solidFill>
                            <a:srgbClr val="FFFFFF"/>
                          </a:solidFill>
                          <a:latin typeface="Calibri"/>
                        </a:rPr>
                        <a:t>P80</a:t>
                      </a:r>
                    </a:p>
                  </a:txBody>
                  <a:tcPr marL="54864" marR="54864" marT="27432" marB="27432">
                    <a:solidFill>
                      <a:srgbClr val="001E60"/>
                    </a:solidFill>
                  </a:tcPr>
                </a:tc>
                <a:tc>
                  <a:txBody>
                    <a:bodyPr/>
                    <a:lstStyle/>
                    <a:p>
                      <a:pPr algn="r"/>
                      <a:r>
                        <a:rPr sz="1150" b="1">
                          <a:solidFill>
                            <a:srgbClr val="FFFFFF"/>
                          </a:solidFill>
                          <a:latin typeface="Calibri"/>
                        </a:rPr>
                        <a:t>Over $57.2M</a:t>
                      </a:r>
                    </a:p>
                  </a:txBody>
                  <a:tcPr marL="54864" marR="54864" marT="27432" marB="27432">
                    <a:solidFill>
                      <a:srgbClr val="001E60"/>
                    </a:solidFill>
                  </a:tcPr>
                </a:tc>
              </a:tr>
              <a:tr h="525780">
                <a:tc>
                  <a:txBody>
                    <a:bodyPr/>
                    <a:lstStyle/>
                    <a:p>
                      <a:r>
                        <a:rPr sz="1150" b="0">
                          <a:solidFill>
                            <a:srgbClr val="1F2A44"/>
                          </a:solidFill>
                          <a:latin typeface="Calibri"/>
                        </a:rPr>
                        <a:t>Nothing pursued</a:t>
                      </a:r>
                    </a:p>
                  </a:txBody>
                  <a:tcPr marL="54864" marR="54864" marT="27432" marB="27432" anchor="ctr">
                    <a:solidFill>
                      <a:srgbClr val="FFFFFF"/>
                    </a:solidFill>
                  </a:tcPr>
                </a:tc>
                <a:tc>
                  <a:txBody>
                    <a:bodyPr/>
                    <a:lstStyle/>
                    <a:p>
                      <a:pPr algn="r"/>
                      <a:r>
                        <a:rPr sz="1150" b="0">
                          <a:solidFill>
                            <a:srgbClr val="1F2A44"/>
                          </a:solidFill>
                          <a:latin typeface="Calibri"/>
                        </a:rPr>
                        <a:t>$60.6M</a:t>
                      </a:r>
                    </a:p>
                  </a:txBody>
                  <a:tcPr marL="54864" marR="54864" marT="27432" marB="27432" anchor="ctr">
                    <a:solidFill>
                      <a:srgbClr val="FFFFFF"/>
                    </a:solidFill>
                  </a:tcPr>
                </a:tc>
                <a:tc>
                  <a:txBody>
                    <a:bodyPr/>
                    <a:lstStyle/>
                    <a:p>
                      <a:pPr algn="r"/>
                      <a:r>
                        <a:rPr sz="1150" b="0">
                          <a:solidFill>
                            <a:srgbClr val="1F2A44"/>
                          </a:solidFill>
                          <a:latin typeface="Calibri"/>
                        </a:rPr>
                        <a:t>$64.5M</a:t>
                      </a:r>
                    </a:p>
                  </a:txBody>
                  <a:tcPr marL="54864" marR="54864" marT="27432" marB="27432" anchor="ctr">
                    <a:solidFill>
                      <a:srgbClr val="FFFFFF"/>
                    </a:solidFill>
                  </a:tcPr>
                </a:tc>
                <a:tc>
                  <a:txBody>
                    <a:bodyPr/>
                    <a:lstStyle/>
                    <a:p>
                      <a:pPr algn="r"/>
                      <a:r>
                        <a:rPr sz="1150" b="0">
                          <a:solidFill>
                            <a:srgbClr val="1F2A44"/>
                          </a:solidFill>
                          <a:latin typeface="Calibri"/>
                        </a:rPr>
                        <a:t>70%</a:t>
                      </a:r>
                    </a:p>
                  </a:txBody>
                  <a:tcPr marL="54864" marR="54864" marT="27432" marB="27432" anchor="ctr">
                    <a:solidFill>
                      <a:srgbClr val="FFFFFF"/>
                    </a:solidFill>
                  </a:tcPr>
                </a:tc>
              </a:tr>
              <a:tr h="525780">
                <a:tc>
                  <a:txBody>
                    <a:bodyPr/>
                    <a:lstStyle/>
                    <a:p>
                      <a:r>
                        <a:rPr sz="1150" b="0">
                          <a:solidFill>
                            <a:srgbClr val="1F2A44"/>
                          </a:solidFill>
                          <a:latin typeface="Calibri"/>
                        </a:rPr>
                        <a:t>Levers at their odds</a:t>
                      </a:r>
                    </a:p>
                  </a:txBody>
                  <a:tcPr marL="54864" marR="54864" marT="27432" marB="27432" anchor="ctr">
                    <a:solidFill>
                      <a:srgbClr val="F2F4F8"/>
                    </a:solidFill>
                  </a:tcPr>
                </a:tc>
                <a:tc>
                  <a:txBody>
                    <a:bodyPr/>
                    <a:lstStyle/>
                    <a:p>
                      <a:pPr algn="r"/>
                      <a:r>
                        <a:rPr sz="1150" b="0">
                          <a:solidFill>
                            <a:srgbClr val="1F2A44"/>
                          </a:solidFill>
                          <a:latin typeface="Calibri"/>
                        </a:rPr>
                        <a:t>$50.5M</a:t>
                      </a:r>
                    </a:p>
                  </a:txBody>
                  <a:tcPr marL="54864" marR="54864" marT="27432" marB="27432" anchor="ctr">
                    <a:solidFill>
                      <a:srgbClr val="F2F4F8"/>
                    </a:solidFill>
                  </a:tcPr>
                </a:tc>
                <a:tc>
                  <a:txBody>
                    <a:bodyPr/>
                    <a:lstStyle/>
                    <a:p>
                      <a:pPr algn="r"/>
                      <a:r>
                        <a:rPr sz="1150" b="0">
                          <a:solidFill>
                            <a:srgbClr val="1F2A44"/>
                          </a:solidFill>
                          <a:latin typeface="Calibri"/>
                        </a:rPr>
                        <a:t>$55.8M</a:t>
                      </a:r>
                    </a:p>
                  </a:txBody>
                  <a:tcPr marL="54864" marR="54864" marT="27432" marB="27432" anchor="ctr">
                    <a:solidFill>
                      <a:srgbClr val="F2F4F8"/>
                    </a:solidFill>
                  </a:tcPr>
                </a:tc>
                <a:tc>
                  <a:txBody>
                    <a:bodyPr/>
                    <a:lstStyle/>
                    <a:p>
                      <a:pPr algn="r"/>
                      <a:r>
                        <a:rPr sz="1150" b="0">
                          <a:solidFill>
                            <a:srgbClr val="1F2A44"/>
                          </a:solidFill>
                          <a:latin typeface="Calibri"/>
                        </a:rPr>
                        <a:t>14%</a:t>
                      </a:r>
                    </a:p>
                  </a:txBody>
                  <a:tcPr marL="54864" marR="54864" marT="27432" marB="27432" anchor="ctr">
                    <a:solidFill>
                      <a:srgbClr val="F2F4F8"/>
                    </a:solidFill>
                  </a:tcPr>
                </a:tc>
              </a:tr>
              <a:tr h="525780">
                <a:tc>
                  <a:txBody>
                    <a:bodyPr/>
                    <a:lstStyle/>
                    <a:p>
                      <a:r>
                        <a:rPr sz="1150" b="0">
                          <a:solidFill>
                            <a:srgbClr val="1F2A44"/>
                          </a:solidFill>
                          <a:latin typeface="Calibri"/>
                        </a:rPr>
                        <a:t>Every lever lands</a:t>
                      </a:r>
                    </a:p>
                  </a:txBody>
                  <a:tcPr marL="54864" marR="54864" marT="27432" marB="27432" anchor="ctr">
                    <a:solidFill>
                      <a:srgbClr val="FFFFFF"/>
                    </a:solidFill>
                  </a:tcPr>
                </a:tc>
                <a:tc>
                  <a:txBody>
                    <a:bodyPr/>
                    <a:lstStyle/>
                    <a:p>
                      <a:pPr algn="r"/>
                      <a:r>
                        <a:rPr sz="1150" b="0">
                          <a:solidFill>
                            <a:srgbClr val="1F2A44"/>
                          </a:solidFill>
                          <a:latin typeface="Calibri"/>
                        </a:rPr>
                        <a:t>$43.8M</a:t>
                      </a:r>
                    </a:p>
                  </a:txBody>
                  <a:tcPr marL="54864" marR="54864" marT="27432" marB="27432" anchor="ctr">
                    <a:solidFill>
                      <a:srgbClr val="FFFFFF"/>
                    </a:solidFill>
                  </a:tcPr>
                </a:tc>
                <a:tc>
                  <a:txBody>
                    <a:bodyPr/>
                    <a:lstStyle/>
                    <a:p>
                      <a:pPr algn="r"/>
                      <a:r>
                        <a:rPr sz="1150" b="0">
                          <a:solidFill>
                            <a:srgbClr val="1F2A44"/>
                          </a:solidFill>
                          <a:latin typeface="Calibri"/>
                        </a:rPr>
                        <a:t>$47.7M</a:t>
                      </a:r>
                    </a:p>
                  </a:txBody>
                  <a:tcPr marL="54864" marR="54864" marT="27432" marB="27432" anchor="ctr">
                    <a:solidFill>
                      <a:srgbClr val="FFFFFF"/>
                    </a:solidFill>
                  </a:tcPr>
                </a:tc>
                <a:tc>
                  <a:txBody>
                    <a:bodyPr/>
                    <a:lstStyle/>
                    <a:p>
                      <a:pPr algn="r"/>
                      <a:r>
                        <a:rPr sz="1150" b="0">
                          <a:solidFill>
                            <a:srgbClr val="1F2A44"/>
                          </a:solidFill>
                          <a:latin typeface="Calibri"/>
                        </a:rPr>
                        <a:t>0%</a:t>
                      </a:r>
                    </a:p>
                  </a:txBody>
                  <a:tcPr marL="54864" marR="54864" marT="27432" marB="27432" anchor="ctr">
                    <a:solidFill>
                      <a:srgbClr val="FFFFFF"/>
                    </a:solidFill>
                  </a:tcPr>
                </a:tc>
              </a:tr>
            </a:tbl>
          </a:graphicData>
        </a:graphic>
      </p:graphicFrame>
      <p:sp>
        <p:nvSpPr>
          <p:cNvPr id="9" name="TextBox 8"/>
          <p:cNvSpPr txBox="1"/>
          <p:nvPr/>
        </p:nvSpPr>
        <p:spPr>
          <a:xfrm>
            <a:off x="7315200" y="3749039"/>
            <a:ext cx="4389120" cy="2651760"/>
          </a:xfrm>
          <a:prstGeom prst="rect">
            <a:avLst/>
          </a:prstGeom>
          <a:noFill/>
        </p:spPr>
        <p:txBody>
          <a:bodyPr wrap="square" lIns="45720">
            <a:spAutoFit/>
          </a:bodyPr>
          <a:lstStyle/>
          <a:p>
            <a:pPr>
              <a:lnSpc>
                <a:spcPct val="105000"/>
              </a:lnSpc>
              <a:spcAft>
                <a:spcPts val="700"/>
              </a:spcAft>
            </a:pPr>
            <a:r>
              <a:rPr sz="1250">
                <a:solidFill>
                  <a:srgbClr val="FFC72C"/>
                </a:solidFill>
                <a:latin typeface="Calibri"/>
              </a:rPr>
              <a:t>▪  </a:t>
            </a:r>
            <a:r>
              <a:rPr b="1" sz="1250">
                <a:solidFill>
                  <a:srgbClr val="1F2A44"/>
                </a:solidFill>
                <a:latin typeface="Calibri"/>
              </a:rPr>
              <a:t>Read it plainly: </a:t>
            </a:r>
            <a:r>
              <a:rPr sz="1250">
                <a:solidFill>
                  <a:srgbClr val="1F2A44"/>
                </a:solidFill>
                <a:latin typeface="Calibri"/>
              </a:rPr>
              <a:t>with nothing pursued, 70% of trials end above the approval level, because the Haugland gap, the unpriced exposures and the schedule are real and the estimate carries none of them.</a:t>
            </a:r>
          </a:p>
          <a:p>
            <a:pPr>
              <a:lnSpc>
                <a:spcPct val="105000"/>
              </a:lnSpc>
              <a:spcAft>
                <a:spcPts val="700"/>
              </a:spcAft>
            </a:pPr>
            <a:r>
              <a:rPr sz="1250">
                <a:solidFill>
                  <a:srgbClr val="FFC72C"/>
                </a:solidFill>
                <a:latin typeface="Calibri"/>
              </a:rPr>
              <a:t>▪  </a:t>
            </a:r>
            <a:r>
              <a:rPr b="1" sz="1250">
                <a:solidFill>
                  <a:srgbClr val="1F2A44"/>
                </a:solidFill>
                <a:latin typeface="Calibri"/>
              </a:rPr>
              <a:t>With the plan: </a:t>
            </a:r>
            <a:r>
              <a:rPr sz="1250">
                <a:solidFill>
                  <a:srgbClr val="1F2A44"/>
                </a:solidFill>
                <a:latin typeface="Calibri"/>
              </a:rPr>
              <a:t>the median lands at $50.5M and 47% of trials come in under $50M.</a:t>
            </a:r>
          </a:p>
          <a:p>
            <a:pPr>
              <a:lnSpc>
                <a:spcPct val="105000"/>
              </a:lnSpc>
              <a:spcAft>
                <a:spcPts val="700"/>
              </a:spcAft>
            </a:pPr>
            <a:r>
              <a:rPr sz="1250">
                <a:solidFill>
                  <a:srgbClr val="FFC72C"/>
                </a:solidFill>
                <a:latin typeface="Calibri"/>
              </a:rPr>
              <a:t>▪  </a:t>
            </a:r>
            <a:r>
              <a:rPr b="1" sz="1250">
                <a:solidFill>
                  <a:srgbClr val="1F2A44"/>
                </a:solidFill>
                <a:latin typeface="Calibri"/>
              </a:rPr>
              <a:t>The reserve: </a:t>
            </a:r>
            <a:r>
              <a:rPr sz="1250">
                <a:solidFill>
                  <a:srgbClr val="1F2A44"/>
                </a:solidFill>
                <a:latin typeface="Calibri"/>
              </a:rPr>
              <a:t>$7.6M of risk and contingency covers the modeled ranges at about P75 only if the plan is executed.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1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FFC7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74320"/>
            <a:ext cx="11064240" cy="274320"/>
          </a:xfrm>
          <a:prstGeom prst="rect">
            <a:avLst/>
          </a:prstGeom>
          <a:noFill/>
        </p:spPr>
        <p:txBody>
          <a:bodyPr wrap="square" lIns="45720" rIns="45720" tIns="27432" bIns="27432" anchor="t">
            <a:spAutoFit/>
          </a:bodyPr>
          <a:lstStyle/>
          <a:p>
            <a:pPr algn="l">
              <a:lnSpc>
                <a:spcPct val="105000"/>
              </a:lnSpc>
              <a:spcAft>
                <a:spcPts val="400"/>
              </a:spcAft>
            </a:pPr>
            <a:r>
              <a:rPr sz="1100" b="1" i="0">
                <a:solidFill>
                  <a:srgbClr val="FFC72C"/>
                </a:solidFill>
                <a:latin typeface="Calibri"/>
              </a:rPr>
              <a:t>DECISIONS REQUESTED TODAY</a:t>
            </a:r>
          </a:p>
        </p:txBody>
      </p:sp>
      <p:sp>
        <p:nvSpPr>
          <p:cNvPr id="5" name="TextBox 4"/>
          <p:cNvSpPr txBox="1"/>
          <p:nvPr/>
        </p:nvSpPr>
        <p:spPr>
          <a:xfrm>
            <a:off x="548640" y="548640"/>
            <a:ext cx="11064240" cy="914400"/>
          </a:xfrm>
          <a:prstGeom prst="rect">
            <a:avLst/>
          </a:prstGeom>
          <a:noFill/>
        </p:spPr>
        <p:txBody>
          <a:bodyPr wrap="square" lIns="45720" rIns="45720" tIns="27432" bIns="27432" anchor="t">
            <a:spAutoFit/>
          </a:bodyPr>
          <a:lstStyle/>
          <a:p>
            <a:pPr algn="l">
              <a:lnSpc>
                <a:spcPct val="100000"/>
              </a:lnSpc>
              <a:spcAft>
                <a:spcPts val="400"/>
              </a:spcAft>
            </a:pPr>
            <a:r>
              <a:rPr sz="2400" b="1" i="0">
                <a:solidFill>
                  <a:srgbClr val="FFFFFF"/>
                </a:solidFill>
                <a:latin typeface="Georgia"/>
              </a:rPr>
              <a:t>$57M becomes $38.5 to 42.9M through sixteen named levers, three gates and one target. Six of them need only a yes.</a:t>
            </a:r>
          </a:p>
        </p:txBody>
      </p:sp>
      <p:sp>
        <p:nvSpPr>
          <p:cNvPr id="6" name="Rectangle 5"/>
          <p:cNvSpPr/>
          <p:nvPr/>
        </p:nvSpPr>
        <p:spPr>
          <a:xfrm>
            <a:off x="548640" y="1737360"/>
            <a:ext cx="11064240" cy="4480560"/>
          </a:xfrm>
          <a:prstGeom prst="rect">
            <a:avLst/>
          </a:prstGeom>
          <a:solidFill>
            <a:srgbClr val="0B2A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874519"/>
            <a:ext cx="10607040" cy="4297680"/>
          </a:xfrm>
          <a:prstGeom prst="rect">
            <a:avLst/>
          </a:prstGeom>
          <a:noFill/>
        </p:spPr>
        <p:txBody>
          <a:bodyPr wrap="square" lIns="45720">
            <a:spAutoFit/>
          </a:bodyPr>
          <a:lstStyle/>
          <a:p>
            <a:pPr>
              <a:lnSpc>
                <a:spcPct val="105000"/>
              </a:lnSpc>
              <a:spcAft>
                <a:spcPts val="900"/>
              </a:spcAft>
            </a:pPr>
            <a:r>
              <a:rPr sz="1500">
                <a:solidFill>
                  <a:srgbClr val="FFC72C"/>
                </a:solidFill>
                <a:latin typeface="Calibri"/>
              </a:rPr>
              <a:t>▪  </a:t>
            </a:r>
            <a:r>
              <a:rPr b="1" sz="1500">
                <a:solidFill>
                  <a:srgbClr val="FFFFFF"/>
                </a:solidFill>
                <a:latin typeface="Calibri"/>
              </a:rPr>
              <a:t>1. Approve the six no-study corrections for the November 2026 PAF </a:t>
            </a:r>
            <a:r>
              <a:rPr sz="1500">
                <a:solidFill>
                  <a:srgbClr val="FFFFFF"/>
                </a:solidFill>
                <a:latin typeface="Calibri"/>
              </a:rPr>
              <a:t>($4.9 to 7.0M loaded). Owners: Cost Estimating, PM, Accounting, Sourcing.</a:t>
            </a:r>
          </a:p>
          <a:p>
            <a:pPr>
              <a:lnSpc>
                <a:spcPct val="105000"/>
              </a:lnSpc>
              <a:spcAft>
                <a:spcPts val="900"/>
              </a:spcAft>
            </a:pPr>
            <a:r>
              <a:rPr sz="1500">
                <a:solidFill>
                  <a:srgbClr val="FFC72C"/>
                </a:solidFill>
                <a:latin typeface="Calibri"/>
              </a:rPr>
              <a:t>▪  </a:t>
            </a:r>
            <a:r>
              <a:rPr b="1" sz="1500">
                <a:solidFill>
                  <a:srgbClr val="FFFFFF"/>
                </a:solidFill>
                <a:latin typeface="Calibri"/>
              </a:rPr>
              <a:t>2. Fund the four closers now </a:t>
            </a:r>
            <a:r>
              <a:rPr sz="1500">
                <a:solidFill>
                  <a:srgbClr val="FFFFFF"/>
                </a:solidFill>
                <a:latin typeface="Calibri"/>
              </a:rPr>
              <a:t>(geotech, hosting capacity at 5 MW per feeder, the Station 496 protection-basis memo, the Haugland scope map) so the eight study-gated levers ($10.6 to 13.1M), led by Engineering's Station 496 and two-feeder proposal, are decided before IFC.</a:t>
            </a:r>
          </a:p>
          <a:p>
            <a:pPr>
              <a:lnSpc>
                <a:spcPct val="105000"/>
              </a:lnSpc>
              <a:spcAft>
                <a:spcPts val="900"/>
              </a:spcAft>
            </a:pPr>
            <a:r>
              <a:rPr sz="1500">
                <a:solidFill>
                  <a:srgbClr val="FFC72C"/>
                </a:solidFill>
                <a:latin typeface="Calibri"/>
              </a:rPr>
              <a:t>▪  </a:t>
            </a:r>
            <a:r>
              <a:rPr b="1" sz="1500">
                <a:solidFill>
                  <a:srgbClr val="FFFFFF"/>
                </a:solidFill>
                <a:latin typeface="Calibri"/>
              </a:rPr>
              <a:t>3. Open the Section 48E memo with Tax this month </a:t>
            </a:r>
            <a:r>
              <a:rPr sz="1500">
                <a:solidFill>
                  <a:srgbClr val="FFFFFF"/>
                </a:solidFill>
                <a:latin typeface="Calibri"/>
              </a:rPr>
              <a:t>($8.4 to 12.4M on the revenue requirement; FEOC cell-origin test on the Nomad units).</a:t>
            </a:r>
          </a:p>
          <a:p>
            <a:pPr>
              <a:lnSpc>
                <a:spcPct val="105000"/>
              </a:lnSpc>
              <a:spcAft>
                <a:spcPts val="900"/>
              </a:spcAft>
            </a:pPr>
            <a:r>
              <a:rPr sz="1500">
                <a:solidFill>
                  <a:srgbClr val="FFC72C"/>
                </a:solidFill>
                <a:latin typeface="Calibri"/>
              </a:rPr>
              <a:t>▪  </a:t>
            </a:r>
            <a:r>
              <a:rPr b="1" sz="1500">
                <a:solidFill>
                  <a:srgbClr val="FFFFFF"/>
                </a:solidFill>
                <a:latin typeface="Calibri"/>
              </a:rPr>
              <a:t>4. Adopt the design-to-cost target </a:t>
            </a:r>
            <a:r>
              <a:rPr sz="1500">
                <a:solidFill>
                  <a:srgbClr val="FFFFFF"/>
                </a:solidFill>
                <a:latin typeface="Calibri"/>
              </a:rPr>
              <a:t>($1,250 per kWh station-direct, $50M loaded) with change control and a monthly report from the CoE.</a:t>
            </a:r>
          </a:p>
          <a:p>
            <a:pPr>
              <a:lnSpc>
                <a:spcPct val="105000"/>
              </a:lnSpc>
              <a:spcAft>
                <a:spcPts val="900"/>
              </a:spcAft>
            </a:pPr>
            <a:r>
              <a:rPr sz="1500">
                <a:solidFill>
                  <a:srgbClr val="FFC72C"/>
                </a:solidFill>
                <a:latin typeface="Calibri"/>
              </a:rPr>
              <a:t>▪  </a:t>
            </a:r>
            <a:r>
              <a:rPr b="1" sz="1500">
                <a:solidFill>
                  <a:srgbClr val="FFFFFF"/>
                </a:solidFill>
                <a:latin typeface="Calibri"/>
              </a:rPr>
              <a:t>5. Approve competitive lump-sum pricing of the station, civil and install scope at Gate 3, </a:t>
            </a:r>
            <a:r>
              <a:rPr sz="1500">
                <a:solidFill>
                  <a:srgbClr val="FFFFFF"/>
                </a:solidFill>
                <a:latin typeface="Calibri"/>
              </a:rPr>
              <a:t>with owner-furnished GSUs and skids.</a:t>
            </a:r>
          </a:p>
          <a:p>
            <a:pPr>
              <a:lnSpc>
                <a:spcPct val="105000"/>
              </a:lnSpc>
              <a:spcAft>
                <a:spcPts val="900"/>
              </a:spcAft>
            </a:pPr>
            <a:r>
              <a:rPr sz="1500">
                <a:solidFill>
                  <a:srgbClr val="FFC72C"/>
                </a:solidFill>
                <a:latin typeface="Calibri"/>
              </a:rPr>
              <a:t>▪  </a:t>
            </a:r>
            <a:r>
              <a:rPr b="1" sz="1500">
                <a:solidFill>
                  <a:srgbClr val="FFFFFF"/>
                </a:solidFill>
                <a:latin typeface="Calibri"/>
              </a:rPr>
              <a:t>6. Assign the two risks that can undo all of it: </a:t>
            </a:r>
            <a:r>
              <a:rPr sz="1500">
                <a:solidFill>
                  <a:srgbClr val="FFFFFF"/>
                </a:solidFill>
                <a:latin typeface="Calibri"/>
              </a:rPr>
              <a:t>the Haugland reconciliation (PM + Cost Estimating + HEG, before the PAF) and the siting calendar (Siting + PM, Q1 2027).</a:t>
            </a:r>
          </a:p>
        </p:txBody>
      </p:sp>
      <p:sp>
        <p:nvSpPr>
          <p:cNvPr id="8" name="TextBox 7"/>
          <p:cNvSpPr txBox="1"/>
          <p:nvPr/>
        </p:nvSpPr>
        <p:spPr>
          <a:xfrm>
            <a:off x="548640" y="6419088"/>
            <a:ext cx="8229600" cy="274320"/>
          </a:xfrm>
          <a:prstGeom prst="rect">
            <a:avLst/>
          </a:prstGeom>
          <a:noFill/>
        </p:spPr>
        <p:txBody>
          <a:bodyPr wrap="square" lIns="45720" rIns="45720" tIns="27432" bIns="27432" anchor="t">
            <a:spAutoFit/>
          </a:bodyPr>
          <a:lstStyle/>
          <a:p>
            <a:pPr algn="l">
              <a:lnSpc>
                <a:spcPct val="105000"/>
              </a:lnSpc>
              <a:spcAft>
                <a:spcPts val="400"/>
              </a:spcAft>
            </a:pPr>
            <a:r>
              <a:rPr sz="1000" b="0" i="0">
                <a:solidFill>
                  <a:srgbClr val="C9D1E0"/>
                </a:solidFill>
                <a:latin typeface="Calibri"/>
              </a:rPr>
              <a:t>EstimatingCoE | Eversource Energy | Stewards of Affordability</a:t>
            </a:r>
          </a:p>
        </p:txBody>
      </p:sp>
      <p:sp>
        <p:nvSpPr>
          <p:cNvPr id="9" name="TextBox 8"/>
          <p:cNvSpPr txBox="1"/>
          <p:nvPr/>
        </p:nvSpPr>
        <p:spPr>
          <a:xfrm>
            <a:off x="10972800" y="6419088"/>
            <a:ext cx="685800" cy="274320"/>
          </a:xfrm>
          <a:prstGeom prst="rect">
            <a:avLst/>
          </a:prstGeom>
          <a:noFill/>
        </p:spPr>
        <p:txBody>
          <a:bodyPr wrap="square" lIns="45720" rIns="45720" tIns="27432" bIns="27432" anchor="t">
            <a:spAutoFit/>
          </a:bodyPr>
          <a:lstStyle/>
          <a:p>
            <a:pPr algn="r">
              <a:lnSpc>
                <a:spcPct val="105000"/>
              </a:lnSpc>
              <a:spcAft>
                <a:spcPts val="400"/>
              </a:spcAft>
            </a:pPr>
            <a:r>
              <a:rPr sz="1000" b="0" i="0">
                <a:solidFill>
                  <a:srgbClr val="C9D1E0"/>
                </a:solidFill>
                <a:latin typeface="Calibr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56032"/>
            <a:ext cx="11064240" cy="274320"/>
          </a:xfrm>
          <a:prstGeom prst="rect">
            <a:avLst/>
          </a:prstGeom>
          <a:noFill/>
        </p:spPr>
        <p:txBody>
          <a:bodyPr wrap="square" lIns="45720" rIns="45720" tIns="27432" bIns="27432" anchor="t">
            <a:spAutoFit/>
          </a:bodyPr>
          <a:lstStyle/>
          <a:p>
            <a:pPr algn="l">
              <a:lnSpc>
                <a:spcPct val="105000"/>
              </a:lnSpc>
              <a:spcAft>
                <a:spcPts val="400"/>
              </a:spcAft>
            </a:pPr>
            <a:r>
              <a:rPr sz="1100" b="1" i="0">
                <a:solidFill>
                  <a:srgbClr val="6E1F2E"/>
                </a:solidFill>
                <a:latin typeface="Calibri"/>
              </a:rPr>
              <a:t>APPENDIX: SAVINGS REGISTER, $15.1 TO 19.5M ON THE ESTIMATE, $11.6 TO 17.2M ON THE REVENUE REQUIREMENT</a:t>
            </a:r>
          </a:p>
        </p:txBody>
      </p:sp>
      <p:sp>
        <p:nvSpPr>
          <p:cNvPr id="4" name="TextBox 3"/>
          <p:cNvSpPr txBox="1"/>
          <p:nvPr/>
        </p:nvSpPr>
        <p:spPr>
          <a:xfrm>
            <a:off x="548640" y="475488"/>
            <a:ext cx="11064240" cy="868680"/>
          </a:xfrm>
          <a:prstGeom prst="rect">
            <a:avLst/>
          </a:prstGeom>
          <a:noFill/>
        </p:spPr>
        <p:txBody>
          <a:bodyPr wrap="square" lIns="45720" rIns="45720" tIns="27432" bIns="27432" anchor="t">
            <a:spAutoFit/>
          </a:bodyPr>
          <a:lstStyle/>
          <a:p>
            <a:pPr algn="l">
              <a:lnSpc>
                <a:spcPct val="100000"/>
              </a:lnSpc>
              <a:spcAft>
                <a:spcPts val="400"/>
              </a:spcAft>
            </a:pPr>
            <a:r>
              <a:rPr sz="2300" b="1" i="0">
                <a:solidFill>
                  <a:srgbClr val="001E60"/>
                </a:solidFill>
                <a:latin typeface="Georgia"/>
              </a:rPr>
              <a:t>Backup: the sixteen levers as sized from the Rev 3 line items</a:t>
            </a:r>
          </a:p>
        </p:txBody>
      </p:sp>
      <p:sp>
        <p:nvSpPr>
          <p:cNvPr id="5" name="TextBox 4"/>
          <p:cNvSpPr txBox="1"/>
          <p:nvPr/>
        </p:nvSpPr>
        <p:spPr>
          <a:xfrm>
            <a:off x="548640" y="6419088"/>
            <a:ext cx="8229600" cy="274320"/>
          </a:xfrm>
          <a:prstGeom prst="rect">
            <a:avLst/>
          </a:prstGeom>
          <a:noFill/>
        </p:spPr>
        <p:txBody>
          <a:bodyPr wrap="square" lIns="45720" rIns="45720" tIns="27432" bIns="27432" anchor="t">
            <a:spAutoFit/>
          </a:bodyPr>
          <a:lstStyle/>
          <a:p>
            <a:pPr algn="l">
              <a:lnSpc>
                <a:spcPct val="105000"/>
              </a:lnSpc>
              <a:spcAft>
                <a:spcPts val="400"/>
              </a:spcAft>
            </a:pPr>
            <a:r>
              <a:rPr sz="1000" b="0" i="0">
                <a:solidFill>
                  <a:srgbClr val="6B7280"/>
                </a:solidFill>
                <a:latin typeface="Calibri"/>
              </a:rPr>
              <a:t>EstimatingCoE | Eversource Energy | Stewards of Affordability</a:t>
            </a:r>
          </a:p>
        </p:txBody>
      </p:sp>
      <p:sp>
        <p:nvSpPr>
          <p:cNvPr id="6" name="TextBox 5"/>
          <p:cNvSpPr txBox="1"/>
          <p:nvPr/>
        </p:nvSpPr>
        <p:spPr>
          <a:xfrm>
            <a:off x="10972800" y="6419088"/>
            <a:ext cx="685800" cy="274320"/>
          </a:xfrm>
          <a:prstGeom prst="rect">
            <a:avLst/>
          </a:prstGeom>
          <a:noFill/>
        </p:spPr>
        <p:txBody>
          <a:bodyPr wrap="square" lIns="45720" rIns="45720" tIns="27432" bIns="27432" anchor="t">
            <a:spAutoFit/>
          </a:bodyPr>
          <a:lstStyle/>
          <a:p>
            <a:pPr algn="r">
              <a:lnSpc>
                <a:spcPct val="105000"/>
              </a:lnSpc>
              <a:spcAft>
                <a:spcPts val="400"/>
              </a:spcAft>
            </a:pPr>
            <a:r>
              <a:rPr sz="1000" b="0" i="0">
                <a:solidFill>
                  <a:srgbClr val="6B7280"/>
                </a:solidFill>
                <a:latin typeface="Calibri"/>
              </a:rPr>
              <a:t>14</a:t>
            </a:r>
          </a:p>
        </p:txBody>
      </p:sp>
      <p:graphicFrame>
        <p:nvGraphicFramePr>
          <p:cNvPr id="7" name="Table 6"/>
          <p:cNvGraphicFramePr>
            <a:graphicFrameLocks noGrp="1"/>
          </p:cNvGraphicFramePr>
          <p:nvPr/>
        </p:nvGraphicFramePr>
        <p:xfrm>
          <a:off x="548640" y="1371600"/>
          <a:ext cx="11064240" cy="4572000"/>
        </p:xfrm>
        <a:graphic>
          <a:graphicData uri="http://schemas.openxmlformats.org/drawingml/2006/table">
            <a:tbl>
              <a:tblPr firstRow="1" bandRow="1">
                <a:tableStyleId>{5C22544A-7EE6-4342-B048-85BDC9FD1C3A}</a:tableStyleId>
              </a:tblPr>
              <a:tblGrid>
                <a:gridCol w="365760"/>
                <a:gridCol w="4846320"/>
                <a:gridCol w="548640"/>
                <a:gridCol w="1097280"/>
                <a:gridCol w="1188720"/>
                <a:gridCol w="731520"/>
                <a:gridCol w="2286000"/>
              </a:tblGrid>
              <a:tr h="268941">
                <a:tc>
                  <a:txBody>
                    <a:bodyPr/>
                    <a:lstStyle/>
                    <a:p>
                      <a:r>
                        <a:rPr sz="800" b="1">
                          <a:solidFill>
                            <a:srgbClr val="FFFFFF"/>
                          </a:solidFill>
                          <a:latin typeface="Calibri"/>
                        </a:rPr>
                        <a:t>#</a:t>
                      </a:r>
                    </a:p>
                  </a:txBody>
                  <a:tcPr marL="54864" marR="54864" marT="27432" marB="27432">
                    <a:solidFill>
                      <a:srgbClr val="001E60"/>
                    </a:solidFill>
                  </a:tcPr>
                </a:tc>
                <a:tc>
                  <a:txBody>
                    <a:bodyPr/>
                    <a:lstStyle/>
                    <a:p>
                      <a:r>
                        <a:rPr sz="800" b="1">
                          <a:solidFill>
                            <a:srgbClr val="FFFFFF"/>
                          </a:solidFill>
                          <a:latin typeface="Calibri"/>
                        </a:rPr>
                        <a:t>Lever</a:t>
                      </a:r>
                    </a:p>
                  </a:txBody>
                  <a:tcPr marL="54864" marR="54864" marT="27432" marB="27432">
                    <a:solidFill>
                      <a:srgbClr val="001E60"/>
                    </a:solidFill>
                  </a:tcPr>
                </a:tc>
                <a:tc>
                  <a:txBody>
                    <a:bodyPr/>
                    <a:lstStyle/>
                    <a:p>
                      <a:r>
                        <a:rPr sz="800" b="1">
                          <a:solidFill>
                            <a:srgbClr val="FFFFFF"/>
                          </a:solidFill>
                          <a:latin typeface="Calibri"/>
                        </a:rPr>
                        <a:t>Layer</a:t>
                      </a:r>
                    </a:p>
                  </a:txBody>
                  <a:tcPr marL="54864" marR="54864" marT="27432" marB="27432">
                    <a:solidFill>
                      <a:srgbClr val="001E60"/>
                    </a:solidFill>
                  </a:tcPr>
                </a:tc>
                <a:tc>
                  <a:txBody>
                    <a:bodyPr/>
                    <a:lstStyle/>
                    <a:p>
                      <a:pPr algn="r"/>
                      <a:r>
                        <a:rPr sz="800" b="1">
                          <a:solidFill>
                            <a:srgbClr val="FFFFFF"/>
                          </a:solidFill>
                          <a:latin typeface="Calibri"/>
                        </a:rPr>
                        <a:t>Direct</a:t>
                      </a:r>
                    </a:p>
                  </a:txBody>
                  <a:tcPr marL="54864" marR="54864" marT="27432" marB="27432">
                    <a:solidFill>
                      <a:srgbClr val="001E60"/>
                    </a:solidFill>
                  </a:tcPr>
                </a:tc>
                <a:tc>
                  <a:txBody>
                    <a:bodyPr/>
                    <a:lstStyle/>
                    <a:p>
                      <a:pPr algn="r"/>
                      <a:r>
                        <a:rPr sz="800" b="1">
                          <a:solidFill>
                            <a:srgbClr val="FFFFFF"/>
                          </a:solidFill>
                          <a:latin typeface="Calibri"/>
                        </a:rPr>
                        <a:t>Loaded</a:t>
                      </a:r>
                    </a:p>
                  </a:txBody>
                  <a:tcPr marL="54864" marR="54864" marT="27432" marB="27432">
                    <a:solidFill>
                      <a:srgbClr val="001E60"/>
                    </a:solidFill>
                  </a:tcPr>
                </a:tc>
                <a:tc>
                  <a:txBody>
                    <a:bodyPr/>
                    <a:lstStyle/>
                    <a:p>
                      <a:r>
                        <a:rPr sz="800" b="1">
                          <a:solidFill>
                            <a:srgbClr val="FFFFFF"/>
                          </a:solidFill>
                          <a:latin typeface="Calibri"/>
                        </a:rPr>
                        <a:t>Conf.</a:t>
                      </a:r>
                    </a:p>
                  </a:txBody>
                  <a:tcPr marL="54864" marR="54864" marT="27432" marB="27432">
                    <a:solidFill>
                      <a:srgbClr val="001E60"/>
                    </a:solidFill>
                  </a:tcPr>
                </a:tc>
                <a:tc>
                  <a:txBody>
                    <a:bodyPr/>
                    <a:lstStyle/>
                    <a:p>
                      <a:r>
                        <a:rPr sz="800" b="1">
                          <a:solidFill>
                            <a:srgbClr val="FFFFFF"/>
                          </a:solidFill>
                          <a:latin typeface="Calibri"/>
                        </a:rPr>
                        <a:t>Owner</a:t>
                      </a:r>
                    </a:p>
                  </a:txBody>
                  <a:tcPr marL="54864" marR="54864" marT="27432" marB="27432">
                    <a:solidFill>
                      <a:srgbClr val="001E60"/>
                    </a:solidFill>
                  </a:tcPr>
                </a:tc>
              </a:tr>
              <a:tr h="268941">
                <a:tc>
                  <a:txBody>
                    <a:bodyPr/>
                    <a:lstStyle/>
                    <a:p>
                      <a:r>
                        <a:rPr sz="800" b="1">
                          <a:solidFill>
                            <a:srgbClr val="FFFFFF"/>
                          </a:solidFill>
                          <a:latin typeface="Calibri"/>
                        </a:rPr>
                        <a:t>A1</a:t>
                      </a:r>
                    </a:p>
                  </a:txBody>
                  <a:tcPr marL="54864" marR="54864" marT="27432" marB="27432" anchor="ctr">
                    <a:solidFill>
                      <a:srgbClr val="2A8A8C"/>
                    </a:solidFill>
                  </a:tcPr>
                </a:tc>
                <a:tc>
                  <a:txBody>
                    <a:bodyPr/>
                    <a:lstStyle/>
                    <a:p>
                      <a:r>
                        <a:rPr sz="800" b="0">
                          <a:solidFill>
                            <a:srgbClr val="1F2A44"/>
                          </a:solidFill>
                          <a:latin typeface="Calibri"/>
                        </a:rPr>
                        <a:t>Remove escalation carried on the fixed-price Nomad balance</a:t>
                      </a:r>
                    </a:p>
                  </a:txBody>
                  <a:tcPr marL="54864" marR="54864" marT="27432" marB="27432" anchor="ctr">
                    <a:solidFill>
                      <a:srgbClr val="FFFFFF"/>
                    </a:solidFill>
                  </a:tcPr>
                </a:tc>
                <a:tc>
                  <a:txBody>
                    <a:bodyPr/>
                    <a:lstStyle/>
                    <a:p>
                      <a:r>
                        <a:rPr sz="800" b="0">
                          <a:solidFill>
                            <a:srgbClr val="1F2A44"/>
                          </a:solidFill>
                          <a:latin typeface="Calibri"/>
                        </a:rPr>
                        <a:t>A</a:t>
                      </a:r>
                    </a:p>
                  </a:txBody>
                  <a:tcPr marL="54864" marR="54864" marT="27432" marB="27432" anchor="ctr">
                    <a:solidFill>
                      <a:srgbClr val="FFFFFF"/>
                    </a:solidFill>
                  </a:tcPr>
                </a:tc>
                <a:tc>
                  <a:txBody>
                    <a:bodyPr/>
                    <a:lstStyle/>
                    <a:p>
                      <a:pPr algn="r"/>
                      <a:r>
                        <a:rPr sz="800" b="0">
                          <a:solidFill>
                            <a:srgbClr val="1F2A44"/>
                          </a:solidFill>
                          <a:latin typeface="Calibri"/>
                        </a:rPr>
                        <a:t>$1.1M</a:t>
                      </a:r>
                    </a:p>
                  </a:txBody>
                  <a:tcPr marL="54864" marR="54864" marT="27432" marB="27432" anchor="ctr">
                    <a:solidFill>
                      <a:srgbClr val="FFFFFF"/>
                    </a:solidFill>
                  </a:tcPr>
                </a:tc>
                <a:tc>
                  <a:txBody>
                    <a:bodyPr/>
                    <a:lstStyle/>
                    <a:p>
                      <a:pPr algn="r"/>
                      <a:r>
                        <a:rPr sz="800" b="0">
                          <a:solidFill>
                            <a:srgbClr val="1F2A44"/>
                          </a:solidFill>
                          <a:latin typeface="Calibri"/>
                        </a:rPr>
                        <a:t>$1.6M</a:t>
                      </a:r>
                    </a:p>
                  </a:txBody>
                  <a:tcPr marL="54864" marR="54864" marT="27432" marB="27432" anchor="ctr">
                    <a:solidFill>
                      <a:srgbClr val="FFFFFF"/>
                    </a:solidFill>
                  </a:tcPr>
                </a:tc>
                <a:tc>
                  <a:txBody>
                    <a:bodyPr/>
                    <a:lstStyle/>
                    <a:p>
                      <a:r>
                        <a:rPr sz="800" b="0">
                          <a:solidFill>
                            <a:srgbClr val="1F2A44"/>
                          </a:solidFill>
                          <a:latin typeface="Calibri"/>
                        </a:rPr>
                        <a:t>High</a:t>
                      </a:r>
                    </a:p>
                  </a:txBody>
                  <a:tcPr marL="54864" marR="54864" marT="27432" marB="27432" anchor="ctr">
                    <a:solidFill>
                      <a:srgbClr val="FFFFFF"/>
                    </a:solidFill>
                  </a:tcPr>
                </a:tc>
                <a:tc>
                  <a:txBody>
                    <a:bodyPr/>
                    <a:lstStyle/>
                    <a:p>
                      <a:r>
                        <a:rPr sz="800" b="0">
                          <a:solidFill>
                            <a:srgbClr val="1F2A44"/>
                          </a:solidFill>
                          <a:latin typeface="Calibri"/>
                        </a:rPr>
                        <a:t>Cost Estimating / Sourcing</a:t>
                      </a:r>
                    </a:p>
                  </a:txBody>
                  <a:tcPr marL="54864" marR="54864" marT="27432" marB="27432" anchor="ctr">
                    <a:solidFill>
                      <a:srgbClr val="FFFFFF"/>
                    </a:solidFill>
                  </a:tcPr>
                </a:tc>
              </a:tr>
              <a:tr h="268941">
                <a:tc>
                  <a:txBody>
                    <a:bodyPr/>
                    <a:lstStyle/>
                    <a:p>
                      <a:r>
                        <a:rPr sz="800" b="1">
                          <a:solidFill>
                            <a:srgbClr val="FFFFFF"/>
                          </a:solidFill>
                          <a:latin typeface="Calibri"/>
                        </a:rPr>
                        <a:t>A2</a:t>
                      </a:r>
                    </a:p>
                  </a:txBody>
                  <a:tcPr marL="54864" marR="54864" marT="27432" marB="27432" anchor="ctr">
                    <a:solidFill>
                      <a:srgbClr val="2A8A8C"/>
                    </a:solidFill>
                  </a:tcPr>
                </a:tc>
                <a:tc>
                  <a:txBody>
                    <a:bodyPr/>
                    <a:lstStyle/>
                    <a:p>
                      <a:r>
                        <a:rPr sz="800" b="0">
                          <a:solidFill>
                            <a:srgbClr val="1F2A44"/>
                          </a:solidFill>
                          <a:latin typeface="Calibri"/>
                        </a:rPr>
                        <a:t>Risk register: labor-cost and material-cost lines overlap the escalation already in the directs</a:t>
                      </a:r>
                    </a:p>
                  </a:txBody>
                  <a:tcPr marL="54864" marR="54864" marT="27432" marB="27432" anchor="ctr">
                    <a:solidFill>
                      <a:srgbClr val="F2F4F8"/>
                    </a:solidFill>
                  </a:tcPr>
                </a:tc>
                <a:tc>
                  <a:txBody>
                    <a:bodyPr/>
                    <a:lstStyle/>
                    <a:p>
                      <a:r>
                        <a:rPr sz="800" b="0">
                          <a:solidFill>
                            <a:srgbClr val="1F2A44"/>
                          </a:solidFill>
                          <a:latin typeface="Calibri"/>
                        </a:rPr>
                        <a:t>J</a:t>
                      </a:r>
                    </a:p>
                  </a:txBody>
                  <a:tcPr marL="54864" marR="54864" marT="27432" marB="27432" anchor="ctr">
                    <a:solidFill>
                      <a:srgbClr val="F2F4F8"/>
                    </a:solidFill>
                  </a:tcPr>
                </a:tc>
                <a:tc>
                  <a:txBody>
                    <a:bodyPr/>
                    <a:lstStyle/>
                    <a:p>
                      <a:pPr algn="r"/>
                      <a:r>
                        <a:rPr sz="800" b="0">
                          <a:solidFill>
                            <a:srgbClr val="1F2A44"/>
                          </a:solidFill>
                          <a:latin typeface="Calibri"/>
                        </a:rPr>
                        <a:t>$1.3 to 1.8M</a:t>
                      </a:r>
                    </a:p>
                  </a:txBody>
                  <a:tcPr marL="54864" marR="54864" marT="27432" marB="27432" anchor="ctr">
                    <a:solidFill>
                      <a:srgbClr val="F2F4F8"/>
                    </a:solidFill>
                  </a:tcPr>
                </a:tc>
                <a:tc>
                  <a:txBody>
                    <a:bodyPr/>
                    <a:lstStyle/>
                    <a:p>
                      <a:pPr algn="r"/>
                      <a:r>
                        <a:rPr sz="800" b="0">
                          <a:solidFill>
                            <a:srgbClr val="1F2A44"/>
                          </a:solidFill>
                          <a:latin typeface="Calibri"/>
                        </a:rPr>
                        <a:t>$1.3 to 1.8M</a:t>
                      </a:r>
                    </a:p>
                  </a:txBody>
                  <a:tcPr marL="54864" marR="54864" marT="27432" marB="27432" anchor="ctr">
                    <a:solidFill>
                      <a:srgbClr val="F2F4F8"/>
                    </a:solidFill>
                  </a:tcPr>
                </a:tc>
                <a:tc>
                  <a:txBody>
                    <a:bodyPr/>
                    <a:lstStyle/>
                    <a:p>
                      <a:r>
                        <a:rPr sz="800" b="0">
                          <a:solidFill>
                            <a:srgbClr val="1F2A44"/>
                          </a:solidFill>
                          <a:latin typeface="Calibri"/>
                        </a:rPr>
                        <a:t>Medium</a:t>
                      </a:r>
                    </a:p>
                  </a:txBody>
                  <a:tcPr marL="54864" marR="54864" marT="27432" marB="27432" anchor="ctr">
                    <a:solidFill>
                      <a:srgbClr val="F2F4F8"/>
                    </a:solidFill>
                  </a:tcPr>
                </a:tc>
                <a:tc>
                  <a:txBody>
                    <a:bodyPr/>
                    <a:lstStyle/>
                    <a:p>
                      <a:r>
                        <a:rPr sz="800" b="0">
                          <a:solidFill>
                            <a:srgbClr val="1F2A44"/>
                          </a:solidFill>
                          <a:latin typeface="Calibri"/>
                        </a:rPr>
                        <a:t>Cost Estimating + PM</a:t>
                      </a:r>
                    </a:p>
                  </a:txBody>
                  <a:tcPr marL="54864" marR="54864" marT="27432" marB="27432" anchor="ctr">
                    <a:solidFill>
                      <a:srgbClr val="F2F4F8"/>
                    </a:solidFill>
                  </a:tcPr>
                </a:tc>
              </a:tr>
              <a:tr h="268941">
                <a:tc>
                  <a:txBody>
                    <a:bodyPr/>
                    <a:lstStyle/>
                    <a:p>
                      <a:r>
                        <a:rPr sz="800" b="1">
                          <a:solidFill>
                            <a:srgbClr val="FFFFFF"/>
                          </a:solidFill>
                          <a:latin typeface="Calibri"/>
                        </a:rPr>
                        <a:t>A3</a:t>
                      </a:r>
                    </a:p>
                  </a:txBody>
                  <a:tcPr marL="54864" marR="54864" marT="27432" marB="27432" anchor="ctr">
                    <a:solidFill>
                      <a:srgbClr val="2A8A8C"/>
                    </a:solidFill>
                  </a:tcPr>
                </a:tc>
                <a:tc>
                  <a:txBody>
                    <a:bodyPr/>
                    <a:lstStyle/>
                    <a:p>
                      <a:r>
                        <a:rPr sz="800" b="0">
                          <a:solidFill>
                            <a:srgbClr val="1F2A44"/>
                          </a:solidFill>
                          <a:latin typeface="Calibri"/>
                        </a:rPr>
                        <a:t>Confirm the four written design-basis items Haugland priced as deducts</a:t>
                      </a:r>
                    </a:p>
                  </a:txBody>
                  <a:tcPr marL="54864" marR="54864" marT="27432" marB="27432" anchor="ctr">
                    <a:solidFill>
                      <a:srgbClr val="FFFFFF"/>
                    </a:solidFill>
                  </a:tcPr>
                </a:tc>
                <a:tc>
                  <a:txBody>
                    <a:bodyPr/>
                    <a:lstStyle/>
                    <a:p>
                      <a:r>
                        <a:rPr sz="800" b="0">
                          <a:solidFill>
                            <a:srgbClr val="1F2A44"/>
                          </a:solidFill>
                          <a:latin typeface="Calibri"/>
                        </a:rPr>
                        <a:t>D/E</a:t>
                      </a:r>
                    </a:p>
                  </a:txBody>
                  <a:tcPr marL="54864" marR="54864" marT="27432" marB="27432" anchor="ctr">
                    <a:solidFill>
                      <a:srgbClr val="FFFFFF"/>
                    </a:solidFill>
                  </a:tcPr>
                </a:tc>
                <a:tc>
                  <a:txBody>
                    <a:bodyPr/>
                    <a:lstStyle/>
                    <a:p>
                      <a:pPr algn="r"/>
                      <a:r>
                        <a:rPr sz="800" b="0">
                          <a:solidFill>
                            <a:srgbClr val="1F2A44"/>
                          </a:solidFill>
                          <a:latin typeface="Calibri"/>
                        </a:rPr>
                        <a:t>$0.6 to 0.8M</a:t>
                      </a:r>
                    </a:p>
                  </a:txBody>
                  <a:tcPr marL="54864" marR="54864" marT="27432" marB="27432" anchor="ctr">
                    <a:solidFill>
                      <a:srgbClr val="FFFFFF"/>
                    </a:solidFill>
                  </a:tcPr>
                </a:tc>
                <a:tc>
                  <a:txBody>
                    <a:bodyPr/>
                    <a:lstStyle/>
                    <a:p>
                      <a:pPr algn="r"/>
                      <a:r>
                        <a:rPr sz="800" b="0">
                          <a:solidFill>
                            <a:srgbClr val="1F2A44"/>
                          </a:solidFill>
                          <a:latin typeface="Calibri"/>
                        </a:rPr>
                        <a:t>$0.9 to 1.2M</a:t>
                      </a:r>
                    </a:p>
                  </a:txBody>
                  <a:tcPr marL="54864" marR="54864" marT="27432" marB="27432" anchor="ctr">
                    <a:solidFill>
                      <a:srgbClr val="FFFFFF"/>
                    </a:solidFill>
                  </a:tcPr>
                </a:tc>
                <a:tc>
                  <a:txBody>
                    <a:bodyPr/>
                    <a:lstStyle/>
                    <a:p>
                      <a:r>
                        <a:rPr sz="800" b="0">
                          <a:solidFill>
                            <a:srgbClr val="1F2A44"/>
                          </a:solidFill>
                          <a:latin typeface="Calibri"/>
                        </a:rPr>
                        <a:t>Medium</a:t>
                      </a:r>
                    </a:p>
                  </a:txBody>
                  <a:tcPr marL="54864" marR="54864" marT="27432" marB="27432" anchor="ctr">
                    <a:solidFill>
                      <a:srgbClr val="FFFFFF"/>
                    </a:solidFill>
                  </a:tcPr>
                </a:tc>
                <a:tc>
                  <a:txBody>
                    <a:bodyPr/>
                    <a:lstStyle/>
                    <a:p>
                      <a:r>
                        <a:rPr sz="800" b="0">
                          <a:solidFill>
                            <a:srgbClr val="1F2A44"/>
                          </a:solidFill>
                          <a:latin typeface="Calibri"/>
                        </a:rPr>
                        <a:t>Substation Engineering</a:t>
                      </a:r>
                    </a:p>
                  </a:txBody>
                  <a:tcPr marL="54864" marR="54864" marT="27432" marB="27432" anchor="ctr">
                    <a:solidFill>
                      <a:srgbClr val="FFFFFF"/>
                    </a:solidFill>
                  </a:tcPr>
                </a:tc>
              </a:tr>
              <a:tr h="268941">
                <a:tc>
                  <a:txBody>
                    <a:bodyPr/>
                    <a:lstStyle/>
                    <a:p>
                      <a:r>
                        <a:rPr sz="800" b="1">
                          <a:solidFill>
                            <a:srgbClr val="FFFFFF"/>
                          </a:solidFill>
                          <a:latin typeface="Calibri"/>
                        </a:rPr>
                        <a:t>A4</a:t>
                      </a:r>
                    </a:p>
                  </a:txBody>
                  <a:tcPr marL="54864" marR="54864" marT="27432" marB="27432" anchor="ctr">
                    <a:solidFill>
                      <a:srgbClr val="2A8A8C"/>
                    </a:solidFill>
                  </a:tcPr>
                </a:tc>
                <a:tc>
                  <a:txBody>
                    <a:bodyPr/>
                    <a:lstStyle/>
                    <a:p>
                      <a:r>
                        <a:rPr sz="800" b="0">
                          <a:solidFill>
                            <a:srgbClr val="1F2A44"/>
                          </a:solidFill>
                          <a:latin typeface="Calibri"/>
                        </a:rPr>
                        <a:t>Engineering &amp; supervision overhead basis applied to the vendor turnkey contract</a:t>
                      </a:r>
                    </a:p>
                  </a:txBody>
                  <a:tcPr marL="54864" marR="54864" marT="27432" marB="27432" anchor="ctr">
                    <a:solidFill>
                      <a:srgbClr val="F2F4F8"/>
                    </a:solidFill>
                  </a:tcPr>
                </a:tc>
                <a:tc>
                  <a:txBody>
                    <a:bodyPr/>
                    <a:lstStyle/>
                    <a:p>
                      <a:r>
                        <a:rPr sz="800" b="0">
                          <a:solidFill>
                            <a:srgbClr val="1F2A44"/>
                          </a:solidFill>
                          <a:latin typeface="Calibri"/>
                        </a:rPr>
                        <a:t>L</a:t>
                      </a:r>
                    </a:p>
                  </a:txBody>
                  <a:tcPr marL="54864" marR="54864" marT="27432" marB="27432" anchor="ctr">
                    <a:solidFill>
                      <a:srgbClr val="F2F4F8"/>
                    </a:solidFill>
                  </a:tcPr>
                </a:tc>
                <a:tc>
                  <a:txBody>
                    <a:bodyPr/>
                    <a:lstStyle/>
                    <a:p>
                      <a:pPr algn="r"/>
                      <a:r>
                        <a:rPr sz="800" b="0">
                          <a:solidFill>
                            <a:srgbClr val="1F2A44"/>
                          </a:solidFill>
                          <a:latin typeface="Calibri"/>
                        </a:rPr>
                        <a:t>$1.0 to 2.1M</a:t>
                      </a:r>
                    </a:p>
                  </a:txBody>
                  <a:tcPr marL="54864" marR="54864" marT="27432" marB="27432" anchor="ctr">
                    <a:solidFill>
                      <a:srgbClr val="F2F4F8"/>
                    </a:solidFill>
                  </a:tcPr>
                </a:tc>
                <a:tc>
                  <a:txBody>
                    <a:bodyPr/>
                    <a:lstStyle/>
                    <a:p>
                      <a:pPr algn="r"/>
                      <a:r>
                        <a:rPr sz="800" b="0">
                          <a:solidFill>
                            <a:srgbClr val="1F2A44"/>
                          </a:solidFill>
                          <a:latin typeface="Calibri"/>
                        </a:rPr>
                        <a:t>$1.0 to 2.1M</a:t>
                      </a:r>
                    </a:p>
                  </a:txBody>
                  <a:tcPr marL="54864" marR="54864" marT="27432" marB="27432" anchor="ctr">
                    <a:solidFill>
                      <a:srgbClr val="F2F4F8"/>
                    </a:solidFill>
                  </a:tcPr>
                </a:tc>
                <a:tc>
                  <a:txBody>
                    <a:bodyPr/>
                    <a:lstStyle/>
                    <a:p>
                      <a:r>
                        <a:rPr sz="800" b="0">
                          <a:solidFill>
                            <a:srgbClr val="1F2A44"/>
                          </a:solidFill>
                          <a:latin typeface="Calibri"/>
                        </a:rPr>
                        <a:t>Low</a:t>
                      </a:r>
                    </a:p>
                  </a:txBody>
                  <a:tcPr marL="54864" marR="54864" marT="27432" marB="27432" anchor="ctr">
                    <a:solidFill>
                      <a:srgbClr val="F2F4F8"/>
                    </a:solidFill>
                  </a:tcPr>
                </a:tc>
                <a:tc>
                  <a:txBody>
                    <a:bodyPr/>
                    <a:lstStyle/>
                    <a:p>
                      <a:r>
                        <a:rPr sz="800" b="0">
                          <a:solidFill>
                            <a:srgbClr val="1F2A44"/>
                          </a:solidFill>
                          <a:latin typeface="Calibri"/>
                        </a:rPr>
                        <a:t>Accounting / Cost Estimating</a:t>
                      </a:r>
                    </a:p>
                  </a:txBody>
                  <a:tcPr marL="54864" marR="54864" marT="27432" marB="27432" anchor="ctr">
                    <a:solidFill>
                      <a:srgbClr val="F2F4F8"/>
                    </a:solidFill>
                  </a:tcPr>
                </a:tc>
              </a:tr>
              <a:tr h="268941">
                <a:tc>
                  <a:txBody>
                    <a:bodyPr/>
                    <a:lstStyle/>
                    <a:p>
                      <a:r>
                        <a:rPr sz="800" b="1">
                          <a:solidFill>
                            <a:srgbClr val="FFFFFF"/>
                          </a:solidFill>
                          <a:latin typeface="Calibri"/>
                        </a:rPr>
                        <a:t>A5</a:t>
                      </a:r>
                    </a:p>
                  </a:txBody>
                  <a:tcPr marL="54864" marR="54864" marT="27432" marB="27432" anchor="ctr">
                    <a:solidFill>
                      <a:srgbClr val="2A8A8C"/>
                    </a:solidFill>
                  </a:tcPr>
                </a:tc>
                <a:tc>
                  <a:txBody>
                    <a:bodyPr/>
                    <a:lstStyle/>
                    <a:p>
                      <a:r>
                        <a:rPr sz="800" b="0">
                          <a:solidFill>
                            <a:srgbClr val="1F2A44"/>
                          </a:solidFill>
                          <a:latin typeface="Calibri"/>
                        </a:rPr>
                        <a:t>Commissioning hours carried from E-23-373 overlap Nomad's commissioning support</a:t>
                      </a:r>
                    </a:p>
                  </a:txBody>
                  <a:tcPr marL="54864" marR="54864" marT="27432" marB="27432" anchor="ctr">
                    <a:solidFill>
                      <a:srgbClr val="FFFFFF"/>
                    </a:solidFill>
                  </a:tcPr>
                </a:tc>
                <a:tc>
                  <a:txBody>
                    <a:bodyPr/>
                    <a:lstStyle/>
                    <a:p>
                      <a:r>
                        <a:rPr sz="800" b="0">
                          <a:solidFill>
                            <a:srgbClr val="1F2A44"/>
                          </a:solidFill>
                          <a:latin typeface="Calibri"/>
                        </a:rPr>
                        <a:t>G</a:t>
                      </a:r>
                    </a:p>
                  </a:txBody>
                  <a:tcPr marL="54864" marR="54864" marT="27432" marB="27432" anchor="ctr">
                    <a:solidFill>
                      <a:srgbClr val="FFFFFF"/>
                    </a:solidFill>
                  </a:tcPr>
                </a:tc>
                <a:tc>
                  <a:txBody>
                    <a:bodyPr/>
                    <a:lstStyle/>
                    <a:p>
                      <a:pPr algn="r"/>
                      <a:r>
                        <a:rPr sz="800" b="0">
                          <a:solidFill>
                            <a:srgbClr val="1F2A44"/>
                          </a:solidFill>
                          <a:latin typeface="Calibri"/>
                        </a:rPr>
                        <a:t>$0.1 to 0.3M</a:t>
                      </a:r>
                    </a:p>
                  </a:txBody>
                  <a:tcPr marL="54864" marR="54864" marT="27432" marB="27432" anchor="ctr">
                    <a:solidFill>
                      <a:srgbClr val="FFFFFF"/>
                    </a:solidFill>
                  </a:tcPr>
                </a:tc>
                <a:tc>
                  <a:txBody>
                    <a:bodyPr/>
                    <a:lstStyle/>
                    <a:p>
                      <a:pPr algn="r"/>
                      <a:r>
                        <a:rPr sz="800" b="0">
                          <a:solidFill>
                            <a:srgbClr val="1F2A44"/>
                          </a:solidFill>
                          <a:latin typeface="Calibri"/>
                        </a:rPr>
                        <a:t>$0.2 to 0.5M</a:t>
                      </a:r>
                    </a:p>
                  </a:txBody>
                  <a:tcPr marL="54864" marR="54864" marT="27432" marB="27432" anchor="ctr">
                    <a:solidFill>
                      <a:srgbClr val="FFFFFF"/>
                    </a:solidFill>
                  </a:tcPr>
                </a:tc>
                <a:tc>
                  <a:txBody>
                    <a:bodyPr/>
                    <a:lstStyle/>
                    <a:p>
                      <a:r>
                        <a:rPr sz="800" b="0">
                          <a:solidFill>
                            <a:srgbClr val="1F2A44"/>
                          </a:solidFill>
                          <a:latin typeface="Calibri"/>
                        </a:rPr>
                        <a:t>Low</a:t>
                      </a:r>
                    </a:p>
                  </a:txBody>
                  <a:tcPr marL="54864" marR="54864" marT="27432" marB="27432" anchor="ctr">
                    <a:solidFill>
                      <a:srgbClr val="FFFFFF"/>
                    </a:solidFill>
                  </a:tcPr>
                </a:tc>
                <a:tc>
                  <a:txBody>
                    <a:bodyPr/>
                    <a:lstStyle/>
                    <a:p>
                      <a:r>
                        <a:rPr sz="800" b="0">
                          <a:solidFill>
                            <a:srgbClr val="1F2A44"/>
                          </a:solidFill>
                          <a:latin typeface="Calibri"/>
                        </a:rPr>
                        <a:t>Capital Projects Eng. + Nomad</a:t>
                      </a:r>
                    </a:p>
                  </a:txBody>
                  <a:tcPr marL="54864" marR="54864" marT="27432" marB="27432" anchor="ctr">
                    <a:solidFill>
                      <a:srgbClr val="FFFFFF"/>
                    </a:solidFill>
                  </a:tcPr>
                </a:tc>
              </a:tr>
              <a:tr h="268941">
                <a:tc>
                  <a:txBody>
                    <a:bodyPr/>
                    <a:lstStyle/>
                    <a:p>
                      <a:r>
                        <a:rPr sz="800" b="1">
                          <a:solidFill>
                            <a:srgbClr val="FFFFFF"/>
                          </a:solidFill>
                          <a:latin typeface="Calibri"/>
                        </a:rPr>
                        <a:t>B1</a:t>
                      </a:r>
                    </a:p>
                  </a:txBody>
                  <a:tcPr marL="54864" marR="54864" marT="27432" marB="27432" anchor="ctr">
                    <a:solidFill>
                      <a:srgbClr val="001E60"/>
                    </a:solidFill>
                  </a:tcPr>
                </a:tc>
                <a:tc>
                  <a:txBody>
                    <a:bodyPr/>
                    <a:lstStyle/>
                    <a:p>
                      <a:r>
                        <a:rPr sz="800" b="0">
                          <a:solidFill>
                            <a:srgbClr val="1F2A44"/>
                          </a:solidFill>
                          <a:latin typeface="Calibri"/>
                        </a:rPr>
                        <a:t>Station 496: relay program out; RTU, RTAC and transfer trip only (Engineering, 5 Oct 2026)</a:t>
                      </a:r>
                    </a:p>
                  </a:txBody>
                  <a:tcPr marL="54864" marR="54864" marT="27432" marB="27432" anchor="ctr">
                    <a:solidFill>
                      <a:srgbClr val="F2F4F8"/>
                    </a:solidFill>
                  </a:tcPr>
                </a:tc>
                <a:tc>
                  <a:txBody>
                    <a:bodyPr/>
                    <a:lstStyle/>
                    <a:p>
                      <a:r>
                        <a:rPr sz="800" b="0">
                          <a:solidFill>
                            <a:srgbClr val="1F2A44"/>
                          </a:solidFill>
                          <a:latin typeface="Calibri"/>
                        </a:rPr>
                        <a:t>F</a:t>
                      </a:r>
                    </a:p>
                  </a:txBody>
                  <a:tcPr marL="54864" marR="54864" marT="27432" marB="27432" anchor="ctr">
                    <a:solidFill>
                      <a:srgbClr val="F2F4F8"/>
                    </a:solidFill>
                  </a:tcPr>
                </a:tc>
                <a:tc>
                  <a:txBody>
                    <a:bodyPr/>
                    <a:lstStyle/>
                    <a:p>
                      <a:pPr algn="r"/>
                      <a:r>
                        <a:rPr sz="800" b="0">
                          <a:solidFill>
                            <a:srgbClr val="1F2A44"/>
                          </a:solidFill>
                          <a:latin typeface="Calibri"/>
                        </a:rPr>
                        <a:t>$6.1 to 6.6M</a:t>
                      </a:r>
                    </a:p>
                  </a:txBody>
                  <a:tcPr marL="54864" marR="54864" marT="27432" marB="27432" anchor="ctr">
                    <a:solidFill>
                      <a:srgbClr val="F2F4F8"/>
                    </a:solidFill>
                  </a:tcPr>
                </a:tc>
                <a:tc>
                  <a:txBody>
                    <a:bodyPr/>
                    <a:lstStyle/>
                    <a:p>
                      <a:pPr algn="r"/>
                      <a:r>
                        <a:rPr sz="800" b="0">
                          <a:solidFill>
                            <a:srgbClr val="1F2A44"/>
                          </a:solidFill>
                          <a:latin typeface="Calibri"/>
                        </a:rPr>
                        <a:t>$6.1 to 6.6M</a:t>
                      </a:r>
                    </a:p>
                  </a:txBody>
                  <a:tcPr marL="54864" marR="54864" marT="27432" marB="27432" anchor="ctr">
                    <a:solidFill>
                      <a:srgbClr val="F2F4F8"/>
                    </a:solidFill>
                  </a:tcPr>
                </a:tc>
                <a:tc>
                  <a:txBody>
                    <a:bodyPr/>
                    <a:lstStyle/>
                    <a:p>
                      <a:r>
                        <a:rPr sz="800" b="0">
                          <a:solidFill>
                            <a:srgbClr val="1F2A44"/>
                          </a:solidFill>
                          <a:latin typeface="Calibri"/>
                        </a:rPr>
                        <a:t>Medium</a:t>
                      </a:r>
                    </a:p>
                  </a:txBody>
                  <a:tcPr marL="54864" marR="54864" marT="27432" marB="27432" anchor="ctr">
                    <a:solidFill>
                      <a:srgbClr val="F2F4F8"/>
                    </a:solidFill>
                  </a:tcPr>
                </a:tc>
                <a:tc>
                  <a:txBody>
                    <a:bodyPr/>
                    <a:lstStyle/>
                    <a:p>
                      <a:r>
                        <a:rPr sz="800" b="0">
                          <a:solidFill>
                            <a:srgbClr val="1F2A44"/>
                          </a:solidFill>
                          <a:latin typeface="Calibri"/>
                        </a:rPr>
                        <a:t>P&amp;C Engineering + System Protection</a:t>
                      </a:r>
                    </a:p>
                  </a:txBody>
                  <a:tcPr marL="54864" marR="54864" marT="27432" marB="27432" anchor="ctr">
                    <a:solidFill>
                      <a:srgbClr val="F2F4F8"/>
                    </a:solidFill>
                  </a:tcPr>
                </a:tc>
              </a:tr>
              <a:tr h="268941">
                <a:tc>
                  <a:txBody>
                    <a:bodyPr/>
                    <a:lstStyle/>
                    <a:p>
                      <a:r>
                        <a:rPr sz="800" b="1">
                          <a:solidFill>
                            <a:srgbClr val="FFFFFF"/>
                          </a:solidFill>
                          <a:latin typeface="Calibri"/>
                        </a:rPr>
                        <a:t>B2</a:t>
                      </a:r>
                    </a:p>
                  </a:txBody>
                  <a:tcPr marL="54864" marR="54864" marT="27432" marB="27432" anchor="ctr">
                    <a:solidFill>
                      <a:srgbClr val="001E60"/>
                    </a:solidFill>
                  </a:tcPr>
                </a:tc>
                <a:tc>
                  <a:txBody>
                    <a:bodyPr/>
                    <a:lstStyle/>
                    <a:p>
                      <a:r>
                        <a:rPr sz="800" b="0">
                          <a:solidFill>
                            <a:srgbClr val="1F2A44"/>
                          </a:solidFill>
                          <a:latin typeface="Calibri"/>
                        </a:rPr>
                        <a:t>Two feeders instead of four: two skids, two metering sets, two duct-bank runs (Engineering, 5 Oct 2026)</a:t>
                      </a:r>
                    </a:p>
                  </a:txBody>
                  <a:tcPr marL="54864" marR="54864" marT="27432" marB="27432" anchor="ctr">
                    <a:solidFill>
                      <a:srgbClr val="FFFFFF"/>
                    </a:solidFill>
                  </a:tcPr>
                </a:tc>
                <a:tc>
                  <a:txBody>
                    <a:bodyPr/>
                    <a:lstStyle/>
                    <a:p>
                      <a:r>
                        <a:rPr sz="800" b="0">
                          <a:solidFill>
                            <a:srgbClr val="1F2A44"/>
                          </a:solidFill>
                          <a:latin typeface="Calibri"/>
                        </a:rPr>
                        <a:t>C/D</a:t>
                      </a:r>
                    </a:p>
                  </a:txBody>
                  <a:tcPr marL="54864" marR="54864" marT="27432" marB="27432" anchor="ctr">
                    <a:solidFill>
                      <a:srgbClr val="FFFFFF"/>
                    </a:solidFill>
                  </a:tcPr>
                </a:tc>
                <a:tc>
                  <a:txBody>
                    <a:bodyPr/>
                    <a:lstStyle/>
                    <a:p>
                      <a:pPr algn="r"/>
                      <a:r>
                        <a:rPr sz="800" b="0">
                          <a:solidFill>
                            <a:srgbClr val="1F2A44"/>
                          </a:solidFill>
                          <a:latin typeface="Calibri"/>
                        </a:rPr>
                        <a:t>$1.0 to 1.2M</a:t>
                      </a:r>
                    </a:p>
                  </a:txBody>
                  <a:tcPr marL="54864" marR="54864" marT="27432" marB="27432" anchor="ctr">
                    <a:solidFill>
                      <a:srgbClr val="FFFFFF"/>
                    </a:solidFill>
                  </a:tcPr>
                </a:tc>
                <a:tc>
                  <a:txBody>
                    <a:bodyPr/>
                    <a:lstStyle/>
                    <a:p>
                      <a:pPr algn="r"/>
                      <a:r>
                        <a:rPr sz="800" b="0">
                          <a:solidFill>
                            <a:srgbClr val="1F2A44"/>
                          </a:solidFill>
                          <a:latin typeface="Calibri"/>
                        </a:rPr>
                        <a:t>$1.5 to 1.7M</a:t>
                      </a:r>
                    </a:p>
                  </a:txBody>
                  <a:tcPr marL="54864" marR="54864" marT="27432" marB="27432" anchor="ctr">
                    <a:solidFill>
                      <a:srgbClr val="FFFFFF"/>
                    </a:solidFill>
                  </a:tcPr>
                </a:tc>
                <a:tc>
                  <a:txBody>
                    <a:bodyPr/>
                    <a:lstStyle/>
                    <a:p>
                      <a:r>
                        <a:rPr sz="800" b="0">
                          <a:solidFill>
                            <a:srgbClr val="1F2A44"/>
                          </a:solidFill>
                          <a:latin typeface="Calibri"/>
                        </a:rPr>
                        <a:t>Medium</a:t>
                      </a:r>
                    </a:p>
                  </a:txBody>
                  <a:tcPr marL="54864" marR="54864" marT="27432" marB="27432" anchor="ctr">
                    <a:solidFill>
                      <a:srgbClr val="FFFFFF"/>
                    </a:solidFill>
                  </a:tcPr>
                </a:tc>
                <a:tc>
                  <a:txBody>
                    <a:bodyPr/>
                    <a:lstStyle/>
                    <a:p>
                      <a:r>
                        <a:rPr sz="800" b="0">
                          <a:solidFill>
                            <a:srgbClr val="1F2A44"/>
                          </a:solidFill>
                          <a:latin typeface="Calibri"/>
                        </a:rPr>
                        <a:t>System Planning + Substation Eng.</a:t>
                      </a:r>
                    </a:p>
                  </a:txBody>
                  <a:tcPr marL="54864" marR="54864" marT="27432" marB="27432" anchor="ctr">
                    <a:solidFill>
                      <a:srgbClr val="FFFFFF"/>
                    </a:solidFill>
                  </a:tcPr>
                </a:tc>
              </a:tr>
              <a:tr h="268941">
                <a:tc>
                  <a:txBody>
                    <a:bodyPr/>
                    <a:lstStyle/>
                    <a:p>
                      <a:r>
                        <a:rPr sz="800" b="1">
                          <a:solidFill>
                            <a:srgbClr val="FFFFFF"/>
                          </a:solidFill>
                          <a:latin typeface="Calibri"/>
                        </a:rPr>
                        <a:t>B3</a:t>
                      </a:r>
                    </a:p>
                  </a:txBody>
                  <a:tcPr marL="54864" marR="54864" marT="27432" marB="27432" anchor="ctr">
                    <a:solidFill>
                      <a:srgbClr val="001E60"/>
                    </a:solidFill>
                  </a:tcPr>
                </a:tc>
                <a:tc>
                  <a:txBody>
                    <a:bodyPr/>
                    <a:lstStyle/>
                    <a:p>
                      <a:r>
                        <a:rPr sz="800" b="0">
                          <a:solidFill>
                            <a:srgbClr val="1F2A44"/>
                          </a:solidFill>
                          <a:latin typeface="Calibri"/>
                        </a:rPr>
                        <a:t>Platform and retaining wall sized after geotech, not before</a:t>
                      </a:r>
                    </a:p>
                  </a:txBody>
                  <a:tcPr marL="54864" marR="54864" marT="27432" marB="27432" anchor="ctr">
                    <a:solidFill>
                      <a:srgbClr val="F2F4F8"/>
                    </a:solidFill>
                  </a:tcPr>
                </a:tc>
                <a:tc>
                  <a:txBody>
                    <a:bodyPr/>
                    <a:lstStyle/>
                    <a:p>
                      <a:r>
                        <a:rPr sz="800" b="0">
                          <a:solidFill>
                            <a:srgbClr val="1F2A44"/>
                          </a:solidFill>
                          <a:latin typeface="Calibri"/>
                        </a:rPr>
                        <a:t>E</a:t>
                      </a:r>
                    </a:p>
                  </a:txBody>
                  <a:tcPr marL="54864" marR="54864" marT="27432" marB="27432" anchor="ctr">
                    <a:solidFill>
                      <a:srgbClr val="F2F4F8"/>
                    </a:solidFill>
                  </a:tcPr>
                </a:tc>
                <a:tc>
                  <a:txBody>
                    <a:bodyPr/>
                    <a:lstStyle/>
                    <a:p>
                      <a:pPr algn="r"/>
                      <a:r>
                        <a:rPr sz="800" b="0">
                          <a:solidFill>
                            <a:srgbClr val="1F2A44"/>
                          </a:solidFill>
                          <a:latin typeface="Calibri"/>
                        </a:rPr>
                        <a:t>$0.3 to 0.8M</a:t>
                      </a:r>
                    </a:p>
                  </a:txBody>
                  <a:tcPr marL="54864" marR="54864" marT="27432" marB="27432" anchor="ctr">
                    <a:solidFill>
                      <a:srgbClr val="F2F4F8"/>
                    </a:solidFill>
                  </a:tcPr>
                </a:tc>
                <a:tc>
                  <a:txBody>
                    <a:bodyPr/>
                    <a:lstStyle/>
                    <a:p>
                      <a:pPr algn="r"/>
                      <a:r>
                        <a:rPr sz="800" b="0">
                          <a:solidFill>
                            <a:srgbClr val="1F2A44"/>
                          </a:solidFill>
                          <a:latin typeface="Calibri"/>
                        </a:rPr>
                        <a:t>$0.4 to 1.2M</a:t>
                      </a:r>
                    </a:p>
                  </a:txBody>
                  <a:tcPr marL="54864" marR="54864" marT="27432" marB="27432" anchor="ctr">
                    <a:solidFill>
                      <a:srgbClr val="F2F4F8"/>
                    </a:solidFill>
                  </a:tcPr>
                </a:tc>
                <a:tc>
                  <a:txBody>
                    <a:bodyPr/>
                    <a:lstStyle/>
                    <a:p>
                      <a:r>
                        <a:rPr sz="800" b="0">
                          <a:solidFill>
                            <a:srgbClr val="1F2A44"/>
                          </a:solidFill>
                          <a:latin typeface="Calibri"/>
                        </a:rPr>
                        <a:t>Low</a:t>
                      </a:r>
                    </a:p>
                  </a:txBody>
                  <a:tcPr marL="54864" marR="54864" marT="27432" marB="27432" anchor="ctr">
                    <a:solidFill>
                      <a:srgbClr val="F2F4F8"/>
                    </a:solidFill>
                  </a:tcPr>
                </a:tc>
                <a:tc>
                  <a:txBody>
                    <a:bodyPr/>
                    <a:lstStyle/>
                    <a:p>
                      <a:r>
                        <a:rPr sz="800" b="0">
                          <a:solidFill>
                            <a:srgbClr val="1F2A44"/>
                          </a:solidFill>
                          <a:latin typeface="Calibri"/>
                        </a:rPr>
                        <a:t>Civil + Capital Projects Eng.</a:t>
                      </a:r>
                    </a:p>
                  </a:txBody>
                  <a:tcPr marL="54864" marR="54864" marT="27432" marB="27432" anchor="ctr">
                    <a:solidFill>
                      <a:srgbClr val="F2F4F8"/>
                    </a:solidFill>
                  </a:tcPr>
                </a:tc>
              </a:tr>
              <a:tr h="268941">
                <a:tc>
                  <a:txBody>
                    <a:bodyPr/>
                    <a:lstStyle/>
                    <a:p>
                      <a:r>
                        <a:rPr sz="800" b="1">
                          <a:solidFill>
                            <a:srgbClr val="FFFFFF"/>
                          </a:solidFill>
                          <a:latin typeface="Calibri"/>
                        </a:rPr>
                        <a:t>B4</a:t>
                      </a:r>
                    </a:p>
                  </a:txBody>
                  <a:tcPr marL="54864" marR="54864" marT="27432" marB="27432" anchor="ctr">
                    <a:solidFill>
                      <a:srgbClr val="001E60"/>
                    </a:solidFill>
                  </a:tcPr>
                </a:tc>
                <a:tc>
                  <a:txBody>
                    <a:bodyPr/>
                    <a:lstStyle/>
                    <a:p>
                      <a:r>
                        <a:rPr sz="800" b="0">
                          <a:solidFill>
                            <a:srgbClr val="1F2A44"/>
                          </a:solidFill>
                          <a:latin typeface="Calibri"/>
                        </a:rPr>
                        <a:t>Battery installation labor from a crew build-up instead of 25% of a 2023 total; fire suppression bought twice?</a:t>
                      </a:r>
                    </a:p>
                  </a:txBody>
                  <a:tcPr marL="54864" marR="54864" marT="27432" marB="27432" anchor="ctr">
                    <a:solidFill>
                      <a:srgbClr val="FFFFFF"/>
                    </a:solidFill>
                  </a:tcPr>
                </a:tc>
                <a:tc>
                  <a:txBody>
                    <a:bodyPr/>
                    <a:lstStyle/>
                    <a:p>
                      <a:r>
                        <a:rPr sz="800" b="0">
                          <a:solidFill>
                            <a:srgbClr val="1F2A44"/>
                          </a:solidFill>
                          <a:latin typeface="Calibri"/>
                        </a:rPr>
                        <a:t>B</a:t>
                      </a:r>
                    </a:p>
                  </a:txBody>
                  <a:tcPr marL="54864" marR="54864" marT="27432" marB="27432" anchor="ctr">
                    <a:solidFill>
                      <a:srgbClr val="FFFFFF"/>
                    </a:solidFill>
                  </a:tcPr>
                </a:tc>
                <a:tc>
                  <a:txBody>
                    <a:bodyPr/>
                    <a:lstStyle/>
                    <a:p>
                      <a:pPr algn="r"/>
                      <a:r>
                        <a:rPr sz="800" b="0">
                          <a:solidFill>
                            <a:srgbClr val="1F2A44"/>
                          </a:solidFill>
                          <a:latin typeface="Calibri"/>
                        </a:rPr>
                        <a:t>$0.5 to 0.7M</a:t>
                      </a:r>
                    </a:p>
                  </a:txBody>
                  <a:tcPr marL="54864" marR="54864" marT="27432" marB="27432" anchor="ctr">
                    <a:solidFill>
                      <a:srgbClr val="FFFFFF"/>
                    </a:solidFill>
                  </a:tcPr>
                </a:tc>
                <a:tc>
                  <a:txBody>
                    <a:bodyPr/>
                    <a:lstStyle/>
                    <a:p>
                      <a:pPr algn="r"/>
                      <a:r>
                        <a:rPr sz="800" b="0">
                          <a:solidFill>
                            <a:srgbClr val="1F2A44"/>
                          </a:solidFill>
                          <a:latin typeface="Calibri"/>
                        </a:rPr>
                        <a:t>$0.7 to 1.1M</a:t>
                      </a:r>
                    </a:p>
                  </a:txBody>
                  <a:tcPr marL="54864" marR="54864" marT="27432" marB="27432" anchor="ctr">
                    <a:solidFill>
                      <a:srgbClr val="FFFFFF"/>
                    </a:solidFill>
                  </a:tcPr>
                </a:tc>
                <a:tc>
                  <a:txBody>
                    <a:bodyPr/>
                    <a:lstStyle/>
                    <a:p>
                      <a:r>
                        <a:rPr sz="800" b="0">
                          <a:solidFill>
                            <a:srgbClr val="1F2A44"/>
                          </a:solidFill>
                          <a:latin typeface="Calibri"/>
                        </a:rPr>
                        <a:t>Medium</a:t>
                      </a:r>
                    </a:p>
                  </a:txBody>
                  <a:tcPr marL="54864" marR="54864" marT="27432" marB="27432" anchor="ctr">
                    <a:solidFill>
                      <a:srgbClr val="FFFFFF"/>
                    </a:solidFill>
                  </a:tcPr>
                </a:tc>
                <a:tc>
                  <a:txBody>
                    <a:bodyPr/>
                    <a:lstStyle/>
                    <a:p>
                      <a:r>
                        <a:rPr sz="800" b="0">
                          <a:solidFill>
                            <a:srgbClr val="1F2A44"/>
                          </a:solidFill>
                          <a:latin typeface="Calibri"/>
                        </a:rPr>
                        <a:t>Cost Estimating + Nomad + HEG</a:t>
                      </a:r>
                    </a:p>
                  </a:txBody>
                  <a:tcPr marL="54864" marR="54864" marT="27432" marB="27432" anchor="ctr">
                    <a:solidFill>
                      <a:srgbClr val="FFFFFF"/>
                    </a:solidFill>
                  </a:tcPr>
                </a:tc>
              </a:tr>
              <a:tr h="268941">
                <a:tc>
                  <a:txBody>
                    <a:bodyPr/>
                    <a:lstStyle/>
                    <a:p>
                      <a:r>
                        <a:rPr sz="800" b="1">
                          <a:solidFill>
                            <a:srgbClr val="FFFFFF"/>
                          </a:solidFill>
                          <a:latin typeface="Calibri"/>
                        </a:rPr>
                        <a:t>B5</a:t>
                      </a:r>
                    </a:p>
                  </a:txBody>
                  <a:tcPr marL="54864" marR="54864" marT="27432" marB="27432" anchor="ctr">
                    <a:solidFill>
                      <a:srgbClr val="001E60"/>
                    </a:solidFill>
                  </a:tcPr>
                </a:tc>
                <a:tc>
                  <a:txBody>
                    <a:bodyPr/>
                    <a:lstStyle/>
                    <a:p>
                      <a:r>
                        <a:rPr sz="800" b="0">
                          <a:solidFill>
                            <a:srgbClr val="1F2A44"/>
                          </a:solidFill>
                          <a:latin typeface="Calibri"/>
                        </a:rPr>
                        <a:t>Disconnect switches and PT cutouts priced as separate lines although the Siemens skids carry them</a:t>
                      </a:r>
                    </a:p>
                  </a:txBody>
                  <a:tcPr marL="54864" marR="54864" marT="27432" marB="27432" anchor="ctr">
                    <a:solidFill>
                      <a:srgbClr val="F2F4F8"/>
                    </a:solidFill>
                  </a:tcPr>
                </a:tc>
                <a:tc>
                  <a:txBody>
                    <a:bodyPr/>
                    <a:lstStyle/>
                    <a:p>
                      <a:r>
                        <a:rPr sz="800" b="0">
                          <a:solidFill>
                            <a:srgbClr val="1F2A44"/>
                          </a:solidFill>
                          <a:latin typeface="Calibri"/>
                        </a:rPr>
                        <a:t>D</a:t>
                      </a:r>
                    </a:p>
                  </a:txBody>
                  <a:tcPr marL="54864" marR="54864" marT="27432" marB="27432" anchor="ctr">
                    <a:solidFill>
                      <a:srgbClr val="F2F4F8"/>
                    </a:solidFill>
                  </a:tcPr>
                </a:tc>
                <a:tc>
                  <a:txBody>
                    <a:bodyPr/>
                    <a:lstStyle/>
                    <a:p>
                      <a:pPr algn="r"/>
                      <a:r>
                        <a:rPr sz="800" b="0">
                          <a:solidFill>
                            <a:srgbClr val="1F2A44"/>
                          </a:solidFill>
                          <a:latin typeface="Calibri"/>
                        </a:rPr>
                        <a:t>$0.3M</a:t>
                      </a:r>
                    </a:p>
                  </a:txBody>
                  <a:tcPr marL="54864" marR="54864" marT="27432" marB="27432" anchor="ctr">
                    <a:solidFill>
                      <a:srgbClr val="F2F4F8"/>
                    </a:solidFill>
                  </a:tcPr>
                </a:tc>
                <a:tc>
                  <a:txBody>
                    <a:bodyPr/>
                    <a:lstStyle/>
                    <a:p>
                      <a:pPr algn="r"/>
                      <a:r>
                        <a:rPr sz="800" b="0">
                          <a:solidFill>
                            <a:srgbClr val="1F2A44"/>
                          </a:solidFill>
                          <a:latin typeface="Calibri"/>
                        </a:rPr>
                        <a:t>$0.4M</a:t>
                      </a:r>
                    </a:p>
                  </a:txBody>
                  <a:tcPr marL="54864" marR="54864" marT="27432" marB="27432" anchor="ctr">
                    <a:solidFill>
                      <a:srgbClr val="F2F4F8"/>
                    </a:solidFill>
                  </a:tcPr>
                </a:tc>
                <a:tc>
                  <a:txBody>
                    <a:bodyPr/>
                    <a:lstStyle/>
                    <a:p>
                      <a:r>
                        <a:rPr sz="800" b="0">
                          <a:solidFill>
                            <a:srgbClr val="1F2A44"/>
                          </a:solidFill>
                          <a:latin typeface="Calibri"/>
                        </a:rPr>
                        <a:t>High</a:t>
                      </a:r>
                    </a:p>
                  </a:txBody>
                  <a:tcPr marL="54864" marR="54864" marT="27432" marB="27432" anchor="ctr">
                    <a:solidFill>
                      <a:srgbClr val="F2F4F8"/>
                    </a:solidFill>
                  </a:tcPr>
                </a:tc>
                <a:tc>
                  <a:txBody>
                    <a:bodyPr/>
                    <a:lstStyle/>
                    <a:p>
                      <a:r>
                        <a:rPr sz="800" b="0">
                          <a:solidFill>
                            <a:srgbClr val="1F2A44"/>
                          </a:solidFill>
                          <a:latin typeface="Calibri"/>
                        </a:rPr>
                        <a:t>Substation Eng. + Cost Estimating</a:t>
                      </a:r>
                    </a:p>
                  </a:txBody>
                  <a:tcPr marL="54864" marR="54864" marT="27432" marB="27432" anchor="ctr">
                    <a:solidFill>
                      <a:srgbClr val="F2F4F8"/>
                    </a:solidFill>
                  </a:tcPr>
                </a:tc>
              </a:tr>
              <a:tr h="268941">
                <a:tc>
                  <a:txBody>
                    <a:bodyPr/>
                    <a:lstStyle/>
                    <a:p>
                      <a:r>
                        <a:rPr sz="800" b="1">
                          <a:solidFill>
                            <a:srgbClr val="FFFFFF"/>
                          </a:solidFill>
                          <a:latin typeface="Calibri"/>
                        </a:rPr>
                        <a:t>B6</a:t>
                      </a:r>
                    </a:p>
                  </a:txBody>
                  <a:tcPr marL="54864" marR="54864" marT="27432" marB="27432" anchor="ctr">
                    <a:solidFill>
                      <a:srgbClr val="001E60"/>
                    </a:solidFill>
                  </a:tcPr>
                </a:tc>
                <a:tc>
                  <a:txBody>
                    <a:bodyPr/>
                    <a:lstStyle/>
                    <a:p>
                      <a:r>
                        <a:rPr sz="800" b="0">
                          <a:solidFill>
                            <a:srgbClr val="1F2A44"/>
                          </a:solidFill>
                          <a:latin typeface="Calibri"/>
                        </a:rPr>
                        <a:t>GSU installation hours: 524 man-hours per pad-mount; count to be settled (four carried, twelve mentioned)</a:t>
                      </a:r>
                    </a:p>
                  </a:txBody>
                  <a:tcPr marL="54864" marR="54864" marT="27432" marB="27432" anchor="ctr">
                    <a:solidFill>
                      <a:srgbClr val="FFFFFF"/>
                    </a:solidFill>
                  </a:tcPr>
                </a:tc>
                <a:tc>
                  <a:txBody>
                    <a:bodyPr/>
                    <a:lstStyle/>
                    <a:p>
                      <a:r>
                        <a:rPr sz="800" b="0">
                          <a:solidFill>
                            <a:srgbClr val="1F2A44"/>
                          </a:solidFill>
                          <a:latin typeface="Calibri"/>
                        </a:rPr>
                        <a:t>C</a:t>
                      </a:r>
                    </a:p>
                  </a:txBody>
                  <a:tcPr marL="54864" marR="54864" marT="27432" marB="27432" anchor="ctr">
                    <a:solidFill>
                      <a:srgbClr val="FFFFFF"/>
                    </a:solidFill>
                  </a:tcPr>
                </a:tc>
                <a:tc>
                  <a:txBody>
                    <a:bodyPr/>
                    <a:lstStyle/>
                    <a:p>
                      <a:pPr algn="r"/>
                      <a:r>
                        <a:rPr sz="800" b="0">
                          <a:solidFill>
                            <a:srgbClr val="1F2A44"/>
                          </a:solidFill>
                          <a:latin typeface="Calibri"/>
                        </a:rPr>
                        <a:t>$0.2 to 0.2M</a:t>
                      </a:r>
                    </a:p>
                  </a:txBody>
                  <a:tcPr marL="54864" marR="54864" marT="27432" marB="27432" anchor="ctr">
                    <a:solidFill>
                      <a:srgbClr val="FFFFFF"/>
                    </a:solidFill>
                  </a:tcPr>
                </a:tc>
                <a:tc>
                  <a:txBody>
                    <a:bodyPr/>
                    <a:lstStyle/>
                    <a:p>
                      <a:pPr algn="r"/>
                      <a:r>
                        <a:rPr sz="800" b="0">
                          <a:solidFill>
                            <a:srgbClr val="1F2A44"/>
                          </a:solidFill>
                          <a:latin typeface="Calibri"/>
                        </a:rPr>
                        <a:t>$0.3 to 0.3M</a:t>
                      </a:r>
                    </a:p>
                  </a:txBody>
                  <a:tcPr marL="54864" marR="54864" marT="27432" marB="27432" anchor="ctr">
                    <a:solidFill>
                      <a:srgbClr val="FFFFFF"/>
                    </a:solidFill>
                  </a:tcPr>
                </a:tc>
                <a:tc>
                  <a:txBody>
                    <a:bodyPr/>
                    <a:lstStyle/>
                    <a:p>
                      <a:r>
                        <a:rPr sz="800" b="0">
                          <a:solidFill>
                            <a:srgbClr val="1F2A44"/>
                          </a:solidFill>
                          <a:latin typeface="Calibri"/>
                        </a:rPr>
                        <a:t>Medium</a:t>
                      </a:r>
                    </a:p>
                  </a:txBody>
                  <a:tcPr marL="54864" marR="54864" marT="27432" marB="27432" anchor="ctr">
                    <a:solidFill>
                      <a:srgbClr val="FFFFFF"/>
                    </a:solidFill>
                  </a:tcPr>
                </a:tc>
                <a:tc>
                  <a:txBody>
                    <a:bodyPr/>
                    <a:lstStyle/>
                    <a:p>
                      <a:r>
                        <a:rPr sz="800" b="0">
                          <a:solidFill>
                            <a:srgbClr val="1F2A44"/>
                          </a:solidFill>
                          <a:latin typeface="Calibri"/>
                        </a:rPr>
                        <a:t>Substation Eng. + Nomad</a:t>
                      </a:r>
                    </a:p>
                  </a:txBody>
                  <a:tcPr marL="54864" marR="54864" marT="27432" marB="27432" anchor="ctr">
                    <a:solidFill>
                      <a:srgbClr val="FFFFFF"/>
                    </a:solidFill>
                  </a:tcPr>
                </a:tc>
              </a:tr>
              <a:tr h="268941">
                <a:tc>
                  <a:txBody>
                    <a:bodyPr/>
                    <a:lstStyle/>
                    <a:p>
                      <a:r>
                        <a:rPr sz="800" b="1">
                          <a:solidFill>
                            <a:srgbClr val="FFFFFF"/>
                          </a:solidFill>
                          <a:latin typeface="Calibri"/>
                        </a:rPr>
                        <a:t>B7</a:t>
                      </a:r>
                    </a:p>
                  </a:txBody>
                  <a:tcPr marL="54864" marR="54864" marT="27432" marB="27432" anchor="ctr">
                    <a:solidFill>
                      <a:srgbClr val="001E60"/>
                    </a:solidFill>
                  </a:tcPr>
                </a:tc>
                <a:tc>
                  <a:txBody>
                    <a:bodyPr/>
                    <a:lstStyle/>
                    <a:p>
                      <a:r>
                        <a:rPr sz="800" b="0">
                          <a:solidFill>
                            <a:srgbClr val="1F2A44"/>
                          </a:solidFill>
                          <a:latin typeface="Calibri"/>
                        </a:rPr>
                        <a:t>Switchyard lighting: 12 HPS luminaires and $200 a foot of hookup on an unmanned one-acre pad</a:t>
                      </a:r>
                    </a:p>
                  </a:txBody>
                  <a:tcPr marL="54864" marR="54864" marT="27432" marB="27432" anchor="ctr">
                    <a:solidFill>
                      <a:srgbClr val="F2F4F8"/>
                    </a:solidFill>
                  </a:tcPr>
                </a:tc>
                <a:tc>
                  <a:txBody>
                    <a:bodyPr/>
                    <a:lstStyle/>
                    <a:p>
                      <a:r>
                        <a:rPr sz="800" b="0">
                          <a:solidFill>
                            <a:srgbClr val="1F2A44"/>
                          </a:solidFill>
                          <a:latin typeface="Calibri"/>
                        </a:rPr>
                        <a:t>D</a:t>
                      </a:r>
                    </a:p>
                  </a:txBody>
                  <a:tcPr marL="54864" marR="54864" marT="27432" marB="27432" anchor="ctr">
                    <a:solidFill>
                      <a:srgbClr val="F2F4F8"/>
                    </a:solidFill>
                  </a:tcPr>
                </a:tc>
                <a:tc>
                  <a:txBody>
                    <a:bodyPr/>
                    <a:lstStyle/>
                    <a:p>
                      <a:pPr algn="r"/>
                      <a:r>
                        <a:rPr sz="800" b="0">
                          <a:solidFill>
                            <a:srgbClr val="1F2A44"/>
                          </a:solidFill>
                          <a:latin typeface="Calibri"/>
                        </a:rPr>
                        <a:t>$0.2M</a:t>
                      </a:r>
                    </a:p>
                  </a:txBody>
                  <a:tcPr marL="54864" marR="54864" marT="27432" marB="27432" anchor="ctr">
                    <a:solidFill>
                      <a:srgbClr val="F2F4F8"/>
                    </a:solidFill>
                  </a:tcPr>
                </a:tc>
                <a:tc>
                  <a:txBody>
                    <a:bodyPr/>
                    <a:lstStyle/>
                    <a:p>
                      <a:pPr algn="r"/>
                      <a:r>
                        <a:rPr sz="800" b="0">
                          <a:solidFill>
                            <a:srgbClr val="1F2A44"/>
                          </a:solidFill>
                          <a:latin typeface="Calibri"/>
                        </a:rPr>
                        <a:t>$0.2 to 0.3M</a:t>
                      </a:r>
                    </a:p>
                  </a:txBody>
                  <a:tcPr marL="54864" marR="54864" marT="27432" marB="27432" anchor="ctr">
                    <a:solidFill>
                      <a:srgbClr val="F2F4F8"/>
                    </a:solidFill>
                  </a:tcPr>
                </a:tc>
                <a:tc>
                  <a:txBody>
                    <a:bodyPr/>
                    <a:lstStyle/>
                    <a:p>
                      <a:r>
                        <a:rPr sz="800" b="0">
                          <a:solidFill>
                            <a:srgbClr val="1F2A44"/>
                          </a:solidFill>
                          <a:latin typeface="Calibri"/>
                        </a:rPr>
                        <a:t>Medium</a:t>
                      </a:r>
                    </a:p>
                  </a:txBody>
                  <a:tcPr marL="54864" marR="54864" marT="27432" marB="27432" anchor="ctr">
                    <a:solidFill>
                      <a:srgbClr val="F2F4F8"/>
                    </a:solidFill>
                  </a:tcPr>
                </a:tc>
                <a:tc>
                  <a:txBody>
                    <a:bodyPr/>
                    <a:lstStyle/>
                    <a:p>
                      <a:r>
                        <a:rPr sz="800" b="0">
                          <a:solidFill>
                            <a:srgbClr val="1F2A44"/>
                          </a:solidFill>
                          <a:latin typeface="Calibri"/>
                        </a:rPr>
                        <a:t>Substation Eng.</a:t>
                      </a:r>
                    </a:p>
                  </a:txBody>
                  <a:tcPr marL="54864" marR="54864" marT="27432" marB="27432" anchor="ctr">
                    <a:solidFill>
                      <a:srgbClr val="F2F4F8"/>
                    </a:solidFill>
                  </a:tcPr>
                </a:tc>
              </a:tr>
              <a:tr h="268941">
                <a:tc>
                  <a:txBody>
                    <a:bodyPr/>
                    <a:lstStyle/>
                    <a:p>
                      <a:r>
                        <a:rPr sz="800" b="1">
                          <a:solidFill>
                            <a:srgbClr val="FFFFFF"/>
                          </a:solidFill>
                          <a:latin typeface="Calibri"/>
                        </a:rPr>
                        <a:t>B8</a:t>
                      </a:r>
                    </a:p>
                  </a:txBody>
                  <a:tcPr marL="54864" marR="54864" marT="27432" marB="27432" anchor="ctr">
                    <a:solidFill>
                      <a:srgbClr val="001E60"/>
                    </a:solidFill>
                  </a:tcPr>
                </a:tc>
                <a:tc>
                  <a:txBody>
                    <a:bodyPr/>
                    <a:lstStyle/>
                    <a:p>
                      <a:r>
                        <a:rPr sz="800" b="0">
                          <a:solidFill>
                            <a:srgbClr val="1F2A44"/>
                          </a:solidFill>
                          <a:latin typeface="Calibri"/>
                        </a:rPr>
                        <a:t>Siting and project management: external siting at $1.05M and a $157K siting line inside Station 496</a:t>
                      </a:r>
                    </a:p>
                  </a:txBody>
                  <a:tcPr marL="54864" marR="54864" marT="27432" marB="27432" anchor="ctr">
                    <a:solidFill>
                      <a:srgbClr val="FFFFFF"/>
                    </a:solidFill>
                  </a:tcPr>
                </a:tc>
                <a:tc>
                  <a:txBody>
                    <a:bodyPr/>
                    <a:lstStyle/>
                    <a:p>
                      <a:r>
                        <a:rPr sz="800" b="0">
                          <a:solidFill>
                            <a:srgbClr val="1F2A44"/>
                          </a:solidFill>
                          <a:latin typeface="Calibri"/>
                        </a:rPr>
                        <a:t>H/F</a:t>
                      </a:r>
                    </a:p>
                  </a:txBody>
                  <a:tcPr marL="54864" marR="54864" marT="27432" marB="27432" anchor="ctr">
                    <a:solidFill>
                      <a:srgbClr val="FFFFFF"/>
                    </a:solidFill>
                  </a:tcPr>
                </a:tc>
                <a:tc>
                  <a:txBody>
                    <a:bodyPr/>
                    <a:lstStyle/>
                    <a:p>
                      <a:pPr algn="r"/>
                      <a:r>
                        <a:rPr sz="800" b="0">
                          <a:solidFill>
                            <a:srgbClr val="1F2A44"/>
                          </a:solidFill>
                          <a:latin typeface="Calibri"/>
                        </a:rPr>
                        <a:t>$0.4 to 0.6M</a:t>
                      </a:r>
                    </a:p>
                  </a:txBody>
                  <a:tcPr marL="54864" marR="54864" marT="27432" marB="27432" anchor="ctr">
                    <a:solidFill>
                      <a:srgbClr val="FFFFFF"/>
                    </a:solidFill>
                  </a:tcPr>
                </a:tc>
                <a:tc>
                  <a:txBody>
                    <a:bodyPr/>
                    <a:lstStyle/>
                    <a:p>
                      <a:pPr algn="r"/>
                      <a:r>
                        <a:rPr sz="800" b="0">
                          <a:solidFill>
                            <a:srgbClr val="1F2A44"/>
                          </a:solidFill>
                          <a:latin typeface="Calibri"/>
                        </a:rPr>
                        <a:t>$0.5 to 0.8M</a:t>
                      </a:r>
                    </a:p>
                  </a:txBody>
                  <a:tcPr marL="54864" marR="54864" marT="27432" marB="27432" anchor="ctr">
                    <a:solidFill>
                      <a:srgbClr val="FFFFFF"/>
                    </a:solidFill>
                  </a:tcPr>
                </a:tc>
                <a:tc>
                  <a:txBody>
                    <a:bodyPr/>
                    <a:lstStyle/>
                    <a:p>
                      <a:r>
                        <a:rPr sz="800" b="0">
                          <a:solidFill>
                            <a:srgbClr val="1F2A44"/>
                          </a:solidFill>
                          <a:latin typeface="Calibri"/>
                        </a:rPr>
                        <a:t>Low</a:t>
                      </a:r>
                    </a:p>
                  </a:txBody>
                  <a:tcPr marL="54864" marR="54864" marT="27432" marB="27432" anchor="ctr">
                    <a:solidFill>
                      <a:srgbClr val="FFFFFF"/>
                    </a:solidFill>
                  </a:tcPr>
                </a:tc>
                <a:tc>
                  <a:txBody>
                    <a:bodyPr/>
                    <a:lstStyle/>
                    <a:p>
                      <a:r>
                        <a:rPr sz="800" b="0">
                          <a:solidFill>
                            <a:srgbClr val="1F2A44"/>
                          </a:solidFill>
                          <a:latin typeface="Calibri"/>
                        </a:rPr>
                        <a:t>Siting + PM</a:t>
                      </a:r>
                    </a:p>
                  </a:txBody>
                  <a:tcPr marL="54864" marR="54864" marT="27432" marB="27432" anchor="ctr">
                    <a:solidFill>
                      <a:srgbClr val="FFFFFF"/>
                    </a:solidFill>
                  </a:tcPr>
                </a:tc>
              </a:tr>
              <a:tr h="268941">
                <a:tc>
                  <a:txBody>
                    <a:bodyPr/>
                    <a:lstStyle/>
                    <a:p>
                      <a:r>
                        <a:rPr sz="800" b="1">
                          <a:solidFill>
                            <a:srgbClr val="FFFFFF"/>
                          </a:solidFill>
                          <a:latin typeface="Calibri"/>
                        </a:rPr>
                        <a:t>C1</a:t>
                      </a:r>
                    </a:p>
                  </a:txBody>
                  <a:tcPr marL="54864" marR="54864" marT="27432" marB="27432" anchor="ctr">
                    <a:solidFill>
                      <a:srgbClr val="6E1F2E"/>
                    </a:solidFill>
                  </a:tcPr>
                </a:tc>
                <a:tc>
                  <a:txBody>
                    <a:bodyPr/>
                    <a:lstStyle/>
                    <a:p>
                      <a:r>
                        <a:rPr sz="800" b="0">
                          <a:solidFill>
                            <a:srgbClr val="1F2A44"/>
                          </a:solidFill>
                          <a:latin typeface="Calibri"/>
                        </a:rPr>
                        <a:t>Section 48E investment tax credit on the storage property</a:t>
                      </a:r>
                    </a:p>
                  </a:txBody>
                  <a:tcPr marL="54864" marR="54864" marT="27432" marB="27432" anchor="ctr">
                    <a:solidFill>
                      <a:srgbClr val="F2F4F8"/>
                    </a:solidFill>
                  </a:tcPr>
                </a:tc>
                <a:tc>
                  <a:txBody>
                    <a:bodyPr/>
                    <a:lstStyle/>
                    <a:p>
                      <a:r>
                        <a:rPr sz="800" b="0">
                          <a:solidFill>
                            <a:srgbClr val="1F2A44"/>
                          </a:solidFill>
                          <a:latin typeface="Calibri"/>
                        </a:rPr>
                        <a:t>rev. req.</a:t>
                      </a:r>
                    </a:p>
                  </a:txBody>
                  <a:tcPr marL="54864" marR="54864" marT="27432" marB="27432" anchor="ctr">
                    <a:solidFill>
                      <a:srgbClr val="F2F4F8"/>
                    </a:solidFill>
                  </a:tcPr>
                </a:tc>
                <a:tc>
                  <a:txBody>
                    <a:bodyPr/>
                    <a:lstStyle/>
                    <a:p>
                      <a:pPr algn="r"/>
                      <a:r>
                        <a:rPr sz="800" b="0">
                          <a:solidFill>
                            <a:srgbClr val="1F2A44"/>
                          </a:solidFill>
                          <a:latin typeface="Calibri"/>
                        </a:rPr>
                        <a:t>$8.4 to 12.4M</a:t>
                      </a:r>
                    </a:p>
                  </a:txBody>
                  <a:tcPr marL="54864" marR="54864" marT="27432" marB="27432" anchor="ctr">
                    <a:solidFill>
                      <a:srgbClr val="F2F4F8"/>
                    </a:solidFill>
                  </a:tcPr>
                </a:tc>
                <a:tc>
                  <a:txBody>
                    <a:bodyPr/>
                    <a:lstStyle/>
                    <a:p>
                      <a:pPr algn="r"/>
                      <a:r>
                        <a:rPr sz="800" b="0">
                          <a:solidFill>
                            <a:srgbClr val="1F2A44"/>
                          </a:solidFill>
                          <a:latin typeface="Calibri"/>
                        </a:rPr>
                        <a:t>$8.4 to 12.4M</a:t>
                      </a:r>
                    </a:p>
                  </a:txBody>
                  <a:tcPr marL="54864" marR="54864" marT="27432" marB="27432" anchor="ctr">
                    <a:solidFill>
                      <a:srgbClr val="F2F4F8"/>
                    </a:solidFill>
                  </a:tcPr>
                </a:tc>
                <a:tc>
                  <a:txBody>
                    <a:bodyPr/>
                    <a:lstStyle/>
                    <a:p>
                      <a:r>
                        <a:rPr sz="800" b="0">
                          <a:solidFill>
                            <a:srgbClr val="1F2A44"/>
                          </a:solidFill>
                          <a:latin typeface="Calibri"/>
                        </a:rPr>
                        <a:t>Medium</a:t>
                      </a:r>
                    </a:p>
                  </a:txBody>
                  <a:tcPr marL="54864" marR="54864" marT="27432" marB="27432" anchor="ctr">
                    <a:solidFill>
                      <a:srgbClr val="F2F4F8"/>
                    </a:solidFill>
                  </a:tcPr>
                </a:tc>
                <a:tc>
                  <a:txBody>
                    <a:bodyPr/>
                    <a:lstStyle/>
                    <a:p>
                      <a:r>
                        <a:rPr sz="800" b="0">
                          <a:solidFill>
                            <a:srgbClr val="1F2A44"/>
                          </a:solidFill>
                          <a:latin typeface="Calibri"/>
                        </a:rPr>
                        <a:t>Tax + Regulatory</a:t>
                      </a:r>
                    </a:p>
                  </a:txBody>
                  <a:tcPr marL="54864" marR="54864" marT="27432" marB="27432" anchor="ctr">
                    <a:solidFill>
                      <a:srgbClr val="F2F4F8"/>
                    </a:solidFill>
                  </a:tcPr>
                </a:tc>
              </a:tr>
              <a:tr h="268941">
                <a:tc>
                  <a:txBody>
                    <a:bodyPr/>
                    <a:lstStyle/>
                    <a:p>
                      <a:r>
                        <a:rPr sz="800" b="1">
                          <a:solidFill>
                            <a:srgbClr val="FFFFFF"/>
                          </a:solidFill>
                          <a:latin typeface="Calibri"/>
                        </a:rPr>
                        <a:t>C2</a:t>
                      </a:r>
                    </a:p>
                  </a:txBody>
                  <a:tcPr marL="54864" marR="54864" marT="27432" marB="27432" anchor="ctr">
                    <a:solidFill>
                      <a:srgbClr val="6E1F2E"/>
                    </a:solidFill>
                  </a:tcPr>
                </a:tc>
                <a:tc>
                  <a:txBody>
                    <a:bodyPr/>
                    <a:lstStyle/>
                    <a:p>
                      <a:r>
                        <a:rPr sz="800" b="0">
                          <a:solidFill>
                            <a:srgbClr val="1F2A44"/>
                          </a:solidFill>
                          <a:latin typeface="Calibri"/>
                        </a:rPr>
                        <a:t>Energy-community adder if the closed landfill qualifies as a brownfield</a:t>
                      </a:r>
                    </a:p>
                  </a:txBody>
                  <a:tcPr marL="54864" marR="54864" marT="27432" marB="27432" anchor="ctr">
                    <a:solidFill>
                      <a:srgbClr val="FFFFFF"/>
                    </a:solidFill>
                  </a:tcPr>
                </a:tc>
                <a:tc>
                  <a:txBody>
                    <a:bodyPr/>
                    <a:lstStyle/>
                    <a:p>
                      <a:r>
                        <a:rPr sz="800" b="0">
                          <a:solidFill>
                            <a:srgbClr val="1F2A44"/>
                          </a:solidFill>
                          <a:latin typeface="Calibri"/>
                        </a:rPr>
                        <a:t>rev. req.</a:t>
                      </a:r>
                    </a:p>
                  </a:txBody>
                  <a:tcPr marL="54864" marR="54864" marT="27432" marB="27432" anchor="ctr">
                    <a:solidFill>
                      <a:srgbClr val="FFFFFF"/>
                    </a:solidFill>
                  </a:tcPr>
                </a:tc>
                <a:tc>
                  <a:txBody>
                    <a:bodyPr/>
                    <a:lstStyle/>
                    <a:p>
                      <a:pPr algn="r"/>
                      <a:r>
                        <a:rPr sz="800" b="0">
                          <a:solidFill>
                            <a:srgbClr val="1F2A44"/>
                          </a:solidFill>
                          <a:latin typeface="Calibri"/>
                        </a:rPr>
                        <a:t>$2.8 to 4.1M</a:t>
                      </a:r>
                    </a:p>
                  </a:txBody>
                  <a:tcPr marL="54864" marR="54864" marT="27432" marB="27432" anchor="ctr">
                    <a:solidFill>
                      <a:srgbClr val="FFFFFF"/>
                    </a:solidFill>
                  </a:tcPr>
                </a:tc>
                <a:tc>
                  <a:txBody>
                    <a:bodyPr/>
                    <a:lstStyle/>
                    <a:p>
                      <a:pPr algn="r"/>
                      <a:r>
                        <a:rPr sz="800" b="0">
                          <a:solidFill>
                            <a:srgbClr val="1F2A44"/>
                          </a:solidFill>
                          <a:latin typeface="Calibri"/>
                        </a:rPr>
                        <a:t>$2.8 to 4.1M</a:t>
                      </a:r>
                    </a:p>
                  </a:txBody>
                  <a:tcPr marL="54864" marR="54864" marT="27432" marB="27432" anchor="ctr">
                    <a:solidFill>
                      <a:srgbClr val="FFFFFF"/>
                    </a:solidFill>
                  </a:tcPr>
                </a:tc>
                <a:tc>
                  <a:txBody>
                    <a:bodyPr/>
                    <a:lstStyle/>
                    <a:p>
                      <a:r>
                        <a:rPr sz="800" b="0">
                          <a:solidFill>
                            <a:srgbClr val="1F2A44"/>
                          </a:solidFill>
                          <a:latin typeface="Calibri"/>
                        </a:rPr>
                        <a:t>Low</a:t>
                      </a:r>
                    </a:p>
                  </a:txBody>
                  <a:tcPr marL="54864" marR="54864" marT="27432" marB="27432" anchor="ctr">
                    <a:solidFill>
                      <a:srgbClr val="FFFFFF"/>
                    </a:solidFill>
                  </a:tcPr>
                </a:tc>
                <a:tc>
                  <a:txBody>
                    <a:bodyPr/>
                    <a:lstStyle/>
                    <a:p>
                      <a:r>
                        <a:rPr sz="800" b="0">
                          <a:solidFill>
                            <a:srgbClr val="1F2A44"/>
                          </a:solidFill>
                          <a:latin typeface="Calibri"/>
                        </a:rPr>
                        <a:t>Tax + Environmental</a:t>
                      </a:r>
                    </a:p>
                  </a:txBody>
                  <a:tcPr marL="54864" marR="54864" marT="27432" marB="27432" anchor="ctr">
                    <a:solidFill>
                      <a:srgbClr val="FFFFFF"/>
                    </a:solidFill>
                  </a:tcPr>
                </a:tc>
              </a:tr>
              <a:tr h="268944">
                <a:tc>
                  <a:txBody>
                    <a:bodyPr/>
                    <a:lstStyle/>
                    <a:p>
                      <a:r>
                        <a:rPr sz="800" b="1">
                          <a:solidFill>
                            <a:srgbClr val="FFFFFF"/>
                          </a:solidFill>
                          <a:latin typeface="Calibri"/>
                        </a:rPr>
                        <a:t>C3</a:t>
                      </a:r>
                    </a:p>
                  </a:txBody>
                  <a:tcPr marL="54864" marR="54864" marT="27432" marB="27432" anchor="ctr">
                    <a:solidFill>
                      <a:srgbClr val="6E1F2E"/>
                    </a:solidFill>
                  </a:tcPr>
                </a:tc>
                <a:tc>
                  <a:txBody>
                    <a:bodyPr/>
                    <a:lstStyle/>
                    <a:p>
                      <a:r>
                        <a:rPr sz="800" b="0">
                          <a:solidFill>
                            <a:srgbClr val="1F2A44"/>
                          </a:solidFill>
                          <a:latin typeface="Calibri"/>
                        </a:rPr>
                        <a:t>AFUDC: pay the battery at delivery, not a year ahead; protect the siting float</a:t>
                      </a:r>
                    </a:p>
                  </a:txBody>
                  <a:tcPr marL="54864" marR="54864" marT="27432" marB="27432" anchor="ctr">
                    <a:solidFill>
                      <a:srgbClr val="F2F4F8"/>
                    </a:solidFill>
                  </a:tcPr>
                </a:tc>
                <a:tc>
                  <a:txBody>
                    <a:bodyPr/>
                    <a:lstStyle/>
                    <a:p>
                      <a:r>
                        <a:rPr sz="800" b="0">
                          <a:solidFill>
                            <a:srgbClr val="1F2A44"/>
                          </a:solidFill>
                          <a:latin typeface="Calibri"/>
                        </a:rPr>
                        <a:t>M</a:t>
                      </a:r>
                    </a:p>
                  </a:txBody>
                  <a:tcPr marL="54864" marR="54864" marT="27432" marB="27432" anchor="ctr">
                    <a:solidFill>
                      <a:srgbClr val="F2F4F8"/>
                    </a:solidFill>
                  </a:tcPr>
                </a:tc>
                <a:tc>
                  <a:txBody>
                    <a:bodyPr/>
                    <a:lstStyle/>
                    <a:p>
                      <a:pPr algn="r"/>
                      <a:r>
                        <a:rPr sz="800" b="0">
                          <a:solidFill>
                            <a:srgbClr val="1F2A44"/>
                          </a:solidFill>
                          <a:latin typeface="Calibri"/>
                        </a:rPr>
                        <a:t>$0.3 to 0.7M</a:t>
                      </a:r>
                    </a:p>
                  </a:txBody>
                  <a:tcPr marL="54864" marR="54864" marT="27432" marB="27432" anchor="ctr">
                    <a:solidFill>
                      <a:srgbClr val="F2F4F8"/>
                    </a:solidFill>
                  </a:tcPr>
                </a:tc>
                <a:tc>
                  <a:txBody>
                    <a:bodyPr/>
                    <a:lstStyle/>
                    <a:p>
                      <a:pPr algn="r"/>
                      <a:r>
                        <a:rPr sz="800" b="0">
                          <a:solidFill>
                            <a:srgbClr val="1F2A44"/>
                          </a:solidFill>
                          <a:latin typeface="Calibri"/>
                        </a:rPr>
                        <a:t>$0.3 to 0.7M</a:t>
                      </a:r>
                    </a:p>
                  </a:txBody>
                  <a:tcPr marL="54864" marR="54864" marT="27432" marB="27432" anchor="ctr">
                    <a:solidFill>
                      <a:srgbClr val="F2F4F8"/>
                    </a:solidFill>
                  </a:tcPr>
                </a:tc>
                <a:tc>
                  <a:txBody>
                    <a:bodyPr/>
                    <a:lstStyle/>
                    <a:p>
                      <a:r>
                        <a:rPr sz="800" b="0">
                          <a:solidFill>
                            <a:srgbClr val="1F2A44"/>
                          </a:solidFill>
                          <a:latin typeface="Calibri"/>
                        </a:rPr>
                        <a:t>Medium</a:t>
                      </a:r>
                    </a:p>
                  </a:txBody>
                  <a:tcPr marL="54864" marR="54864" marT="27432" marB="27432" anchor="ctr">
                    <a:solidFill>
                      <a:srgbClr val="F2F4F8"/>
                    </a:solidFill>
                  </a:tcPr>
                </a:tc>
                <a:tc>
                  <a:txBody>
                    <a:bodyPr/>
                    <a:lstStyle/>
                    <a:p>
                      <a:r>
                        <a:rPr sz="800" b="0">
                          <a:solidFill>
                            <a:srgbClr val="1F2A44"/>
                          </a:solidFill>
                          <a:latin typeface="Calibri"/>
                        </a:rPr>
                        <a:t>PM + Sourcing + Treasury</a:t>
                      </a:r>
                    </a:p>
                  </a:txBody>
                  <a:tcPr marL="54864" marR="54864" marT="27432" marB="27432" anchor="ctr">
                    <a:solidFill>
                      <a:srgbClr val="F2F4F8"/>
                    </a:solidFill>
                  </a:tcPr>
                </a:tc>
              </a:tr>
            </a:tbl>
          </a:graphicData>
        </a:graphic>
      </p:graphicFrame>
      <p:sp>
        <p:nvSpPr>
          <p:cNvPr id="8" name="TextBox 7"/>
          <p:cNvSpPr txBox="1"/>
          <p:nvPr/>
        </p:nvSpPr>
        <p:spPr>
          <a:xfrm>
            <a:off x="548640" y="6035040"/>
            <a:ext cx="11064240" cy="365760"/>
          </a:xfrm>
          <a:prstGeom prst="rect">
            <a:avLst/>
          </a:prstGeom>
          <a:noFill/>
        </p:spPr>
        <p:txBody>
          <a:bodyPr wrap="square" lIns="45720" rIns="45720" tIns="27432" bIns="27432" anchor="t">
            <a:spAutoFit/>
          </a:bodyPr>
          <a:lstStyle/>
          <a:p>
            <a:pPr algn="l">
              <a:lnSpc>
                <a:spcPct val="105000"/>
              </a:lnSpc>
              <a:spcAft>
                <a:spcPts val="400"/>
              </a:spcAft>
            </a:pPr>
            <a:r>
              <a:rPr sz="1100" b="0" i="0">
                <a:solidFill>
                  <a:srgbClr val="6B7280"/>
                </a:solidFill>
                <a:latin typeface="Calibri"/>
              </a:rPr>
              <a:t>Full basis, evidence lines and what must close for each lever: Hyde Park BESS Cost Analysis Deck slides 27 to 36, Whitepaper section 8, Workbook tabs Savings Register and Scope Challenge.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
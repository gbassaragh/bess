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5" r:id="rId27"/>
    <p:sldId id="276" r:id="rId28"/>
    <p:sldId id="277" r:id="rId29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12.99</c:v>
                </c:pt>
                <c:pt idx="2">
                  <c:v>14.72</c:v>
                </c:pt>
                <c:pt idx="3">
                  <c:v>16.66</c:v>
                </c:pt>
                <c:pt idx="4">
                  <c:v>20.5</c:v>
                </c:pt>
                <c:pt idx="5">
                  <c:v>23.19</c:v>
                </c:pt>
                <c:pt idx="6">
                  <c:v>30.45</c:v>
                </c:pt>
                <c:pt idx="7">
                  <c:v>31.71</c:v>
                </c:pt>
                <c:pt idx="8">
                  <c:v>36.13</c:v>
                </c:pt>
                <c:pt idx="9">
                  <c:v>36.92</c:v>
                </c:pt>
                <c:pt idx="10">
                  <c:v>42.22</c:v>
                </c:pt>
                <c:pt idx="11">
                  <c:v>44.5</c:v>
                </c:pt>
                <c:pt idx="12">
                  <c:v>52.57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2A8A8C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6E1F2E"/>
              </a:solidFill>
            </c:spPr>
          </c:dPt>
          <c:dPt>
            <c:idx val="10"/>
            <c:spPr>
              <a:solidFill>
                <a:srgbClr val="6E1F2E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12.99</c:v>
                </c:pt>
                <c:pt idx="1">
                  <c:v>1.73</c:v>
                </c:pt>
                <c:pt idx="2">
                  <c:v>1.93</c:v>
                </c:pt>
                <c:pt idx="3">
                  <c:v>3.85</c:v>
                </c:pt>
                <c:pt idx="4">
                  <c:v>2.69</c:v>
                </c:pt>
                <c:pt idx="5">
                  <c:v>7.25</c:v>
                </c:pt>
                <c:pt idx="6">
                  <c:v>1.26</c:v>
                </c:pt>
                <c:pt idx="7">
                  <c:v>4.42</c:v>
                </c:pt>
                <c:pt idx="8">
                  <c:v>0.79</c:v>
                </c:pt>
                <c:pt idx="9">
                  <c:v>5.3</c:v>
                </c:pt>
                <c:pt idx="10">
                  <c:v>2.28</c:v>
                </c:pt>
                <c:pt idx="11">
                  <c:v>8.06</c:v>
                </c:pt>
                <c:pt idx="12">
                  <c:v>4.68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6E1F2E"/>
              </a:solidFill>
            </c:spPr>
          </c:dPt>
          <c:dPt>
            <c:idx val="6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Vendor contract</c:v>
                </c:pt>
                <c:pt idx="1">
                  <c:v>Battery as carried (contract + escalation)</c:v>
                </c:pt>
                <c:pt idx="2">
                  <c:v>Battery installed (A+B+C)</c:v>
                </c:pt>
                <c:pt idx="3">
                  <c:v>Station complete, direct (no loaders)</c:v>
                </c:pt>
                <c:pt idx="4">
                  <c:v>Station 360 approval level</c:v>
                </c:pt>
                <c:pt idx="5">
                  <c:v>Project 21334 (Sta 360 + 496)</c:v>
                </c:pt>
                <c:pt idx="6">
                  <c:v>All-in incl. D-Line memo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605</c:v>
                </c:pt>
                <c:pt idx="1">
                  <c:v>650</c:v>
                </c:pt>
                <c:pt idx="2">
                  <c:v>833</c:v>
                </c:pt>
                <c:pt idx="3">
                  <c:v>1483</c:v>
                </c:pt>
                <c:pt idx="4">
                  <c:v>2500</c:v>
                </c:pt>
                <c:pt idx="5">
                  <c:v>2862</c:v>
                </c:pt>
                <c:pt idx="6">
                  <c:v>3102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Loaded $M</c:v>
                </c:pt>
              </c:strCache>
            </c:strRef>
          </c:tx>
          <c:dPt>
            <c:idx val="0"/>
            <c:spPr>
              <a:solidFill>
                <a:srgbClr val="2A8A8C"/>
              </a:solidFill>
            </c:spPr>
          </c:dPt>
          <c:dPt>
            <c:idx val="1"/>
            <c:spPr>
              <a:solidFill>
                <a:srgbClr val="2A8A8C"/>
              </a:solidFill>
            </c:spPr>
          </c:dPt>
          <c:dPt>
            <c:idx val="2"/>
            <c:spPr>
              <a:solidFill>
                <a:srgbClr val="2A8A8C"/>
              </a:solidFill>
            </c:spPr>
          </c:dPt>
          <c:dPt>
            <c:idx val="3"/>
            <c:spPr>
              <a:solidFill>
                <a:srgbClr val="C9D1E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Station 360 switching facilities (D)</c:v>
                </c:pt>
                <c:pt idx="1">
                  <c:v>Site development on landfill (E)</c:v>
                </c:pt>
                <c:pt idx="2">
                  <c:v>Station 496 protection (F)</c:v>
                </c:pt>
                <c:pt idx="3">
                  <c:v>D-Line 24211 (memo)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6.48</c:v>
                </c:pt>
                <c:pt idx="1">
                  <c:v>4.53</c:v>
                </c:pt>
                <c:pt idx="2">
                  <c:v>7.25</c:v>
                </c:pt>
                <c:pt idx="3">
                  <c:v>4.79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6E1F2E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Risk register</c:v>
                </c:pt>
                <c:pt idx="1">
                  <c:v>Contingency</c:v>
                </c:pt>
                <c:pt idx="2">
                  <c:v>Indirects / overheads</c:v>
                </c:pt>
                <c:pt idx="3">
                  <c:v>AFUDC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6.07</c:v>
                </c:pt>
                <c:pt idx="1">
                  <c:v>2.62</c:v>
                </c:pt>
                <c:pt idx="2">
                  <c:v>9.99</c:v>
                </c:pt>
                <c:pt idx="3">
                  <c:v>5.01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FFC72C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Pt>
            <c:idx val="13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BNEF pack, stationary (2025)</c:v>
                </c:pt>
                <c:pt idx="1">
                  <c:v>Anza distribution-scale AC, delivered (Q1 2026)</c:v>
                </c:pt>
                <c:pt idx="2">
                  <c:v>BNEF US turnkey system (2025)</c:v>
                </c:pt>
                <c:pt idx="3">
                  <c:v>NREL all-in, 4-h 60 MW (2024)</c:v>
                </c:pt>
                <c:pt idx="4">
                  <c:v>EIA/S&amp;L overnight, 4-h 150 MW (2023$)</c:v>
                </c:pt>
                <c:pt idx="5">
                  <c:v>LBNL empirical all-in, 2024 hybrids</c:v>
                </c:pt>
                <c:pt idx="6">
                  <c:v>HECO Waena 40 MW/160 MWh, utility-owned</c:v>
                </c:pt>
                <c:pt idx="7">
                  <c:v>NV Energy Reid Gardner 2-h, utility-owned</c:v>
                </c:pt>
                <c:pt idx="8">
                  <c:v>Eversource Provincetown 1.5-h, final (2022)</c:v>
                </c:pt>
                <c:pt idx="9">
                  <c:v>Hyde Park: Nomad equipment only</c:v>
                </c:pt>
                <c:pt idx="10">
                  <c:v>Hyde Park: vendor contract</c:v>
                </c:pt>
                <c:pt idx="11">
                  <c:v>Hyde Park: battery installed (A+B+C)</c:v>
                </c:pt>
                <c:pt idx="12">
                  <c:v>Hyde Park: station complete, direct</c:v>
                </c:pt>
                <c:pt idx="13">
                  <c:v>Hyde Park: project 21334 approval level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70</c:v>
                </c:pt>
                <c:pt idx="1">
                  <c:v>203</c:v>
                </c:pt>
                <c:pt idx="2">
                  <c:v>219</c:v>
                </c:pt>
                <c:pt idx="3">
                  <c:v>334</c:v>
                </c:pt>
                <c:pt idx="4">
                  <c:v>436</c:v>
                </c:pt>
                <c:pt idx="5">
                  <c:v>458</c:v>
                </c:pt>
                <c:pt idx="6">
                  <c:v>513</c:v>
                </c:pt>
                <c:pt idx="7">
                  <c:v>584</c:v>
                </c:pt>
                <c:pt idx="8">
                  <c:v>1289</c:v>
                </c:pt>
                <c:pt idx="9">
                  <c:v>532</c:v>
                </c:pt>
                <c:pt idx="10">
                  <c:v>605</c:v>
                </c:pt>
                <c:pt idx="11">
                  <c:v>833</c:v>
                </c:pt>
                <c:pt idx="12">
                  <c:v>1483</c:v>
                </c:pt>
                <c:pt idx="13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77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FFC72C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Jun 2021
IFR</c:v>
                </c:pt>
                <c:pt idx="1">
                  <c:v>Jul 2023
Vendor indicative
(Company 3, turnkey)</c:v>
                </c:pt>
                <c:pt idx="2">
                  <c:v>Dec 2023
E-23-373
conceptual</c:v>
                </c:pt>
                <c:pt idx="3">
                  <c:v>Feb 2024
SSF incl.
D-Line</c:v>
                </c:pt>
                <c:pt idx="4">
                  <c:v>Mar 2026
Nomad
contract</c:v>
                </c:pt>
                <c:pt idx="5">
                  <c:v>Aug 2026
Rev 0</c:v>
                </c:pt>
                <c:pt idx="6">
                  <c:v>Sep 2026
Rev 2</c:v>
                </c:pt>
                <c:pt idx="7">
                  <c:v>Sep 2026
Rev 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</c:v>
                </c:pt>
                <c:pt idx="1">
                  <c:v>18.2</c:v>
                </c:pt>
                <c:pt idx="2">
                  <c:v>43.9</c:v>
                </c:pt>
                <c:pt idx="3">
                  <c:v>49.2</c:v>
                </c:pt>
                <c:pt idx="4">
                  <c:v>12.1</c:v>
                </c:pt>
                <c:pt idx="5">
                  <c:v>47.2</c:v>
                </c:pt>
                <c:pt idx="6">
                  <c:v>63.6</c:v>
                </c:pt>
                <c:pt idx="7">
                  <c:v>57.2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E-23-373 (Dec 2023)</c:v>
                </c:pt>
              </c:strCache>
            </c:strRef>
          </c:tx>
          <c:spPr>
            <a:solidFill>
              <a:srgbClr val="C9D1E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13.76</c:v>
                </c:pt>
                <c:pt idx="1">
                  <c:v>6.92</c:v>
                </c:pt>
                <c:pt idx="2">
                  <c:v>1.06</c:v>
                </c:pt>
                <c:pt idx="3">
                  <c:v>0.79</c:v>
                </c:pt>
                <c:pt idx="4">
                  <c:v>0.84</c:v>
                </c:pt>
                <c:pt idx="5">
                  <c:v>1.04</c:v>
                </c:pt>
                <c:pt idx="6">
                  <c:v>0.93</c:v>
                </c:pt>
                <c:pt idx="7">
                  <c:v>3.95</c:v>
                </c:pt>
                <c:pt idx="8">
                  <c:v>1.81</c:v>
                </c:pt>
                <c:pt idx="9">
                  <c:v>9.52</c:v>
                </c:pt>
                <c:pt idx="1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 3 (Sep 2026)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16.68</c:v>
                </c:pt>
                <c:pt idx="1">
                  <c:v>8.05</c:v>
                </c:pt>
                <c:pt idx="2">
                  <c:v>3.08</c:v>
                </c:pt>
                <c:pt idx="3">
                  <c:v>0.96</c:v>
                </c:pt>
                <c:pt idx="4">
                  <c:v>1.91</c:v>
                </c:pt>
                <c:pt idx="5">
                  <c:v>1.89</c:v>
                </c:pt>
                <c:pt idx="6">
                  <c:v>0.99</c:v>
                </c:pt>
                <c:pt idx="7">
                  <c:v>6.07</c:v>
                </c:pt>
                <c:pt idx="8">
                  <c:v>2.62</c:v>
                </c:pt>
                <c:pt idx="9">
                  <c:v>9.99</c:v>
                </c:pt>
                <c:pt idx="10">
                  <c:v>5.01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47.2</c:v>
                </c:pt>
                <c:pt idx="2">
                  <c:v>0</c:v>
                </c:pt>
                <c:pt idx="3">
                  <c:v>51.9</c:v>
                </c:pt>
                <c:pt idx="4">
                  <c:v>0</c:v>
                </c:pt>
                <c:pt idx="5">
                  <c:v>57.2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6E1F2E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47.2</c:v>
                </c:pt>
                <c:pt idx="1">
                  <c:v>4.7</c:v>
                </c:pt>
                <c:pt idx="2">
                  <c:v>51.9</c:v>
                </c:pt>
                <c:pt idx="3">
                  <c:v>11.8</c:v>
                </c:pt>
                <c:pt idx="4">
                  <c:v>63.6</c:v>
                </c:pt>
                <c:pt idx="5">
                  <c:v>6.4</c:v>
                </c:pt>
                <c:pt idx="6">
                  <c:v>57.2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C9D1E0"/>
              </a:solidFill>
            </c:spPr>
          </c:dPt>
          <c:dPt>
            <c:idx val="2"/>
            <c:spPr>
              <a:solidFill>
                <a:srgbClr val="C9D1E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C9D1E0"/>
              </a:solidFill>
            </c:spPr>
          </c:dPt>
          <c:dPt>
            <c:idx val="5"/>
            <c:spPr>
              <a:solidFill>
                <a:srgbClr val="C9D1E0"/>
              </a:solidFill>
            </c:spPr>
          </c:dPt>
          <c:dPt>
            <c:idx val="6"/>
            <c:spPr>
              <a:solidFill>
                <a:srgbClr val="FFC72C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Company 1</c:v>
                </c:pt>
                <c:pt idx="1">
                  <c:v>Company 2 (Opt 1)</c:v>
                </c:pt>
                <c:pt idx="2">
                  <c:v>Company 2 (Opt 2)</c:v>
                </c:pt>
                <c:pt idx="3">
                  <c:v>Company 3</c:v>
                </c:pt>
                <c:pt idx="4">
                  <c:v>Company 4</c:v>
                </c:pt>
                <c:pt idx="5">
                  <c:v>Company 5</c:v>
                </c:pt>
                <c:pt idx="6">
                  <c:v>Nomad contract
Mar 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578</c:v>
                </c:pt>
                <c:pt idx="1">
                  <c:v>527</c:v>
                </c:pt>
                <c:pt idx="2">
                  <c:v>479</c:v>
                </c:pt>
                <c:pt idx="3">
                  <c:v>911</c:v>
                </c:pt>
                <c:pt idx="4">
                  <c:v>574</c:v>
                </c:pt>
                <c:pt idx="5">
                  <c:v>696</c:v>
                </c:pt>
                <c:pt idx="6">
                  <c:v>605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promise, not a joke. The one sentence the audience should be able to repeat afterwards: the battery is 21 percent of the project, and the other 79 percent is what it takes to put a battery on a landfill in Boston and connect it to four feeders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numbers. Vendor contract, approval level, share. Everything after this slide is proof. CORE PATH for a 25-minute slot: slides 1, 2, 3, 6, 4, 7, 8, 9, 11, 15, 18, 22. Everything else is reachable from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vendor is not wrong. Their number is a real number for what they sell. It is simply not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The battery contract is the first bar. Everything to its right is the utility's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view is the honest comparison basis. When someone quotes an all-in industry $/kWh, it already carries developer overhead and financing; ours carries indirects and AFUDC.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ends the argument. The multiple between the vendor line and the approval level is 4.7x, and each step between them is a named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facilities that make a battery a grid asset. A vendor's job ends at the container terminals.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AFUDC is the cost of a seven-year development window. Every month of siting delay adds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Benchmarks were retrieved from search-index excerpts of the primary sources because the sandbox proxy blocked direct downloads; each row carries a confidence tag and a URL. Before this slide is used externally, pull the NREL ATB 2025 workbook 2-h values, the Lazard v11 capex input table and the PNNL 10 MW rows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six is optional and none of them is the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is not that batteries got expensive. The battery got cheaper. The project got more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up 2.9, testing up 2.0, siting up 1.4, risk up 2.1, AFUDC up 1.7. Those five are 10.1 of the 13.3.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walk is in the email record. It matters because the full-funding placeholder of $43.9M was never touched between December 2023 and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2023: a low bid with exclusions is not a low project. The lesson from 2026: the vendor price is defensible. It is the boundary that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Steelman first: the battery is contracted, every dollar has a name, the direct cost is inside the reference class. These three are what an outside reviewer will find if we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combination case is the one to plan against. It is not exotic: it is the HEG gap plus one missed siting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indicators, none of them expensive to watch. Three of them have no owner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by the red team. The first two items are the ones that can move the number by more than the whole reserve; the rest are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open. Leave this slide up for questions. Do not add a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 $12 million battery. A $57 million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C9D1E0"/>
                </a:solidFill>
                <a:latin typeface="Calibri"/>
              </a:rPr>
              <a:t>Hyde Park BESS (Project 21334): where the cost of a utility-owned, distribution-connected battery storage station actually sits, and how it compares to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FFC72C"/>
                </a:solidFill>
                <a:latin typeface="Calibri"/>
              </a:rPr>
              <a:t>Cost Estimating Center of Excellence  |  Estimate basis: ESF Total Rev 3, 24 Sep 2026  |  29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C9D1E0"/>
                </a:solidFill>
                <a:latin typeface="Calibri"/>
              </a:rPr>
              <a:t>Internal. Contains vendor-confidential pricing.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By the end of this deck you can answer one question in one breath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 i="0">
                <a:solidFill>
                  <a:srgbClr val="1F2A44"/>
                </a:solidFill>
                <a:latin typeface="Calibri"/>
              </a:rPr>
              <a:t>“Why is a $12 million battery a $57 million project?”  Because a vendor prices the battery. We build the station, the site, the feeder protection and the siting case, and we carry the risk and the cost of money.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$12.1M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Vendor fixed-price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Nomad cover agreement, 10 Mar 2026. 12 Voyager LFP units, PCS, BMS, fire protection, 10-yr warranty. $605/kWh, $1,211/kW.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6E1F2E"/>
                </a:solidFill>
                <a:latin typeface="Georgia"/>
              </a:rPr>
              <a:t>$57.2M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Project 21334 approval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ESF Total Rev 3. Station 360 $50.0M plus Station 496 protection $7.3M. $2,862/kWh, $5,725/kW. Conceptual, -25%/+50%.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21%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Battery share of the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Add the D-Line circuit extension (24211, $4.8M conceptual) and the share drops to 20%. Four dollars of every five are not the battery.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001E60"/>
                </a:solidFill>
                <a:latin typeface="Calibri"/>
              </a:rPr>
              <a:t>Three sections: </a:t>
            </a:r>
            <a:r>
              <a:rPr sz="1600" b="0" i="0">
                <a:solidFill>
                  <a:srgbClr val="1F2A44"/>
                </a:solidFill>
                <a:latin typeface="Calibri"/>
              </a:rPr>
              <a:t>where the money sits (thirteen layers, unit costs, benchmarks); how the cost changed (2021 to today); can the number be defended (red team, stress tests, what must close).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TWO FRAMINGS OF THE SAME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a vendor quote contains, and what it leaves for the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001E60"/>
                </a:solidFill>
                <a:latin typeface="Georgia"/>
              </a:rPr>
              <a:t>Inside the $12.1M Nomad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12 containerized LFP units, 10 MW / 20 MWh, 12 MVA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Inverters (PCS), BMS, HVAC, fire detection and suppression inside the container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Spares $125K, shipping $90K, remote support $210K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10-year warranty; years 3-7 extension $798K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Field assembly supervision, commissioning, training: $246K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Fixed until Final Acceptance; LDs capped at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6E1F2E"/>
                </a:solidFill>
                <a:latin typeface="Georgia"/>
              </a:rPr>
              <a:t>Outside it: $45.1M, 79% of the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360, </a:t>
            </a:r>
            <a:r>
              <a:rPr sz="1500">
                <a:solidFill>
                  <a:srgbClr val="1F2A44"/>
                </a:solidFill>
                <a:latin typeface="Calibri"/>
              </a:rPr>
              <a:t>$3.8M direct: four 15 kV breaker skids, GSUs, SSVT, metering, cable, duct bank, ground grid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Site, </a:t>
            </a:r>
            <a:r>
              <a:rPr sz="1500">
                <a:solidFill>
                  <a:srgbClr val="1F2A44"/>
                </a:solidFill>
                <a:latin typeface="Calibri"/>
              </a:rPr>
              <a:t>$2.7M direct: a 200 ft x 200 ft platform on a closed landfill, access road, retaining wall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496, </a:t>
            </a:r>
            <a:r>
              <a:rPr sz="1500">
                <a:solidFill>
                  <a:srgbClr val="1F2A44"/>
                </a:solidFill>
                <a:latin typeface="Calibri"/>
              </a:rPr>
              <a:t>$7.3M: 20 relays, transfer trip, RTU work so four feeders can accept 2.5 MW each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Owner scope, </a:t>
            </a:r>
            <a:r>
              <a:rPr sz="1500">
                <a:solidFill>
                  <a:srgbClr val="1F2A44"/>
                </a:solidFill>
                <a:latin typeface="Calibri"/>
              </a:rPr>
              <a:t>$10.1M: install labor, GSUs, EMS, testing, engineering, Article 80 siting, outreach, PM, taxes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 risk, contingency, indirects, AFUDC, </a:t>
            </a:r>
            <a:r>
              <a:rPr sz="1500">
                <a:solidFill>
                  <a:srgbClr val="1F2A44"/>
                </a:solidFill>
                <a:latin typeface="Calibri"/>
              </a:rPr>
              <a:t>$20.3M: 35% of the total (Station 496 carries its own inside its $7.3M)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COST LAYER EXTRACTION, ESF TOTAL REV 3 (DIRECTS, 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layers between the battery contract and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Gold = battery contract as carried in Rev 3 ($12.1M contract plus $1.1M escalation on the unpaid balance; see slide 12). Teal = station, site and feeder protection. Burgundy = risk, contingency, indirects, AFUDC. Total $57.2M.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LOADED VIEW, FACTOR 1.685 ON STATION 360 DIRECTS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Where the $57.2M sits when risk, contingency, indirects and AFUDC are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828800"/>
                <a:gridCol w="1463040"/>
                <a:gridCol w="1097280"/>
              </a:tblGrid>
              <a:tr h="39901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supply contract (Nomad)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&amp; integration (owner scope)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balance-of-plant (GSUs, EMS/comms, aux power)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360 13.8 kV switching &amp; interconnection facilities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$3.8M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$6.5M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Site development &amp; civil (former landfill site)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496 feeder protection upgrades (interconnection)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Testing &amp; commissioning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Owner soft costs (engineering, siting, environmental, outreach, PM, land)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Taxes, CWIP, builders-risk insurance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$0.8M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Total, project 21334 (directs incl. $20.3M of loaders J-M)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1F2A44"/>
                </a:solidFill>
                <a:latin typeface="Calibri"/>
              </a:rPr>
              <a:t>Battery-related layers A+B+C loaded: $28.1M (49%). Station, site and feeder interconnection D+E+F loaded: $18.3M (32%). Owner soft costs, testing and taxes: $10.9M.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UNIT COST AT EACH BOUNDARY, 20 MWH / 10 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same project is $605/kWh or $2,862/kWh depending on where you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417320"/>
          <a:ext cx="4023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$1,211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$1,666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 360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$4,999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Project 21334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$2,862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Incl. D-Line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$3,102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5.1x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84632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 benchmark is only meaningful against the row that matches its definition. Pack and DC-block prices belong beside the top bar; NREL and EIA installed costs beside 'battery installed' or 'station complete'; nothing published includes a utility's own indirects and AFUDC.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WHAT IT TAKES TO PUT 10 MW ON FOUR 13.8 KV FEEDERS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Station and interconnection: $18.3M loaded, none of it in a vendor quote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80560"/>
            <a:ext cx="274320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24688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$18.3M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2468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Loaded, in 21334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22976"/>
            <a:ext cx="246888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32% of the approval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4480560"/>
            <a:ext cx="288036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6060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$23.1M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138928"/>
            <a:ext cx="2606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Incl. D-Line memo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522976"/>
            <a:ext cx="260604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37% of the all-in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17320"/>
            <a:ext cx="512064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Four Siemens SDV7 breaker skids at $300K each </a:t>
            </a:r>
            <a:r>
              <a:rPr sz="1300">
                <a:solidFill>
                  <a:srgbClr val="1F2A44"/>
                </a:solidFill>
                <a:latin typeface="Calibri"/>
              </a:rPr>
              <a:t>(relays, PTs, DC battery, cabinet on the skid), disconnects, four metering transclosures, station service, riser poles, 15 kV cable and 1,240 ft of duct bank.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Station 496: </a:t>
            </a:r>
            <a:r>
              <a:rPr sz="1300">
                <a:solidFill>
                  <a:srgbClr val="1F2A44"/>
                </a:solidFill>
                <a:latin typeface="Calibri"/>
              </a:rPr>
              <a:t>20 SEL relays replacing SEL-551 and REF610 units on four feeders, RTU and RTAC points, transfer trip over dark fiber; $1.8M of that is testing.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Site: </a:t>
            </a:r>
            <a:r>
              <a:rPr sz="1300">
                <a:solidFill>
                  <a:srgbClr val="1F2A44"/>
                </a:solidFill>
                <a:latin typeface="Calibri"/>
              </a:rPr>
              <a:t>2.5 acres cleared, 760 ft road, 2,520 CY cut, imported fill, 14 ft retaining wall, ground grid, fence, lighting; Haugland's platform take-off is larger than ours and is unreconciled.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D-Line (24211): </a:t>
            </a:r>
            <a:r>
              <a:rPr sz="1300">
                <a:solidFill>
                  <a:srgbClr val="1F2A44"/>
                </a:solidFill>
                <a:latin typeface="Calibri"/>
              </a:rPr>
              <a:t>5,465 ft feeder extension, three manholes, 16,395 ft of 3-700 cable; $4.8M is a 2023 conceptual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LOADERS ON PROJECT 21334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Risk, contingency, indirects and AFUDC are 41% of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47548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417320"/>
          <a:ext cx="6172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Station 360 risk 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$K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 cost, tariffs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/ scope change orders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Labor cost, shortage, overtime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Unforeseen UG obstructions (landfill)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Environmental (DEP, landfill closure docs)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Soil contamination remediation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Station and P&amp;C engineering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Weather, siting delay, outreach, BAR deductibles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4754880"/>
            <a:ext cx="6172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Risk plus contingency is 17.9% of the approval level before loaders, inside the 15-18% lead-review guidance. Indirects at 17.4% and AFUDC at 8.8% follow the EMA station template on a spend curve that runs from July 2021 to December 2028. Haugland's Attachment 4-F carries overlapping exposures (geotech $0.6M-$3.5M, fault-study equipment change $0.25M-$1.8M) that have not been reconciled with this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BENCHMARKS VS HYDE PARK BOUNDARIES, $/KWH NOMINAL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is at market; the project is above it for reasons benchmarks exclude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Battery at market. </a:t>
            </a:r>
            <a:r>
              <a:rPr sz="1300">
                <a:solidFill>
                  <a:srgbClr val="1F2A44"/>
                </a:solidFill>
                <a:latin typeface="Calibri"/>
              </a:rPr>
              <a:t>Nomad's $532/kWh equipment price sits between BNEF's US turnkey ($219, 4-h, 100 MW class) and the disclosed utility-owned projects ($513-584). For a 12-unit, 2-h, FEOC-era order in New England that is a fair price.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Installed battery (A+B+C) at $833/kWh </a:t>
            </a:r>
            <a:r>
              <a:rPr sz="1300">
                <a:solidFill>
                  <a:srgbClr val="1F2A44"/>
                </a:solidFill>
                <a:latin typeface="Calibri"/>
              </a:rPr>
              <a:t>is above every national all-in index because those indices are four-hour and 60-150 MW. NREL's own cost structure (pack $/kWh x hours + BOS $/kW) puts a 2-h system at roughly 1.3-1.5x the 4-h $/kWh.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The project at $2,862/kWh </a:t>
            </a:r>
            <a:r>
              <a:rPr sz="1300">
                <a:solidFill>
                  <a:srgbClr val="1F2A44"/>
                </a:solidFill>
                <a:latin typeface="Calibri"/>
              </a:rPr>
              <a:t>is not a battery benchmark at all. It carries a switching station, feeder protection at Station 496, a landfill platform, Article 80 siting, indirects and AFUDC. The closest published analogue is Provincetown at $1,289/kWh (2022 dollars, no separate station, existing site).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No published index includes a utility's indirects or AFUDC. </a:t>
            </a:r>
            <a:r>
              <a:rPr sz="1300">
                <a:solidFill>
                  <a:srgbClr val="1F2A44"/>
                </a:solidFill>
                <a:latin typeface="Calibri"/>
              </a:rPr>
              <a:t>Strip J-M and Hyde Park is $1,483/kWh direct; strip the station and site layers D and E as well and it is $1,156/kWh.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WHY A SMALL URBAN UTILITY-OWNED PROJECT SITS ABOVE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Six things about Hyde Park that a 100 MW greenfield benchmark never has to pay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Size.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10 MW / 20 MWh. A switching station, a siting case and a commissioning team cost about the same at 10 MW as at 100 MW; per kWh they are ten times heavier.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Duration.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Two hours. Fixed $/kW items (PCS, breakers, GSUs, interconnection) are spread over half the MWh of a four-hour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 closed construction-debris landfill in Boston: DEP post-closure use permit, cap protection, 36 borings, imported platform fill, 14 ft retaining wall, unknown obstructions ($450K risk).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Interconnection.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Four feeder tie-ins at 13.8 kV, each with its own breaker skid, plus relay replacement and transfer trip at Station 496 ($7.3M) and a 5,465 ft circuit extension (24211).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Siting and outreach.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Article 80 Small Project Review, Zoning Board of Appeal, outside counsel, an EJ community, a neighborhood concerned about open land and views: $1.5M plus $0.5M in the risk register.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Utility accounting.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Corporate indirects ($10.0M) and AFUDC over a seven-year development window ($5.0M) are real costs to customers that a developer's turnkey price never shows.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COST HISTORY, 2021 TO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Five years, five in-service dates, and an estimate that moved from $44M to $57M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4173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In-service date drift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783080"/>
          <a:ext cx="3474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 of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Planned ISD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Feb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Sep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Aug 2028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4069080"/>
            <a:ext cx="34747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Gold bars are vendor prices for the battery scope only. Navy bars are full project estimates. The battery price fell from $18.2M turnkey-indicative (2023, incl. civil) to $12.1M contracted (2026); the project rose $13.3M in the same window. The 2023 conceptual carried a placeholder that was never re-based until August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PAF CATEGORY COMPARISON, PROJECT 21334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changed between the December 2023 conceptual and Rev 3: $43.9M to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Largest movements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783080"/>
          <a:ext cx="3383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Risks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AFUDC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Siting + Env + Outreach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+$0.9M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5029200"/>
            <a:ext cx="33832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Materials: contracted battery replaces 2023 indicative pricing, plus breaker skids and GSUs. Testing and siting: Station 496 scope and Article 80 were not in E-23-373. AFUDC: a 20-month later ISD on a larger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REVISION WALK, 26 AUG TO 24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Four revisions in five weeks: how the September estimate settled at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0 carried the battery at about $6M </a:t>
            </a:r>
            <a:r>
              <a:rPr sz="1350">
                <a:solidFill>
                  <a:srgbClr val="1F2A44"/>
                </a:solidFill>
                <a:latin typeface="Calibri"/>
              </a:rPr>
              <a:t>from the 2023 indicative sheet. The PM: 'we know the BESS system itself is 12.'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2 reset it to the cover agreement, escalated to $13.1M, </a:t>
            </a:r>
            <a:r>
              <a:rPr sz="1350">
                <a:solidFill>
                  <a:srgbClr val="1F2A44"/>
                </a:solidFill>
                <a:latin typeface="Calibri"/>
              </a:rPr>
              <a:t>and carried $1.5M of 'relays for batteries' from a 2023 bidder that priced its own switchgear.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3 removed the relays </a:t>
            </a:r>
            <a:r>
              <a:rPr sz="1350">
                <a:solidFill>
                  <a:srgbClr val="1F2A44"/>
                </a:solidFill>
                <a:latin typeface="Calibri"/>
              </a:rPr>
              <a:t>(P&amp;C Engineering: included in the $300K Siemens skid), cut three SSVTs to one, and re-based engineering to $501K to go plus actuals.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Net: </a:t>
            </a:r>
            <a:r>
              <a:rPr sz="1350">
                <a:solidFill>
                  <a:srgbClr val="1F2A44"/>
                </a:solidFill>
                <a:latin typeface="Calibri"/>
              </a:rPr>
              <a:t>+$10.0M from Rev 0, of which $7.0M is the battery line catching up to the contract.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BATTERY SCOPE PRICE POINTS ($/KWH AT 20 MWH)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battery: a $9.6M to $18.2M spread in 2023, a $12.1M fixed price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July 2023, five bidders, 10 MW / 20 MWh: </a:t>
            </a:r>
            <a:r>
              <a:rPr sz="1300">
                <a:solidFill>
                  <a:srgbClr val="1F2A44"/>
                </a:solidFill>
                <a:latin typeface="Calibri"/>
              </a:rPr>
              <a:t>$9.6M to $18.2M. Every bidder excluded interconnection, permits beyond local, below-grade risk, sound walls or spares.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Company 3 ($18.2M, burgundy) </a:t>
            </a:r>
            <a:r>
              <a:rPr sz="1300">
                <a:solidFill>
                  <a:srgbClr val="1F2A44"/>
                </a:solidFill>
                <a:latin typeface="Calibri"/>
              </a:rPr>
              <a:t>became the E-23-373 basis because it alone priced turnkey civil ($4.56M) and installation.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March 2026 contract, $12.1M (gold): </a:t>
            </a:r>
            <a:r>
              <a:rPr sz="1300">
                <a:solidFill>
                  <a:srgbClr val="1F2A44"/>
                </a:solidFill>
                <a:latin typeface="Calibri"/>
              </a:rPr>
              <a:t>supply only, with supervision. Civil, install, GSUs, station and interconnection moved to Eversource scope.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Equipment-only inside the contract: </a:t>
            </a:r>
            <a:r>
              <a:rPr sz="1300">
                <a:solidFill>
                  <a:srgbClr val="1F2A44"/>
                </a:solidFill>
                <a:latin typeface="Calibri"/>
              </a:rPr>
              <a:t>$10.64M, $532/kWh, in line with published 2025-26 turnkey system indices (slide 7).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Rev 3 adds $1.13M of escalation </a:t>
            </a:r>
            <a:r>
              <a:rPr sz="1300">
                <a:solidFill>
                  <a:srgbClr val="1F2A44"/>
                </a:solidFill>
                <a:latin typeface="Calibri"/>
              </a:rPr>
              <a:t>to a price the contract fixes until Final Acceptance.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INDEPENDENT CHALLENGE, 29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Three assumptions that, if wrong, move the number more than the 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1. Construction may be low, not high.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Rev 3 layers B+D+E are $8.3M direct. Haugland's Class 3 base for overlapping scope is $19.2M with a $2.9M deduct ceiling. Nobody has mapped one to the 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490472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 signed HEG-to-Rev 3 scope map before the PAF is drafted.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90088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2. Siting is binary and carries no float.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ZBA determination, construction start and container delivery all land in Q1 2028 for a Dec 2028 ISD. Denial means an EFSB exemption at 18-24 months. The estimate carries $250K for siting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63240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Article 80 filing date, ZBA calendar, P6 float on the siting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62856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3. The number is Class 4 wearing Class 3 clothes.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636008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30% engineering, unit-library construction with no bid, install labor as a percentage of a 2023 total, a 2.5 ft platform placeholder. EPAC will hear $57.2M as a planning number.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636008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geotech, HMA, HEG map, crew build-up; then reclassify with a -15/+25% range.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QUANTIFIED DOWNSIDE, LOADED AT 1.685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Stress tests on our own numbers, and what history says about small utility batteries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914400"/>
                <a:gridCol w="137160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Loaded cost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Covered by $7.6M reserve?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Construction unit costs +25% on B+D+E+G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at midpoint of the gap (+$5M direct)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+$8.4M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Schedule +12 months (siting or long-lead)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EFSB zoning exemption path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~+$8M to +$10M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Contractor bids +20% over estimate labor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Combination: HEG midpoint + 12-month slip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~+$13M (to ~$70M)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Battery change orders at the LD cap (10%)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+$1.2M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69494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Untestable from the package: tariff or change-in-law pass-through on the Nomad price (Exhibit C terms), the AFUDC rate (assumed ~7% on CWIP), Station 496 outage premium (1.35 to 1.70 factor on affected hours), FEOC / ITC effect on net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Base rate: approved to actual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78308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</a:tblGrid>
              <a:tr h="32657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Uplift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BGE Fairhaven 2.5 MW/9.7 MWh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+64%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HECO Waena 40 MW/160 MWh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SaskPower Regina 20 MW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Eversource Provincetown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+9% to +40%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Dec 2023 to Sep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Rev 0 to Rev 3 (5 wks)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+21%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4206240"/>
            <a:ext cx="39319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1F2A44"/>
                </a:solidFill>
                <a:latin typeface="Calibri"/>
              </a:rPr>
              <a:t>Rev 3 carries 17.9% risk plus contingency. The exception case for beating the base rate rests on three anchors: a fixed battery price, a Siemens price on the skids, and Haugland engaged pre-construction. Together they cover about a third of the cost. The other two thirds have no such anchor.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FAILURE NARRATIVE AND EARLY-WARNING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Pre-mortem: June 2031, $74M, fifteen months late. 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94960" cy="4572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1">
                <a:solidFill>
                  <a:srgbClr val="1F2A44"/>
                </a:solidFill>
                <a:latin typeface="Calibri"/>
              </a:rPr>
              <a:t>The ZBA conditioned approval on a smaller footprint and new screening; the civil package went back through Haugland in the winter of 2028. Spring 2027 borings found debris deeper than the 2014 closure set showed; the platform went from 2.5 ft of fill to piles, and the reconciliation that had never been done was done as a change order. Nomad's twelve containers arrived on time in January 2028 and sat in a rented yard for nine months. Station 496 cutovers needed night outages priced at straight time. AFUDC alone added $4M. The PAF had said Conceptual, -25/+50%. Everyone remembered $57M.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51206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Early-warning indicators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783080"/>
          <a:ext cx="51206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746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Indicator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Caught today?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Geotech report not issued by IFC-civil design freeze (mid-2027)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no P6 gate ties IFC to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ZBA hearing date not set within 90 days of Article 80 filing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siting carries hours, not milestones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not closed before the PAF is drafted (Nov 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Only if the CoE makes it a precondition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Nomad final-drawings milestone (13 Jul 2026) slipped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Partly: payments tracked, not downstream effect on GSU spec and civil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Station 496 outage plan not issued before construction pricing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RECONCILIATIONS AND DECISIONS, RED-TEAM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must close before this number goes to EPAC as full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188720"/>
                <a:gridCol w="2286000"/>
                <a:gridCol w="155448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Dollars at stake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Reconcile Haugland Class 3 base ($19.2M, its scope) to Rev 3 layers B+D+E ($8.3M direct). Red team expects it to move the base up, not down.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+$4M to +$8M direct if half the gap is 21334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PM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chain has no float: ZBA determination Feb 2028, construction start Feb 2028, ISD Dec 2028; EFSB fallback 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~$5M per 12 months (AFUDC, escalation, PM, indirects)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+ PM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Present full funding at its real maturity: 30% engineering, no bid, placeholder platform = Class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Range is -25/+50% ($43M-$86M) until 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Geotechnical investigation and NFPA 855 hazard mitigation analysis before civil freeze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$1.0M of deducts vs $0.6M-$3.5M exposure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Civil + Capital Projects Eng.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Confirm four written design-basis items (retaining wall, basin, duct bank, GSU count)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Design confirmation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$1.47M HEG deduct ceiling (~$0.8M net of GSUs already at 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Substation Engineering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Escalation on the fixed-price battery balance; check Exhibit C for tariff / change-in-law pass-through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$1.13M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PM / Cost Estimating / Sourcing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labor: replace 25%-of-16,801 mh with a crew build-up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+/- $0.5M (Rev 2 used 50%)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Nomad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Station 496 at $363K per relay: compare to two recent EMA relay-replacement actuals; outage-window premium not priced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Unknown; $1.8M testing line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P&amp;C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Spot generation if the BESS misses Dec 2028 (SSF: 2-8 MW) was removed from scope; who carries it?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/ ownership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Not in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System Planning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Re-base D-Line 24211 (2023 conceptual $4.8M; HEG take-off larger)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Distribution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Defensible reductions (~$3M: battery escalation, design-basis confirmations, material risk sized on non-battery material) are conditional on the Haugland reconciliation closing first.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 i="0">
                <a:solidFill>
                  <a:srgbClr val="FFC72C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$12 million battery is a $57 million project, and now every dollar between them has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577840" cy="4480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Where the money sits. </a:t>
            </a:r>
            <a:r>
              <a:rPr sz="1450">
                <a:solidFill>
                  <a:srgbClr val="FFFFFF"/>
                </a:solidFill>
                <a:latin typeface="Calibri"/>
              </a:rPr>
              <a:t>292 lines in thirteen layers, reconciled to the penny: battery contract 21%, station and interconnection 32% loaded, owner scope 19%, loaders 41%.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Unit cost at every boundary. </a:t>
            </a:r>
            <a:r>
              <a:rPr sz="1450">
                <a:solidFill>
                  <a:srgbClr val="FFFFFF"/>
                </a:solidFill>
                <a:latin typeface="Calibri"/>
              </a:rPr>
              <a:t>$605/kWh vendor, $833 installed, $1,483 station direct, $2,862 project. Each benchmark read against the row that shares its definition.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How it changed. </a:t>
            </a:r>
            <a:r>
              <a:rPr sz="1450">
                <a:solidFill>
                  <a:srgbClr val="FFFFFF"/>
                </a:solidFill>
                <a:latin typeface="Calibri"/>
              </a:rPr>
              <a:t>The battery got cheaper; the project got real. $43.9M to $57.2M, five in-service dates, documented from the ESF revisions and the email record.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Can it be defended. </a:t>
            </a:r>
            <a:r>
              <a:rPr sz="1450">
                <a:solidFill>
                  <a:srgbClr val="FFFFFF"/>
                </a:solidFill>
                <a:latin typeface="Calibri"/>
              </a:rPr>
              <a:t>Inside the reference class on direct cost; three kill shots, seven stress tests, a pre-mortem, and ten reconciliations with owners and dollars.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57800" cy="4480560"/>
          </a:xfrm>
          <a:prstGeom prst="rect">
            <a:avLst/>
          </a:prstGeom>
          <a:solidFill>
            <a:srgbClr val="0B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C72C"/>
                </a:solidFill>
                <a:latin typeface="Georgia"/>
              </a:rPr>
              <a:t>Decisions requested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Adopt the layered view (battery, station, interconnection, owner scope, loaders) as the standard presentation of this project, internally and to regulators.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Make the Haugland-to-Rev 3 reconciliation, the geotech and the hazard mitigation analysis preconditions of the November PAF; present at Class 4 until they close.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Assign owners to the siting-chain float and the five early-warning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Calibri"/>
              </a:rPr>
              <a:t>EstimatingCoE | Eversource Energy | Stewards of Affordability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A. REFERENCE CLASS (PUBLIC DISCLOSURES, NOMINAL $/KWH)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utility-owned projects at or below 100 MWh: where Hyde Park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pic>
        <p:nvPicPr>
          <p:cNvPr id="7" name="Picture 6" descr="stats_ref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223760" cy="2471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1417320"/>
            <a:ext cx="38404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Median </a:t>
            </a:r>
            <a:r>
              <a:rPr sz="1250">
                <a:solidFill>
                  <a:srgbClr val="1F2A44"/>
                </a:solidFill>
                <a:latin typeface="Calibri"/>
              </a:rPr>
              <a:t>$1,235/kWh; interquartile $750 to $1,289.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Hyde Park battery installed, $833: </a:t>
            </a:r>
            <a:r>
              <a:rPr sz="1250">
                <a:solidFill>
                  <a:srgbClr val="1F2A44"/>
                </a:solidFill>
                <a:latin typeface="Calibri"/>
              </a:rPr>
              <a:t>38% percentile.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Station complete, direct, $1,483: </a:t>
            </a:r>
            <a:r>
              <a:rPr sz="1250">
                <a:solidFill>
                  <a:srgbClr val="1F2A44"/>
                </a:solidFill>
                <a:latin typeface="Calibri"/>
              </a:rPr>
              <a:t>77% percentile, beside Fairhaven ($1,659 actual, 2023), Chateaugay ($1,490, 2023) and Provincetown ($1,289, 2022).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Approval level, $2,862: </a:t>
            </a:r>
            <a:r>
              <a:rPr sz="1250">
                <a:solidFill>
                  <a:srgbClr val="1F2A44"/>
                </a:solidFill>
                <a:latin typeface="Calibri"/>
              </a:rPr>
              <a:t>above every member. The loaders ($23.7M) and the two interconnection scopes are what the comparables do not carry.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Caveat: </a:t>
            </a:r>
            <a:r>
              <a:rPr sz="1250">
                <a:solidFill>
                  <a:srgbClr val="1F2A44"/>
                </a:solidFill>
                <a:latin typeface="Calibri"/>
              </a:rPr>
              <a:t>figures retrieved from search excerpts of regulator and utility documents; verify at source before external use.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B. REGRESSION ON 26 PUBLIC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Size and duration explain two thirds of the spread in public costs; Hyde Park's direct cost is high-normal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pic>
        <p:nvPicPr>
          <p:cNvPr id="7" name="Picture 6" descr="sta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223760" cy="4182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0" y="1417320"/>
          <a:ext cx="3840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Coefficient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Size (ln MWh)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Duration (ln h)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-0.29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 = 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3703320"/>
            <a:ext cx="384048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20 MWh, 2-h, 2028 prediction: </a:t>
            </a:r>
            <a:r>
              <a:rPr sz="1200">
                <a:solidFill>
                  <a:srgbClr val="1F2A44"/>
                </a:solidFill>
                <a:latin typeface="Calibri"/>
              </a:rPr>
              <a:t>$1,116/kWh, 80% interval $611 to $2,037.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percentiles: </a:t>
            </a:r>
            <a:r>
              <a:rPr sz="1200">
                <a:solidFill>
                  <a:srgbClr val="1F2A44"/>
                </a:solidFill>
                <a:latin typeface="Calibri"/>
              </a:rPr>
              <a:t>contract 10%, installed 27%, station direct 73%, approval 98%.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Use as a bracket, not a price.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spread is a factor of 1.4; ownership and region terms are not significant at this 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C. ELEMENT-LEVEL SIMULATION, 20,000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Monte Carlo on the layers: reserve covers the modeled ranges, thin against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pic>
        <p:nvPicPr>
          <p:cNvPr id="7" name="Picture 6" descr="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618072"/>
          </a:xfrm>
          <a:prstGeom prst="rect">
            <a:avLst/>
          </a:prstGeom>
        </p:spPr>
      </p:pic>
      <p:pic>
        <p:nvPicPr>
          <p:cNvPr id="8" name="Picture 7" descr="mc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69080"/>
            <a:ext cx="5852160" cy="231006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P50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P80 total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$55.9M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Reserve to reach P80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Carried risk + contingency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P(total &gt; $57.2M)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Distributions </a:t>
            </a:r>
            <a:r>
              <a:rPr sz="1200">
                <a:solidFill>
                  <a:srgbClr val="1F2A44"/>
                </a:solidFill>
                <a:latin typeface="Calibri"/>
              </a:rPr>
              <a:t>are PERT ranges on each of the nine Station 360 layers plus Station 496, indirects and AFUDC; risk register and contingency are not stacked on top (they fund the same outcomes).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Estimate-to-actual uplift on comparables: </a:t>
            </a:r>
            <a:r>
              <a:rPr sz="1200">
                <a:solidFill>
                  <a:srgbClr val="1F2A44"/>
                </a:solidFill>
                <a:latin typeface="Calibri"/>
              </a:rPr>
              <a:t>Fairhaven +64%, Provincetown +9 to +40%, Waena +37%, Regina +31%, Hyde Park Sep cycle +21%. Median about +31%; Rev 3 carries 17.9%.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Next step: </a:t>
            </a:r>
            <a:r>
              <a:rPr sz="1200">
                <a:solidFill>
                  <a:srgbClr val="1F2A44"/>
                </a:solidFill>
                <a:latin typeface="Calibri"/>
              </a:rPr>
              <a:t>replace these ranges with the project team's in a two-hour range-estimating session (AACE 41R-08) before full funding.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
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7" r:id="rId29"/>
    <p:sldId id="278" r:id="rId30"/>
    <p:sldId id="279" r:id="rId31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</c:v>
                </c:pt>
              </c:strCache>
            </c:strRef>
          </c:tx>
          <c:spPr>
            <a:ln w="25400">
              <a:noFill/>
            </a:ln>
          </c:spPr>
          <c:marker>
            <c:symbol val="none"/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EIA reported all-in, utility-scale</c:v>
                </c:pt>
              </c:strCache>
            </c:strRef>
          </c:tx>
          <c:spPr>
            <a:ln w="25400">
              <a:solidFill>
                <a:srgbClr val="1F2A44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Sheet1!$A$10:$A$12</c:f>
              <c:numCache>
                <c:formatCode>General</c:formatCode>
                <c:ptCount val="3"/>
                <c:pt idx="0">
                  <c:v>2015</c:v>
                </c:pt>
                <c:pt idx="1">
                  <c:v>2017</c:v>
                </c:pt>
                <c:pt idx="2">
                  <c:v>2018</c:v>
                </c:pt>
              </c:numCache>
            </c:numRef>
          </c:xVal>
          <c:yVal>
            <c:numRef>
              <c:f>Sheet1!$B$10:$B$12</c:f>
              <c:numCache>
                <c:formatCode>General</c:formatCode>
                <c:ptCount val="3"/>
                <c:pt idx="0">
                  <c:v>2152</c:v>
                </c:pt>
                <c:pt idx="1">
                  <c:v>834</c:v>
                </c:pt>
                <c:pt idx="2">
                  <c:v>625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</c:f>
              <c:strCache>
                <c:ptCount val="1"/>
                <c:pt idx="0">
                  <c:v>BNEF turnkey system, global avg, 4-h</c:v>
                </c:pt>
              </c:strCache>
            </c:strRef>
          </c:tx>
          <c:spPr>
            <a:ln w="25400">
              <a:solidFill>
                <a:srgbClr val="001E60"/>
              </a:solidFill>
            </a:ln>
          </c:spPr>
          <c:marker>
            <c:symbol val="circle"/>
            <c:size val="7"/>
            <c:spPr>
              <a:solidFill>
                <a:srgbClr val="1F2A44"/>
              </a:solidFill>
              <a:ln>
                <a:solidFill>
                  <a:srgbClr val="1F2A44"/>
                </a:solidFill>
              </a:ln>
            </c:spPr>
          </c:marker>
          <c:xVal>
            <c:numRef>
              <c:f>Sheet1!$A$15:$A$18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xVal>
          <c:yVal>
            <c:numRef>
              <c:f>Sheet1!$B$15:$B$18</c:f>
              <c:numCache>
                <c:formatCode>General</c:formatCode>
                <c:ptCount val="4"/>
                <c:pt idx="0">
                  <c:v>324</c:v>
                </c:pt>
                <c:pt idx="1">
                  <c:v>263</c:v>
                </c:pt>
                <c:pt idx="2">
                  <c:v>165</c:v>
                </c:pt>
                <c:pt idx="3">
                  <c:v>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Sheet1!$B$20</c:f>
              <c:strCache>
                <c:ptCount val="1"/>
                <c:pt idx="0">
                  <c:v>BNEF turnkey system, United States, 4-h</c:v>
                </c:pt>
              </c:strCache>
            </c:strRef>
          </c:tx>
          <c:spPr>
            <a:ln w="25400">
              <a:solidFill>
                <a:srgbClr val="2A8A8C"/>
              </a:solidFill>
            </a:ln>
          </c:spPr>
          <c:marker>
            <c:symbol val="circle"/>
            <c:size val="7"/>
            <c:spPr>
              <a:solidFill>
                <a:srgbClr val="001E60"/>
              </a:solidFill>
              <a:ln>
                <a:solidFill>
                  <a:srgbClr val="001E60"/>
                </a:solidFill>
              </a:ln>
            </c:spPr>
          </c:marker>
          <c:xVal>
            <c:numRef>
              <c:f>Sheet1!$A$21:$A$22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xVal>
          <c:yVal>
            <c:numRef>
              <c:f>Sheet1!$B$21:$B$22</c:f>
              <c:numCache>
                <c:formatCode>General</c:formatCode>
                <c:ptCount val="2"/>
                <c:pt idx="0">
                  <c:v>236</c:v>
                </c:pt>
                <c:pt idx="1">
                  <c:v>219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Sheet1!$B$24</c:f>
              <c:strCache>
                <c:ptCount val="1"/>
                <c:pt idx="0">
                  <c:v>NREL bottom-up all-in, 4-h 60 MW</c:v>
                </c:pt>
              </c:strCache>
            </c:strRef>
          </c:tx>
          <c:spPr>
            <a:ln w="25400">
              <a:solidFill>
                <a:srgbClr val="6B7280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2A8A8C"/>
              </a:solidFill>
              <a:ln>
                <a:solidFill>
                  <a:srgbClr val="2A8A8C"/>
                </a:solidFill>
              </a:ln>
            </c:spPr>
          </c:marker>
          <c:xVal>
            <c:numRef>
              <c:f>Sheet1!$A$25:$A$27</c:f>
              <c:numCache>
                <c:formatCode>General</c:formatCode>
                <c:ptCount val="3"/>
                <c:pt idx="0">
                  <c:v>2024</c:v>
                </c:pt>
                <c:pt idx="1">
                  <c:v>2028</c:v>
                </c:pt>
                <c:pt idx="2">
                  <c:v>2035</c:v>
                </c:pt>
              </c:numCache>
            </c:numRef>
          </c:xVal>
          <c:yVal>
            <c:numRef>
              <c:f>Sheet1!$B$25:$B$27</c:f>
              <c:numCache>
                <c:formatCode>General</c:formatCode>
                <c:ptCount val="3"/>
                <c:pt idx="0">
                  <c:v>334</c:v>
                </c:pt>
                <c:pt idx="1">
                  <c:v>302</c:v>
                </c:pt>
                <c:pt idx="2">
                  <c:v>247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Sheet1!$B$29</c:f>
              <c:strCache>
                <c:ptCount val="1"/>
                <c:pt idx="0">
                  <c:v>Hyde Park 2023 indicative bids (range)</c:v>
                </c:pt>
              </c:strCache>
            </c:strRef>
          </c:tx>
          <c:spPr>
            <a:ln w="44450">
              <a:solidFill>
                <a:srgbClr val="6E1F2E"/>
              </a:solidFill>
            </a:ln>
          </c:spPr>
          <c:marker>
            <c:symbol val="dash"/>
            <c:size val="12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xVal>
            <c:numRef>
              <c:f>Sheet1!$A$30:$A$31</c:f>
              <c:numCache>
                <c:formatCode>General</c:formatCode>
                <c:ptCount val="2"/>
                <c:pt idx="0">
                  <c:v>2023.5</c:v>
                </c:pt>
                <c:pt idx="1">
                  <c:v>2023.5</c:v>
                </c:pt>
              </c:numCache>
            </c:numRef>
          </c:xVal>
          <c:yVal>
            <c:numRef>
              <c:f>Sheet1!$B$30:$B$31</c:f>
              <c:numCache>
                <c:formatCode>General</c:formatCode>
                <c:ptCount val="2"/>
                <c:pt idx="0">
                  <c:v>479</c:v>
                </c:pt>
                <c:pt idx="1">
                  <c:v>911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Sheet1!$B$33</c:f>
              <c:strCache>
                <c:ptCount val="1"/>
                <c:pt idx="0">
                  <c:v>Hyde Park 2026 (equipment, contract, as carried, installed)</c:v>
                </c:pt>
              </c:strCache>
            </c:strRef>
          </c:tx>
          <c:spPr>
            <a:ln w="25400">
              <a:noFill/>
            </a:ln>
          </c:spPr>
          <c:marker>
            <c:symbol val="diamond"/>
            <c:size val="11"/>
            <c:spPr>
              <a:solidFill>
                <a:srgbClr val="6E1F2E"/>
              </a:solidFill>
              <a:ln>
                <a:solidFill>
                  <a:srgbClr val="001E60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$532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$605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$650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$833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Sheet1!$A$34:$A$37</c:f>
              <c:numCache>
                <c:formatCode>General</c:formatCode>
                <c:ptCount val="4"/>
                <c:pt idx="0">
                  <c:v>2026.2</c:v>
                </c:pt>
                <c:pt idx="1">
                  <c:v>2026.2</c:v>
                </c:pt>
                <c:pt idx="2">
                  <c:v>2026.75</c:v>
                </c:pt>
                <c:pt idx="3">
                  <c:v>2026.75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532</c:v>
                </c:pt>
                <c:pt idx="1">
                  <c:v>605</c:v>
                </c:pt>
                <c:pt idx="2">
                  <c:v>650</c:v>
                </c:pt>
                <c:pt idx="3">
                  <c:v>833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029.0"/>
          <c:min val="2014.5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logBase val="10"/>
          <c:orientation val="minMax"/>
          <c:max val="3000.0"/>
          <c:min val="10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8940872"/>
        <c:crosses val="autoZero"/>
        <c:crossBetween val="midCat"/>
      </c:valAx>
    </c:plotArea>
    <c:legend>
      <c:legendPos val="b"/>
      <c:legendEntry>
        <c:idx val="0"/>
        <c:delete val="1"/>
      </c:legendEntry>
      <c:layout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10, 13, 17, 20, 24.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'is there a battery curve': yes, and the Nomad price lands on it. The curve is for four-hour, 60 to 150 MW systems in real dollars; our system is two-hour and 10 MW in nominal dollars, which is why the raw comparison looks unfavorable and the adjusted one does not. Sources: EIA Today in Energy #45596 (2015-2018 $/kWh); BNEF Energy Storage System Cost Surveys 2022-2025 (bnef.com/insights/30443, 33081, 35543, 38229); NREL Cole et al. 2025 Update (NREL/TP-6A40-93281); Anza and ESS News for the 2026 tariff and lithium moves. Duration factor from NREL's cost structure; size factor from the Appendix B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'escalation to be included': it is, at $2.95M on the ESF Overview tab (Sta 360 $2,622,100; Sta 496 $326,100), inside the directs at the template rates. The slide shows what it is applied to, which part of it is contestable ($1.13M on the fixed-price battery balance), and what the comparison looks like once both sides are in the same dollar year. The ex-escalation column removes the station escalation from the direct boundaries; the allocation of the non-battery escalation to B+C is pro rata to direct cost and approximate. The 2028 benchmark column compounds each published figure at 3% from its dollar year; the 2-h and 10 MW adjustment is the same one used on the curve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a vendor prices the battery. We build the station, the site, the feeder protection and the siting case, and we carry the risk and the cost of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16).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CURVE 2015-2028 VS HYDE PARK, $/KWH, LOG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Battery installed-cost curve: the Nomad price sits on it once duration and size are 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04088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417320"/>
            <a:ext cx="402336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curve is a 4-h, 60-150 MW, real-dollar curve. </a:t>
            </a:r>
            <a:r>
              <a:rPr sz="1200">
                <a:solidFill>
                  <a:srgbClr val="1F2A44"/>
                </a:solidFill>
                <a:latin typeface="Calibri"/>
              </a:rPr>
              <a:t>EIA's reported all-in fell from $2,152 (2015) to $625 (2018); BNEF turnkey from $324 (2022) to $117 global and $219 US (2025); NREL's 4-h bottom-up base is $334 (2024), $247 by 2035.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is 2-h, 10 MW, nominal. </a:t>
            </a:r>
            <a:r>
              <a:rPr sz="1200">
                <a:solidFill>
                  <a:srgbClr val="1F2A44"/>
                </a:solidFill>
                <a:latin typeface="Calibri"/>
              </a:rPr>
              <a:t>NREL's structure puts a 2-h system at 1.3-1.5x the 4-h $/kWh; the size elasticity in Appendix B adds 1.5x at 20 MWh. Adjusted US turnkey: $440-$505. Nomad equipment: $532.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Install is the layer the curve never shows. </a:t>
            </a:r>
            <a:r>
              <a:rPr sz="1200">
                <a:solidFill>
                  <a:srgbClr val="1F2A44"/>
                </a:solidFill>
                <a:latin typeface="Calibri"/>
              </a:rPr>
              <a:t>Owner-scope installation, integration and balance of plant (B+C) add $183/kWh to the $650 battery line: $833 installed. BNEF's install sits inside a developer's EPC; ours is Eversource scope at New England rates.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2026 turn. </a:t>
            </a:r>
            <a:r>
              <a:rPr sz="1200">
                <a:solidFill>
                  <a:srgbClr val="1F2A44"/>
                </a:solidFill>
                <a:latin typeface="Calibri"/>
              </a:rPr>
              <a:t>Lithium carbonate roughly doubled year on year by August 2026 and tariffs lifted delivered US prices. The March 2026 fixed price sits below where a 2027 re-procurement would 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69494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Plotted as published: EIA-860 nominal; BNEF real survey-year; NREL 2024$ (2028 interpolated between the 2024 base and the 2035 mid case). 2023 bar = five indicative bids, $479-$911/kWh, differing scopes. Retrieved from search excerpts; verify before external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ESCALATION BASIS AND THE COMMON-DOLLAR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Escalation is already in the number: $2.9M at template rates, $1.1M of it on a fixed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Where the escalation sits (Rev 3, included in the directs)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31520"/>
                <a:gridCol w="640080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Escalation in the approval level (Sta 360 $2,622K + Sta 496 $326K)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$2,948K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the Nomad balance, which Exhibit C fixes until Final Acceptance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$1,130K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$57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station, site, feeder protection, testing and owner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$1,818K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Spend curve it is applied to: actuals $5.2M, 2026 $13.5M, 2027 $12.5M, 2028 $26.1M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Same comparison, same dollars (per kWh)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9120"/>
          <a:ext cx="54864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1005840"/>
                <a:gridCol w="2286000"/>
              </a:tblGrid>
              <a:tr h="35661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Ex-escalation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Benchmark brought to 2028 at 3%/yr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 (fixed)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BNEF US turnkey $219 (2025) = $239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as carried (A)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$593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4-h $334 (2024$) = $376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 (A+B+C)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~$756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adjusted to 2-h, 10 MW: $750-$870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$1,483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$1,352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EIA/S&amp;L $436 (2023$) = $505; LBNL $458 = $516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Rates. </a:t>
            </a:r>
            <a:r>
              <a:rPr sz="1150">
                <a:solidFill>
                  <a:srgbClr val="1F2A44"/>
                </a:solidFill>
                <a:latin typeface="Calibri"/>
              </a:rPr>
              <a:t>ESF template escalation, about 3% a year, on the 2026-2028 spend curve. $2.9M is 5.1% of the approval level and 7.4% of directs. Benchmarks are 2023-2025 dollars; Rev 3 is 2026-2028 nominal, so one side must move before they are compared.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Decision pending. </a:t>
            </a:r>
            <a:r>
              <a:rPr sz="1150">
                <a:solidFill>
                  <a:srgbClr val="1F2A44"/>
                </a:solidFill>
                <a:latin typeface="Calibri"/>
              </a:rPr>
              <a:t>$1.13M sits on a price the contract fixes. Remove it or move it to the risk register with a stated rationale (open item, slide 20).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Brought to the same year, the installed battery is on the index. </a:t>
            </a:r>
            <a:r>
              <a:rPr sz="1150">
                <a:solidFill>
                  <a:srgbClr val="1F2A44"/>
                </a:solidFill>
                <a:latin typeface="Calibri"/>
              </a:rPr>
              <a:t>NREL's $334 is $376 in 2028 dollars and $750-$870 after the 2-h and 10 MW adjustments; Hyde Park installed is $833.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What 3% does not cover. </a:t>
            </a:r>
            <a:r>
              <a:rPr sz="1150">
                <a:solidFill>
                  <a:srgbClr val="1F2A44"/>
                </a:solidFill>
                <a:latin typeface="Calibri"/>
              </a:rPr>
              <a:t>Lithium carbonate and tariffs moved faster than 3% in 2026. The battery is fixed by contract, so the exposure is the $3.7M of non-battery material and the labor lines. The $1.0M tariff item in the risk register is sized on total material, battery included.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Schedule. </a:t>
            </a:r>
            <a:r>
              <a:rPr sz="1150">
                <a:solidFill>
                  <a:srgbClr val="1F2A44"/>
                </a:solidFill>
                <a:latin typeface="Calibri"/>
              </a:rPr>
              <a:t>Twelve months of slip adds about $1.2M of escalation on the $38.6M scheduled for 2027-2028, before AFUDC, PM and indirects (about $5M in total).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Ex-escalation values </a:t>
            </a:r>
            <a:r>
              <a:rPr sz="1150">
                <a:solidFill>
                  <a:srgbClr val="1F2A44"/>
                </a:solidFill>
                <a:latin typeface="Calibri"/>
              </a:rPr>
              <a:t>strip the station's $131/kWh from the direct boundaries; the B+C share (~$20/kWh) is allocated pro rata and is approximate.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(slides 9-10).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utility-owned projects at or below 100 MWh: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223760" cy="2471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Median </a:t>
            </a:r>
            <a:r>
              <a:rPr sz="1250">
                <a:solidFill>
                  <a:srgbClr val="1F2A44"/>
                </a:solidFill>
                <a:latin typeface="Calibri"/>
              </a:rPr>
              <a:t>$1,235/kWh; interquartile $750 to $1,289.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250">
                <a:solidFill>
                  <a:srgbClr val="1F2A44"/>
                </a:solidFill>
                <a:latin typeface="Calibri"/>
              </a:rPr>
              <a:t>38% percentile.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250">
                <a:solidFill>
                  <a:srgbClr val="1F2A44"/>
                </a:solidFill>
                <a:latin typeface="Calibri"/>
              </a:rPr>
              <a:t>77% percentile, beside Fairhaven ($1,659 actual, 2023), Chateaugay ($1,490, 2023) and Provincetown ($1,289, 2022).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2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Caveat: </a:t>
            </a:r>
            <a:r>
              <a:rPr sz="1250">
                <a:solidFill>
                  <a:srgbClr val="1F2A44"/>
                </a:solidFill>
                <a:latin typeface="Calibri"/>
              </a:rPr>
              <a:t>figures retrieved from search excerpts of regulator and utility documents; verify at source before external 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26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two thirds of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$1,116/kWh, 80% interval $611 to $2,037.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10%, installed 27%, station direct 73%, approval 98%.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
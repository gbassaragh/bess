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2" r:id="rId34"/>
    <p:sldId id="283" r:id="rId35"/>
    <p:sldId id="284" r:id="rId36"/>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Sheet1!$A$43:$A$46</c:f>
              <c:numCache>
                <c:formatCode>General</c:formatCode>
                <c:ptCount val="4"/>
                <c:pt idx="0">
                  <c:v>2015</c:v>
                </c:pt>
                <c:pt idx="1">
                  <c:v>2017</c:v>
                </c:pt>
                <c:pt idx="2">
                  <c:v>2018</c:v>
                </c:pt>
                <c:pt idx="3">
                  <c:v>2024</c:v>
                </c:pt>
              </c:numCache>
            </c:numRef>
          </c:xVal>
          <c:yVal>
            <c:numRef>
              <c:f>Sheet1!$B$43:$B$46</c:f>
              <c:numCache>
                <c:formatCode>General</c:formatCode>
                <c:ptCount val="4"/>
                <c:pt idx="0">
                  <c:v>3.443</c:v>
                </c:pt>
                <c:pt idx="1">
                  <c:v>1.334</c:v>
                </c:pt>
                <c:pt idx="2">
                  <c:v>1.0</c:v>
                </c:pt>
                <c:pt idx="3">
                  <c:v>0.733</c:v>
                </c:pt>
              </c:numCache>
            </c:numRef>
          </c:yVal>
          <c:smooth val="0"/>
        </c:ser>
        <c:ser>
          <c:idx val="5"/>
          <c:order val="5"/>
          <c:tx>
            <c:strRef>
              <c:f>Sheet1!$B$48</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Sheet1!$A$49:$A$54</c:f>
              <c:numCache>
                <c:formatCode>General</c:formatCode>
                <c:ptCount val="6"/>
                <c:pt idx="0">
                  <c:v>2019</c:v>
                </c:pt>
                <c:pt idx="1">
                  <c:v>2020</c:v>
                </c:pt>
                <c:pt idx="2">
                  <c:v>2021</c:v>
                </c:pt>
                <c:pt idx="3">
                  <c:v>2024</c:v>
                </c:pt>
                <c:pt idx="4">
                  <c:v>2025</c:v>
                </c:pt>
                <c:pt idx="5">
                  <c:v>2026</c:v>
                </c:pt>
              </c:numCache>
            </c:numRef>
          </c:xVal>
          <c:yVal>
            <c:numRef>
              <c:f>Sheet1!$B$49:$B$54</c:f>
              <c:numCache>
                <c:formatCode>General</c:formatCode>
                <c:ptCount val="6"/>
                <c:pt idx="0">
                  <c:v>1.0</c:v>
                </c:pt>
                <c:pt idx="1">
                  <c:v>0.783</c:v>
                </c:pt>
                <c:pt idx="2">
                  <c:v>0.744</c:v>
                </c:pt>
                <c:pt idx="3">
                  <c:v>0.955</c:v>
                </c:pt>
                <c:pt idx="4">
                  <c:v>0.756</c:v>
                </c:pt>
                <c:pt idx="5">
                  <c:v>1.029</c:v>
                </c:pt>
              </c:numCache>
            </c:numRef>
          </c:yVal>
          <c:smooth val="0"/>
        </c:ser>
        <c:ser>
          <c:idx val="6"/>
          <c:order val="6"/>
          <c:tx>
            <c:strRef>
              <c:f>Sheet1!$B$56</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Sheet1!$A$57:$A$68</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Sheet1!$B$57:$B$68</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843</c:v>
                </c:pt>
                <c:pt idx="1">
                  <c:v>837</c:v>
                </c:pt>
                <c:pt idx="2">
                  <c:v>830</c:v>
                </c:pt>
                <c:pt idx="3">
                  <c:v>862</c:v>
                </c:pt>
                <c:pt idx="4">
                  <c:v>909</c:v>
                </c:pt>
                <c:pt idx="5">
                  <c:v>902</c:v>
                </c:pt>
              </c:numCache>
            </c:numRef>
          </c:val>
        </c:ser>
        <c:ser>
          <c:idx val="1"/>
          <c:order val="1"/>
          <c:tx>
            <c:strRef>
              <c:f>Sheet1!$C$1</c:f>
              <c:strCache>
                <c:ptCount val="1"/>
                <c:pt idx="0">
                  <c:v>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832</c:v>
                </c:pt>
                <c:pt idx="1">
                  <c:v>830</c:v>
                </c:pt>
                <c:pt idx="2">
                  <c:v>806</c:v>
                </c:pt>
                <c:pt idx="3">
                  <c:v>838</c:v>
                </c:pt>
                <c:pt idx="4">
                  <c:v>903</c:v>
                </c:pt>
                <c:pt idx="5">
                  <c:v>902</c:v>
                </c:pt>
              </c:numCache>
            </c:numRef>
          </c:val>
        </c:ser>
        <c:ser>
          <c:idx val="2"/>
          <c:order val="2"/>
          <c:tx>
            <c:strRef>
              <c:f>Sheet1!$D$1</c:f>
              <c:strCache>
                <c:ptCount val="1"/>
                <c:pt idx="0">
                  <c:v>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832</c:v>
                </c:pt>
                <c:pt idx="1">
                  <c:v>809</c:v>
                </c:pt>
                <c:pt idx="2">
                  <c:v>744</c:v>
                </c:pt>
                <c:pt idx="3">
                  <c:v>820</c:v>
                </c:pt>
                <c:pt idx="4">
                  <c:v>895</c:v>
                </c:pt>
                <c:pt idx="5">
                  <c:v>902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18, 22, 25, 29.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55 members (31 utility-owned, 24 developer-owned); utility-only subclass of 31 kept in the workbook for continuity (median $986). Model: cost_2026 = cost x [ s x I(2026)/I(y) + (1 - s) x HW(2026)/HW(y) ], s = 0.40, I = the battery index in the row, HW = Handy-Whitman North Atlantic production-plant index (700 in 2015, 745 in 2018, 1,112 in 2026; PJM posting). The 3.5%/yr flat proxy used in the earlier version gives $816 at the installed index. Naive whole-cost deflation at the battery rate: $620 (installed), $607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Net factor = 0.4 x battery ratio + 0.6 x 1.49.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Battery share 40% in every row; the Handy-Whitman index escalates the other 60%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55 public projects its own size: </a:t>
            </a:r>
            <a:r>
              <a:rPr sz="1500" b="0" i="0">
                <a:solidFill>
                  <a:srgbClr val="1F2A44"/>
                </a:solidFill>
                <a:latin typeface="Calibri"/>
              </a:rPr>
              <a:t>the battery installed sits at the 58% percentile, the station complete at the 85% (74% among the 31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21).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25).</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55 COMPARABLES AT OR BELOW 100 MWH (31 UTILITY-, 24 DEVELOPER-OWNED),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Re-based to 2026 dollars, the 55-project class moves by at most a tenth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(40%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$771</a:t>
                      </a:r>
                    </a:p>
                  </a:txBody>
                  <a:tcPr marL="54864" marR="54864" marT="27432" marB="27432" anchor="ctr">
                    <a:solidFill>
                      <a:srgbClr val="FFFFFF"/>
                    </a:solidFill>
                  </a:tcPr>
                </a:tc>
                <a:tc>
                  <a:txBody>
                    <a:bodyPr/>
                    <a:lstStyle/>
                    <a:p>
                      <a:pPr algn="r"/>
                      <a:r>
                        <a:rPr sz="950" b="0">
                          <a:solidFill>
                            <a:srgbClr val="1F2A44"/>
                          </a:solidFill>
                          <a:latin typeface="Calibri"/>
                        </a:rPr>
                        <a:t>58%</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$832</a:t>
                      </a:r>
                    </a:p>
                  </a:txBody>
                  <a:tcPr marL="54864" marR="54864" marT="27432" marB="27432" anchor="ctr">
                    <a:solidFill>
                      <a:srgbClr val="F2F4F8"/>
                    </a:solidFill>
                  </a:tcPr>
                </a:tc>
                <a:tc>
                  <a:txBody>
                    <a:bodyPr/>
                    <a:lstStyle/>
                    <a:p>
                      <a:pPr algn="r"/>
                      <a:r>
                        <a:rPr sz="950" b="0">
                          <a:solidFill>
                            <a:srgbClr val="1F2A44"/>
                          </a:solidFill>
                          <a:latin typeface="Calibri"/>
                        </a:rPr>
                        <a:t>51%</a:t>
                      </a:r>
                    </a:p>
                  </a:txBody>
                  <a:tcPr marL="54864" marR="54864" marT="27432" marB="27432" anchor="ctr">
                    <a:solidFill>
                      <a:srgbClr val="F2F4F8"/>
                    </a:solidFill>
                  </a:tcPr>
                </a:tc>
                <a:tc>
                  <a:txBody>
                    <a:bodyPr/>
                    <a:lstStyle/>
                    <a:p>
                      <a:pPr algn="r"/>
                      <a:r>
                        <a:rPr sz="950" b="0">
                          <a:solidFill>
                            <a:srgbClr val="1F2A44"/>
                          </a:solidFill>
                          <a:latin typeface="Calibri"/>
                        </a:rPr>
                        <a:t>85%</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$830</a:t>
                      </a:r>
                    </a:p>
                  </a:txBody>
                  <a:tcPr marL="54864" marR="54864" marT="27432" marB="27432" anchor="ctr">
                    <a:solidFill>
                      <a:srgbClr val="FFFFFF"/>
                    </a:solidFill>
                  </a:tcPr>
                </a:tc>
                <a:tc>
                  <a:txBody>
                    <a:bodyPr/>
                    <a:lstStyle/>
                    <a:p>
                      <a:pPr algn="r"/>
                      <a:r>
                        <a:rPr sz="950" b="0">
                          <a:solidFill>
                            <a:srgbClr val="1F2A44"/>
                          </a:solidFill>
                          <a:latin typeface="Calibri"/>
                        </a:rPr>
                        <a:t>53%</a:t>
                      </a:r>
                    </a:p>
                  </a:txBody>
                  <a:tcPr marL="54864" marR="54864" marT="27432" marB="27432" anchor="ctr">
                    <a:solidFill>
                      <a:srgbClr val="FFFFFF"/>
                    </a:solidFill>
                  </a:tcPr>
                </a:tc>
                <a:tc>
                  <a:txBody>
                    <a:bodyPr/>
                    <a:lstStyle/>
                    <a:p>
                      <a:pPr algn="r"/>
                      <a:r>
                        <a:rPr sz="950" b="0">
                          <a:solidFill>
                            <a:srgbClr val="1F2A44"/>
                          </a:solidFill>
                          <a:latin typeface="Calibri"/>
                        </a:rPr>
                        <a:t>87%</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$806</a:t>
                      </a:r>
                    </a:p>
                  </a:txBody>
                  <a:tcPr marL="54864" marR="54864" marT="27432" marB="27432" anchor="ctr">
                    <a:solidFill>
                      <a:srgbClr val="F2F4F8"/>
                    </a:solidFill>
                  </a:tcPr>
                </a:tc>
                <a:tc>
                  <a:txBody>
                    <a:bodyPr/>
                    <a:lstStyle/>
                    <a:p>
                      <a:pPr algn="r"/>
                      <a:r>
                        <a:rPr sz="950" b="0">
                          <a:solidFill>
                            <a:srgbClr val="1F2A44"/>
                          </a:solidFill>
                          <a:latin typeface="Calibri"/>
                        </a:rPr>
                        <a:t>60%</a:t>
                      </a:r>
                    </a:p>
                  </a:txBody>
                  <a:tcPr marL="54864" marR="54864" marT="27432" marB="27432" anchor="ctr">
                    <a:solidFill>
                      <a:srgbClr val="F2F4F8"/>
                    </a:solidFill>
                  </a:tcPr>
                </a:tc>
                <a:tc>
                  <a:txBody>
                    <a:bodyPr/>
                    <a:lstStyle/>
                    <a:p>
                      <a:pPr algn="r"/>
                      <a:r>
                        <a:rPr sz="950" b="0">
                          <a:solidFill>
                            <a:srgbClr val="1F2A44"/>
                          </a:solidFill>
                          <a:latin typeface="Calibri"/>
                        </a:rPr>
                        <a:t>89%</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$838</a:t>
                      </a:r>
                    </a:p>
                  </a:txBody>
                  <a:tcPr marL="54864" marR="54864" marT="27432" marB="27432" anchor="ctr">
                    <a:solidFill>
                      <a:srgbClr val="FFFFFF"/>
                    </a:solidFill>
                  </a:tcPr>
                </a:tc>
                <a:tc>
                  <a:txBody>
                    <a:bodyPr/>
                    <a:lstStyle/>
                    <a:p>
                      <a:pPr algn="r"/>
                      <a:r>
                        <a:rPr sz="950" b="0">
                          <a:solidFill>
                            <a:srgbClr val="1F2A44"/>
                          </a:solidFill>
                          <a:latin typeface="Calibri"/>
                        </a:rPr>
                        <a:t>49%</a:t>
                      </a:r>
                    </a:p>
                  </a:txBody>
                  <a:tcPr marL="54864" marR="54864" marT="27432" marB="27432" anchor="ctr">
                    <a:solidFill>
                      <a:srgbClr val="FFFFFF"/>
                    </a:solidFill>
                  </a:tcPr>
                </a:tc>
                <a:tc>
                  <a:txBody>
                    <a:bodyPr/>
                    <a:lstStyle/>
                    <a:p>
                      <a:pPr algn="r"/>
                      <a:r>
                        <a:rPr sz="950" b="0">
                          <a:solidFill>
                            <a:srgbClr val="1F2A44"/>
                          </a:solidFill>
                          <a:latin typeface="Calibri"/>
                        </a:rPr>
                        <a:t>84%</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$903</a:t>
                      </a:r>
                    </a:p>
                  </a:txBody>
                  <a:tcPr marL="54864" marR="54864" marT="27432" marB="27432" anchor="ctr">
                    <a:solidFill>
                      <a:srgbClr val="F2F4F8"/>
                    </a:solidFill>
                  </a:tcPr>
                </a:tc>
                <a:tc>
                  <a:txBody>
                    <a:bodyPr/>
                    <a:lstStyle/>
                    <a:p>
                      <a:pPr algn="r"/>
                      <a:r>
                        <a:rPr sz="950" b="0">
                          <a:solidFill>
                            <a:srgbClr val="1F2A44"/>
                          </a:solidFill>
                          <a:latin typeface="Calibri"/>
                        </a:rPr>
                        <a:t>42%</a:t>
                      </a:r>
                    </a:p>
                  </a:txBody>
                  <a:tcPr marL="54864" marR="54864" marT="27432" marB="27432" anchor="ctr">
                    <a:solidFill>
                      <a:srgbClr val="F2F4F8"/>
                    </a:solidFill>
                  </a:tcPr>
                </a:tc>
                <a:tc>
                  <a:txBody>
                    <a:bodyPr/>
                    <a:lstStyle/>
                    <a:p>
                      <a:pPr algn="r"/>
                      <a:r>
                        <a:rPr sz="950" b="0">
                          <a:solidFill>
                            <a:srgbClr val="1F2A44"/>
                          </a:solidFill>
                          <a:latin typeface="Calibri"/>
                        </a:rPr>
                        <a:t>76%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$902</a:t>
                      </a:r>
                    </a:p>
                  </a:txBody>
                  <a:tcPr marL="54864" marR="54864" marT="27432" marB="27432" anchor="ctr">
                    <a:solidFill>
                      <a:srgbClr val="FFFFFF"/>
                    </a:solidFill>
                  </a:tcPr>
                </a:tc>
                <a:tc>
                  <a:txBody>
                    <a:bodyPr/>
                    <a:lstStyle/>
                    <a:p>
                      <a:pPr algn="r"/>
                      <a:r>
                        <a:rPr sz="950" b="0">
                          <a:solidFill>
                            <a:srgbClr val="1F2A44"/>
                          </a:solidFill>
                          <a:latin typeface="Calibri"/>
                        </a:rPr>
                        <a:t>42%</a:t>
                      </a:r>
                    </a:p>
                  </a:txBody>
                  <a:tcPr marL="54864" marR="54864" marT="27432" marB="27432" anchor="ctr">
                    <a:solidFill>
                      <a:srgbClr val="FFFFFF"/>
                    </a:solidFill>
                  </a:tcPr>
                </a:tc>
                <a:tc>
                  <a:txBody>
                    <a:bodyPr/>
                    <a:lstStyle/>
                    <a:p>
                      <a:pPr algn="r"/>
                      <a:r>
                        <a:rPr sz="950" b="0">
                          <a:solidFill>
                            <a:srgbClr val="1F2A44"/>
                          </a:solidFill>
                          <a:latin typeface="Calibri"/>
                        </a:rPr>
                        <a:t>75%</a:t>
                      </a:r>
                    </a:p>
                  </a:txBody>
                  <a:tcPr marL="54864" marR="54864" marT="27432" marB="27432" anchor="ctr">
                    <a:solidFill>
                      <a:srgbClr val="FFFFFF"/>
                    </a:solidFill>
                  </a:tcPr>
                </a:tc>
              </a:tr>
            </a:tbl>
          </a:graphicData>
        </a:graphic>
      </p:graphicFrame>
      <p:sp>
        <p:nvSpPr>
          <p:cNvPr id="9" name="TextBox 8"/>
          <p:cNvSpPr txBox="1"/>
          <p:nvPr/>
        </p:nvSpPr>
        <p:spPr>
          <a:xfrm>
            <a:off x="7635240" y="4343400"/>
            <a:ext cx="4069080" cy="201168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Two forces, one net. </a:t>
            </a:r>
            <a:r>
              <a:rPr sz="1000">
                <a:solidFill>
                  <a:srgbClr val="1F2A44"/>
                </a:solidFill>
                <a:latin typeface="Calibri"/>
              </a:rPr>
              <a:t>Batteries fell 1.4 to 2x since 2018; Handy-Whitman utility construction rose 49%. On a 40% battery share the net factor for a 2018 project is 1.1 to 1.2.</a:t>
            </a:r>
          </a:p>
          <a:p>
            <a:pPr>
              <a:lnSpc>
                <a:spcPct val="105000"/>
              </a:lnSpc>
              <a:spcAft>
                <a:spcPts val="300"/>
              </a:spcAft>
            </a:pPr>
            <a:r>
              <a:rPr sz="1000">
                <a:solidFill>
                  <a:srgbClr val="FFC72C"/>
                </a:solidFill>
                <a:latin typeface="Calibri"/>
              </a:rPr>
              <a:t>▪  </a:t>
            </a:r>
            <a:r>
              <a:rPr b="1" sz="1000">
                <a:solidFill>
                  <a:srgbClr val="1F2A44"/>
                </a:solidFill>
                <a:latin typeface="Calibri"/>
              </a:rPr>
              <a:t>Widening the class from 13 utility-owned to 55 projects, 24 of them developer-owned, </a:t>
            </a:r>
            <a:r>
              <a:rPr sz="1000">
                <a:solidFill>
                  <a:srgbClr val="1F2A44"/>
                </a:solidFill>
                <a:latin typeface="Calibri"/>
              </a:rPr>
              <a:t>pulls the median from $1,235 to $771 and puts Hyde Park's station-direct cost at the 85% percentile (74% among the utility-owned members). That is the honest comparison and the argument holds: the developer sites carry no utility station, no landfill and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 battery curve you pick moves the median by 4%; </a:t>
            </a:r>
            <a:r>
              <a:rPr sz="1000">
                <a:solidFill>
                  <a:srgbClr val="1F2A44"/>
                </a:solidFill>
                <a:latin typeface="Calibri"/>
              </a:rPr>
              <a:t>slides 14 to 16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BATTERY SHARES,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4%;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$771. Hyde Park station complete, direct, is $1,483/kWh; its percentile under each index is at right. Deflating whole projects at the battery rate gives $524 to $620.</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Net factor, 2018 project, 40% share</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1.19x</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1.14x</a:t>
                      </a:r>
                    </a:p>
                  </a:txBody>
                  <a:tcPr marL="54864" marR="54864" marT="27432" marB="27432" anchor="ctr">
                    <a:solidFill>
                      <a:srgbClr val="F2F4F8"/>
                    </a:solidFill>
                  </a:tcPr>
                </a:tc>
                <a:tc>
                  <a:txBody>
                    <a:bodyPr/>
                    <a:lstStyle/>
                    <a:p>
                      <a:pPr algn="r"/>
                      <a:r>
                        <a:rPr sz="950" b="0">
                          <a:solidFill>
                            <a:srgbClr val="1F2A44"/>
                          </a:solidFill>
                          <a:latin typeface="Calibri"/>
                        </a:rPr>
                        <a:t>87%</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1.09x</a:t>
                      </a:r>
                    </a:p>
                  </a:txBody>
                  <a:tcPr marL="54864" marR="54864" marT="27432" marB="27432" anchor="ctr">
                    <a:solidFill>
                      <a:srgbClr val="FFFFFF"/>
                    </a:solidFill>
                  </a:tcPr>
                </a:tc>
                <a:tc>
                  <a:txBody>
                    <a:bodyPr/>
                    <a:lstStyle/>
                    <a:p>
                      <a:pPr algn="r"/>
                      <a:r>
                        <a:rPr sz="950" b="0">
                          <a:solidFill>
                            <a:srgbClr val="1F2A44"/>
                          </a:solidFill>
                          <a:latin typeface="Calibri"/>
                        </a:rPr>
                        <a:t>89%</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1.17x</a:t>
                      </a:r>
                    </a:p>
                  </a:txBody>
                  <a:tcPr marL="54864" marR="54864" marT="27432" marB="27432" anchor="ctr">
                    <a:solidFill>
                      <a:srgbClr val="F2F4F8"/>
                    </a:solidFill>
                  </a:tcPr>
                </a:tc>
                <a:tc>
                  <a:txBody>
                    <a:bodyPr/>
                    <a:lstStyle/>
                    <a:p>
                      <a:pPr algn="r"/>
                      <a:r>
                        <a:rPr sz="950" b="0">
                          <a:solidFill>
                            <a:srgbClr val="1F2A44"/>
                          </a:solidFill>
                          <a:latin typeface="Calibri"/>
                        </a:rPr>
                        <a:t>84%</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1.31x</a:t>
                      </a:r>
                    </a:p>
                  </a:txBody>
                  <a:tcPr marL="54864" marR="54864" marT="27432" marB="27432" anchor="ctr">
                    <a:solidFill>
                      <a:srgbClr val="FFFFFF"/>
                    </a:solidFill>
                  </a:tcPr>
                </a:tc>
                <a:tc>
                  <a:txBody>
                    <a:bodyPr/>
                    <a:lstStyle/>
                    <a:p>
                      <a:pPr algn="r"/>
                      <a:r>
                        <a:rPr sz="950" b="0">
                          <a:solidFill>
                            <a:srgbClr val="1F2A44"/>
                          </a:solidFill>
                          <a:latin typeface="Calibri"/>
                        </a:rPr>
                        <a:t>76%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75%</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$806 to $838 across the four battery series (LCOS $903).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Battery share: </a:t>
            </a:r>
            <a:r>
              <a:rPr sz="1000">
                <a:solidFill>
                  <a:srgbClr val="1F2A44"/>
                </a:solidFill>
                <a:latin typeface="Calibri"/>
              </a:rPr>
              <a:t>30% to 50% moves the median $11 to $86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$816 instead of $832.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(55-PROJECT CLASS; 31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$771</a:t>
                      </a:r>
                    </a:p>
                  </a:txBody>
                  <a:tcPr marL="54864" marR="54864" marT="27432" marB="27432" anchor="ctr">
                    <a:solidFill>
                      <a:srgbClr val="FFFFFF"/>
                    </a:solidFill>
                  </a:tcPr>
                </a:tc>
                <a:tc>
                  <a:txBody>
                    <a:bodyPr/>
                    <a:lstStyle/>
                    <a:p>
                      <a:pPr algn="r"/>
                      <a:r>
                        <a:rPr sz="1050" b="0">
                          <a:solidFill>
                            <a:srgbClr val="1F2A44"/>
                          </a:solidFill>
                          <a:latin typeface="Calibri"/>
                        </a:rPr>
                        <a:t>58%</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$832</a:t>
                      </a:r>
                    </a:p>
                  </a:txBody>
                  <a:tcPr marL="54864" marR="54864" marT="27432" marB="27432" anchor="ctr">
                    <a:solidFill>
                      <a:srgbClr val="F2F4F8"/>
                    </a:solidFill>
                  </a:tcPr>
                </a:tc>
                <a:tc>
                  <a:txBody>
                    <a:bodyPr/>
                    <a:lstStyle/>
                    <a:p>
                      <a:pPr algn="r"/>
                      <a:r>
                        <a:rPr sz="1050" b="0">
                          <a:solidFill>
                            <a:srgbClr val="1F2A44"/>
                          </a:solidFill>
                          <a:latin typeface="Calibri"/>
                        </a:rPr>
                        <a:t>51%</a:t>
                      </a:r>
                    </a:p>
                  </a:txBody>
                  <a:tcPr marL="54864" marR="54864" marT="27432" marB="27432" anchor="ctr">
                    <a:solidFill>
                      <a:srgbClr val="F2F4F8"/>
                    </a:solidFill>
                  </a:tcPr>
                </a:tc>
                <a:tc>
                  <a:txBody>
                    <a:bodyPr/>
                    <a:lstStyle/>
                    <a:p>
                      <a:pPr algn="r"/>
                      <a:r>
                        <a:rPr sz="1050" b="0">
                          <a:solidFill>
                            <a:srgbClr val="1F2A44"/>
                          </a:solidFill>
                          <a:latin typeface="Calibri"/>
                        </a:rPr>
                        <a:t>85%</a:t>
                      </a:r>
                    </a:p>
                  </a:txBody>
                  <a:tcPr marL="54864" marR="54864" marT="27432" marB="27432" anchor="ctr">
                    <a:solidFill>
                      <a:srgbClr val="F2F4F8"/>
                    </a:solidFill>
                  </a:tcPr>
                </a:tc>
                <a:tc>
                  <a:txBody>
                    <a:bodyPr/>
                    <a:lstStyle/>
                    <a:p>
                      <a:pPr algn="r"/>
                      <a:r>
                        <a:rPr sz="1050" b="0">
                          <a:solidFill>
                            <a:srgbClr val="1F2A44"/>
                          </a:solidFill>
                          <a:latin typeface="Calibri"/>
                        </a:rPr>
                        <a:t>$1,057</a:t>
                      </a:r>
                    </a:p>
                  </a:txBody>
                  <a:tcPr marL="54864" marR="54864" marT="27432" marB="27432" anchor="ctr">
                    <a:solidFill>
                      <a:srgbClr val="F2F4F8"/>
                    </a:solidFill>
                  </a:tcPr>
                </a:tc>
                <a:tc>
                  <a:txBody>
                    <a:bodyPr/>
                    <a:lstStyle/>
                    <a:p>
                      <a:pPr algn="r"/>
                      <a:r>
                        <a:rPr sz="1050" b="0">
                          <a:solidFill>
                            <a:srgbClr val="1F2A44"/>
                          </a:solidFill>
                          <a:latin typeface="Calibri"/>
                        </a:rPr>
                        <a:t>74%</a:t>
                      </a:r>
                    </a:p>
                  </a:txBody>
                  <a:tcPr marL="54864" marR="54864" marT="27432" marB="27432" anchor="ctr">
                    <a:solidFill>
                      <a:srgbClr val="F2F4F8"/>
                    </a:solidFill>
                  </a:tcPr>
                </a:tc>
                <a:tc>
                  <a:txBody>
                    <a:bodyPr/>
                    <a:lstStyle/>
                    <a:p>
                      <a:pPr algn="r"/>
                      <a:r>
                        <a:rPr sz="1050" b="0">
                          <a:solidFill>
                            <a:srgbClr val="1F2A44"/>
                          </a:solidFill>
                          <a:latin typeface="Calibri"/>
                        </a:rPr>
                        <a:t>$620 / 95%</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$830</a:t>
                      </a:r>
                    </a:p>
                  </a:txBody>
                  <a:tcPr marL="54864" marR="54864" marT="27432" marB="27432" anchor="ctr">
                    <a:solidFill>
                      <a:srgbClr val="FFFFFF"/>
                    </a:solidFill>
                  </a:tcPr>
                </a:tc>
                <a:tc>
                  <a:txBody>
                    <a:bodyPr/>
                    <a:lstStyle/>
                    <a:p>
                      <a:pPr algn="r"/>
                      <a:r>
                        <a:rPr sz="1050" b="0">
                          <a:solidFill>
                            <a:srgbClr val="1F2A44"/>
                          </a:solidFill>
                          <a:latin typeface="Calibri"/>
                        </a:rPr>
                        <a:t>53%</a:t>
                      </a:r>
                    </a:p>
                  </a:txBody>
                  <a:tcPr marL="54864" marR="54864" marT="27432" marB="27432" anchor="ctr">
                    <a:solidFill>
                      <a:srgbClr val="FFFFFF"/>
                    </a:solidFill>
                  </a:tcPr>
                </a:tc>
                <a:tc>
                  <a:txBody>
                    <a:bodyPr/>
                    <a:lstStyle/>
                    <a:p>
                      <a:pPr algn="r"/>
                      <a:r>
                        <a:rPr sz="1050" b="0">
                          <a:solidFill>
                            <a:srgbClr val="1F2A44"/>
                          </a:solidFill>
                          <a:latin typeface="Calibri"/>
                        </a:rPr>
                        <a:t>87%</a:t>
                      </a:r>
                    </a:p>
                  </a:txBody>
                  <a:tcPr marL="54864" marR="54864" marT="27432" marB="27432" anchor="ctr">
                    <a:solidFill>
                      <a:srgbClr val="FFFFFF"/>
                    </a:solidFill>
                  </a:tcPr>
                </a:tc>
                <a:tc>
                  <a:txBody>
                    <a:bodyPr/>
                    <a:lstStyle/>
                    <a:p>
                      <a:pPr algn="r"/>
                      <a:r>
                        <a:rPr sz="1050" b="0">
                          <a:solidFill>
                            <a:srgbClr val="1F2A44"/>
                          </a:solidFill>
                          <a:latin typeface="Calibri"/>
                        </a:rPr>
                        <a:t>$1,093</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$607 / 96%</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$806</a:t>
                      </a:r>
                    </a:p>
                  </a:txBody>
                  <a:tcPr marL="54864" marR="54864" marT="27432" marB="27432" anchor="ctr">
                    <a:solidFill>
                      <a:srgbClr val="F2F4F8"/>
                    </a:solidFill>
                  </a:tcPr>
                </a:tc>
                <a:tc>
                  <a:txBody>
                    <a:bodyPr/>
                    <a:lstStyle/>
                    <a:p>
                      <a:pPr algn="r"/>
                      <a:r>
                        <a:rPr sz="1050" b="0">
                          <a:solidFill>
                            <a:srgbClr val="1F2A44"/>
                          </a:solidFill>
                          <a:latin typeface="Calibri"/>
                        </a:rPr>
                        <a:t>60%</a:t>
                      </a:r>
                    </a:p>
                  </a:txBody>
                  <a:tcPr marL="54864" marR="54864" marT="27432" marB="27432" anchor="ctr">
                    <a:solidFill>
                      <a:srgbClr val="F2F4F8"/>
                    </a:solidFill>
                  </a:tcPr>
                </a:tc>
                <a:tc>
                  <a:txBody>
                    <a:bodyPr/>
                    <a:lstStyle/>
                    <a:p>
                      <a:pPr algn="r"/>
                      <a:r>
                        <a:rPr sz="1050" b="0">
                          <a:solidFill>
                            <a:srgbClr val="1F2A44"/>
                          </a:solidFill>
                          <a:latin typeface="Calibri"/>
                        </a:rPr>
                        <a:t>89%</a:t>
                      </a:r>
                    </a:p>
                  </a:txBody>
                  <a:tcPr marL="54864" marR="54864" marT="27432" marB="27432" anchor="ctr">
                    <a:solidFill>
                      <a:srgbClr val="F2F4F8"/>
                    </a:solidFill>
                  </a:tcPr>
                </a:tc>
                <a:tc>
                  <a:txBody>
                    <a:bodyPr/>
                    <a:lstStyle/>
                    <a:p>
                      <a:pPr algn="r"/>
                      <a:r>
                        <a:rPr sz="1050" b="0">
                          <a:solidFill>
                            <a:srgbClr val="1F2A44"/>
                          </a:solidFill>
                          <a:latin typeface="Calibri"/>
                        </a:rPr>
                        <a:t>$1,038</a:t>
                      </a:r>
                    </a:p>
                  </a:txBody>
                  <a:tcPr marL="54864" marR="54864" marT="27432" marB="27432" anchor="ctr">
                    <a:solidFill>
                      <a:srgbClr val="F2F4F8"/>
                    </a:solidFill>
                  </a:tcPr>
                </a:tc>
                <a:tc>
                  <a:txBody>
                    <a:bodyPr/>
                    <a:lstStyle/>
                    <a:p>
                      <a:pPr algn="r"/>
                      <a:r>
                        <a:rPr sz="1050" b="0">
                          <a:solidFill>
                            <a:srgbClr val="1F2A44"/>
                          </a:solidFill>
                          <a:latin typeface="Calibri"/>
                        </a:rPr>
                        <a:t>81%</a:t>
                      </a:r>
                    </a:p>
                  </a:txBody>
                  <a:tcPr marL="54864" marR="54864" marT="27432" marB="27432" anchor="ctr">
                    <a:solidFill>
                      <a:srgbClr val="F2F4F8"/>
                    </a:solidFill>
                  </a:tcPr>
                </a:tc>
                <a:tc>
                  <a:txBody>
                    <a:bodyPr/>
                    <a:lstStyle/>
                    <a:p>
                      <a:pPr algn="r"/>
                      <a:r>
                        <a:rPr sz="1050" b="0">
                          <a:solidFill>
                            <a:srgbClr val="1F2A44"/>
                          </a:solidFill>
                          <a:latin typeface="Calibri"/>
                        </a:rPr>
                        <a:t>$524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$838</a:t>
                      </a:r>
                    </a:p>
                  </a:txBody>
                  <a:tcPr marL="54864" marR="54864" marT="27432" marB="27432" anchor="ctr">
                    <a:solidFill>
                      <a:srgbClr val="FFFFFF"/>
                    </a:solidFill>
                  </a:tcPr>
                </a:tc>
                <a:tc>
                  <a:txBody>
                    <a:bodyPr/>
                    <a:lstStyle/>
                    <a:p>
                      <a:pPr algn="r"/>
                      <a:r>
                        <a:rPr sz="1050" b="0">
                          <a:solidFill>
                            <a:srgbClr val="1F2A44"/>
                          </a:solidFill>
                          <a:latin typeface="Calibri"/>
                        </a:rPr>
                        <a:t>49%</a:t>
                      </a:r>
                    </a:p>
                  </a:txBody>
                  <a:tcPr marL="54864" marR="54864" marT="27432" marB="27432" anchor="ctr">
                    <a:solidFill>
                      <a:srgbClr val="FFFFFF"/>
                    </a:solidFill>
                  </a:tcPr>
                </a:tc>
                <a:tc>
                  <a:txBody>
                    <a:bodyPr/>
                    <a:lstStyle/>
                    <a:p>
                      <a:pPr algn="r"/>
                      <a:r>
                        <a:rPr sz="1050" b="0">
                          <a:solidFill>
                            <a:srgbClr val="1F2A44"/>
                          </a:solidFill>
                          <a:latin typeface="Calibri"/>
                        </a:rPr>
                        <a:t>84%</a:t>
                      </a:r>
                    </a:p>
                  </a:txBody>
                  <a:tcPr marL="54864" marR="54864" marT="27432" marB="27432" anchor="ctr">
                    <a:solidFill>
                      <a:srgbClr val="FFFFFF"/>
                    </a:solidFill>
                  </a:tcPr>
                </a:tc>
                <a:tc>
                  <a:txBody>
                    <a:bodyPr/>
                    <a:lstStyle/>
                    <a:p>
                      <a:pPr algn="r"/>
                      <a:r>
                        <a:rPr sz="1050" b="0">
                          <a:solidFill>
                            <a:srgbClr val="1F2A44"/>
                          </a:solidFill>
                          <a:latin typeface="Calibri"/>
                        </a:rPr>
                        <a:t>$1,118</a:t>
                      </a:r>
                    </a:p>
                  </a:txBody>
                  <a:tcPr marL="54864" marR="54864" marT="27432" marB="27432" anchor="ctr">
                    <a:solidFill>
                      <a:srgbClr val="FFFFFF"/>
                    </a:solidFill>
                  </a:tcPr>
                </a:tc>
                <a:tc>
                  <a:txBody>
                    <a:bodyPr/>
                    <a:lstStyle/>
                    <a:p>
                      <a:pPr algn="r"/>
                      <a:r>
                        <a:rPr sz="1050" b="0">
                          <a:solidFill>
                            <a:srgbClr val="1F2A44"/>
                          </a:solidFill>
                          <a:latin typeface="Calibri"/>
                        </a:rPr>
                        <a:t>71%</a:t>
                      </a:r>
                    </a:p>
                  </a:txBody>
                  <a:tcPr marL="54864" marR="54864" marT="27432" marB="27432" anchor="ctr">
                    <a:solidFill>
                      <a:srgbClr val="FFFFFF"/>
                    </a:solidFill>
                  </a:tcPr>
                </a:tc>
                <a:tc>
                  <a:txBody>
                    <a:bodyPr/>
                    <a:lstStyle/>
                    <a:p>
                      <a:pPr algn="r"/>
                      <a:r>
                        <a:rPr sz="1050" b="0">
                          <a:solidFill>
                            <a:srgbClr val="1F2A44"/>
                          </a:solidFill>
                          <a:latin typeface="Calibri"/>
                        </a:rPr>
                        <a:t>$694 / 95%</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$903</a:t>
                      </a:r>
                    </a:p>
                  </a:txBody>
                  <a:tcPr marL="54864" marR="54864" marT="27432" marB="27432" anchor="ctr">
                    <a:solidFill>
                      <a:srgbClr val="F2F4F8"/>
                    </a:solidFill>
                  </a:tcPr>
                </a:tc>
                <a:tc>
                  <a:txBody>
                    <a:bodyPr/>
                    <a:lstStyle/>
                    <a:p>
                      <a:pPr algn="r"/>
                      <a:r>
                        <a:rPr sz="1050" b="0">
                          <a:solidFill>
                            <a:srgbClr val="1F2A44"/>
                          </a:solidFill>
                          <a:latin typeface="Calibri"/>
                        </a:rPr>
                        <a:t>42%</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58%</a:t>
                      </a:r>
                    </a:p>
                  </a:txBody>
                  <a:tcPr marL="54864" marR="54864" marT="27432" marB="27432" anchor="ctr">
                    <a:solidFill>
                      <a:srgbClr val="F2F4F8"/>
                    </a:solidFill>
                  </a:tcPr>
                </a:tc>
                <a:tc>
                  <a:txBody>
                    <a:bodyPr/>
                    <a:lstStyle/>
                    <a:p>
                      <a:pPr algn="r"/>
                      <a:r>
                        <a:rPr sz="1050" b="0">
                          <a:solidFill>
                            <a:srgbClr val="1F2A44"/>
                          </a:solidFill>
                          <a:latin typeface="Calibri"/>
                        </a:rPr>
                        <a:t>$890 / 80%</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$902</a:t>
                      </a:r>
                    </a:p>
                  </a:txBody>
                  <a:tcPr marL="54864" marR="54864" marT="27432" marB="27432" anchor="ctr">
                    <a:solidFill>
                      <a:srgbClr val="FFFFFF"/>
                    </a:solidFill>
                  </a:tcPr>
                </a:tc>
                <a:tc>
                  <a:txBody>
                    <a:bodyPr/>
                    <a:lstStyle/>
                    <a:p>
                      <a:pPr algn="r"/>
                      <a:r>
                        <a:rPr sz="1050" b="0">
                          <a:solidFill>
                            <a:srgbClr val="1F2A44"/>
                          </a:solidFill>
                          <a:latin typeface="Calibri"/>
                        </a:rPr>
                        <a:t>42%</a:t>
                      </a:r>
                    </a:p>
                  </a:txBody>
                  <a:tcPr marL="54864" marR="54864" marT="27432" marB="27432" anchor="ctr">
                    <a:solidFill>
                      <a:srgbClr val="FFFFFF"/>
                    </a:solidFill>
                  </a:tcPr>
                </a:tc>
                <a:tc>
                  <a:txBody>
                    <a:bodyPr/>
                    <a:lstStyle/>
                    <a:p>
                      <a:pPr algn="r"/>
                      <a:r>
                        <a:rPr sz="1050" b="0">
                          <a:solidFill>
                            <a:srgbClr val="1F2A44"/>
                          </a:solidFill>
                          <a:latin typeface="Calibri"/>
                        </a:rPr>
                        <a:t>75%</a:t>
                      </a:r>
                    </a:p>
                  </a:txBody>
                  <a:tcPr marL="54864" marR="54864" marT="27432" marB="27432" anchor="ctr">
                    <a:solidFill>
                      <a:srgbClr val="FFFFFF"/>
                    </a:solidFill>
                  </a:tcPr>
                </a:tc>
                <a:tc>
                  <a:txBody>
                    <a:bodyPr/>
                    <a:lstStyle/>
                    <a:p>
                      <a:pPr algn="r"/>
                      <a:r>
                        <a:rPr sz="1050" b="0">
                          <a:solidFill>
                            <a:srgbClr val="1F2A44"/>
                          </a:solidFill>
                          <a:latin typeface="Calibri"/>
                        </a:rPr>
                        <a:t>$1,327</a:t>
                      </a:r>
                    </a:p>
                  </a:txBody>
                  <a:tcPr marL="54864" marR="54864" marT="27432" marB="27432" anchor="ctr">
                    <a:solidFill>
                      <a:srgbClr val="FFFFFF"/>
                    </a:solidFill>
                  </a:tcPr>
                </a:tc>
                <a:tc>
                  <a:txBody>
                    <a:bodyPr/>
                    <a:lstStyle/>
                    <a:p>
                      <a:pPr algn="r"/>
                      <a:r>
                        <a:rPr sz="1050" b="0">
                          <a:solidFill>
                            <a:srgbClr val="1F2A44"/>
                          </a:solidFill>
                          <a:latin typeface="Calibri"/>
                        </a:rPr>
                        <a:t>55%</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$32/kWh of each other and Hyde Park's station cost between the 84% and 89%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$524 to $694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55 public projects at or below 100 MWh the station-direct cost is at the 85% percentile and the approval level above every member; a regression on 81 projects brackets a 2028 build at $676 to $1,668/kWh;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55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Median </a:t>
            </a:r>
            <a:r>
              <a:rPr sz="1150">
                <a:solidFill>
                  <a:srgbClr val="1F2A44"/>
                </a:solidFill>
                <a:latin typeface="Calibri"/>
              </a:rPr>
              <a:t>$771/kWh; interquartile $576 to $1,172. Utility-owned subclass (31): median $986.</a:t>
            </a:r>
          </a:p>
          <a:p>
            <a:pPr>
              <a:lnSpc>
                <a:spcPct val="105000"/>
              </a:lnSpc>
              <a:spcAft>
                <a:spcPts val="500"/>
              </a:spcAft>
            </a:pPr>
            <a:r>
              <a:rPr sz="1150">
                <a:solidFill>
                  <a:srgbClr val="FFC72C"/>
                </a:solidFill>
                <a:latin typeface="Calibri"/>
              </a:rPr>
              <a:t>▪  </a:t>
            </a:r>
            <a:r>
              <a:rPr b="1" sz="1150">
                <a:solidFill>
                  <a:srgbClr val="1F2A44"/>
                </a:solidFill>
                <a:latin typeface="Calibri"/>
              </a:rPr>
              <a:t>Hyde Park battery installed, $833: </a:t>
            </a:r>
            <a:r>
              <a:rPr sz="1150">
                <a:solidFill>
                  <a:srgbClr val="1F2A44"/>
                </a:solidFill>
                <a:latin typeface="Calibri"/>
              </a:rPr>
              <a:t>58% percentile.</a:t>
            </a:r>
          </a:p>
          <a:p>
            <a:pPr>
              <a:lnSpc>
                <a:spcPct val="105000"/>
              </a:lnSpc>
              <a:spcAft>
                <a:spcPts val="500"/>
              </a:spcAft>
            </a:pPr>
            <a:r>
              <a:rPr sz="1150">
                <a:solidFill>
                  <a:srgbClr val="FFC72C"/>
                </a:solidFill>
                <a:latin typeface="Calibri"/>
              </a:rPr>
              <a:t>▪  </a:t>
            </a:r>
            <a:r>
              <a:rPr b="1" sz="1150">
                <a:solidFill>
                  <a:srgbClr val="1F2A44"/>
                </a:solidFill>
                <a:latin typeface="Calibri"/>
              </a:rPr>
              <a:t>Station complete, direct, $1,483: </a:t>
            </a:r>
            <a:r>
              <a:rPr sz="1150">
                <a:solidFill>
                  <a:srgbClr val="1F2A44"/>
                </a:solidFill>
                <a:latin typeface="Calibri"/>
              </a:rPr>
              <a:t>85% percentile (74% in the utility subclass), beside Fairhaven ($1,659 actual, 2023), Chateaugay ($1,490, 2023), Hinesburg ($1,400, 2023) and Provincetown ($1,289, 2022).</a:t>
            </a:r>
          </a:p>
          <a:p>
            <a:pPr>
              <a:lnSpc>
                <a:spcPct val="105000"/>
              </a:lnSpc>
              <a:spcAft>
                <a:spcPts val="500"/>
              </a:spcAft>
            </a:pPr>
            <a:r>
              <a:rPr sz="1150">
                <a:solidFill>
                  <a:srgbClr val="FFC72C"/>
                </a:solidFill>
                <a:latin typeface="Calibri"/>
              </a:rPr>
              <a:t>▪  </a:t>
            </a:r>
            <a:r>
              <a:rPr b="1" sz="1150">
                <a:solidFill>
                  <a:srgbClr val="1F2A44"/>
                </a:solidFill>
                <a:latin typeface="Calibri"/>
              </a:rPr>
              <a:t>Approval level, $2,862: </a:t>
            </a:r>
            <a:r>
              <a:rPr sz="1150">
                <a:solidFill>
                  <a:srgbClr val="1F2A44"/>
                </a:solidFill>
                <a:latin typeface="Calibri"/>
              </a:rPr>
              <a:t>above every member. The loaders ($23.7M) and the two interconnection scopes are what the comparables do not carry.</a:t>
            </a:r>
          </a:p>
          <a:p>
            <a:pPr>
              <a:lnSpc>
                <a:spcPct val="105000"/>
              </a:lnSpc>
              <a:spcAft>
                <a:spcPts val="500"/>
              </a:spcAft>
            </a:pPr>
            <a:r>
              <a:rPr sz="1150">
                <a:solidFill>
                  <a:srgbClr val="FFC72C"/>
                </a:solidFill>
                <a:latin typeface="Calibri"/>
              </a:rPr>
              <a:t>▪  </a:t>
            </a:r>
            <a:r>
              <a:rPr b="1" sz="1150">
                <a:solidFill>
                  <a:srgbClr val="1F2A44"/>
                </a:solidFill>
                <a:latin typeface="Calibri"/>
              </a:rPr>
              <a:t>Re-based to 2026 dollars (slides 12 and 14 to 16): </a:t>
            </a:r>
            <a:r>
              <a:rPr sz="1150">
                <a:solidFill>
                  <a:srgbClr val="1F2A44"/>
                </a:solidFill>
                <a:latin typeface="Calibri"/>
              </a:rPr>
              <a:t>median $832 at the installed index, $843 to $832 across 30 to 50% battery share.</a:t>
            </a:r>
          </a:p>
          <a:p>
            <a:pPr>
              <a:lnSpc>
                <a:spcPct val="105000"/>
              </a:lnSpc>
              <a:spcAft>
                <a:spcPts val="500"/>
              </a:spcAft>
            </a:pPr>
            <a:r>
              <a:rPr sz="1150">
                <a:solidFill>
                  <a:srgbClr val="FFC72C"/>
                </a:solidFill>
                <a:latin typeface="Calibri"/>
              </a:rPr>
              <a:t>▪  </a:t>
            </a:r>
            <a:r>
              <a:rPr b="1" sz="1150">
                <a:solidFill>
                  <a:srgbClr val="1F2A44"/>
                </a:solidFill>
                <a:latin typeface="Calibri"/>
              </a:rPr>
              <a:t>Caveat: </a:t>
            </a:r>
            <a:r>
              <a:rPr sz="1150">
                <a:solidFill>
                  <a:srgbClr val="1F2A44"/>
                </a:solidFill>
                <a:latin typeface="Calibri"/>
              </a:rPr>
              <a:t>figures retrieved from search excerpts of regulator, IDA and utility documents; verify at source before external use. 24 developer-owned members carry developer overhead and profit but no utility indirects or AFUDC; incentives are not netted.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81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-0.30</a:t>
                      </a:r>
                    </a:p>
                  </a:txBody>
                  <a:tcPr marL="54864" marR="54864" marT="27432" marB="27432" anchor="ctr">
                    <a:solidFill>
                      <a:srgbClr val="F2F4F8"/>
                    </a:solidFill>
                  </a:tcPr>
                </a:tc>
                <a:tc>
                  <a:txBody>
                    <a:bodyPr/>
                    <a:lstStyle/>
                    <a:p>
                      <a:pPr algn="r"/>
                      <a:r>
                        <a:rPr sz="1100" b="0">
                          <a:solidFill>
                            <a:srgbClr val="1F2A44"/>
                          </a:solidFill>
                          <a:latin typeface="Calibri"/>
                        </a:rPr>
                        <a:t>0.000</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+0.027</a:t>
                      </a:r>
                    </a:p>
                  </a:txBody>
                  <a:tcPr marL="54864" marR="54864" marT="27432" marB="27432" anchor="ctr">
                    <a:solidFill>
                      <a:srgbClr val="FFFFFF"/>
                    </a:solidFill>
                  </a:tcPr>
                </a:tc>
                <a:tc>
                  <a:txBody>
                    <a:bodyPr/>
                    <a:lstStyle/>
                    <a:p>
                      <a:pPr algn="r"/>
                      <a:r>
                        <a:rPr sz="1100" b="0">
                          <a:solidFill>
                            <a:srgbClr val="1F2A44"/>
                          </a:solidFill>
                          <a:latin typeface="Calibri"/>
                        </a:rPr>
                        <a:t>0.12</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0.55</a:t>
                      </a:r>
                    </a:p>
                  </a:txBody>
                  <a:tcPr marL="54864" marR="54864" marT="27432" marB="27432" anchor="ctr">
                    <a:solidFill>
                      <a:srgbClr val="F2F4F8"/>
                    </a:solidFill>
                  </a:tcPr>
                </a:tc>
                <a:tc>
                  <a:txBody>
                    <a:bodyPr/>
                    <a:lstStyle/>
                    <a:p>
                      <a:pPr algn="r"/>
                      <a:r>
                        <a:rPr sz="1100" b="0">
                          <a:solidFill>
                            <a:srgbClr val="1F2A44"/>
                          </a:solidFill>
                          <a:latin typeface="Calibri"/>
                        </a:rPr>
                        <a:t>n = 81</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$1,062/kWh, 80% interval $676 to $1,668.</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6%, installed 25%, station direct 83%,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18% at the same size, duration and year (p 0.03); region is not significant.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
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Sheet1!$A$2:$A$14</c:f>
              <c:strCache>
                <c:ptCount val="13"/>
                <c:pt idx="0">
                  <c:v>A Battery contract
$13.0M</c:v>
                </c:pt>
                <c:pt idx="1">
                  <c:v>B Battery install
$1.7M</c:v>
                </c:pt>
                <c:pt idx="2">
                  <c:v>C Battery BOP (GSU, EMS)
$1.9M</c:v>
                </c:pt>
                <c:pt idx="3">
                  <c:v>D Sta 360 switching
$3.8M</c:v>
                </c:pt>
                <c:pt idx="4">
                  <c:v>E Site &amp; civil
$2.7M</c:v>
                </c:pt>
                <c:pt idx="5">
                  <c:v>F Sta 496 protection
$7.3M</c:v>
                </c:pt>
                <c:pt idx="6">
                  <c:v>G Testing
$1.3M</c:v>
                </c:pt>
                <c:pt idx="7">
                  <c:v>H Owner soft costs
$4.4M</c:v>
                </c:pt>
                <c:pt idx="8">
                  <c:v>I Taxes, CWIP, BAR
$0.8M</c:v>
                </c:pt>
                <c:pt idx="9">
                  <c:v>J Risk
$5.3M</c:v>
                </c:pt>
                <c:pt idx="10">
                  <c:v>K Contingency
$2.3M</c:v>
                </c:pt>
                <c:pt idx="11">
                  <c:v>L Indirects
$8.1M</c:v>
                </c:pt>
                <c:pt idx="12">
                  <c:v>M AFUDC
$4.7M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</c:v>
                </c:pt>
                <c:pt idx="1">
                  <c:v>12.99</c:v>
                </c:pt>
                <c:pt idx="2">
                  <c:v>14.72</c:v>
                </c:pt>
                <c:pt idx="3">
                  <c:v>16.66</c:v>
                </c:pt>
                <c:pt idx="4">
                  <c:v>20.5</c:v>
                </c:pt>
                <c:pt idx="5">
                  <c:v>23.19</c:v>
                </c:pt>
                <c:pt idx="6">
                  <c:v>30.45</c:v>
                </c:pt>
                <c:pt idx="7">
                  <c:v>31.71</c:v>
                </c:pt>
                <c:pt idx="8">
                  <c:v>36.13</c:v>
                </c:pt>
                <c:pt idx="9">
                  <c:v>36.92</c:v>
                </c:pt>
                <c:pt idx="10">
                  <c:v>42.22</c:v>
                </c:pt>
                <c:pt idx="11">
                  <c:v>44.5</c:v>
                </c:pt>
                <c:pt idx="12">
                  <c:v>52.57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Layer</c:v>
                </c:pt>
              </c:strCache>
            </c:strRef>
          </c:tx>
          <c:spPr>
            <a:solidFill>
              <a:srgbClr val="001E60"/>
            </a:solidFill>
          </c:spPr>
          <c:dPt>
            <c:idx val="0"/>
            <c:spPr>
              <a:solidFill>
                <a:srgbClr val="FFC72C"/>
              </a:solidFill>
            </c:spPr>
          </c:dPt>
          <c:dPt>
            <c:idx val="1"/>
            <c:spPr>
              <a:solidFill>
                <a:srgbClr val="001E60"/>
              </a:solidFill>
            </c:spPr>
          </c:dPt>
          <c:dPt>
            <c:idx val="2"/>
            <c:spPr>
              <a:solidFill>
                <a:srgbClr val="001E60"/>
              </a:solidFill>
            </c:spPr>
          </c:dPt>
          <c:dPt>
            <c:idx val="3"/>
            <c:spPr>
              <a:solidFill>
                <a:srgbClr val="2A8A8C"/>
              </a:solidFill>
            </c:spPr>
          </c:dPt>
          <c:dPt>
            <c:idx val="4"/>
            <c:spPr>
              <a:solidFill>
                <a:srgbClr val="2A8A8C"/>
              </a:solidFill>
            </c:spPr>
          </c:dPt>
          <c:dPt>
            <c:idx val="5"/>
            <c:spPr>
              <a:solidFill>
                <a:srgbClr val="2A8A8C"/>
              </a:solidFill>
            </c:spPr>
          </c:dPt>
          <c:dPt>
            <c:idx val="6"/>
            <c:spPr>
              <a:solidFill>
                <a:srgbClr val="001E60"/>
              </a:solidFill>
            </c:spPr>
          </c:dPt>
          <c:dPt>
            <c:idx val="7"/>
            <c:spPr>
              <a:solidFill>
                <a:srgbClr val="001E60"/>
              </a:solidFill>
            </c:spPr>
          </c:dPt>
          <c:dPt>
            <c:idx val="8"/>
            <c:spPr>
              <a:solidFill>
                <a:srgbClr val="001E60"/>
              </a:solidFill>
            </c:spPr>
          </c:dPt>
          <c:dPt>
            <c:idx val="9"/>
            <c:spPr>
              <a:solidFill>
                <a:srgbClr val="6E1F2E"/>
              </a:solidFill>
            </c:spPr>
          </c:dPt>
          <c:dPt>
            <c:idx val="10"/>
            <c:spPr>
              <a:solidFill>
                <a:srgbClr val="6E1F2E"/>
              </a:solidFill>
            </c:spPr>
          </c:dPt>
          <c:dPt>
            <c:idx val="11"/>
            <c:spPr>
              <a:solidFill>
                <a:srgbClr val="6E1F2E"/>
              </a:solidFill>
            </c:spPr>
          </c:dPt>
          <c:dPt>
            <c:idx val="12"/>
            <c:spPr>
              <a:solidFill>
                <a:srgbClr val="6E1F2E"/>
              </a:solidFill>
            </c:spPr>
          </c:dPt>
          <c:cat>
            <c:strRef>
              <c:f>Sheet1!$A$2:$A$14</c:f>
              <c:strCache>
                <c:ptCount val="13"/>
                <c:pt idx="0">
                  <c:v>A Battery contract
$13.0M</c:v>
                </c:pt>
                <c:pt idx="1">
                  <c:v>B Battery install
$1.7M</c:v>
                </c:pt>
                <c:pt idx="2">
                  <c:v>C Battery BOP (GSU, EMS)
$1.9M</c:v>
                </c:pt>
                <c:pt idx="3">
                  <c:v>D Sta 360 switching
$3.8M</c:v>
                </c:pt>
                <c:pt idx="4">
                  <c:v>E Site &amp; civil
$2.7M</c:v>
                </c:pt>
                <c:pt idx="5">
                  <c:v>F Sta 496 protection
$7.3M</c:v>
                </c:pt>
                <c:pt idx="6">
                  <c:v>G Testing
$1.3M</c:v>
                </c:pt>
                <c:pt idx="7">
                  <c:v>H Owner soft costs
$4.4M</c:v>
                </c:pt>
                <c:pt idx="8">
                  <c:v>I Taxes, CWIP, BAR
$0.8M</c:v>
                </c:pt>
                <c:pt idx="9">
                  <c:v>J Risk
$5.3M</c:v>
                </c:pt>
                <c:pt idx="10">
                  <c:v>K Contingency
$2.3M</c:v>
                </c:pt>
                <c:pt idx="11">
                  <c:v>L Indirects
$8.1M</c:v>
                </c:pt>
                <c:pt idx="12">
                  <c:v>M AFUDC
$4.7M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12.99</c:v>
                </c:pt>
                <c:pt idx="1">
                  <c:v>1.73</c:v>
                </c:pt>
                <c:pt idx="2">
                  <c:v>1.93</c:v>
                </c:pt>
                <c:pt idx="3">
                  <c:v>3.85</c:v>
                </c:pt>
                <c:pt idx="4">
                  <c:v>2.69</c:v>
                </c:pt>
                <c:pt idx="5">
                  <c:v>7.25</c:v>
                </c:pt>
                <c:pt idx="6">
                  <c:v>1.26</c:v>
                </c:pt>
                <c:pt idx="7">
                  <c:v>4.42</c:v>
                </c:pt>
                <c:pt idx="8">
                  <c:v>0.79</c:v>
                </c:pt>
                <c:pt idx="9">
                  <c:v>5.3</c:v>
                </c:pt>
                <c:pt idx="10">
                  <c:v>2.28</c:v>
                </c:pt>
                <c:pt idx="11">
                  <c:v>8.06</c:v>
                </c:pt>
                <c:pt idx="12">
                  <c:v>4.68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1E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</c:scaling>
        <c:delete val="0"/>
        <c:axPos val="l"/>
        <c:majorGridlines>
          <c:spPr>
            <a:ln>
              <a:solidFill>
                <a:srgbClr val="C9D1E0"/>
              </a:solidFill>
            </a:ln>
          </c:spPr>
        </c:majorGridlines>
        <c:numFmt formatCode="&quot;$&quot;0&quot;M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F2A4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$/kWh</c:v>
                </c:pt>
              </c:strCache>
            </c:strRef>
          </c:tx>
          <c:spPr>
            <a:solidFill>
              <a:srgbClr val="001E60"/>
            </a:solidFill>
          </c:spPr>
          <c:dPt>
            <c:idx val="0"/>
            <c:spPr>
              <a:solidFill>
                <a:srgbClr val="FFC72C"/>
              </a:solidFill>
            </c:spPr>
          </c:dPt>
          <c:dPt>
            <c:idx val="1"/>
            <c:spPr>
              <a:solidFill>
                <a:srgbClr val="001E60"/>
              </a:solidFill>
            </c:spPr>
          </c:dPt>
          <c:dPt>
            <c:idx val="2"/>
            <c:spPr>
              <a:solidFill>
                <a:srgbClr val="001E60"/>
              </a:solidFill>
            </c:spPr>
          </c:dPt>
          <c:dPt>
            <c:idx val="3"/>
            <c:spPr>
              <a:solidFill>
                <a:srgbClr val="001E60"/>
              </a:solidFill>
            </c:spPr>
          </c:dPt>
          <c:dPt>
            <c:idx val="4"/>
            <c:spPr>
              <a:solidFill>
                <a:srgbClr val="001E60"/>
              </a:solidFill>
            </c:spPr>
          </c:dPt>
          <c:dPt>
            <c:idx val="5"/>
            <c:spPr>
              <a:solidFill>
                <a:srgbClr val="6E1F2E"/>
              </a:solidFill>
            </c:spPr>
          </c:dPt>
          <c:dPt>
            <c:idx val="6"/>
            <c:spPr>
              <a:solidFill>
                <a:srgbClr val="6E1F2E"/>
              </a:solidFill>
            </c:spPr>
          </c:dPt>
          <c:dLbls>
            <c:numFmt formatCode="&quot;$&quot;#,##0" sourceLinked="0"/>
            <c:txPr>
              <a:bodyPr/>
              <a:lstStyle/>
              <a:p>
                <a:pPr>
                  <a:defRPr sz="11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Vendor contract</c:v>
                </c:pt>
                <c:pt idx="1">
                  <c:v>Battery as carried (contract + escalation)</c:v>
                </c:pt>
                <c:pt idx="2">
                  <c:v>Battery installed (A+B+C)</c:v>
                </c:pt>
                <c:pt idx="3">
                  <c:v>Station complete, direct (no loaders)</c:v>
                </c:pt>
                <c:pt idx="4">
                  <c:v>Station 360 approval level</c:v>
                </c:pt>
                <c:pt idx="5">
                  <c:v>Project 21334 (Sta 360 + 496)</c:v>
                </c:pt>
                <c:pt idx="6">
                  <c:v>All-in incl. D-Line memo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605</c:v>
                </c:pt>
                <c:pt idx="1">
                  <c:v>650</c:v>
                </c:pt>
                <c:pt idx="2">
                  <c:v>833</c:v>
                </c:pt>
                <c:pt idx="3">
                  <c:v>1483</c:v>
                </c:pt>
                <c:pt idx="4">
                  <c:v>2500</c:v>
                </c:pt>
                <c:pt idx="5">
                  <c:v>2862</c:v>
                </c:pt>
                <c:pt idx="6">
                  <c:v>3102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1E0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9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F2A4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$/kWh</c:v>
                </c:pt>
              </c:strCache>
            </c:strRef>
          </c:tx>
          <c:dPt>
            <c:idx val="0"/>
            <c:spPr>
              <a:solidFill>
                <a:srgbClr val="001E60"/>
              </a:solidFill>
            </c:spPr>
          </c:dPt>
          <c:dPt>
            <c:idx val="1"/>
            <c:spPr>
              <a:solidFill>
                <a:srgbClr val="001E60"/>
              </a:solidFill>
            </c:spPr>
          </c:dPt>
          <c:dPt>
            <c:idx val="2"/>
            <c:spPr>
              <a:solidFill>
                <a:srgbClr val="001E60"/>
              </a:solidFill>
            </c:spPr>
          </c:dPt>
          <c:dPt>
            <c:idx val="3"/>
            <c:spPr>
              <a:solidFill>
                <a:srgbClr val="001E60"/>
              </a:solidFill>
            </c:spPr>
          </c:dPt>
          <c:dPt>
            <c:idx val="4"/>
            <c:spPr>
              <a:solidFill>
                <a:srgbClr val="001E60"/>
              </a:solidFill>
            </c:spPr>
          </c:dPt>
          <c:dPt>
            <c:idx val="5"/>
            <c:spPr>
              <a:solidFill>
                <a:srgbClr val="001E60"/>
              </a:solidFill>
            </c:spPr>
          </c:dPt>
          <c:dPt>
            <c:idx val="6"/>
            <c:spPr>
              <a:solidFill>
                <a:srgbClr val="001E60"/>
              </a:solidFill>
            </c:spPr>
          </c:dPt>
          <c:dPt>
            <c:idx val="7"/>
            <c:spPr>
              <a:solidFill>
                <a:srgbClr val="001E60"/>
              </a:solidFill>
            </c:spPr>
          </c:dPt>
          <c:dPt>
            <c:idx val="8"/>
            <c:spPr>
              <a:solidFill>
                <a:srgbClr val="001E60"/>
              </a:solidFill>
            </c:spPr>
          </c:dPt>
          <c:dPt>
            <c:idx val="9"/>
            <c:spPr>
              <a:solidFill>
                <a:srgbClr val="FFC72C"/>
              </a:solidFill>
            </c:spPr>
          </c:dPt>
          <c:dPt>
            <c:idx val="10"/>
            <c:spPr>
              <a:solidFill>
                <a:srgbClr val="FFC72C"/>
              </a:solidFill>
            </c:spPr>
          </c:dPt>
          <c:dPt>
            <c:idx val="11"/>
            <c:spPr>
              <a:solidFill>
                <a:srgbClr val="FFC72C"/>
              </a:solidFill>
            </c:spPr>
          </c:dPt>
          <c:dPt>
            <c:idx val="12"/>
            <c:spPr>
              <a:solidFill>
                <a:srgbClr val="6E1F2E"/>
              </a:solidFill>
            </c:spPr>
          </c:dPt>
          <c:dPt>
            <c:idx val="13"/>
            <c:spPr>
              <a:solidFill>
                <a:srgbClr val="6E1F2E"/>
              </a:solidFill>
            </c:spPr>
          </c:dPt>
          <c:dLbls>
            <c:numFmt formatCode="&quot;$&quot;#,##0" sourceLinked="0"/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BNEF pack, stationary (2025)</c:v>
                </c:pt>
                <c:pt idx="1">
                  <c:v>Anza distribution-scale AC, delivered (Q1 2026)</c:v>
                </c:pt>
                <c:pt idx="2">
                  <c:v>BNEF US turnkey system (2025)</c:v>
                </c:pt>
                <c:pt idx="3">
                  <c:v>NREL all-in, 4-h 60 MW (2024)</c:v>
                </c:pt>
                <c:pt idx="4">
                  <c:v>EIA/S&amp;L overnight, 4-h 150 MW (2023$)</c:v>
                </c:pt>
                <c:pt idx="5">
                  <c:v>LBNL empirical all-in, 2024 hybrids</c:v>
                </c:pt>
                <c:pt idx="6">
                  <c:v>HECO Waena 40 MW/160 MWh, utility-owned</c:v>
                </c:pt>
                <c:pt idx="7">
                  <c:v>NV Energy Reid Gardner 2-h, utility-owned</c:v>
                </c:pt>
                <c:pt idx="8">
                  <c:v>Eversource Provincetown 1.5-h, final (2022)</c:v>
                </c:pt>
                <c:pt idx="9">
                  <c:v>Hyde Park: Nomad equipment only</c:v>
                </c:pt>
                <c:pt idx="10">
                  <c:v>Hyde Park: vendor contract</c:v>
                </c:pt>
                <c:pt idx="11">
                  <c:v>Hyde Park: battery installed (A+B+C)</c:v>
                </c:pt>
                <c:pt idx="12">
                  <c:v>Hyde Park: station complete, direct</c:v>
                </c:pt>
                <c:pt idx="13">
                  <c:v>Hyde Park: project 21334 approval level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70</c:v>
                </c:pt>
                <c:pt idx="1">
                  <c:v>203</c:v>
                </c:pt>
                <c:pt idx="2">
                  <c:v>219</c:v>
                </c:pt>
                <c:pt idx="3">
                  <c:v>334</c:v>
                </c:pt>
                <c:pt idx="4">
                  <c:v>436</c:v>
                </c:pt>
                <c:pt idx="5">
                  <c:v>458</c:v>
                </c:pt>
                <c:pt idx="6">
                  <c:v>513</c:v>
                </c:pt>
                <c:pt idx="7">
                  <c:v>584</c:v>
                </c:pt>
                <c:pt idx="8">
                  <c:v>1289</c:v>
                </c:pt>
                <c:pt idx="9">
                  <c:v>532</c:v>
                </c:pt>
                <c:pt idx="10">
                  <c:v>605</c:v>
                </c:pt>
                <c:pt idx="11">
                  <c:v>833</c:v>
                </c:pt>
                <c:pt idx="12">
                  <c:v>1483</c:v>
                </c:pt>
                <c:pt idx="13">
                  <c:v>2862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1E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77.5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1F2A4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$M</c:v>
                </c:pt>
              </c:strCache>
            </c:strRef>
          </c:tx>
          <c:dPt>
            <c:idx val="0"/>
            <c:spPr>
              <a:solidFill>
                <a:srgbClr val="C9D1E0"/>
              </a:solidFill>
            </c:spPr>
          </c:dPt>
          <c:dPt>
            <c:idx val="1"/>
            <c:spPr>
              <a:solidFill>
                <a:srgbClr val="FFC72C"/>
              </a:solidFill>
            </c:spPr>
          </c:dPt>
          <c:dPt>
            <c:idx val="2"/>
            <c:spPr>
              <a:solidFill>
                <a:srgbClr val="001E60"/>
              </a:solidFill>
            </c:spPr>
          </c:dPt>
          <c:dPt>
            <c:idx val="3"/>
            <c:spPr>
              <a:solidFill>
                <a:srgbClr val="001E60"/>
              </a:solidFill>
            </c:spPr>
          </c:dPt>
          <c:dPt>
            <c:idx val="4"/>
            <c:spPr>
              <a:solidFill>
                <a:srgbClr val="FFC72C"/>
              </a:solidFill>
            </c:spPr>
          </c:dPt>
          <c:dPt>
            <c:idx val="5"/>
            <c:spPr>
              <a:solidFill>
                <a:srgbClr val="001E60"/>
              </a:solidFill>
            </c:spPr>
          </c:dPt>
          <c:dPt>
            <c:idx val="6"/>
            <c:spPr>
              <a:solidFill>
                <a:srgbClr val="001E60"/>
              </a:solidFill>
            </c:spPr>
          </c:dPt>
          <c:dPt>
            <c:idx val="7"/>
            <c:spPr>
              <a:solidFill>
                <a:srgbClr val="001E60"/>
              </a:solidFill>
            </c:spPr>
          </c:dPt>
          <c:dLbls>
            <c:numFmt formatCode="&quot;$&quot;0.0&quot;M&quot;" sourceLinked="0"/>
            <c:txPr>
              <a:bodyPr/>
              <a:lstStyle/>
              <a:p>
                <a:pPr>
                  <a:defRPr sz="10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Jun 2021
IFR</c:v>
                </c:pt>
                <c:pt idx="1">
                  <c:v>Jul 2023
Vendor indicative
(Company 3, turnkey)</c:v>
                </c:pt>
                <c:pt idx="2">
                  <c:v>Dec 2023
E-23-373
conceptual</c:v>
                </c:pt>
                <c:pt idx="3">
                  <c:v>Feb 2024
SSF incl.
D-Line</c:v>
                </c:pt>
                <c:pt idx="4">
                  <c:v>Mar 2026
Nomad
contract</c:v>
                </c:pt>
                <c:pt idx="5">
                  <c:v>Aug 2026
Rev 0</c:v>
                </c:pt>
                <c:pt idx="6">
                  <c:v>Sep 2026
Rev 2</c:v>
                </c:pt>
                <c:pt idx="7">
                  <c:v>Sep 2026
Rev 3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</c:v>
                </c:pt>
                <c:pt idx="1">
                  <c:v>18.2</c:v>
                </c:pt>
                <c:pt idx="2">
                  <c:v>43.9</c:v>
                </c:pt>
                <c:pt idx="3">
                  <c:v>49.2</c:v>
                </c:pt>
                <c:pt idx="4">
                  <c:v>12.1</c:v>
                </c:pt>
                <c:pt idx="5">
                  <c:v>47.2</c:v>
                </c:pt>
                <c:pt idx="6">
                  <c:v>63.6</c:v>
                </c:pt>
                <c:pt idx="7">
                  <c:v>57.2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1E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2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1F2A4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E-23-373 (Dec 2023)</c:v>
                </c:pt>
              </c:strCache>
            </c:strRef>
          </c:tx>
          <c:spPr>
            <a:solidFill>
              <a:srgbClr val="C9D1E0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Materials</c:v>
                </c:pt>
                <c:pt idx="1">
                  <c:v>Construction</c:v>
                </c:pt>
                <c:pt idx="2">
                  <c:v>Testing</c:v>
                </c:pt>
                <c:pt idx="3">
                  <c:v>Engineering</c:v>
                </c:pt>
                <c:pt idx="4">
                  <c:v>Siting + Env + Outreach</c:v>
                </c:pt>
                <c:pt idx="5">
                  <c:v>PMT</c:v>
                </c:pt>
                <c:pt idx="6">
                  <c:v>Other</c:v>
                </c:pt>
                <c:pt idx="7">
                  <c:v>Risks</c:v>
                </c:pt>
                <c:pt idx="8">
                  <c:v>Contingency</c:v>
                </c:pt>
                <c:pt idx="9">
                  <c:v>Indirects</c:v>
                </c:pt>
                <c:pt idx="10">
                  <c:v>AFUDC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13.76</c:v>
                </c:pt>
                <c:pt idx="1">
                  <c:v>6.92</c:v>
                </c:pt>
                <c:pt idx="2">
                  <c:v>1.06</c:v>
                </c:pt>
                <c:pt idx="3">
                  <c:v>0.79</c:v>
                </c:pt>
                <c:pt idx="4">
                  <c:v>0.84</c:v>
                </c:pt>
                <c:pt idx="5">
                  <c:v>1.04</c:v>
                </c:pt>
                <c:pt idx="6">
                  <c:v>0.93</c:v>
                </c:pt>
                <c:pt idx="7">
                  <c:v>3.95</c:v>
                </c:pt>
                <c:pt idx="8">
                  <c:v>1.81</c:v>
                </c:pt>
                <c:pt idx="9">
                  <c:v>9.52</c:v>
                </c:pt>
                <c:pt idx="10">
                  <c:v>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 3 (Sep 2026)</c:v>
                </c:pt>
              </c:strCache>
            </c:strRef>
          </c:tx>
          <c:spPr>
            <a:solidFill>
              <a:srgbClr val="001E60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Materials</c:v>
                </c:pt>
                <c:pt idx="1">
                  <c:v>Construction</c:v>
                </c:pt>
                <c:pt idx="2">
                  <c:v>Testing</c:v>
                </c:pt>
                <c:pt idx="3">
                  <c:v>Engineering</c:v>
                </c:pt>
                <c:pt idx="4">
                  <c:v>Siting + Env + Outreach</c:v>
                </c:pt>
                <c:pt idx="5">
                  <c:v>PMT</c:v>
                </c:pt>
                <c:pt idx="6">
                  <c:v>Other</c:v>
                </c:pt>
                <c:pt idx="7">
                  <c:v>Risks</c:v>
                </c:pt>
                <c:pt idx="8">
                  <c:v>Contingency</c:v>
                </c:pt>
                <c:pt idx="9">
                  <c:v>Indirects</c:v>
                </c:pt>
                <c:pt idx="10">
                  <c:v>AFUDC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16.68</c:v>
                </c:pt>
                <c:pt idx="1">
                  <c:v>8.05</c:v>
                </c:pt>
                <c:pt idx="2">
                  <c:v>3.08</c:v>
                </c:pt>
                <c:pt idx="3">
                  <c:v>0.96</c:v>
                </c:pt>
                <c:pt idx="4">
                  <c:v>1.91</c:v>
                </c:pt>
                <c:pt idx="5">
                  <c:v>1.89</c:v>
                </c:pt>
                <c:pt idx="6">
                  <c:v>0.99</c:v>
                </c:pt>
                <c:pt idx="7">
                  <c:v>6.07</c:v>
                </c:pt>
                <c:pt idx="8">
                  <c:v>2.62</c:v>
                </c:pt>
                <c:pt idx="9">
                  <c:v>9.99</c:v>
                </c:pt>
                <c:pt idx="10">
                  <c:v>5.01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1E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9D1E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1F2A4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Rev 0
26 Aug</c:v>
                </c:pt>
                <c:pt idx="1">
                  <c:v>Battery to
project team
value</c:v>
                </c:pt>
                <c:pt idx="2">
                  <c:v>Rev 1
1 Sep</c:v>
                </c:pt>
                <c:pt idx="3">
                  <c:v>Battery to
contract +
relays + eng</c:v>
                </c:pt>
                <c:pt idx="4">
                  <c:v>Rev 2
10 Sep</c:v>
                </c:pt>
                <c:pt idx="5">
                  <c:v>Relays -1.5,
SSVT, eng
re-base</c:v>
                </c:pt>
                <c:pt idx="6">
                  <c:v>Rev 3
24 Sep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47.2</c:v>
                </c:pt>
                <c:pt idx="2">
                  <c:v>0</c:v>
                </c:pt>
                <c:pt idx="3">
                  <c:v>51.9</c:v>
                </c:pt>
                <c:pt idx="4">
                  <c:v>0</c:v>
                </c:pt>
                <c:pt idx="5">
                  <c:v>57.2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dPt>
            <c:idx val="0"/>
            <c:spPr>
              <a:solidFill>
                <a:srgbClr val="001E60"/>
              </a:solidFill>
            </c:spPr>
          </c:dPt>
          <c:dPt>
            <c:idx val="1"/>
            <c:spPr>
              <a:solidFill>
                <a:srgbClr val="6E1F2E"/>
              </a:solidFill>
            </c:spPr>
          </c:dPt>
          <c:dPt>
            <c:idx val="2"/>
            <c:spPr>
              <a:solidFill>
                <a:srgbClr val="001E60"/>
              </a:solidFill>
            </c:spPr>
          </c:dPt>
          <c:dPt>
            <c:idx val="3"/>
            <c:spPr>
              <a:solidFill>
                <a:srgbClr val="6E1F2E"/>
              </a:solidFill>
            </c:spPr>
          </c:dPt>
          <c:dPt>
            <c:idx val="4"/>
            <c:spPr>
              <a:solidFill>
                <a:srgbClr val="001E60"/>
              </a:solidFill>
            </c:spPr>
          </c:dPt>
          <c:dPt>
            <c:idx val="5"/>
            <c:spPr>
              <a:solidFill>
                <a:srgbClr val="2A8A8C"/>
              </a:solidFill>
            </c:spPr>
          </c:dPt>
          <c:dPt>
            <c:idx val="6"/>
            <c:spPr>
              <a:solidFill>
                <a:srgbClr val="001E60"/>
              </a:solidFill>
            </c:spPr>
          </c:dPt>
          <c:dLbls>
            <c:numFmt formatCode="&quot;$&quot;0.0&quot;M&quot;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Rev 0
26 Aug</c:v>
                </c:pt>
                <c:pt idx="1">
                  <c:v>Battery to
project team
value</c:v>
                </c:pt>
                <c:pt idx="2">
                  <c:v>Rev 1
1 Sep</c:v>
                </c:pt>
                <c:pt idx="3">
                  <c:v>Battery to
contract +
relays + eng</c:v>
                </c:pt>
                <c:pt idx="4">
                  <c:v>Rev 2
10 Sep</c:v>
                </c:pt>
                <c:pt idx="5">
                  <c:v>Relays -1.5,
SSVT, eng
re-base</c:v>
                </c:pt>
                <c:pt idx="6">
                  <c:v>Rev 3
24 Sep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47.2</c:v>
                </c:pt>
                <c:pt idx="1">
                  <c:v>4.7</c:v>
                </c:pt>
                <c:pt idx="2">
                  <c:v>51.9</c:v>
                </c:pt>
                <c:pt idx="3">
                  <c:v>11.8</c:v>
                </c:pt>
                <c:pt idx="4">
                  <c:v>63.6</c:v>
                </c:pt>
                <c:pt idx="5">
                  <c:v>6.4</c:v>
                </c:pt>
                <c:pt idx="6">
                  <c:v>57.2</c:v>
                </c:pt>
              </c:numCache>
            </c:numRef>
          </c:val>
        </c:ser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1E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1F2A4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$/kWh</c:v>
                </c:pt>
              </c:strCache>
            </c:strRef>
          </c:tx>
          <c:dPt>
            <c:idx val="0"/>
            <c:spPr>
              <a:solidFill>
                <a:srgbClr val="C9D1E0"/>
              </a:solidFill>
            </c:spPr>
          </c:dPt>
          <c:dPt>
            <c:idx val="1"/>
            <c:spPr>
              <a:solidFill>
                <a:srgbClr val="C9D1E0"/>
              </a:solidFill>
            </c:spPr>
          </c:dPt>
          <c:dPt>
            <c:idx val="2"/>
            <c:spPr>
              <a:solidFill>
                <a:srgbClr val="C9D1E0"/>
              </a:solidFill>
            </c:spPr>
          </c:dPt>
          <c:dPt>
            <c:idx val="3"/>
            <c:spPr>
              <a:solidFill>
                <a:srgbClr val="6E1F2E"/>
              </a:solidFill>
            </c:spPr>
          </c:dPt>
          <c:dPt>
            <c:idx val="4"/>
            <c:spPr>
              <a:solidFill>
                <a:srgbClr val="C9D1E0"/>
              </a:solidFill>
            </c:spPr>
          </c:dPt>
          <c:dPt>
            <c:idx val="5"/>
            <c:spPr>
              <a:solidFill>
                <a:srgbClr val="C9D1E0"/>
              </a:solidFill>
            </c:spPr>
          </c:dPt>
          <c:dPt>
            <c:idx val="6"/>
            <c:spPr>
              <a:solidFill>
                <a:srgbClr val="FFC72C"/>
              </a:solidFill>
            </c:spPr>
          </c:dPt>
          <c:dLbls>
            <c:numFmt formatCode="&quot;$&quot;#,##0" sourceLinked="0"/>
            <c:txPr>
              <a:bodyPr/>
              <a:lstStyle/>
              <a:p>
                <a:pPr>
                  <a:defRPr sz="10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Company 1</c:v>
                </c:pt>
                <c:pt idx="1">
                  <c:v>Company 2 (Opt 1)</c:v>
                </c:pt>
                <c:pt idx="2">
                  <c:v>Company 2 (Opt 2)</c:v>
                </c:pt>
                <c:pt idx="3">
                  <c:v>Company 3</c:v>
                </c:pt>
                <c:pt idx="4">
                  <c:v>Company 4</c:v>
                </c:pt>
                <c:pt idx="5">
                  <c:v>Company 5</c:v>
                </c:pt>
                <c:pt idx="6">
                  <c:v>Nomad contract
Mar 2026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578</c:v>
                </c:pt>
                <c:pt idx="1">
                  <c:v>527</c:v>
                </c:pt>
                <c:pt idx="2">
                  <c:v>479</c:v>
                </c:pt>
                <c:pt idx="3">
                  <c:v>911</c:v>
                </c:pt>
                <c:pt idx="4">
                  <c:v>574</c:v>
                </c:pt>
                <c:pt idx="5">
                  <c:v>696</c:v>
                </c:pt>
                <c:pt idx="6">
                  <c:v>605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1E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1F2A4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Loaded $M</c:v>
                </c:pt>
              </c:strCache>
            </c:strRef>
          </c:tx>
          <c:dPt>
            <c:idx val="0"/>
            <c:spPr>
              <a:solidFill>
                <a:srgbClr val="2A8A8C"/>
              </a:solidFill>
            </c:spPr>
          </c:dPt>
          <c:dPt>
            <c:idx val="1"/>
            <c:spPr>
              <a:solidFill>
                <a:srgbClr val="2A8A8C"/>
              </a:solidFill>
            </c:spPr>
          </c:dPt>
          <c:dPt>
            <c:idx val="2"/>
            <c:spPr>
              <a:solidFill>
                <a:srgbClr val="2A8A8C"/>
              </a:solidFill>
            </c:spPr>
          </c:dPt>
          <c:dPt>
            <c:idx val="3"/>
            <c:spPr>
              <a:solidFill>
                <a:srgbClr val="C9D1E0"/>
              </a:solidFill>
            </c:spPr>
          </c:dPt>
          <c:dLbls>
            <c:numFmt formatCode="&quot;$&quot;0.0&quot;M&quot;" sourceLinked="0"/>
            <c:txPr>
              <a:bodyPr/>
              <a:lstStyle/>
              <a:p>
                <a:pPr>
                  <a:defRPr sz="11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Station 360 switching facilities (D)</c:v>
                </c:pt>
                <c:pt idx="1">
                  <c:v>Site development on landfill (E)</c:v>
                </c:pt>
                <c:pt idx="2">
                  <c:v>Station 496 protection (F)</c:v>
                </c:pt>
                <c:pt idx="3">
                  <c:v>D-Line 24211 (memo)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6.48</c:v>
                </c:pt>
                <c:pt idx="1">
                  <c:v>4.53</c:v>
                </c:pt>
                <c:pt idx="2">
                  <c:v>7.25</c:v>
                </c:pt>
                <c:pt idx="3">
                  <c:v>4.79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1E0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F2A4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$M</c:v>
                </c:pt>
              </c:strCache>
            </c:strRef>
          </c:tx>
          <c:dPt>
            <c:idx val="0"/>
            <c:spPr>
              <a:solidFill>
                <a:srgbClr val="6E1F2E"/>
              </a:solidFill>
            </c:spPr>
          </c:dPt>
          <c:dPt>
            <c:idx val="1"/>
            <c:spPr>
              <a:solidFill>
                <a:srgbClr val="FFC72C"/>
              </a:solidFill>
            </c:spPr>
          </c:dPt>
          <c:dPt>
            <c:idx val="2"/>
            <c:spPr>
              <a:solidFill>
                <a:srgbClr val="001E60"/>
              </a:solidFill>
            </c:spPr>
          </c:dPt>
          <c:dPt>
            <c:idx val="3"/>
            <c:spPr>
              <a:solidFill>
                <a:srgbClr val="2A8A8C"/>
              </a:solidFill>
            </c:spPr>
          </c:dPt>
          <c:dLbls>
            <c:numFmt formatCode="&quot;$&quot;0.0&quot;M&quot;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Risk register</c:v>
                </c:pt>
                <c:pt idx="1">
                  <c:v>Contingency</c:v>
                </c:pt>
                <c:pt idx="2">
                  <c:v>Indirects / overheads</c:v>
                </c:pt>
                <c:pt idx="3">
                  <c:v>AFUDC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6.07</c:v>
                </c:pt>
                <c:pt idx="1">
                  <c:v>2.62</c:v>
                </c:pt>
                <c:pt idx="2">
                  <c:v>9.99</c:v>
                </c:pt>
                <c:pt idx="3">
                  <c:v>5.01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1F2A4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promise, not a joke. The one sentence the audience should be able to repeat afterwards: the battery is 21 percent of the project, and the other 79 percent is what it takes to put a battery on a landfill in Boston and connect it to four feeders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numbers. Vendor contract, approval level, share. Everything after this slide is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vendor is not wrong. Their number is a real number for what they sell. It is simply not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left to right. The battery contract is the first bar. Everything to its right is the utility's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loaded view is the honest comparison basis. When someone quotes an all-in industry $/kWh, it already carries developer overhead and financing; ours carries indirects and AFUDC.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ends the argument. The multiple between the vendor line and the approval level is 4.7x, and each step between them is a named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Benchmarks were retrieved from search-index excerpts of the primary sources because the sandbox proxy blocked direct downloads; each row carries a confidence tag and a URL. Before this slide is used externally, pull the NREL ATB 2025 workbook 2-h values, the Lazard v11 capex input table and the PNNL 10 MW rows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these six is optional and none of them is the battery.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story is not that batteries got expensive. The battery got cheaper. The project got more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 up 2.9, testing up 2.0, siting up 1.4, risk up 2.1, AFUDC up 1.7. Those five are 10.1 of the 13.3.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walk is in the email record. It matters because the full-funding placeholder of $43.9M was never touched between December 2023 and August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lesson from 2023: a low bid with exclusions is not a low project. The lesson from 2026: the vendor price is defensible. It is the boundary that 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facilities that make a battery a grid asset. A vendor's job ends at the container terminals.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AFUDC is the cost of a seven-year development window. Every month of siting delay adds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item has an owner and a dollar figure. That is what makes it a plan rather than a worry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 the open. Leave this slide up for questions. Do not add a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A $12 million battery. A $57 million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 i="0">
                <a:solidFill>
                  <a:srgbClr val="C9D1E0"/>
                </a:solidFill>
                <a:latin typeface="Calibri"/>
              </a:rPr>
              <a:t>Hyde Park BESS (Project 21334): where the cost of a utility-owned, distribution-connected battery storage station actually sits, and how it compares to industry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FFC72C"/>
                </a:solidFill>
                <a:latin typeface="Calibri"/>
              </a:rPr>
              <a:t>Cost Estimating Center of Excellence  |  Estimate basis: ESF Total Rev 3, 24 Sep 2026  |  29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32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C9D1E0"/>
                </a:solidFill>
                <a:latin typeface="Calibri"/>
              </a:rPr>
              <a:t>Internal. Contains vendor-confidential pricing.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6E1F2E"/>
                </a:solidFill>
                <a:latin typeface="Calibri"/>
              </a:rPr>
              <a:t>THE PROMISE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001E60"/>
                </a:solidFill>
                <a:latin typeface="Georgia"/>
              </a:rPr>
              <a:t>By the end of this deck you can answer one question in one breath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EstimatingCoE | Eversource Energy | Stewards of Affordability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0" i="0">
                <a:solidFill>
                  <a:srgbClr val="1F2A44"/>
                </a:solidFill>
                <a:latin typeface="Calibri"/>
              </a:rPr>
              <a:t>“Why is a $12 million battery a $57 million project?”  Because the battery is the only part a vendor prices. The station, the site, the feeder protection, the siting case, the risk and the cost of money are 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3566160" cy="21945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78608"/>
            <a:ext cx="32918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001E60"/>
                </a:solidFill>
                <a:latin typeface="Georgia"/>
              </a:rPr>
              <a:t>$12.1M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64408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Vendor fixed-price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48456"/>
            <a:ext cx="3291840" cy="969263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Nomad cover agreement, 10 Mar 2026. 12 Voyager LFP units, PCS, BMS, fire protection, 10-yr warranty. $605/kWh, $1,211/kW.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468880"/>
            <a:ext cx="3566160" cy="21945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578608"/>
            <a:ext cx="32918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6E1F2E"/>
                </a:solidFill>
                <a:latin typeface="Georgia"/>
              </a:rPr>
              <a:t>$57.2M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3264408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Project 21334 approval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3648456"/>
            <a:ext cx="3291840" cy="969263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ESF Total Rev 3. Station 360 $50.0M plus Station 496 protection $7.3M. $2,862/kWh, $5,725/kW. Conceptual, -25%/+50%.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2468880"/>
            <a:ext cx="3566160" cy="21945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2578608"/>
            <a:ext cx="32918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001E60"/>
                </a:solidFill>
                <a:latin typeface="Georgia"/>
              </a:rPr>
              <a:t>21%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3264408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Battery share of the 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3648456"/>
            <a:ext cx="3291840" cy="969263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Add the D-Line circuit extension (24211, $4.8M conceptual) and the share drops to 20%. Four dollars of every five are not the battery.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001E60"/>
                </a:solidFill>
                <a:latin typeface="Calibri"/>
              </a:rPr>
              <a:t>What this deck contributes: </a:t>
            </a:r>
            <a:r>
              <a:rPr sz="1600" b="0" i="0">
                <a:solidFill>
                  <a:srgbClr val="1F2A44"/>
                </a:solidFill>
                <a:latin typeface="Calibri"/>
              </a:rPr>
              <a:t>a line-by-line extraction of the Rev 3 estimate into thirteen cost layers, unit costs at every boundary a benchmark could be quoted at, the cost history from the 2021 IFR to today, and the reconciliations that must close before full funding.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6E1F2E"/>
                </a:solidFill>
                <a:latin typeface="Calibri"/>
              </a:rPr>
              <a:t>TWO FRAMINGS OF THE SAME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001E60"/>
                </a:solidFill>
                <a:latin typeface="Georgia"/>
              </a:rPr>
              <a:t>What a vendor quote contains, and what it leaves for the utility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EstimatingCoE | Eversource Energy | Stewards of Affordability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394960" cy="47548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5394960" cy="47548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5029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001E60"/>
                </a:solidFill>
                <a:latin typeface="Georgia"/>
              </a:rPr>
              <a:t>Inside the $12.1M Nomad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12064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FFC72C"/>
                </a:solidFill>
                <a:latin typeface="Calibri"/>
              </a:rPr>
              <a:t>▪  </a:t>
            </a:r>
            <a:r>
              <a:rPr sz="1500">
                <a:solidFill>
                  <a:srgbClr val="1F2A44"/>
                </a:solidFill>
                <a:latin typeface="Calibri"/>
              </a:rPr>
              <a:t>12 containerized LFP units, 10 MW / 20 MWh, 12 MVA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FFC72C"/>
                </a:solidFill>
                <a:latin typeface="Calibri"/>
              </a:rPr>
              <a:t>▪  </a:t>
            </a:r>
            <a:r>
              <a:rPr sz="1500">
                <a:solidFill>
                  <a:srgbClr val="1F2A44"/>
                </a:solidFill>
                <a:latin typeface="Calibri"/>
              </a:rPr>
              <a:t>Inverters (PCS), BMS, HVAC, fire detection and suppression inside the container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FFC72C"/>
                </a:solidFill>
                <a:latin typeface="Calibri"/>
              </a:rPr>
              <a:t>▪  </a:t>
            </a:r>
            <a:r>
              <a:rPr sz="1500">
                <a:solidFill>
                  <a:srgbClr val="1F2A44"/>
                </a:solidFill>
                <a:latin typeface="Calibri"/>
              </a:rPr>
              <a:t>Spares $125K, shipping $90K, remote support $210K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FFC72C"/>
                </a:solidFill>
                <a:latin typeface="Calibri"/>
              </a:rPr>
              <a:t>▪  </a:t>
            </a:r>
            <a:r>
              <a:rPr sz="1500">
                <a:solidFill>
                  <a:srgbClr val="1F2A44"/>
                </a:solidFill>
                <a:latin typeface="Calibri"/>
              </a:rPr>
              <a:t>10-year warranty; years 3-7 extension $798K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FFC72C"/>
                </a:solidFill>
                <a:latin typeface="Calibri"/>
              </a:rPr>
              <a:t>▪  </a:t>
            </a:r>
            <a:r>
              <a:rPr sz="1500">
                <a:solidFill>
                  <a:srgbClr val="1F2A44"/>
                </a:solidFill>
                <a:latin typeface="Calibri"/>
              </a:rPr>
              <a:t>Field assembly supervision, commissioning, training: $246K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FFC72C"/>
                </a:solidFill>
                <a:latin typeface="Calibri"/>
              </a:rPr>
              <a:t>▪  </a:t>
            </a:r>
            <a:r>
              <a:rPr sz="1500">
                <a:solidFill>
                  <a:srgbClr val="1F2A44"/>
                </a:solidFill>
                <a:latin typeface="Calibri"/>
              </a:rPr>
              <a:t>Fixed until Final Acceptance; LDs capped at 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6E1F2E"/>
                </a:solidFill>
                <a:latin typeface="Georgia"/>
              </a:rPr>
              <a:t>Outside it: $45.1M, 79% of the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512064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FFC72C"/>
                </a:solidFill>
                <a:latin typeface="Calibri"/>
              </a:rPr>
              <a:t>▪  </a:t>
            </a:r>
            <a:r>
              <a:rPr b="1" sz="1500">
                <a:solidFill>
                  <a:srgbClr val="1F2A44"/>
                </a:solidFill>
                <a:latin typeface="Calibri"/>
              </a:rPr>
              <a:t>Station 360, </a:t>
            </a:r>
            <a:r>
              <a:rPr sz="1500">
                <a:solidFill>
                  <a:srgbClr val="1F2A44"/>
                </a:solidFill>
                <a:latin typeface="Calibri"/>
              </a:rPr>
              <a:t>$3.8M direct: four 15 kV breaker skids, GSUs, SSVT, metering, cable, duct bank, ground grid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FFC72C"/>
                </a:solidFill>
                <a:latin typeface="Calibri"/>
              </a:rPr>
              <a:t>▪  </a:t>
            </a:r>
            <a:r>
              <a:rPr b="1" sz="1500">
                <a:solidFill>
                  <a:srgbClr val="1F2A44"/>
                </a:solidFill>
                <a:latin typeface="Calibri"/>
              </a:rPr>
              <a:t>Site, </a:t>
            </a:r>
            <a:r>
              <a:rPr sz="1500">
                <a:solidFill>
                  <a:srgbClr val="1F2A44"/>
                </a:solidFill>
                <a:latin typeface="Calibri"/>
              </a:rPr>
              <a:t>$2.7M direct: a 200 ft x 200 ft platform on a closed landfill, access road, retaining wall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FFC72C"/>
                </a:solidFill>
                <a:latin typeface="Calibri"/>
              </a:rPr>
              <a:t>▪  </a:t>
            </a:r>
            <a:r>
              <a:rPr b="1" sz="1500">
                <a:solidFill>
                  <a:srgbClr val="1F2A44"/>
                </a:solidFill>
                <a:latin typeface="Calibri"/>
              </a:rPr>
              <a:t>Station 496, </a:t>
            </a:r>
            <a:r>
              <a:rPr sz="1500">
                <a:solidFill>
                  <a:srgbClr val="1F2A44"/>
                </a:solidFill>
                <a:latin typeface="Calibri"/>
              </a:rPr>
              <a:t>$7.3M: 20 relays, transfer trip, RTU work so four feeders can accept 2.5 MW each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FFC72C"/>
                </a:solidFill>
                <a:latin typeface="Calibri"/>
              </a:rPr>
              <a:t>▪  </a:t>
            </a:r>
            <a:r>
              <a:rPr b="1" sz="1500">
                <a:solidFill>
                  <a:srgbClr val="1F2A44"/>
                </a:solidFill>
                <a:latin typeface="Calibri"/>
              </a:rPr>
              <a:t>Owner scope, </a:t>
            </a:r>
            <a:r>
              <a:rPr sz="1500">
                <a:solidFill>
                  <a:srgbClr val="1F2A44"/>
                </a:solidFill>
                <a:latin typeface="Calibri"/>
              </a:rPr>
              <a:t>$10.1M: install labor, GSUs, EMS, testing, engineering, Article 80 siting, outreach, PM, taxes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FFC72C"/>
                </a:solidFill>
                <a:latin typeface="Calibri"/>
              </a:rPr>
              <a:t>▪  </a:t>
            </a:r>
            <a:r>
              <a:rPr b="1" sz="1500">
                <a:solidFill>
                  <a:srgbClr val="1F2A44"/>
                </a:solidFill>
                <a:latin typeface="Calibri"/>
              </a:rPr>
              <a:t>Station 360 risk, contingency, indirects, AFUDC, </a:t>
            </a:r>
            <a:r>
              <a:rPr sz="1500">
                <a:solidFill>
                  <a:srgbClr val="1F2A44"/>
                </a:solidFill>
                <a:latin typeface="Calibri"/>
              </a:rPr>
              <a:t>$20.3M: 35% of the total (Station 496 carries its own inside its $7.3M)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6E1F2E"/>
                </a:solidFill>
                <a:latin typeface="Calibri"/>
              </a:rPr>
              <a:t>COST LAYER EXTRACTION, ESF TOTAL REV 3 (DIRECTS, 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001E60"/>
                </a:solidFill>
                <a:latin typeface="Georgia"/>
              </a:rPr>
              <a:t>Thirteen layers between the battery contract and the approval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EstimatingCoE | Eversource Energy | Stewards of Affordability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112471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Gold = battery contract as carried in Rev 3 ($12.1M contract plus $1.1M escalation on the unpaid balance; see slide 12). Teal = station, site and feeder protection. Burgundy = risk, contingency, indirects, AFUDC. Total $57.2M.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6E1F2E"/>
                </a:solidFill>
                <a:latin typeface="Calibri"/>
              </a:rPr>
              <a:t>LOADED VIEW: EVERY LAYER CARRIES ITS SHARE OF THE LOADERS (FACTOR 1.685 ON STATION 360 DIRECTS)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001E60"/>
                </a:solidFill>
                <a:latin typeface="Georgia"/>
              </a:rPr>
              <a:t>Where the $57.2M sits when risk, contingency, indirects and AFUDC are spread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EstimatingCoE | Eversource Energy | Stewards of Affordability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0"/>
                <a:gridCol w="1828800"/>
                <a:gridCol w="1463040"/>
                <a:gridCol w="1097280"/>
              </a:tblGrid>
              <a:tr h="39901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54864" marR="54864" marT="27432" marB="27432"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 marL="54864" marR="54864" marT="27432" marB="27432"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Loaded</a:t>
                      </a:r>
                    </a:p>
                  </a:txBody>
                  <a:tcPr marL="54864" marR="54864" marT="27432" marB="27432"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>
                    <a:solidFill>
                      <a:srgbClr val="001E60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Battery supply contract (Nomad)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$13.0M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$21.9M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Battery installation &amp; integration (owner scope)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$1.7M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$2.9M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Battery balance-of-plant (GSUs, EMS/comms, aux power)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$1.9M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$3.3M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Station 360 13.8 kV switching &amp; interconnection facilities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$3.8M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$6.5M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Site development &amp; civil (former landfill site)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$2.7M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$4.5M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Station 496 feeder protection upgrades (interconnection)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$7.3M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$7.3M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Testing &amp; commissioning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$1.3M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$2.1M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Owner soft costs (engineering, siting, environmental, outreach, PM, land)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$4.4M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$7.4M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Taxes, CWIP, builders-risk insurance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$0.8M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$1.3M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44"/>
                          </a:solidFill>
                          <a:latin typeface="Calibri"/>
                        </a:rPr>
                        <a:t>Total, project 21334 (directs incl. $20.3M of loaders J-M)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F2A44"/>
                          </a:solidFill>
                          <a:latin typeface="Calibri"/>
                        </a:rPr>
                        <a:t>$57.2M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F2A44"/>
                          </a:solidFill>
                          <a:latin typeface="Calibri"/>
                        </a:rPr>
                        <a:t>$57.2M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F2A44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Battery-related layers A+B+C loaded: $28.1M (49%). Station, site and feeder interconnection D+E+F loaded: $18.3M (32%). Owner soft costs, testing and taxes: $10.9M.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6E1F2E"/>
                </a:solidFill>
                <a:latin typeface="Calibri"/>
              </a:rPr>
              <a:t>UNIT COST AT EACH BOUNDARY, 20 MWH / 10 MW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001E60"/>
                </a:solidFill>
                <a:latin typeface="Georgia"/>
              </a:rPr>
              <a:t>The same project is $605/kWh or $2,862/kWh depending on where you draw the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EstimatingCoE | Eversource Energy | Stewards of Affordability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69494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35240" y="1417320"/>
          <a:ext cx="4023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822960"/>
                <a:gridCol w="822960"/>
                <a:gridCol w="82296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Boundary</a:t>
                      </a:r>
                    </a:p>
                  </a:txBody>
                  <a:tcPr marL="54864" marR="54864" marT="27432" marB="27432"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$/kW</a:t>
                      </a:r>
                    </a:p>
                  </a:txBody>
                  <a:tcPr marL="54864" marR="54864" marT="27432" marB="27432"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$/kWh</a:t>
                      </a:r>
                    </a:p>
                  </a:txBody>
                  <a:tcPr marL="54864" marR="54864" marT="27432" marB="27432"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4864" marR="54864" marT="27432" marB="27432">
                    <a:solidFill>
                      <a:srgbClr val="001E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Vendor contract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$1,211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$605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1.0x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Battery installed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$1,666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$833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1.4x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Sta 360 approval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$4,999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$2,500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4.1x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Project 21334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$5,725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$2,862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4.7x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Incl. D-Line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$6,204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$3,102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5.1x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35240" y="4846320"/>
            <a:ext cx="402336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A benchmark is only meaningful against the row that matches its definition. Pack and DC-block prices belong beside the top bar; NREL and EIA installed costs beside 'battery installed' or 'station complete'; nothing published includes a utility's own indirects and AFUDC.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6E1F2E"/>
                </a:solidFill>
                <a:latin typeface="Calibri"/>
              </a:rPr>
              <a:t>INDUSTRY BENCHMARKS VS HYDE PARK BOUNDARIES ($/KWH, NOMINAL)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001E60"/>
                </a:solidFill>
                <a:latin typeface="Georgia"/>
              </a:rPr>
              <a:t>The battery is at market; the project is above it, for reasons the benchmarks exclude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EstimatingCoE | Eversource Energy | Stewards of Affordability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676656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1417320"/>
            <a:ext cx="4297680" cy="4846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FFC72C"/>
                </a:solidFill>
                <a:latin typeface="Calibri"/>
              </a:rPr>
              <a:t>▪  </a:t>
            </a:r>
            <a:r>
              <a:rPr b="1" sz="1300">
                <a:solidFill>
                  <a:srgbClr val="1F2A44"/>
                </a:solidFill>
                <a:latin typeface="Calibri"/>
              </a:rPr>
              <a:t>Battery at market. </a:t>
            </a:r>
            <a:r>
              <a:rPr sz="1300">
                <a:solidFill>
                  <a:srgbClr val="1F2A44"/>
                </a:solidFill>
                <a:latin typeface="Calibri"/>
              </a:rPr>
              <a:t>Nomad's $532/kWh equipment price sits between BNEF's US turnkey ($219, 4-h, 100 MW class) and the disclosed utility-owned projects ($513-584). For a 12-unit, 2-h, FEOC-era order in New England that is a fair price.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FFC72C"/>
                </a:solidFill>
                <a:latin typeface="Calibri"/>
              </a:rPr>
              <a:t>▪  </a:t>
            </a:r>
            <a:r>
              <a:rPr b="1" sz="1300">
                <a:solidFill>
                  <a:srgbClr val="1F2A44"/>
                </a:solidFill>
                <a:latin typeface="Calibri"/>
              </a:rPr>
              <a:t>Installed battery (A+B+C) at $833/kWh </a:t>
            </a:r>
            <a:r>
              <a:rPr sz="1300">
                <a:solidFill>
                  <a:srgbClr val="1F2A44"/>
                </a:solidFill>
                <a:latin typeface="Calibri"/>
              </a:rPr>
              <a:t>is above every national all-in index because those indices are four-hour and 60-150 MW. NREL's own cost structure (pack $/kWh x hours + BOS $/kW) puts a 2-h system at roughly 1.3-1.5x the 4-h $/kWh.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FFC72C"/>
                </a:solidFill>
                <a:latin typeface="Calibri"/>
              </a:rPr>
              <a:t>▪  </a:t>
            </a:r>
            <a:r>
              <a:rPr b="1" sz="1300">
                <a:solidFill>
                  <a:srgbClr val="1F2A44"/>
                </a:solidFill>
                <a:latin typeface="Calibri"/>
              </a:rPr>
              <a:t>The project at $2,862/kWh </a:t>
            </a:r>
            <a:r>
              <a:rPr sz="1300">
                <a:solidFill>
                  <a:srgbClr val="1F2A44"/>
                </a:solidFill>
                <a:latin typeface="Calibri"/>
              </a:rPr>
              <a:t>is not a battery benchmark at all. It carries a switching station, feeder protection at Station 496, a landfill platform, Article 80 siting, indirects and AFUDC. The closest published analogue is Provincetown at $1,289/kWh (2022 dollars, no separate station, existing site).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FFC72C"/>
                </a:solidFill>
                <a:latin typeface="Calibri"/>
              </a:rPr>
              <a:t>▪  </a:t>
            </a:r>
            <a:r>
              <a:rPr b="1" sz="1300">
                <a:solidFill>
                  <a:srgbClr val="1F2A44"/>
                </a:solidFill>
                <a:latin typeface="Calibri"/>
              </a:rPr>
              <a:t>No published index includes a utility's indirects or AFUDC. </a:t>
            </a:r>
            <a:r>
              <a:rPr sz="1300">
                <a:solidFill>
                  <a:srgbClr val="1F2A44"/>
                </a:solidFill>
                <a:latin typeface="Calibri"/>
              </a:rPr>
              <a:t>Strip J-M and Hyde Park is $1,483/kWh direct; strip the station and site layers D and E as well and it is $1,156/kWh.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6E1F2E"/>
                </a:solidFill>
                <a:latin typeface="Calibri"/>
              </a:rPr>
              <a:t>WHY A SMALL URBAN UTILITY-OWNED PROJECT SITS ABOVE THE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001E60"/>
                </a:solidFill>
                <a:latin typeface="Georgia"/>
              </a:rPr>
              <a:t>Six things about Hyde Park that a 100 MW greenfield benchmark never has to pay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EstimatingCoE | Eversource Energy | Stewards of Affordability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40680" cy="1463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82296" cy="146304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512064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001E60"/>
                </a:solidFill>
                <a:latin typeface="Calibri"/>
              </a:rPr>
              <a:t>Size. </a:t>
            </a:r>
            <a:r>
              <a:rPr sz="1350" b="0" i="0">
                <a:solidFill>
                  <a:srgbClr val="1F2A44"/>
                </a:solidFill>
                <a:latin typeface="Calibri"/>
              </a:rPr>
              <a:t>10 MW / 20 MWh. A switching station, a siting case and a commissioning team cost about the same at 10 MW as at 100 MW; per kWh they are ten times heavier.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440680" cy="1463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82296" cy="146304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512064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001E60"/>
                </a:solidFill>
                <a:latin typeface="Calibri"/>
              </a:rPr>
              <a:t>Duration. </a:t>
            </a:r>
            <a:r>
              <a:rPr sz="1350" b="0" i="0">
                <a:solidFill>
                  <a:srgbClr val="1F2A44"/>
                </a:solidFill>
                <a:latin typeface="Calibri"/>
              </a:rPr>
              <a:t>Two hours. Fixed $/kW items (PCS, breakers, GSUs, interconnection) are spread over half the MWh of a four-hour benchmark.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90088"/>
            <a:ext cx="5440680" cy="1463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90088"/>
            <a:ext cx="82296" cy="146304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81528"/>
            <a:ext cx="512064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001E60"/>
                </a:solidFill>
                <a:latin typeface="Calibri"/>
              </a:rPr>
              <a:t>Site. </a:t>
            </a:r>
            <a:r>
              <a:rPr sz="1350" b="0" i="0">
                <a:solidFill>
                  <a:srgbClr val="1F2A44"/>
                </a:solidFill>
                <a:latin typeface="Calibri"/>
              </a:rPr>
              <a:t>A closed construction-debris landfill in Boston: DEP post-closure use permit, cap protection, 36 borings, imported platform fill, 14 ft retaining wall, unknown obstructions ($450K risk).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90088"/>
            <a:ext cx="5440680" cy="1463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990088"/>
            <a:ext cx="82296" cy="146304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081528"/>
            <a:ext cx="512064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001E60"/>
                </a:solidFill>
                <a:latin typeface="Calibri"/>
              </a:rPr>
              <a:t>Interconnection. </a:t>
            </a:r>
            <a:r>
              <a:rPr sz="1350" b="0" i="0">
                <a:solidFill>
                  <a:srgbClr val="1F2A44"/>
                </a:solidFill>
                <a:latin typeface="Calibri"/>
              </a:rPr>
              <a:t>Four feeder tie-ins at 13.8 kV, each with its own breaker skid, plus relay replacement and transfer trip at Station 496 ($7.3M) and a 5,465 ft circuit extension (24211).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62856"/>
            <a:ext cx="5440680" cy="1463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562856"/>
            <a:ext cx="82296" cy="146304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54296"/>
            <a:ext cx="512064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001E60"/>
                </a:solidFill>
                <a:latin typeface="Calibri"/>
              </a:rPr>
              <a:t>Siting and outreach. </a:t>
            </a:r>
            <a:r>
              <a:rPr sz="1350" b="0" i="0">
                <a:solidFill>
                  <a:srgbClr val="1F2A44"/>
                </a:solidFill>
                <a:latin typeface="Calibri"/>
              </a:rPr>
              <a:t>Article 80 Small Project Review, Zoning Board of Appeal, outside counsel, an EJ community, a neighborhood concerned about open land and views: $1.5M plus $0.5M in the risk register.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562856"/>
            <a:ext cx="5440680" cy="1463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562856"/>
            <a:ext cx="82296" cy="146304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654296"/>
            <a:ext cx="512064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001E60"/>
                </a:solidFill>
                <a:latin typeface="Calibri"/>
              </a:rPr>
              <a:t>Utility accounting. </a:t>
            </a:r>
            <a:r>
              <a:rPr sz="1350" b="0" i="0">
                <a:solidFill>
                  <a:srgbClr val="1F2A44"/>
                </a:solidFill>
                <a:latin typeface="Calibri"/>
              </a:rPr>
              <a:t>Corporate indirects ($10.0M) and AFUDC over a seven-year development window ($5.0M) are real costs to customers that a developer's turnkey price never shows.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6E1F2E"/>
                </a:solidFill>
                <a:latin typeface="Calibri"/>
              </a:rPr>
              <a:t>COST HISTORY, 2021 TO 2026 (APPROVAL-LEVEL ESTIMATES AND VENDOR PRICE POINTS)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001E60"/>
                </a:solidFill>
                <a:latin typeface="Georgia"/>
              </a:rPr>
              <a:t>Five years, five in-service dates, and an estimate that moved from $44M to $57M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EstimatingCoE | Eversource Energy | Stewards of Affordability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75895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0" y="1417320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001E60"/>
                </a:solidFill>
                <a:latin typeface="Georgia"/>
              </a:rPr>
              <a:t>In-service date drift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0" y="1783080"/>
          <a:ext cx="3474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920240"/>
              </a:tblGrid>
              <a:tr h="350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As of</a:t>
                      </a:r>
                    </a:p>
                  </a:txBody>
                  <a:tcPr marL="54864" marR="54864" marT="27432" marB="27432"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Planned ISD</a:t>
                      </a:r>
                    </a:p>
                  </a:txBody>
                  <a:tcPr marL="54864" marR="54864" marT="27432" marB="27432">
                    <a:solidFill>
                      <a:srgbClr val="001E60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Jun 2021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Q3 2025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Dec 2023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Apr 2027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Feb 2024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Sep 2027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Aug 2028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Jun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Dec 2028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0" y="4069080"/>
            <a:ext cx="347472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Gold bars are vendor prices for the battery scope only. Navy bars are full project estimates. The battery price fell from $18.2M turnkey-indicative (2023, incl. civil) to $12.1M contracted (2026); the project rose $13.3M in the same window. The 2023 conceptual carried a placeholder that was never re-based until August 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6E1F2E"/>
                </a:solidFill>
                <a:latin typeface="Calibri"/>
              </a:rPr>
              <a:t>PAF CATEGORY COMPARISON, PROJECT 21334 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001E60"/>
                </a:solidFill>
                <a:latin typeface="Georgia"/>
              </a:rPr>
              <a:t>What changed between the December 2023 conceptual and Rev 3: $43.9M to $57.2M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EstimatingCoE | Eversource Energy | Stewards of Affordability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76809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21040" y="1417320"/>
            <a:ext cx="3383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001E60"/>
                </a:solidFill>
                <a:latin typeface="Georgia"/>
              </a:rPr>
              <a:t>Largest movements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21040" y="1783080"/>
          <a:ext cx="33832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</a:tblGrid>
              <a:tr h="3886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54864" marR="54864" marT="27432" marB="27432"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 marL="54864" marR="54864" marT="27432" marB="27432">
                    <a:solidFill>
                      <a:srgbClr val="001E6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Materials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+$2.9M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Risks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+$2.1M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+$2.0M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AFUDC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+$1.7M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Construction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+$1.1M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Siting + Env + Outreach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+$1.1M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PMT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+$0.9M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321040" y="5029200"/>
            <a:ext cx="338328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Materials: contracted battery replaces 2023 indicative pricing, plus breaker skids and GSUs. Testing and siting: Station 496 scope and Article 80 were not in E-23-373. AFUDC: a 20-month later ISD on a larger base.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6E1F2E"/>
                </a:solidFill>
                <a:latin typeface="Calibri"/>
              </a:rPr>
              <a:t>REVISION WALK, 26 AUG TO 24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001E60"/>
                </a:solidFill>
                <a:latin typeface="Georgia"/>
              </a:rPr>
              <a:t>Four revisions in five weeks: how the September estimate settled at $57.2M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EstimatingCoE | Eversource Energy | Stewards of Affordability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69494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4846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>
                <a:solidFill>
                  <a:srgbClr val="FFC72C"/>
                </a:solidFill>
                <a:latin typeface="Calibri"/>
              </a:rPr>
              <a:t>▪  </a:t>
            </a:r>
            <a:r>
              <a:rPr b="1" sz="1350">
                <a:solidFill>
                  <a:srgbClr val="1F2A44"/>
                </a:solidFill>
                <a:latin typeface="Calibri"/>
              </a:rPr>
              <a:t>Rev 0 carried the battery at about $6M </a:t>
            </a:r>
            <a:r>
              <a:rPr sz="1350">
                <a:solidFill>
                  <a:srgbClr val="1F2A44"/>
                </a:solidFill>
                <a:latin typeface="Calibri"/>
              </a:rPr>
              <a:t>from the 2023 indicative sheet. The PM: 'we know the BESS system itself is 12.'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>
                <a:solidFill>
                  <a:srgbClr val="FFC72C"/>
                </a:solidFill>
                <a:latin typeface="Calibri"/>
              </a:rPr>
              <a:t>▪  </a:t>
            </a:r>
            <a:r>
              <a:rPr b="1" sz="1350">
                <a:solidFill>
                  <a:srgbClr val="1F2A44"/>
                </a:solidFill>
                <a:latin typeface="Calibri"/>
              </a:rPr>
              <a:t>Rev 2 reset it to the cover agreement, escalated to $13.1M, </a:t>
            </a:r>
            <a:r>
              <a:rPr sz="1350">
                <a:solidFill>
                  <a:srgbClr val="1F2A44"/>
                </a:solidFill>
                <a:latin typeface="Calibri"/>
              </a:rPr>
              <a:t>and carried $1.5M of 'relays for batteries' from a 2023 bidder that priced its own switchgear.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>
                <a:solidFill>
                  <a:srgbClr val="FFC72C"/>
                </a:solidFill>
                <a:latin typeface="Calibri"/>
              </a:rPr>
              <a:t>▪  </a:t>
            </a:r>
            <a:r>
              <a:rPr b="1" sz="1350">
                <a:solidFill>
                  <a:srgbClr val="1F2A44"/>
                </a:solidFill>
                <a:latin typeface="Calibri"/>
              </a:rPr>
              <a:t>Rev 3 removed the relays </a:t>
            </a:r>
            <a:r>
              <a:rPr sz="1350">
                <a:solidFill>
                  <a:srgbClr val="1F2A44"/>
                </a:solidFill>
                <a:latin typeface="Calibri"/>
              </a:rPr>
              <a:t>(P&amp;C Engineering: included in the $300K Siemens skid), cut three SSVTs to one, and re-based engineering to $501K to go plus actuals.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>
                <a:solidFill>
                  <a:srgbClr val="FFC72C"/>
                </a:solidFill>
                <a:latin typeface="Calibri"/>
              </a:rPr>
              <a:t>▪  </a:t>
            </a:r>
            <a:r>
              <a:rPr b="1" sz="1350">
                <a:solidFill>
                  <a:srgbClr val="1F2A44"/>
                </a:solidFill>
                <a:latin typeface="Calibri"/>
              </a:rPr>
              <a:t>Net: </a:t>
            </a:r>
            <a:r>
              <a:rPr sz="1350">
                <a:solidFill>
                  <a:srgbClr val="1F2A44"/>
                </a:solidFill>
                <a:latin typeface="Calibri"/>
              </a:rPr>
              <a:t>+$10.0M from Rev 0, of which $7.0M is the battery line catching up to the contract.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6E1F2E"/>
                </a:solidFill>
                <a:latin typeface="Calibri"/>
              </a:rPr>
              <a:t>BATTERY SCOPE PRICE POINTS ($/KWH AT 20 MWH)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001E60"/>
                </a:solidFill>
                <a:latin typeface="Georgia"/>
              </a:rPr>
              <a:t>The battery itself: a $9.6M-$18.2M indicative spread in 2023, a $12.1M fixed price in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EstimatingCoE | Eversource Energy | Stewards of Affordability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69494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4846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FFC72C"/>
                </a:solidFill>
                <a:latin typeface="Calibri"/>
              </a:rPr>
              <a:t>▪  </a:t>
            </a:r>
            <a:r>
              <a:rPr b="1" sz="1300">
                <a:solidFill>
                  <a:srgbClr val="1F2A44"/>
                </a:solidFill>
                <a:latin typeface="Calibri"/>
              </a:rPr>
              <a:t>July 2023, five bidders, 10 MW / 20 MWh: </a:t>
            </a:r>
            <a:r>
              <a:rPr sz="1300">
                <a:solidFill>
                  <a:srgbClr val="1F2A44"/>
                </a:solidFill>
                <a:latin typeface="Calibri"/>
              </a:rPr>
              <a:t>$9.6M to $18.2M. Every bidder excluded interconnection, permits beyond local, below-grade risk, sound walls or spares.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FFC72C"/>
                </a:solidFill>
                <a:latin typeface="Calibri"/>
              </a:rPr>
              <a:t>▪  </a:t>
            </a:r>
            <a:r>
              <a:rPr b="1" sz="1300">
                <a:solidFill>
                  <a:srgbClr val="1F2A44"/>
                </a:solidFill>
                <a:latin typeface="Calibri"/>
              </a:rPr>
              <a:t>Company 3 ($18.2M, burgundy) </a:t>
            </a:r>
            <a:r>
              <a:rPr sz="1300">
                <a:solidFill>
                  <a:srgbClr val="1F2A44"/>
                </a:solidFill>
                <a:latin typeface="Calibri"/>
              </a:rPr>
              <a:t>became the E-23-373 basis because it alone priced turnkey civil ($4.56M) and installation.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FFC72C"/>
                </a:solidFill>
                <a:latin typeface="Calibri"/>
              </a:rPr>
              <a:t>▪  </a:t>
            </a:r>
            <a:r>
              <a:rPr b="1" sz="1300">
                <a:solidFill>
                  <a:srgbClr val="1F2A44"/>
                </a:solidFill>
                <a:latin typeface="Calibri"/>
              </a:rPr>
              <a:t>March 2026 contract, $12.1M (gold): </a:t>
            </a:r>
            <a:r>
              <a:rPr sz="1300">
                <a:solidFill>
                  <a:srgbClr val="1F2A44"/>
                </a:solidFill>
                <a:latin typeface="Calibri"/>
              </a:rPr>
              <a:t>supply only, with supervision. Civil, install, GSUs, station and interconnection moved to Eversource scope.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FFC72C"/>
                </a:solidFill>
                <a:latin typeface="Calibri"/>
              </a:rPr>
              <a:t>▪  </a:t>
            </a:r>
            <a:r>
              <a:rPr b="1" sz="1300">
                <a:solidFill>
                  <a:srgbClr val="1F2A44"/>
                </a:solidFill>
                <a:latin typeface="Calibri"/>
              </a:rPr>
              <a:t>Equipment-only inside the contract: </a:t>
            </a:r>
            <a:r>
              <a:rPr sz="1300">
                <a:solidFill>
                  <a:srgbClr val="1F2A44"/>
                </a:solidFill>
                <a:latin typeface="Calibri"/>
              </a:rPr>
              <a:t>$10.64M, $532/kWh, in line with published 2025-26 turnkey system indices (slide 7).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FFC72C"/>
                </a:solidFill>
                <a:latin typeface="Calibri"/>
              </a:rPr>
              <a:t>▪  </a:t>
            </a:r>
            <a:r>
              <a:rPr b="1" sz="1300">
                <a:solidFill>
                  <a:srgbClr val="1F2A44"/>
                </a:solidFill>
                <a:latin typeface="Calibri"/>
              </a:rPr>
              <a:t>Rev 3 adds $1.13M of escalation </a:t>
            </a:r>
            <a:r>
              <a:rPr sz="1300">
                <a:solidFill>
                  <a:srgbClr val="1F2A44"/>
                </a:solidFill>
                <a:latin typeface="Calibri"/>
              </a:rPr>
              <a:t>to a price the contract fixes until Final Acceptance.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6E1F2E"/>
                </a:solidFill>
                <a:latin typeface="Calibri"/>
              </a:rPr>
              <a:t>WHAT IT TAKES TO PUT 10 MW ON FOUR 13.8 KV FEEDERS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001E60"/>
                </a:solidFill>
                <a:latin typeface="Georgia"/>
              </a:rPr>
              <a:t>Station and interconnection facilities: $18.3M loaded, and none of it in a vendor quote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EstimatingCoE | Eversource Energy | Stewards of Affordability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585216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480560"/>
            <a:ext cx="2743200" cy="17373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590288"/>
            <a:ext cx="2468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i="0">
                <a:solidFill>
                  <a:srgbClr val="001E60"/>
                </a:solidFill>
                <a:latin typeface="Georgia"/>
              </a:rPr>
              <a:t>$18.3M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24688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Loaded, in 21334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22976"/>
            <a:ext cx="2468880" cy="6492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32% of the approval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4480560"/>
            <a:ext cx="2880360" cy="17373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4590288"/>
            <a:ext cx="26060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i="0">
                <a:solidFill>
                  <a:srgbClr val="001E60"/>
                </a:solidFill>
                <a:latin typeface="Georgia"/>
              </a:rPr>
              <a:t>$23.1M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5138928"/>
            <a:ext cx="2606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Incl. D-Line memo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5522976"/>
            <a:ext cx="2606040" cy="6492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37% of the all-in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417320"/>
            <a:ext cx="5120640" cy="4846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FFC72C"/>
                </a:solidFill>
                <a:latin typeface="Calibri"/>
              </a:rPr>
              <a:t>▪  </a:t>
            </a:r>
            <a:r>
              <a:rPr b="1" sz="1300">
                <a:solidFill>
                  <a:srgbClr val="1F2A44"/>
                </a:solidFill>
                <a:latin typeface="Calibri"/>
              </a:rPr>
              <a:t>Four Siemens SDV7 breaker skids at $300K each </a:t>
            </a:r>
            <a:r>
              <a:rPr sz="1300">
                <a:solidFill>
                  <a:srgbClr val="1F2A44"/>
                </a:solidFill>
                <a:latin typeface="Calibri"/>
              </a:rPr>
              <a:t>(relays, PTs, DC battery, cabinet on the skid), disconnects, four metering transclosures, station service, riser poles, 15 kV cable and 1,240 ft of duct bank.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FFC72C"/>
                </a:solidFill>
                <a:latin typeface="Calibri"/>
              </a:rPr>
              <a:t>▪  </a:t>
            </a:r>
            <a:r>
              <a:rPr b="1" sz="1300">
                <a:solidFill>
                  <a:srgbClr val="1F2A44"/>
                </a:solidFill>
                <a:latin typeface="Calibri"/>
              </a:rPr>
              <a:t>Station 496: </a:t>
            </a:r>
            <a:r>
              <a:rPr sz="1300">
                <a:solidFill>
                  <a:srgbClr val="1F2A44"/>
                </a:solidFill>
                <a:latin typeface="Calibri"/>
              </a:rPr>
              <a:t>20 SEL relays replacing SEL-551 and REF610 units on four feeders, RTU and RTAC points, transfer trip over dark fiber; $1.8M of that is testing.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FFC72C"/>
                </a:solidFill>
                <a:latin typeface="Calibri"/>
              </a:rPr>
              <a:t>▪  </a:t>
            </a:r>
            <a:r>
              <a:rPr b="1" sz="1300">
                <a:solidFill>
                  <a:srgbClr val="1F2A44"/>
                </a:solidFill>
                <a:latin typeface="Calibri"/>
              </a:rPr>
              <a:t>Site: </a:t>
            </a:r>
            <a:r>
              <a:rPr sz="1300">
                <a:solidFill>
                  <a:srgbClr val="1F2A44"/>
                </a:solidFill>
                <a:latin typeface="Calibri"/>
              </a:rPr>
              <a:t>2.5 acres cleared, 760 ft road, 2,520 CY cut, imported fill, 14 ft retaining wall, ground grid, fence, lighting; Haugland's platform take-off is larger than ours and is unreconciled.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FFC72C"/>
                </a:solidFill>
                <a:latin typeface="Calibri"/>
              </a:rPr>
              <a:t>▪  </a:t>
            </a:r>
            <a:r>
              <a:rPr b="1" sz="1300">
                <a:solidFill>
                  <a:srgbClr val="1F2A44"/>
                </a:solidFill>
                <a:latin typeface="Calibri"/>
              </a:rPr>
              <a:t>D-Line (24211): </a:t>
            </a:r>
            <a:r>
              <a:rPr sz="1300">
                <a:solidFill>
                  <a:srgbClr val="1F2A44"/>
                </a:solidFill>
                <a:latin typeface="Calibri"/>
              </a:rPr>
              <a:t>5,465 ft feeder extension, three manholes, 16,395 ft of 3-700 cable; $4.8M is a 2023 conceptual figure.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6E1F2E"/>
                </a:solidFill>
                <a:latin typeface="Calibri"/>
              </a:rPr>
              <a:t>LOADERS ON PROJECT 21334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001E60"/>
                </a:solidFill>
                <a:latin typeface="Georgia"/>
              </a:rPr>
              <a:t>Risk, contingency, indirects and AFUDC are 41% of the approval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EstimatingCoE | Eversource Energy | Stewards of Affordability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47548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0" y="1417320"/>
          <a:ext cx="6172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600200"/>
              </a:tblGrid>
              <a:tr h="355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Station 360 risk item</a:t>
                      </a:r>
                    </a:p>
                  </a:txBody>
                  <a:tcPr marL="54864" marR="54864" marT="27432" marB="27432"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$K</a:t>
                      </a:r>
                    </a:p>
                  </a:txBody>
                  <a:tcPr marL="54864" marR="54864" marT="27432" marB="27432">
                    <a:solidFill>
                      <a:srgbClr val="001E60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Material cost, tariffs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Design / scope change orders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Labor cost, shortage, overtime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Unforeseen UG obstructions (landfill)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450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Environmental (DEP, landfill closure docs)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Soil contamination remediation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Station and P&amp;C engineering changes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Weather, siting delay, outreach, BAR deductibles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1,050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0" y="4754880"/>
            <a:ext cx="6172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Risk plus contingency is 17.9% of the approval level before loaders, inside the 15-18% lead-review guidance. Indirects at 17.4% and AFUDC at 8.8% follow the EMA station template on a spend curve that runs from July 2021 to December 2028. Haugland's Attachment 4-F carries overlapping exposures (geotech $0.6M-$3.5M, fault-study equipment change $0.25M-$1.8M) that have not been reconciled with this register.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6E1F2E"/>
                </a:solidFill>
                <a:latin typeface="Calibri"/>
              </a:rPr>
              <a:t>RECONCILIATIONS AND DECISIONS, WITH THE DOLLARS AT STAKE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001E60"/>
                </a:solidFill>
                <a:latin typeface="Georgia"/>
              </a:rPr>
              <a:t>What must close before this number goes to EPAC as full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EstimatingCoE | Eversource Energy | Stewards of Affordability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1280160"/>
                <a:gridCol w="2286000"/>
                <a:gridCol w="1645920"/>
              </a:tblGrid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54864" marR="54864" marT="27432" marB="27432"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7432" marB="27432"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Dollars at stake</a:t>
                      </a:r>
                    </a:p>
                  </a:txBody>
                  <a:tcPr marL="54864" marR="54864" marT="27432" marB="27432">
                    <a:solidFill>
                      <a:srgbClr val="001E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54864" marR="54864" marT="27432" marB="27432">
                    <a:solidFill>
                      <a:srgbClr val="001E6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Reconcile Haugland Class 3 base ($19.2M, its scope) to Rev 3 layers B+D+E ($8.3M direct)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Scope boundary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Unknown until mapped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Cost Estimating + PM + HEG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Confirm four written design-basis items (retaining wall, detention basin, duct bank, GSU count)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Design confirmation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$1.47M HEG deduct ceiling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Substation Engineering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Escalation on the fixed-price battery balance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$1.13M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PM / Cost Estimating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Geotechnical investigation before IFC (platform depth, bearing)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$0.38M deduct or $0.6M-$3.5M exposure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Civil Engineering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NFPA 855 hazard mitigation analysis before civil freeze (footprint 36,100 vs 17,040 SF)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$0.58M deduct; containment $0.10M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Capital Projects Eng.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Re-base D-Line 24211 (2023 conceptual $4.8M; HEG take-off larger)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Distribution Engineering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Battery installation labor: replace 25%-of-16,801 mh with a crew build-up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+/- $0.5M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Cost Estimating + Nomad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Present full funding as Planning grade (-25/+25%) once the above close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Classification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Range narrows from -$14M/+$29M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44"/>
                          </a:solidFill>
                          <a:latin typeface="Calibri"/>
                        </a:rPr>
                        <a:t>Cost Estimating</a:t>
                      </a:r>
                    </a:p>
                  </a:txBody>
                  <a:tcPr marL="54864" marR="54864" marT="27432" marB="27432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Haugland's own roll-up: $2.9M achievable deduct ceiling against its base, $0.15M to capture, plus $1.5M of avoided cost outside the base. Ceiling, not forecast.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FFC72C"/>
                </a:solidFill>
                <a:latin typeface="Calibri"/>
              </a:rPr>
              <a:t>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A $12 million battery is a $57 million project, and now every dollar between them has a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577840" cy="4480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FFC72C"/>
                </a:solidFill>
                <a:latin typeface="Calibri"/>
              </a:rPr>
              <a:t>▪  </a:t>
            </a:r>
            <a:r>
              <a:rPr b="1" sz="1450">
                <a:solidFill>
                  <a:srgbClr val="FFFFFF"/>
                </a:solidFill>
                <a:latin typeface="Calibri"/>
              </a:rPr>
              <a:t>Cost layer extraction. </a:t>
            </a:r>
            <a:r>
              <a:rPr sz="1450">
                <a:solidFill>
                  <a:srgbClr val="FFFFFF"/>
                </a:solidFill>
                <a:latin typeface="Calibri"/>
              </a:rPr>
              <a:t>292 Rev 3 line items in thirteen layers, reconciled to the penny. Direct shares: battery contract 23%, battery install and balance of plant 6%, station and interconnection 24%, owner scope 11%, Station 360 loaders 35%.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FFC72C"/>
                </a:solidFill>
                <a:latin typeface="Calibri"/>
              </a:rPr>
              <a:t>▪  </a:t>
            </a:r>
            <a:r>
              <a:rPr b="1" sz="1450">
                <a:solidFill>
                  <a:srgbClr val="FFFFFF"/>
                </a:solidFill>
                <a:latin typeface="Calibri"/>
              </a:rPr>
              <a:t>Unit costs at every boundary. </a:t>
            </a:r>
            <a:r>
              <a:rPr sz="1450">
                <a:solidFill>
                  <a:srgbClr val="FFFFFF"/>
                </a:solidFill>
                <a:latin typeface="Calibri"/>
              </a:rPr>
              <a:t>$605/kWh vendor, $833 installed, $2,500 Station 360, $2,862 project, $3,102 all-in. Benchmarks compared against the row that matches their definition.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FFC72C"/>
                </a:solidFill>
                <a:latin typeface="Calibri"/>
              </a:rPr>
              <a:t>▪  </a:t>
            </a:r>
            <a:r>
              <a:rPr b="1" sz="1450">
                <a:solidFill>
                  <a:srgbClr val="FFFFFF"/>
                </a:solidFill>
                <a:latin typeface="Calibri"/>
              </a:rPr>
              <a:t>Cost history. </a:t>
            </a:r>
            <a:r>
              <a:rPr sz="1450">
                <a:solidFill>
                  <a:srgbClr val="FFFFFF"/>
                </a:solidFill>
                <a:latin typeface="Calibri"/>
              </a:rPr>
              <a:t>2021 IFR to Rev 3, with the ISD drift and the five-week September walk documented from the ESF revisions and email record.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FFC72C"/>
                </a:solidFill>
                <a:latin typeface="Calibri"/>
              </a:rPr>
              <a:t>▪  </a:t>
            </a:r>
            <a:r>
              <a:rPr b="1" sz="1450">
                <a:solidFill>
                  <a:srgbClr val="FFFFFF"/>
                </a:solidFill>
                <a:latin typeface="Calibri"/>
              </a:rPr>
              <a:t>Open-item register. </a:t>
            </a:r>
            <a:r>
              <a:rPr sz="1450">
                <a:solidFill>
                  <a:srgbClr val="FFFFFF"/>
                </a:solidFill>
                <a:latin typeface="Calibri"/>
              </a:rPr>
              <a:t>Eight reconciliations with owners and dollars, led by the Haugland Class 3 reconciliation and the $1.13M escalation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737360"/>
            <a:ext cx="5257800" cy="4480560"/>
          </a:xfrm>
          <a:prstGeom prst="rect">
            <a:avLst/>
          </a:prstGeom>
          <a:solidFill>
            <a:srgbClr val="0B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74519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FFC72C"/>
                </a:solidFill>
                <a:latin typeface="Georgia"/>
              </a:rPr>
              <a:t>Decisions requested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4937760" cy="3840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>
                <a:solidFill>
                  <a:srgbClr val="FFC72C"/>
                </a:solidFill>
                <a:latin typeface="Calibri"/>
              </a:rPr>
              <a:t>▪  </a:t>
            </a:r>
            <a:r>
              <a:rPr sz="1350">
                <a:solidFill>
                  <a:srgbClr val="FFFFFF"/>
                </a:solidFill>
                <a:latin typeface="Calibri"/>
              </a:rPr>
              <a:t>Adopt the layered view as the standard way this project is presented internally and to regulators: battery, station, interconnection, owner scope, loaders.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>
                <a:solidFill>
                  <a:srgbClr val="FFC72C"/>
                </a:solidFill>
                <a:latin typeface="Calibri"/>
              </a:rPr>
              <a:t>▪  </a:t>
            </a:r>
            <a:r>
              <a:rPr sz="1350">
                <a:solidFill>
                  <a:srgbClr val="FFFFFF"/>
                </a:solidFill>
                <a:latin typeface="Calibri"/>
              </a:rPr>
              <a:t>Direct the Haugland-to-Rev 3 reconciliation before the full-funding PAF is drafted.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>
                <a:solidFill>
                  <a:srgbClr val="FFC72C"/>
                </a:solidFill>
                <a:latin typeface="Calibri"/>
              </a:rPr>
              <a:t>▪  </a:t>
            </a:r>
            <a:r>
              <a:rPr sz="1350">
                <a:solidFill>
                  <a:srgbClr val="FFFFFF"/>
                </a:solidFill>
                <a:latin typeface="Calibri"/>
              </a:rPr>
              <a:t>Decide the escalation treatment on the fixed-price battery balance.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>
                <a:solidFill>
                  <a:srgbClr val="FFC72C"/>
                </a:solidFill>
                <a:latin typeface="Calibri"/>
              </a:rPr>
              <a:t>▪  </a:t>
            </a:r>
            <a:r>
              <a:rPr sz="1350">
                <a:solidFill>
                  <a:srgbClr val="FFFFFF"/>
                </a:solidFill>
                <a:latin typeface="Calibri"/>
              </a:rPr>
              <a:t>Fund the geotechnical investigation and the NFPA 855 hazard mitigation analysis now; both gate $1M of deducts and $3.5M of exposure.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>
                <a:solidFill>
                  <a:srgbClr val="FFC72C"/>
                </a:solidFill>
                <a:latin typeface="Calibri"/>
              </a:rPr>
              <a:t>▪  </a:t>
            </a:r>
            <a:r>
              <a:rPr sz="1350">
                <a:solidFill>
                  <a:srgbClr val="FFFFFF"/>
                </a:solidFill>
                <a:latin typeface="Calibri"/>
              </a:rPr>
              <a:t>Retire the $43.9M placeholder in the PAF narrative.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C9D1E0"/>
                </a:solidFill>
                <a:latin typeface="Calibri"/>
              </a:rPr>
              <a:t>EstimatingCoE | Eversource Energy | Stewards of Affordability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
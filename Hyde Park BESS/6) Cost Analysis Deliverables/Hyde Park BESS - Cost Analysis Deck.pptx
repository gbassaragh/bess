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5" r:id="rId27"/>
    <p:sldId id="276" r:id="rId28"/>
    <p:sldId id="277" r:id="rId29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 CORE PATH for a 25-minute slot: slides 1, 2, 3, 6, 4, 7, 8, 9, 11, 15, 18, 22. Everything else is reachable from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Steelman first: the battery is contracted, every dollar has a name, the direct cost is inside the reference class. These three are what an outside reviewer will find if we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combination case is the one to plan against. It is not exotic: it is the HEG gap plus one missed siting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indicators, none of them expensive to watch. Three of them have no owner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by the red team. The first two items are the ones that can move the number by more than the whole reserve; the rest are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the battery is the only part a vendor prices. The station, the site, the feeder protection, the siting case, the risk and the cost of money are 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Three sections: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where the money sits (thirteen layers, unit costs, benchmarks); how the cost changed (2021 to today); can the number be defended (red team, stress tests, what must close).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12).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LOADED VIEW, FACTOR 1.685 ON STATION 360 DIRECTS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interconnection: $18.3M loaded,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BENCHMARKS VS HYDE PARK BOUNDARIES, $/KWH NOMINAL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 for reasons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COST HISTORY, 2021 TO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battery: a $9.6M to $18.2M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 7).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INDEPENDENT CHALLENGE, 29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Three assumptions that, if wrong, move the number more than the 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1. Construction may be low, not high.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Rev 3 layers B+D+E are $8.3M direct. Haugland's Class 3 base for overlapping scope is $19.2M with a $2.9M deduct ceiling. Nobody has mapped one to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90472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 signed HEG-to-Rev 3 scope map before the PAF is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90088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2. Siting is binary and carries no float.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ZBA determination, construction start and container delivery all land in Q1 2028 for a Dec 2028 ISD. Denial means an EFSB exemption at 18-24 months. The estimate carries $250K for siting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63240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Article 80 filing date, ZBA calendar, P6 float on the siting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62856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3. The number is Class 4 wearing Class 3 clothes.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36008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30% engineering, unit-library construction with no bid, install labor as a percentage of a 2023 total, a 2.5 ft platform placeholder. EPAC will hear $57.2M as a planning number.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636008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geotech, HMA, HEG map, crew build-up; then reclassify with a -15/+25% range.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QUANTIFIED DOWNSIDE, LOADED AT 1.685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Stress tests on our own numbers, and what history says about small utility batteries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914400"/>
                <a:gridCol w="137160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Loaded cost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Covered by $7.6M reserve?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Construction unit costs +25% on B+D+E+G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at midpoint of the gap (+$5M direct)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+$8.4M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Schedule +12 months (siting or long-lead)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EFSB zoning exemption path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~+$8M to +$10M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Contractor bids +20% over estimate labor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Combination: HEG midpoint + 12-month slip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~+$13M (to ~$70M)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Battery change orders at the LD cap (10%)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+$1.2M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69494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Untestable from the package: tariff or change-in-law pass-through on the Nomad price (Exhibit C terms), the AFUDC rate (assumed ~7% on CWIP), Station 496 outage premium (1.35 to 1.70 factor on affected hours), FEOC / ITC effect on net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Base rate: approved to actual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78308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3265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Uplift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BGE Fairhaven 2.5 MW/9.7 MWh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+64%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HECO Waena 40 MW/160 MWh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SaskPower Regina 20 MW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Eversource Provincetown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+9% to +40%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Dec 2023 to Sep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Rev 0 to Rev 3 (5 wks)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4206240"/>
            <a:ext cx="39319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1F2A44"/>
                </a:solidFill>
                <a:latin typeface="Calibri"/>
              </a:rPr>
              <a:t>Rev 3 carries 17.9% risk plus contingency. The exception case for beating the base rate rests on three anchors: a fixed battery price, a Siemens price on the skids, and Haugland engaged pre-construction. Together they cover about a third of the cost. The other two thirds have no such anchor.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FAILURE NARRATIVE AND EARLY-WARNING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Pre-mortem: June 2031, $74M, fifteen months late. 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1">
                <a:solidFill>
                  <a:srgbClr val="1F2A44"/>
                </a:solidFill>
                <a:latin typeface="Calibri"/>
              </a:rPr>
              <a:t>The ZBA conditioned approval on a smaller footprint and new screening; the civil package went back through Haugland in the winter of 2028. Spring 2027 borings found debris deeper than the 2014 closure set showed; the platform went from 2.5 ft of fill to piles, and the reconciliation that had never been done was done as a change order. Nomad's twelve containers arrived on time in January 2028 and sat in a rented yard for nine months. Station 496 cutovers needed night outages priced at straight time. AFUDC alone added $4M. The PAF had said Conceptual, -25/+50%. Everyone remembered $57M.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Early-warning indicators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783080"/>
          <a:ext cx="5120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Caught today?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Geotech report not issued by IFC-civil design freeze (mid-2027)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no P6 gate ties IFC to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ZBA hearing date not set within 90 days of Article 80 filing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siting carries hours, not milestones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not closed before the PAF is drafted (Nov 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Only if the CoE makes it a precondition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Nomad final-drawings milestone (13 Jul 2026) slipped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Partly: payments tracked, not downstream effect on GSU spec and civil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Station 496 outage plan not issued before construction pricing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RECONCILIATIONS AND DECISIONS, RED-TEAM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188720"/>
                <a:gridCol w="2286000"/>
                <a:gridCol w="155448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direct). Red team expects it to move the base up, not down.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+$4M to +$8M direct if half the gap is 21334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chain has no float: ZBA determination Feb 2028, construction start Feb 2028, ISD Dec 2028; EFSB fallback 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~$5M per 12 months (AFUDC, escalation, PM, indirects)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+ PM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at its real maturity: 30% engineering, no bid, placeholder platform = Class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Range is -25/+50% ($43M-$86M) until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and NFPA 855 hazard mitigation analysis before civil freeze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$1.0M of deducts vs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Civil + Capital Projects Eng.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 (~$0.8M net of GSUs already at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balance; check Exhibit C for tariff / change-in-law pass-through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 / Sourcing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+/- $0.5M (Rev 2 used 50%)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Station 496 at $363K per relay: compare to two recent EMA relay-replacement actuals; outage-window premium not priced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Unknown; $1.8M testing line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P&amp;C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Spot generation if the BESS misses Dec 2028 (SSF: 2-8 MW) was removed from scope; who carries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/ ownership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Not in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System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Defensible reductions (~$3M: battery escalation, design-basis confirmations, material risk sized on non-battery material) are conditional on the Haugland reconciliation closing first.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Where the money sits. </a:t>
            </a:r>
            <a:r>
              <a:rPr sz="1450">
                <a:solidFill>
                  <a:srgbClr val="FFFFFF"/>
                </a:solidFill>
                <a:latin typeface="Calibri"/>
              </a:rPr>
              <a:t>292 lines in thirteen layers, reconciled to the penny: battery contract 21%, station and interconnection 32% loaded, owner scope 19%, loaders 41%.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$1,483 station direct, $2,862 project. Each benchmark read against the row that shares its definition.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How it changed. </a:t>
            </a:r>
            <a:r>
              <a:rPr sz="1450">
                <a:solidFill>
                  <a:srgbClr val="FFFFFF"/>
                </a:solidFill>
                <a:latin typeface="Calibri"/>
              </a:rPr>
              <a:t>The battery got cheaper; the project got real. $43.9M to $57.2M, five in-service dates, documented from the ESF revisions and the email record.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Can it be defended. </a:t>
            </a:r>
            <a:r>
              <a:rPr sz="1450">
                <a:solidFill>
                  <a:srgbClr val="FFFFFF"/>
                </a:solidFill>
                <a:latin typeface="Calibri"/>
              </a:rPr>
              <a:t>Inside the reference class on direct cost; three kill shots, seven stress tests, a pre-mortem, and ten reconciliations with owners and dollars.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(battery, station, interconnection, owner scope, loaders) as the standard presentation of this project, internally and to regulators.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Make the Haugland-to-Rev 3 reconciliation, the geotech and the hazard mitigation analysis preconditions of the November PAF; present at Class 4 until they close.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Assign owners to the siting-chain float and the five early-warning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utility-owned projects at or below 100 MWh: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223760" cy="2471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Median </a:t>
            </a:r>
            <a:r>
              <a:rPr sz="1250">
                <a:solidFill>
                  <a:srgbClr val="1F2A44"/>
                </a:solidFill>
                <a:latin typeface="Calibri"/>
              </a:rPr>
              <a:t>$1,235/kWh; interquartile $750 to $1,289.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250">
                <a:solidFill>
                  <a:srgbClr val="1F2A44"/>
                </a:solidFill>
                <a:latin typeface="Calibri"/>
              </a:rPr>
              <a:t>38% percentile.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250">
                <a:solidFill>
                  <a:srgbClr val="1F2A44"/>
                </a:solidFill>
                <a:latin typeface="Calibri"/>
              </a:rPr>
              <a:t>77% percentile, beside Fairhaven ($1,659 actual, 2023), Chateaugay ($1,490, 2023) and Provincetown ($1,289, 2022).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2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Caveat: </a:t>
            </a:r>
            <a:r>
              <a:rPr sz="1250">
                <a:solidFill>
                  <a:srgbClr val="1F2A44"/>
                </a:solidFill>
                <a:latin typeface="Calibri"/>
              </a:rPr>
              <a:t>figures retrieved from search excerpts of regulator and utility documents; verify at source before external 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26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two thirds of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-0.29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$1,116/kWh, 80% interval $611 to $2,037.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10%, installed 27%, station direct 73%, approval 98%.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1.4; ownership and region terms are not significant at this 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reserve covers the modeled ranges, thin against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
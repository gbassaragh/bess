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4" r:id="rId46"/>
    <p:sldId id="295" r:id="rId47"/>
    <p:sldId id="296" r:id="rId48"/>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cat>
            <c:strRef>
              <c:f>Sheet1!$A$2:$A$14</c:f>
              <c:strCache>
                <c:ptCount val="13"/>
                <c:pt idx="0">
                  <c:v>A Battery contract
$13.0M</c:v>
                </c:pt>
                <c:pt idx="1">
                  <c:v>B Battery install
$1.7M</c:v>
                </c:pt>
                <c:pt idx="2">
                  <c:v>C Battery BOP (GSU, EMS)
$1.9M</c:v>
                </c:pt>
                <c:pt idx="3">
                  <c:v>D Sta 360 switching
$3.8M</c:v>
                </c:pt>
                <c:pt idx="4">
                  <c:v>E Site &amp; civil
$2.7M</c:v>
                </c:pt>
                <c:pt idx="5">
                  <c:v>F Sta 496 protection
$7.3M</c:v>
                </c:pt>
                <c:pt idx="6">
                  <c:v>G Testing
$1.3M</c:v>
                </c:pt>
                <c:pt idx="7">
                  <c:v>H Owner soft costs
$4.4M</c:v>
                </c:pt>
                <c:pt idx="8">
                  <c:v>I Taxes, CWIP, BAR
$0.8M</c:v>
                </c:pt>
                <c:pt idx="9">
                  <c:v>J Risk
$5.3M</c:v>
                </c:pt>
                <c:pt idx="10">
                  <c:v>K Contingency
$2.3M</c:v>
                </c:pt>
                <c:pt idx="11">
                  <c:v>L Indirects
$8.1M</c:v>
                </c:pt>
                <c:pt idx="12">
                  <c:v>M AFUDC
$4.7M</c:v>
                </c:pt>
              </c:strCache>
            </c:strRef>
          </c:cat>
          <c:val>
            <c:numRef>
              <c:f>Sheet1!$B$2:$B$14</c:f>
              <c:numCache>
                <c:formatCode>General</c:formatCode>
                <c:ptCount val="13"/>
                <c:pt idx="0">
                  <c:v>0.0</c:v>
                </c:pt>
                <c:pt idx="1">
                  <c:v>12.99</c:v>
                </c:pt>
                <c:pt idx="2">
                  <c:v>14.72</c:v>
                </c:pt>
                <c:pt idx="3">
                  <c:v>16.66</c:v>
                </c:pt>
                <c:pt idx="4">
                  <c:v>20.5</c:v>
                </c:pt>
                <c:pt idx="5">
                  <c:v>23.19</c:v>
                </c:pt>
                <c:pt idx="6">
                  <c:v>30.45</c:v>
                </c:pt>
                <c:pt idx="7">
                  <c:v>31.71</c:v>
                </c:pt>
                <c:pt idx="8">
                  <c:v>36.13</c:v>
                </c:pt>
                <c:pt idx="9">
                  <c:v>36.92</c:v>
                </c:pt>
                <c:pt idx="10">
                  <c:v>42.22</c:v>
                </c:pt>
                <c:pt idx="11">
                  <c:v>44.5</c:v>
                </c:pt>
                <c:pt idx="12">
                  <c:v>52.57</c:v>
                </c:pt>
              </c:numCache>
            </c:numRef>
          </c:val>
        </c:ser>
        <c:ser>
          <c:idx val="1"/>
          <c:order val="1"/>
          <c:tx>
            <c:strRef>
              <c:f>Sheet1!$C$1</c:f>
              <c:strCache>
                <c:ptCount val="1"/>
                <c:pt idx="0">
                  <c:v>Layer</c:v>
                </c:pt>
              </c:strCache>
            </c:strRef>
          </c:tx>
          <c:spPr>
            <a:solidFill>
              <a:srgbClr val="001E60"/>
            </a:solidFill>
          </c:spPr>
          <c:dPt>
            <c:idx val="0"/>
            <c:spPr>
              <a:solidFill>
                <a:srgbClr val="FFC72C"/>
              </a:solidFill>
            </c:spPr>
          </c:dPt>
          <c:dPt>
            <c:idx val="1"/>
            <c:spPr>
              <a:solidFill>
                <a:srgbClr val="001E60"/>
              </a:solidFill>
            </c:spPr>
          </c:dPt>
          <c:dPt>
            <c:idx val="2"/>
            <c:spPr>
              <a:solidFill>
                <a:srgbClr val="001E60"/>
              </a:solidFill>
            </c:spPr>
          </c:dPt>
          <c:dPt>
            <c:idx val="3"/>
            <c:spPr>
              <a:solidFill>
                <a:srgbClr val="2A8A8C"/>
              </a:solidFill>
            </c:spPr>
          </c:dPt>
          <c:dPt>
            <c:idx val="4"/>
            <c:spPr>
              <a:solidFill>
                <a:srgbClr val="2A8A8C"/>
              </a:solidFill>
            </c:spPr>
          </c:dPt>
          <c:dPt>
            <c:idx val="5"/>
            <c:spPr>
              <a:solidFill>
                <a:srgbClr val="2A8A8C"/>
              </a:solidFill>
            </c:spPr>
          </c:dPt>
          <c:dPt>
            <c:idx val="6"/>
            <c:spPr>
              <a:solidFill>
                <a:srgbClr val="001E60"/>
              </a:solidFill>
            </c:spPr>
          </c:dPt>
          <c:dPt>
            <c:idx val="7"/>
            <c:spPr>
              <a:solidFill>
                <a:srgbClr val="001E60"/>
              </a:solidFill>
            </c:spPr>
          </c:dPt>
          <c:dPt>
            <c:idx val="8"/>
            <c:spPr>
              <a:solidFill>
                <a:srgbClr val="001E60"/>
              </a:solidFill>
            </c:spPr>
          </c:dPt>
          <c:dPt>
            <c:idx val="9"/>
            <c:spPr>
              <a:solidFill>
                <a:srgbClr val="6E1F2E"/>
              </a:solidFill>
            </c:spPr>
          </c:dPt>
          <c:dPt>
            <c:idx val="10"/>
            <c:spPr>
              <a:solidFill>
                <a:srgbClr val="6E1F2E"/>
              </a:solidFill>
            </c:spPr>
          </c:dPt>
          <c:dPt>
            <c:idx val="11"/>
            <c:spPr>
              <a:solidFill>
                <a:srgbClr val="6E1F2E"/>
              </a:solidFill>
            </c:spPr>
          </c:dPt>
          <c:dPt>
            <c:idx val="12"/>
            <c:spPr>
              <a:solidFill>
                <a:srgbClr val="6E1F2E"/>
              </a:solidFill>
            </c:spPr>
          </c:dPt>
          <c:cat>
            <c:strRef>
              <c:f>Sheet1!$A$2:$A$14</c:f>
              <c:strCache>
                <c:ptCount val="13"/>
                <c:pt idx="0">
                  <c:v>A Battery contract
$13.0M</c:v>
                </c:pt>
                <c:pt idx="1">
                  <c:v>B Battery install
$1.7M</c:v>
                </c:pt>
                <c:pt idx="2">
                  <c:v>C Battery BOP (GSU, EMS)
$1.9M</c:v>
                </c:pt>
                <c:pt idx="3">
                  <c:v>D Sta 360 switching
$3.8M</c:v>
                </c:pt>
                <c:pt idx="4">
                  <c:v>E Site &amp; civil
$2.7M</c:v>
                </c:pt>
                <c:pt idx="5">
                  <c:v>F Sta 496 protection
$7.3M</c:v>
                </c:pt>
                <c:pt idx="6">
                  <c:v>G Testing
$1.3M</c:v>
                </c:pt>
                <c:pt idx="7">
                  <c:v>H Owner soft costs
$4.4M</c:v>
                </c:pt>
                <c:pt idx="8">
                  <c:v>I Taxes, CWIP, BAR
$0.8M</c:v>
                </c:pt>
                <c:pt idx="9">
                  <c:v>J Risk
$5.3M</c:v>
                </c:pt>
                <c:pt idx="10">
                  <c:v>K Contingency
$2.3M</c:v>
                </c:pt>
                <c:pt idx="11">
                  <c:v>L Indirects
$8.1M</c:v>
                </c:pt>
                <c:pt idx="12">
                  <c:v>M AFUDC
$4.7M</c:v>
                </c:pt>
              </c:strCache>
            </c:strRef>
          </c:cat>
          <c:val>
            <c:numRef>
              <c:f>Sheet1!$C$2:$C$14</c:f>
              <c:numCache>
                <c:formatCode>General</c:formatCode>
                <c:ptCount val="13"/>
                <c:pt idx="0">
                  <c:v>12.99</c:v>
                </c:pt>
                <c:pt idx="1">
                  <c:v>1.73</c:v>
                </c:pt>
                <c:pt idx="2">
                  <c:v>1.93</c:v>
                </c:pt>
                <c:pt idx="3">
                  <c:v>3.85</c:v>
                </c:pt>
                <c:pt idx="4">
                  <c:v>2.69</c:v>
                </c:pt>
                <c:pt idx="5">
                  <c:v>7.25</c:v>
                </c:pt>
                <c:pt idx="6">
                  <c:v>1.26</c:v>
                </c:pt>
                <c:pt idx="7">
                  <c:v>4.42</c:v>
                </c:pt>
                <c:pt idx="8">
                  <c:v>0.79</c:v>
                </c:pt>
                <c:pt idx="9">
                  <c:v>5.3</c:v>
                </c:pt>
                <c:pt idx="10">
                  <c:v>2.28</c:v>
                </c:pt>
                <c:pt idx="11">
                  <c:v>8.06</c:v>
                </c:pt>
                <c:pt idx="12">
                  <c:v>4.68</c:v>
                </c:pt>
              </c:numCache>
            </c:numRef>
          </c:val>
        </c:ser>
        <c:gapWidth val="40"/>
        <c:overlap val="10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60.0"/>
        </c:scaling>
        <c:delete val="0"/>
        <c:axPos val="l"/>
        <c:majorGridlines>
          <c:spPr>
            <a:ln>
              <a:solidFill>
                <a:srgbClr val="C9D1E0"/>
              </a:solidFill>
            </a:ln>
          </c:spPr>
        </c:majorGridlines>
        <c:numFmt formatCode="&quot;$&quot;0&quot;M&quot;"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100">
          <a:solidFill>
            <a:srgbClr val="1F2A44"/>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$/kWh</c:v>
                </c:pt>
              </c:strCache>
            </c:strRef>
          </c:tx>
          <c:spPr>
            <a:solidFill>
              <a:srgbClr val="001E60"/>
            </a:solidFill>
          </c:spPr>
          <c:dPt>
            <c:idx val="0"/>
            <c:spPr>
              <a:solidFill>
                <a:srgbClr val="FFC72C"/>
              </a:solidFill>
            </c:spPr>
          </c:dPt>
          <c:dPt>
            <c:idx val="1"/>
            <c:spPr>
              <a:solidFill>
                <a:srgbClr val="001E60"/>
              </a:solidFill>
            </c:spPr>
          </c:dPt>
          <c:dPt>
            <c:idx val="2"/>
            <c:spPr>
              <a:solidFill>
                <a:srgbClr val="001E60"/>
              </a:solidFill>
            </c:spPr>
          </c:dPt>
          <c:dPt>
            <c:idx val="3"/>
            <c:spPr>
              <a:solidFill>
                <a:srgbClr val="001E60"/>
              </a:solidFill>
            </c:spPr>
          </c:dPt>
          <c:dPt>
            <c:idx val="4"/>
            <c:spPr>
              <a:solidFill>
                <a:srgbClr val="001E60"/>
              </a:solidFill>
            </c:spPr>
          </c:dPt>
          <c:dPt>
            <c:idx val="5"/>
            <c:spPr>
              <a:solidFill>
                <a:srgbClr val="6E1F2E"/>
              </a:solidFill>
            </c:spPr>
          </c:dPt>
          <c:dPt>
            <c:idx val="6"/>
            <c:spPr>
              <a:solidFill>
                <a:srgbClr val="6E1F2E"/>
              </a:solidFill>
            </c:spPr>
          </c:dPt>
          <c:dLbls>
            <c:numFmt formatCode="&quot;$&quot;#,##0" sourceLinked="0"/>
            <c:txPr>
              <a:bodyPr/>
              <a:lstStyle/>
              <a:p>
                <a:pPr>
                  <a:defRPr sz="1100" b="1"/>
                </a:pPr>
              </a:p>
            </c:txPr>
            <c:dLblPos val="outEnd"/>
            <c:showLegendKey val="0"/>
            <c:showVal val="1"/>
            <c:showCatName val="0"/>
            <c:showSerName val="0"/>
            <c:showPercent val="0"/>
            <c:showBubbleSize val="0"/>
            <c:showLeaderLines val="1"/>
          </c:dLbls>
          <c:cat>
            <c:strRef>
              <c:f>Sheet1!$A$2:$A$8</c:f>
              <c:strCache>
                <c:ptCount val="7"/>
                <c:pt idx="0">
                  <c:v>Vendor contract</c:v>
                </c:pt>
                <c:pt idx="1">
                  <c:v>Battery as carried (contract + escalation)</c:v>
                </c:pt>
                <c:pt idx="2">
                  <c:v>Battery installed (A+B+C)</c:v>
                </c:pt>
                <c:pt idx="3">
                  <c:v>Station complete, direct (no loaders)</c:v>
                </c:pt>
                <c:pt idx="4">
                  <c:v>Station 360 approval level</c:v>
                </c:pt>
                <c:pt idx="5">
                  <c:v>Project 21334 (Sta 360 + 496)</c:v>
                </c:pt>
                <c:pt idx="6">
                  <c:v>All-in incl. D-Line memo</c:v>
                </c:pt>
              </c:strCache>
            </c:strRef>
          </c:cat>
          <c:val>
            <c:numRef>
              <c:f>Sheet1!$B$2:$B$8</c:f>
              <c:numCache>
                <c:formatCode>General</c:formatCode>
                <c:ptCount val="7"/>
                <c:pt idx="0">
                  <c:v>605</c:v>
                </c:pt>
                <c:pt idx="1">
                  <c:v>650</c:v>
                </c:pt>
                <c:pt idx="2">
                  <c:v>833</c:v>
                </c:pt>
                <c:pt idx="3">
                  <c:v>1483</c:v>
                </c:pt>
                <c:pt idx="4">
                  <c:v>2500</c:v>
                </c:pt>
                <c:pt idx="5">
                  <c:v>2862</c:v>
                </c:pt>
                <c:pt idx="6">
                  <c:v>3102</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1100"/>
            </a:pPr>
          </a:p>
        </c:txPr>
        <c:crossAx val="-2113994440"/>
        <c:crosses val="autoZero"/>
        <c:auto val="1"/>
        <c:lblAlgn val="ctr"/>
        <c:lblOffset val="100"/>
        <c:noMultiLvlLbl val="0"/>
      </c:catAx>
      <c:valAx>
        <c:axId val="-2113994440"/>
        <c:scaling>
          <c:max val="3900.0"/>
        </c:scaling>
        <c:delete/>
        <c:axPos val="b"/>
        <c:majorTickMark val="out"/>
        <c:minorTickMark val="none"/>
        <c:tickLblPos val="nextTo"/>
        <c:crossAx val="-2068027336"/>
        <c:crosses val="autoZero"/>
      </c:valAx>
    </c:plotArea>
    <c:dispBlanksAs val="gap"/>
  </c:chart>
  <c:txPr>
    <a:bodyPr/>
    <a:lstStyle/>
    <a:p>
      <a:pPr>
        <a:defRPr sz="1100">
          <a:solidFill>
            <a:srgbClr val="1F2A44"/>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Loaded $M</c:v>
                </c:pt>
              </c:strCache>
            </c:strRef>
          </c:tx>
          <c:dPt>
            <c:idx val="0"/>
            <c:spPr>
              <a:solidFill>
                <a:srgbClr val="2A8A8C"/>
              </a:solidFill>
            </c:spPr>
          </c:dPt>
          <c:dPt>
            <c:idx val="1"/>
            <c:spPr>
              <a:solidFill>
                <a:srgbClr val="2A8A8C"/>
              </a:solidFill>
            </c:spPr>
          </c:dPt>
          <c:dPt>
            <c:idx val="2"/>
            <c:spPr>
              <a:solidFill>
                <a:srgbClr val="2A8A8C"/>
              </a:solidFill>
            </c:spPr>
          </c:dPt>
          <c:dPt>
            <c:idx val="3"/>
            <c:spPr>
              <a:solidFill>
                <a:srgbClr val="C9D1E0"/>
              </a:solidFill>
            </c:spPr>
          </c:dPt>
          <c:dLbls>
            <c:numFmt formatCode="&quot;$&quot;0.0&quot;M&quot;" sourceLinked="0"/>
            <c:txPr>
              <a:bodyPr/>
              <a:lstStyle/>
              <a:p>
                <a:pPr>
                  <a:defRPr sz="1100" b="1"/>
                </a:pPr>
              </a:p>
            </c:txPr>
            <c:dLblPos val="outEnd"/>
            <c:showLegendKey val="0"/>
            <c:showVal val="1"/>
            <c:showCatName val="0"/>
            <c:showSerName val="0"/>
            <c:showPercent val="0"/>
            <c:showBubbleSize val="0"/>
            <c:showLeaderLines val="1"/>
          </c:dLbls>
          <c:cat>
            <c:strRef>
              <c:f>Sheet1!$A$2:$A$5</c:f>
              <c:strCache>
                <c:ptCount val="4"/>
                <c:pt idx="0">
                  <c:v>Station 360 switching facilities (D)</c:v>
                </c:pt>
                <c:pt idx="1">
                  <c:v>Site development on landfill (E)</c:v>
                </c:pt>
                <c:pt idx="2">
                  <c:v>Station 496 protection (F)</c:v>
                </c:pt>
                <c:pt idx="3">
                  <c:v>D-Line 24211 (memo)</c:v>
                </c:pt>
              </c:strCache>
            </c:strRef>
          </c:cat>
          <c:val>
            <c:numRef>
              <c:f>Sheet1!$B$2:$B$5</c:f>
              <c:numCache>
                <c:formatCode>General</c:formatCode>
                <c:ptCount val="4"/>
                <c:pt idx="0">
                  <c:v>6.48</c:v>
                </c:pt>
                <c:pt idx="1">
                  <c:v>4.53</c:v>
                </c:pt>
                <c:pt idx="2">
                  <c:v>7.25</c:v>
                </c:pt>
                <c:pt idx="3">
                  <c:v>4.79</c:v>
                </c:pt>
              </c:numCache>
            </c:numRef>
          </c:val>
        </c:ser>
        <c:gapWidth val="4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1100"/>
            </a:pPr>
          </a:p>
        </c:txPr>
        <c:crossAx val="-2113994440"/>
        <c:crosses val="autoZero"/>
        <c:auto val="1"/>
        <c:lblAlgn val="ctr"/>
        <c:lblOffset val="100"/>
        <c:noMultiLvlLbl val="0"/>
      </c:catAx>
      <c:valAx>
        <c:axId val="-2113994440"/>
        <c:scaling>
          <c:max val="9.0"/>
        </c:scaling>
        <c:delete/>
        <c:axPos val="b"/>
        <c:majorTickMark val="out"/>
        <c:minorTickMark val="none"/>
        <c:tickLblPos val="nextTo"/>
        <c:crossAx val="-2068027336"/>
        <c:crosses val="autoZero"/>
      </c:valAx>
    </c:plotArea>
    <c:dispBlanksAs val="gap"/>
  </c:chart>
  <c:txPr>
    <a:bodyPr/>
    <a:lstStyle/>
    <a:p>
      <a:pPr>
        <a:defRPr sz="1100">
          <a:solidFill>
            <a:srgbClr val="1F2A44"/>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autoTitleDeleted val="1"/>
    <c:plotArea>
      <c:pieChart>
        <c:varyColors val="1"/>
        <c:ser>
          <c:idx val="0"/>
          <c:order val="0"/>
          <c:tx>
            <c:strRef>
              <c:f>Sheet1!$B$1</c:f>
              <c:strCache>
                <c:ptCount val="1"/>
                <c:pt idx="0">
                  <c:v>$M</c:v>
                </c:pt>
              </c:strCache>
            </c:strRef>
          </c:tx>
          <c:dPt>
            <c:idx val="0"/>
            <c:spPr>
              <a:solidFill>
                <a:srgbClr val="6E1F2E"/>
              </a:solidFill>
            </c:spPr>
          </c:dPt>
          <c:dPt>
            <c:idx val="1"/>
            <c:spPr>
              <a:solidFill>
                <a:srgbClr val="FFC72C"/>
              </a:solidFill>
            </c:spPr>
          </c:dPt>
          <c:dPt>
            <c:idx val="2"/>
            <c:spPr>
              <a:solidFill>
                <a:srgbClr val="001E60"/>
              </a:solidFill>
            </c:spPr>
          </c:dPt>
          <c:dPt>
            <c:idx val="3"/>
            <c:spPr>
              <a:solidFill>
                <a:srgbClr val="2A8A8C"/>
              </a:solidFill>
            </c:spPr>
          </c:dPt>
          <c:dLbls>
            <c:numFmt formatCode="&quot;$&quot;0.0&quot;M&quot;" sourceLinked="0"/>
            <c:txPr>
              <a:bodyPr/>
              <a:lstStyle/>
              <a:p>
                <a:pPr>
                  <a:defRPr sz="1100" b="1">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Risk register</c:v>
                </c:pt>
                <c:pt idx="1">
                  <c:v>Contingency</c:v>
                </c:pt>
                <c:pt idx="2">
                  <c:v>Indirects / overheads</c:v>
                </c:pt>
                <c:pt idx="3">
                  <c:v>AFUDC</c:v>
                </c:pt>
              </c:strCache>
            </c:strRef>
          </c:cat>
          <c:val>
            <c:numRef>
              <c:f>Sheet1!$B$2:$B$5</c:f>
              <c:numCache>
                <c:formatCode>General</c:formatCode>
                <c:ptCount val="4"/>
                <c:pt idx="0">
                  <c:v>6.07</c:v>
                </c:pt>
                <c:pt idx="1">
                  <c:v>2.62</c:v>
                </c:pt>
                <c:pt idx="2">
                  <c:v>9.99</c:v>
                </c:pt>
                <c:pt idx="3">
                  <c:v>5.01</c:v>
                </c:pt>
              </c:numCache>
            </c:numRef>
          </c:val>
        </c:ser>
      </c:pieChart>
    </c:plotArea>
    <c:legend>
      <c:legendPos val="b"/>
      <c:overlay val="0"/>
      <c:txPr>
        <a:bodyPr/>
        <a:lstStyle/>
        <a:p>
          <a:pPr>
            <a:defRPr sz="1100">
              <a:latin typeface="Calibri"/>
            </a:defRPr>
          </a:pPr>
        </a:p>
      </c:txPr>
    </c:legend>
    <c:dispBlanksAs val="gap"/>
  </c:chart>
  <c:txPr>
    <a:bodyPr/>
    <a:lstStyle/>
    <a:p>
      <a:pPr>
        <a:defRPr sz="1100">
          <a:solidFill>
            <a:srgbClr val="1F2A44"/>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$/kWh</c:v>
                </c:pt>
              </c:strCache>
            </c:strRef>
          </c:tx>
          <c:dPt>
            <c:idx val="0"/>
            <c:spPr>
              <a:solidFill>
                <a:srgbClr val="001E60"/>
              </a:solidFill>
            </c:spPr>
          </c:dPt>
          <c:dPt>
            <c:idx val="1"/>
            <c:spPr>
              <a:solidFill>
                <a:srgbClr val="001E60"/>
              </a:solidFill>
            </c:spPr>
          </c:dPt>
          <c:dPt>
            <c:idx val="2"/>
            <c:spPr>
              <a:solidFill>
                <a:srgbClr val="001E60"/>
              </a:solidFill>
            </c:spPr>
          </c:dPt>
          <c:dPt>
            <c:idx val="3"/>
            <c:spPr>
              <a:solidFill>
                <a:srgbClr val="001E60"/>
              </a:solidFill>
            </c:spPr>
          </c:dPt>
          <c:dPt>
            <c:idx val="4"/>
            <c:spPr>
              <a:solidFill>
                <a:srgbClr val="001E60"/>
              </a:solidFill>
            </c:spPr>
          </c:dPt>
          <c:dPt>
            <c:idx val="5"/>
            <c:spPr>
              <a:solidFill>
                <a:srgbClr val="001E60"/>
              </a:solidFill>
            </c:spPr>
          </c:dPt>
          <c:dPt>
            <c:idx val="6"/>
            <c:spPr>
              <a:solidFill>
                <a:srgbClr val="001E60"/>
              </a:solidFill>
            </c:spPr>
          </c:dPt>
          <c:dPt>
            <c:idx val="7"/>
            <c:spPr>
              <a:solidFill>
                <a:srgbClr val="001E60"/>
              </a:solidFill>
            </c:spPr>
          </c:dPt>
          <c:dPt>
            <c:idx val="8"/>
            <c:spPr>
              <a:solidFill>
                <a:srgbClr val="001E60"/>
              </a:solidFill>
            </c:spPr>
          </c:dPt>
          <c:dPt>
            <c:idx val="9"/>
            <c:spPr>
              <a:solidFill>
                <a:srgbClr val="FFC72C"/>
              </a:solidFill>
            </c:spPr>
          </c:dPt>
          <c:dPt>
            <c:idx val="10"/>
            <c:spPr>
              <a:solidFill>
                <a:srgbClr val="FFC72C"/>
              </a:solidFill>
            </c:spPr>
          </c:dPt>
          <c:dPt>
            <c:idx val="11"/>
            <c:spPr>
              <a:solidFill>
                <a:srgbClr val="FFC72C"/>
              </a:solidFill>
            </c:spPr>
          </c:dPt>
          <c:dPt>
            <c:idx val="12"/>
            <c:spPr>
              <a:solidFill>
                <a:srgbClr val="6E1F2E"/>
              </a:solidFill>
            </c:spPr>
          </c:dPt>
          <c:dPt>
            <c:idx val="13"/>
            <c:spPr>
              <a:solidFill>
                <a:srgbClr val="6E1F2E"/>
              </a:solidFill>
            </c:spPr>
          </c:dPt>
          <c:dLbls>
            <c:numFmt formatCode="&quot;$&quot;#,##0" sourceLinked="0"/>
            <c:txPr>
              <a:bodyPr/>
              <a:lstStyle/>
              <a:p>
                <a:pPr>
                  <a:defRPr sz="1000"/>
                </a:pPr>
              </a:p>
            </c:txPr>
            <c:dLblPos val="outEnd"/>
            <c:showLegendKey val="0"/>
            <c:showVal val="1"/>
            <c:showCatName val="0"/>
            <c:showSerName val="0"/>
            <c:showPercent val="0"/>
            <c:showBubbleSize val="0"/>
            <c:showLeaderLines val="1"/>
          </c:dLbls>
          <c:cat>
            <c:strRef>
              <c:f>Sheet1!$A$2:$A$15</c:f>
              <c:strCache>
                <c:ptCount val="14"/>
                <c:pt idx="0">
                  <c:v>BNEF pack, stationary (2025)</c:v>
                </c:pt>
                <c:pt idx="1">
                  <c:v>Anza distribution-scale AC, delivered (Q1 2026)</c:v>
                </c:pt>
                <c:pt idx="2">
                  <c:v>BNEF US turnkey system (2025)</c:v>
                </c:pt>
                <c:pt idx="3">
                  <c:v>NREL all-in, 4-h 60 MW (2024)</c:v>
                </c:pt>
                <c:pt idx="4">
                  <c:v>EIA/S&amp;L overnight, 4-h 150 MW (2023$)</c:v>
                </c:pt>
                <c:pt idx="5">
                  <c:v>LBNL empirical all-in, 2024 hybrids</c:v>
                </c:pt>
                <c:pt idx="6">
                  <c:v>HECO Waena 40 MW/160 MWh, utility-owned</c:v>
                </c:pt>
                <c:pt idx="7">
                  <c:v>NV Energy Reid Gardner 2-h, utility-owned</c:v>
                </c:pt>
                <c:pt idx="8">
                  <c:v>Eversource Provincetown 1.5-h, final (2022)</c:v>
                </c:pt>
                <c:pt idx="9">
                  <c:v>Hyde Park: Nomad equipment only</c:v>
                </c:pt>
                <c:pt idx="10">
                  <c:v>Hyde Park: vendor contract</c:v>
                </c:pt>
                <c:pt idx="11">
                  <c:v>Hyde Park: battery installed (A+B+C)</c:v>
                </c:pt>
                <c:pt idx="12">
                  <c:v>Hyde Park: station complete, direct</c:v>
                </c:pt>
                <c:pt idx="13">
                  <c:v>Hyde Park: project 21334 approval level</c:v>
                </c:pt>
              </c:strCache>
            </c:strRef>
          </c:cat>
          <c:val>
            <c:numRef>
              <c:f>Sheet1!$B$2:$B$15</c:f>
              <c:numCache>
                <c:formatCode>General</c:formatCode>
                <c:ptCount val="14"/>
                <c:pt idx="0">
                  <c:v>70</c:v>
                </c:pt>
                <c:pt idx="1">
                  <c:v>203</c:v>
                </c:pt>
                <c:pt idx="2">
                  <c:v>219</c:v>
                </c:pt>
                <c:pt idx="3">
                  <c:v>334</c:v>
                </c:pt>
                <c:pt idx="4">
                  <c:v>436</c:v>
                </c:pt>
                <c:pt idx="5">
                  <c:v>458</c:v>
                </c:pt>
                <c:pt idx="6">
                  <c:v>513</c:v>
                </c:pt>
                <c:pt idx="7">
                  <c:v>584</c:v>
                </c:pt>
                <c:pt idx="8">
                  <c:v>1289</c:v>
                </c:pt>
                <c:pt idx="9">
                  <c:v>532</c:v>
                </c:pt>
                <c:pt idx="10">
                  <c:v>605</c:v>
                </c:pt>
                <c:pt idx="11">
                  <c:v>833</c:v>
                </c:pt>
                <c:pt idx="12">
                  <c:v>1483</c:v>
                </c:pt>
                <c:pt idx="13">
                  <c:v>2862</c:v>
                </c:pt>
              </c:numCache>
            </c:numRef>
          </c:val>
        </c:ser>
        <c:gapWidth val="4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1000"/>
            </a:pPr>
          </a:p>
        </c:txPr>
        <c:crossAx val="-2113994440"/>
        <c:crosses val="autoZero"/>
        <c:auto val="1"/>
        <c:lblAlgn val="ctr"/>
        <c:lblOffset val="100"/>
        <c:noMultiLvlLbl val="0"/>
      </c:catAx>
      <c:valAx>
        <c:axId val="-2113994440"/>
        <c:scaling>
          <c:max val="3577.5"/>
        </c:scaling>
        <c:delete/>
        <c:axPos val="b"/>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_</c:v>
                </c:pt>
              </c:strCache>
            </c:strRef>
          </c:tx>
          <c:spPr>
            <a:ln w="25400">
              <a:noFill/>
            </a:ln>
          </c:spPr>
          <c:marker>
            <c:symbol val="none"/>
          </c:marker>
          <c:xVal>
            <c:numRef>
              <c:f>Sheet1!$A$2:$A$7</c:f>
              <c:numCache>
                <c:formatCode>General</c:formatCode>
                <c:ptCount val="6"/>
                <c:pt idx="0">
                  <c:v>2000</c:v>
                </c:pt>
                <c:pt idx="1">
                  <c:v>2001</c:v>
                </c:pt>
                <c:pt idx="2">
                  <c:v>2002</c:v>
                </c:pt>
                <c:pt idx="3">
                  <c:v>2003</c:v>
                </c:pt>
                <c:pt idx="4">
                  <c:v>2004</c:v>
                </c:pt>
                <c:pt idx="5">
                  <c:v>2005</c:v>
                </c:pt>
              </c:numCache>
            </c:numRef>
          </c:xVal>
          <c:yVal>
            <c:numRef>
              <c:f>Sheet1!$B$2:$B$7</c:f>
              <c:numCache>
                <c:formatCode>General</c:formatCode>
                <c:ptCount val="6"/>
                <c:pt idx="0">
                  <c:v>100</c:v>
                </c:pt>
                <c:pt idx="1">
                  <c:v>100</c:v>
                </c:pt>
                <c:pt idx="2">
                  <c:v>100</c:v>
                </c:pt>
                <c:pt idx="3">
                  <c:v>100</c:v>
                </c:pt>
                <c:pt idx="4">
                  <c:v>100</c:v>
                </c:pt>
                <c:pt idx="5">
                  <c:v>100</c:v>
                </c:pt>
              </c:numCache>
            </c:numRef>
          </c:yVal>
          <c:smooth val="0"/>
        </c:ser>
        <c:ser>
          <c:idx val="1"/>
          <c:order val="1"/>
          <c:tx>
            <c:strRef>
              <c:f>Sheet1!$B$9</c:f>
              <c:strCache>
                <c:ptCount val="1"/>
                <c:pt idx="0">
                  <c:v>EIA reported all-in, utility-scale</c:v>
                </c:pt>
              </c:strCache>
            </c:strRef>
          </c:tx>
          <c:spPr>
            <a:ln w="25400">
              <a:solidFill>
                <a:srgbClr val="1F2A44"/>
              </a:solidFill>
            </a:ln>
          </c:spPr>
          <c:marker>
            <c:symbol val="circle"/>
            <c:size val="7"/>
            <c:spPr>
              <a:solidFill>
                <a:srgbClr val="FFFFFF"/>
              </a:solidFill>
              <a:ln>
                <a:solidFill>
                  <a:srgbClr val="FFFFFF"/>
                </a:solidFill>
              </a:ln>
            </c:spPr>
          </c:marker>
          <c:xVal>
            <c:numRef>
              <c:f>Sheet1!$A$10:$A$12</c:f>
              <c:numCache>
                <c:formatCode>General</c:formatCode>
                <c:ptCount val="3"/>
                <c:pt idx="0">
                  <c:v>2015</c:v>
                </c:pt>
                <c:pt idx="1">
                  <c:v>2017</c:v>
                </c:pt>
                <c:pt idx="2">
                  <c:v>2018</c:v>
                </c:pt>
              </c:numCache>
            </c:numRef>
          </c:xVal>
          <c:yVal>
            <c:numRef>
              <c:f>Sheet1!$B$10:$B$12</c:f>
              <c:numCache>
                <c:formatCode>General</c:formatCode>
                <c:ptCount val="3"/>
                <c:pt idx="0">
                  <c:v>2152</c:v>
                </c:pt>
                <c:pt idx="1">
                  <c:v>834</c:v>
                </c:pt>
                <c:pt idx="2">
                  <c:v>625</c:v>
                </c:pt>
              </c:numCache>
            </c:numRef>
          </c:yVal>
          <c:smooth val="0"/>
        </c:ser>
        <c:ser>
          <c:idx val="2"/>
          <c:order val="2"/>
          <c:tx>
            <c:strRef>
              <c:f>Sheet1!$B$14</c:f>
              <c:strCache>
                <c:ptCount val="1"/>
                <c:pt idx="0">
                  <c:v>BNEF turnkey system, global avg, 4-h</c:v>
                </c:pt>
              </c:strCache>
            </c:strRef>
          </c:tx>
          <c:spPr>
            <a:ln w="25400">
              <a:solidFill>
                <a:srgbClr val="001E60"/>
              </a:solidFill>
            </a:ln>
          </c:spPr>
          <c:marker>
            <c:symbol val="circle"/>
            <c:size val="7"/>
            <c:spPr>
              <a:solidFill>
                <a:srgbClr val="1F2A44"/>
              </a:solidFill>
              <a:ln>
                <a:solidFill>
                  <a:srgbClr val="1F2A44"/>
                </a:solidFill>
              </a:ln>
            </c:spPr>
          </c:marker>
          <c:xVal>
            <c:numRef>
              <c:f>Sheet1!$A$15:$A$18</c:f>
              <c:numCache>
                <c:formatCode>General</c:formatCode>
                <c:ptCount val="4"/>
                <c:pt idx="0">
                  <c:v>2022</c:v>
                </c:pt>
                <c:pt idx="1">
                  <c:v>2023</c:v>
                </c:pt>
                <c:pt idx="2">
                  <c:v>2024</c:v>
                </c:pt>
                <c:pt idx="3">
                  <c:v>2025</c:v>
                </c:pt>
              </c:numCache>
            </c:numRef>
          </c:xVal>
          <c:yVal>
            <c:numRef>
              <c:f>Sheet1!$B$15:$B$18</c:f>
              <c:numCache>
                <c:formatCode>General</c:formatCode>
                <c:ptCount val="4"/>
                <c:pt idx="0">
                  <c:v>324</c:v>
                </c:pt>
                <c:pt idx="1">
                  <c:v>263</c:v>
                </c:pt>
                <c:pt idx="2">
                  <c:v>165</c:v>
                </c:pt>
                <c:pt idx="3">
                  <c:v>117</c:v>
                </c:pt>
              </c:numCache>
            </c:numRef>
          </c:yVal>
          <c:smooth val="0"/>
        </c:ser>
        <c:ser>
          <c:idx val="3"/>
          <c:order val="3"/>
          <c:tx>
            <c:strRef>
              <c:f>Sheet1!$B$20</c:f>
              <c:strCache>
                <c:ptCount val="1"/>
                <c:pt idx="0">
                  <c:v>BNEF turnkey system, United States, 4-h</c:v>
                </c:pt>
              </c:strCache>
            </c:strRef>
          </c:tx>
          <c:spPr>
            <a:ln w="25400">
              <a:solidFill>
                <a:srgbClr val="2A8A8C"/>
              </a:solidFill>
            </a:ln>
          </c:spPr>
          <c:marker>
            <c:symbol val="circle"/>
            <c:size val="7"/>
            <c:spPr>
              <a:solidFill>
                <a:srgbClr val="001E60"/>
              </a:solidFill>
              <a:ln>
                <a:solidFill>
                  <a:srgbClr val="001E60"/>
                </a:solidFill>
              </a:ln>
            </c:spPr>
          </c:marker>
          <c:xVal>
            <c:numRef>
              <c:f>Sheet1!$A$21:$A$22</c:f>
              <c:numCache>
                <c:formatCode>General</c:formatCode>
                <c:ptCount val="2"/>
                <c:pt idx="0">
                  <c:v>2024</c:v>
                </c:pt>
                <c:pt idx="1">
                  <c:v>2025</c:v>
                </c:pt>
              </c:numCache>
            </c:numRef>
          </c:xVal>
          <c:yVal>
            <c:numRef>
              <c:f>Sheet1!$B$21:$B$22</c:f>
              <c:numCache>
                <c:formatCode>General</c:formatCode>
                <c:ptCount val="2"/>
                <c:pt idx="0">
                  <c:v>236</c:v>
                </c:pt>
                <c:pt idx="1">
                  <c:v>219</c:v>
                </c:pt>
              </c:numCache>
            </c:numRef>
          </c:yVal>
          <c:smooth val="0"/>
        </c:ser>
        <c:ser>
          <c:idx val="4"/>
          <c:order val="4"/>
          <c:tx>
            <c:strRef>
              <c:f>Sheet1!$B$24</c:f>
              <c:strCache>
                <c:ptCount val="1"/>
                <c:pt idx="0">
                  <c:v>NREL bottom-up all-in, 4-h 60 MW</c:v>
                </c:pt>
              </c:strCache>
            </c:strRef>
          </c:tx>
          <c:spPr>
            <a:ln w="25400">
              <a:solidFill>
                <a:srgbClr val="6B7280"/>
              </a:solidFill>
              <a:prstDash val="dash"/>
            </a:ln>
          </c:spPr>
          <c:marker>
            <c:symbol val="circle"/>
            <c:size val="7"/>
            <c:spPr>
              <a:solidFill>
                <a:srgbClr val="2A8A8C"/>
              </a:solidFill>
              <a:ln>
                <a:solidFill>
                  <a:srgbClr val="2A8A8C"/>
                </a:solidFill>
              </a:ln>
            </c:spPr>
          </c:marker>
          <c:xVal>
            <c:numRef>
              <c:f>Sheet1!$A$25:$A$27</c:f>
              <c:numCache>
                <c:formatCode>General</c:formatCode>
                <c:ptCount val="3"/>
                <c:pt idx="0">
                  <c:v>2024</c:v>
                </c:pt>
                <c:pt idx="1">
                  <c:v>2028</c:v>
                </c:pt>
                <c:pt idx="2">
                  <c:v>2035</c:v>
                </c:pt>
              </c:numCache>
            </c:numRef>
          </c:xVal>
          <c:yVal>
            <c:numRef>
              <c:f>Sheet1!$B$25:$B$27</c:f>
              <c:numCache>
                <c:formatCode>General</c:formatCode>
                <c:ptCount val="3"/>
                <c:pt idx="0">
                  <c:v>334</c:v>
                </c:pt>
                <c:pt idx="1">
                  <c:v>302</c:v>
                </c:pt>
                <c:pt idx="2">
                  <c:v>247</c:v>
                </c:pt>
              </c:numCache>
            </c:numRef>
          </c:yVal>
          <c:smooth val="0"/>
        </c:ser>
        <c:ser>
          <c:idx val="5"/>
          <c:order val="5"/>
          <c:tx>
            <c:strRef>
              <c:f>Sheet1!$B$29</c:f>
              <c:strCache>
                <c:ptCount val="1"/>
                <c:pt idx="0">
                  <c:v>Hyde Park 2023 indicative bids (range)</c:v>
                </c:pt>
              </c:strCache>
            </c:strRef>
          </c:tx>
          <c:spPr>
            <a:ln w="44450">
              <a:solidFill>
                <a:srgbClr val="6E1F2E"/>
              </a:solidFill>
            </a:ln>
          </c:spPr>
          <c:marker>
            <c:symbol val="dash"/>
            <c:size val="12"/>
            <c:spPr>
              <a:solidFill>
                <a:srgbClr val="6B7280"/>
              </a:solidFill>
              <a:ln>
                <a:solidFill>
                  <a:srgbClr val="6B7280"/>
                </a:solidFill>
              </a:ln>
            </c:spPr>
          </c:marker>
          <c:xVal>
            <c:numRef>
              <c:f>Sheet1!$A$30:$A$31</c:f>
              <c:numCache>
                <c:formatCode>General</c:formatCode>
                <c:ptCount val="2"/>
                <c:pt idx="0">
                  <c:v>2023.5</c:v>
                </c:pt>
                <c:pt idx="1">
                  <c:v>2023.5</c:v>
                </c:pt>
              </c:numCache>
            </c:numRef>
          </c:xVal>
          <c:yVal>
            <c:numRef>
              <c:f>Sheet1!$B$30:$B$31</c:f>
              <c:numCache>
                <c:formatCode>General</c:formatCode>
                <c:ptCount val="2"/>
                <c:pt idx="0">
                  <c:v>479</c:v>
                </c:pt>
                <c:pt idx="1">
                  <c:v>911</c:v>
                </c:pt>
              </c:numCache>
            </c:numRef>
          </c:yVal>
          <c:smooth val="0"/>
        </c:ser>
        <c:ser>
          <c:idx val="6"/>
          <c:order val="6"/>
          <c:tx>
            <c:strRef>
              <c:f>Sheet1!$B$33</c:f>
              <c:strCache>
                <c:ptCount val="1"/>
                <c:pt idx="0">
                  <c:v>Hyde Park 2026 (equipment, contract, as carried, installed)</c:v>
                </c:pt>
              </c:strCache>
            </c:strRef>
          </c:tx>
          <c:spPr>
            <a:ln w="25400">
              <a:noFill/>
            </a:ln>
          </c:spPr>
          <c:marker>
            <c:symbol val="diamond"/>
            <c:size val="11"/>
            <c:spPr>
              <a:solidFill>
                <a:srgbClr val="6E1F2E"/>
              </a:solidFill>
              <a:ln>
                <a:solidFill>
                  <a:srgbClr val="001E60"/>
                </a:solidFill>
              </a:ln>
            </c:spPr>
          </c:marker>
          <c:dLbls>
            <c:dLbl>
              <c:idx val="0"/>
              <c:tx>
                <c:rich>
                  <a:bodyPr/>
                  <a:lstStyle/>
                  <a:p>
                    <a:r>
                      <a:rPr sz="900" b="1">
                        <a:solidFill>
                          <a:srgbClr val="001E60"/>
                        </a:solidFill>
                      </a:rPr>
                      <a:t>$532</a:t>
                    </a:r>
                  </a:p>
                </c:rich>
              </c:tx>
              <c:dLblPos val="b"/>
              <c:showLegendKey val="0"/>
              <c:showVal val="1"/>
              <c:showCatName val="0"/>
              <c:showSerName val="0"/>
              <c:showPercent val="0"/>
              <c:showBubbleSize val="0"/>
            </c:dLbl>
            <c:dLbl>
              <c:idx val="1"/>
              <c:tx>
                <c:rich>
                  <a:bodyPr/>
                  <a:lstStyle/>
                  <a:p>
                    <a:r>
                      <a:rPr sz="900" b="1">
                        <a:solidFill>
                          <a:srgbClr val="001E60"/>
                        </a:solidFill>
                      </a:rPr>
                      <a:t>$605</a:t>
                    </a:r>
                  </a:p>
                </c:rich>
              </c:tx>
              <c:dLblPos val="l"/>
              <c:showLegendKey val="0"/>
              <c:showVal val="1"/>
              <c:showCatName val="0"/>
              <c:showSerName val="0"/>
              <c:showPercent val="0"/>
              <c:showBubbleSize val="0"/>
            </c:dLbl>
            <c:dLbl>
              <c:idx val="2"/>
              <c:tx>
                <c:rich>
                  <a:bodyPr/>
                  <a:lstStyle/>
                  <a:p>
                    <a:r>
                      <a:rPr sz="900" b="1">
                        <a:solidFill>
                          <a:srgbClr val="001E60"/>
                        </a:solidFill>
                      </a:rPr>
                      <a:t>$650</a:t>
                    </a:r>
                  </a:p>
                </c:rich>
              </c:tx>
              <c:dLblPos val="r"/>
              <c:showLegendKey val="0"/>
              <c:showVal val="1"/>
              <c:showCatName val="0"/>
              <c:showSerName val="0"/>
              <c:showPercent val="0"/>
              <c:showBubbleSize val="0"/>
            </c:dLbl>
            <c:dLbl>
              <c:idx val="3"/>
              <c:tx>
                <c:rich>
                  <a:bodyPr/>
                  <a:lstStyle/>
                  <a:p>
                    <a:r>
                      <a:rPr sz="900" b="1">
                        <a:solidFill>
                          <a:srgbClr val="001E60"/>
                        </a:solidFill>
                      </a:rPr>
                      <a:t>$833</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Sheet1!$A$34:$A$37</c:f>
              <c:numCache>
                <c:formatCode>General</c:formatCode>
                <c:ptCount val="4"/>
                <c:pt idx="0">
                  <c:v>2026.2</c:v>
                </c:pt>
                <c:pt idx="1">
                  <c:v>2026.2</c:v>
                </c:pt>
                <c:pt idx="2">
                  <c:v>2026.75</c:v>
                </c:pt>
                <c:pt idx="3">
                  <c:v>2026.75</c:v>
                </c:pt>
              </c:numCache>
            </c:numRef>
          </c:xVal>
          <c:yVal>
            <c:numRef>
              <c:f>Sheet1!$B$34:$B$37</c:f>
              <c:numCache>
                <c:formatCode>General</c:formatCode>
                <c:ptCount val="4"/>
                <c:pt idx="0">
                  <c:v>532</c:v>
                </c:pt>
                <c:pt idx="1">
                  <c:v>605</c:v>
                </c:pt>
                <c:pt idx="2">
                  <c:v>650</c:v>
                </c:pt>
                <c:pt idx="3">
                  <c:v>833</c:v>
                </c:pt>
              </c:numCache>
            </c:numRef>
          </c:yVal>
          <c:smooth val="0"/>
        </c:ser>
        <c:axId val="-2128940872"/>
        <c:axId val="-2129643912"/>
      </c:scatterChart>
      <c:valAx>
        <c:axId val="-2128940872"/>
        <c:scaling>
          <c:orientation val="minMax"/>
          <c:max val="2029.0"/>
          <c:min val="2014.5"/>
        </c:scaling>
        <c:delete val="0"/>
        <c:axPos val="b"/>
        <c:numFmt formatCode="0" sourceLinked="0"/>
        <c:majorTickMark val="out"/>
        <c:minorTickMark val="none"/>
        <c:tickLblPos val="nextTo"/>
        <c:spPr>
          <a:ln>
            <a:solidFill>
              <a:srgbClr val="C9D1E0"/>
            </a:solidFill>
          </a:ln>
        </c:spPr>
        <c:txPr>
          <a:bodyPr/>
          <a:lstStyle/>
          <a:p>
            <a:pPr>
              <a:defRPr sz="950"/>
            </a:pPr>
          </a:p>
        </c:txPr>
        <c:crossAx val="-2129643912"/>
        <c:crosses val="autoZero"/>
        <c:crossBetween val="midCat"/>
        <c:majorUnit val="2.0"/>
      </c:valAx>
      <c:valAx>
        <c:axId val="-2129643912"/>
        <c:scaling>
          <c:logBase val="10"/>
          <c:orientation val="minMax"/>
          <c:max val="3000.0"/>
          <c:min val="100.0"/>
        </c:scaling>
        <c:delete val="0"/>
        <c:axPos val="l"/>
        <c:majorGridlines>
          <c:spPr>
            <a:ln>
              <a:solidFill>
                <a:srgbClr val="C9D1E0"/>
              </a:solidFill>
            </a:ln>
          </c:spPr>
        </c:majorGridlines>
        <c:numFmt formatCode="&quot;$&quot;#,##0" sourceLinked="0"/>
        <c:majorTickMark val="out"/>
        <c:minorTickMark val="none"/>
        <c:tickLblPos val="nextTo"/>
        <c:spPr>
          <a:ln>
            <a:solidFill>
              <a:srgbClr val="C9D1E0"/>
            </a:solidFill>
          </a:ln>
        </c:spPr>
        <c:txPr>
          <a:bodyPr/>
          <a:lstStyle/>
          <a:p>
            <a:pPr>
              <a:defRPr sz="950"/>
            </a:pPr>
          </a:p>
        </c:txPr>
        <c:crossAx val="-2128940872"/>
        <c:crosses val="autoZero"/>
        <c:crossBetween val="midCat"/>
      </c:valAx>
    </c:plotArea>
    <c:legend>
      <c:legendPos val="b"/>
      <c:legendEntry>
        <c:idx val="0"/>
        <c:delete val="1"/>
      </c:legendEntry>
      <c:layout/>
      <c:overlay val="0"/>
      <c:txPr>
        <a:bodyPr/>
        <a:lstStyle/>
        <a:p>
          <a:pPr>
            <a:defRPr sz="950">
              <a:latin typeface="Calibri"/>
            </a:defRPr>
          </a:pPr>
        </a:p>
      </c:txPr>
    </c:legend>
    <c:plotVisOnly val="1"/>
    <c:dispBlanksAs val="gap"/>
    <c:showDLblsOverMax val="0"/>
  </c:chart>
  <c:txPr>
    <a:bodyPr/>
    <a:lstStyle/>
    <a:p>
      <a:pPr>
        <a:defRPr sz="950">
          <a:solidFill>
            <a:srgbClr val="1F2A44"/>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$/kWh</c:v>
                </c:pt>
              </c:strCache>
            </c:strRef>
          </c:tx>
          <c:dPt>
            <c:idx val="0"/>
            <c:spPr>
              <a:solidFill>
                <a:srgbClr val="001E60"/>
              </a:solidFill>
            </c:spPr>
          </c:dPt>
          <c:dPt>
            <c:idx val="1"/>
            <c:spPr>
              <a:solidFill>
                <a:srgbClr val="001E60"/>
              </a:solidFill>
            </c:spPr>
          </c:dPt>
          <c:dPt>
            <c:idx val="2"/>
            <c:spPr>
              <a:solidFill>
                <a:srgbClr val="001E60"/>
              </a:solidFill>
            </c:spPr>
          </c:dPt>
          <c:dPt>
            <c:idx val="3"/>
            <c:spPr>
              <a:solidFill>
                <a:srgbClr val="2A8A8C"/>
              </a:solidFill>
            </c:spPr>
          </c:dPt>
          <c:dPt>
            <c:idx val="4"/>
            <c:spPr>
              <a:solidFill>
                <a:srgbClr val="001E60"/>
              </a:solidFill>
            </c:spPr>
          </c:dPt>
          <c:dPt>
            <c:idx val="5"/>
            <c:spPr>
              <a:solidFill>
                <a:srgbClr val="001E60"/>
              </a:solidFill>
            </c:spPr>
          </c:dPt>
          <c:dPt>
            <c:idx val="6"/>
            <c:spPr>
              <a:solidFill>
                <a:srgbClr val="001E60"/>
              </a:solidFill>
            </c:spPr>
          </c:dPt>
          <c:dPt>
            <c:idx val="7"/>
            <c:spPr>
              <a:solidFill>
                <a:srgbClr val="2A8A8C"/>
              </a:solidFill>
            </c:spPr>
          </c:dPt>
          <c:dPt>
            <c:idx val="8"/>
            <c:spPr>
              <a:solidFill>
                <a:srgbClr val="2A8A8C"/>
              </a:solidFill>
            </c:spPr>
          </c:dPt>
          <c:dPt>
            <c:idx val="9"/>
            <c:spPr>
              <a:solidFill>
                <a:srgbClr val="FFC72C"/>
              </a:solidFill>
            </c:spPr>
          </c:dPt>
          <c:dPt>
            <c:idx val="10"/>
            <c:spPr>
              <a:solidFill>
                <a:srgbClr val="FFC72C"/>
              </a:solidFill>
            </c:spPr>
          </c:dPt>
          <c:dPt>
            <c:idx val="11"/>
            <c:spPr>
              <a:solidFill>
                <a:srgbClr val="6E1F2E"/>
              </a:solidFill>
            </c:spPr>
          </c:dPt>
          <c:dPt>
            <c:idx val="12"/>
            <c:spPr>
              <a:solidFill>
                <a:srgbClr val="6E1F2E"/>
              </a:solidFill>
            </c:spPr>
          </c:dPt>
          <c:dLbls>
            <c:numFmt formatCode="&quot;$&quot;#,##0" sourceLinked="0"/>
            <c:txPr>
              <a:bodyPr/>
              <a:lstStyle/>
              <a:p>
                <a:pPr>
                  <a:defRPr sz="900"/>
                </a:pPr>
              </a:p>
            </c:txPr>
            <c:dLblPos val="outEnd"/>
            <c:showLegendKey val="0"/>
            <c:showVal val="1"/>
            <c:showCatName val="0"/>
            <c:showSerName val="0"/>
            <c:showPercent val="0"/>
            <c:showBubbleSize val="0"/>
            <c:showLeaderLines val="1"/>
          </c:dLbls>
          <c:cat>
            <c:strRef>
              <c:f>Sheet1!$A$2:$A$14</c:f>
              <c:strCache>
                <c:ptCount val="13"/>
                <c:pt idx="0">
                  <c:v>NYSERDA retail avg, 2020-21 installs</c:v>
                </c:pt>
                <c:pt idx="1">
                  <c:v>NYSERDA retail avg, 2022-23 installs</c:v>
                </c:pt>
                <c:pt idx="2">
                  <c:v>Elevate, Victory Blvd SI, 15 MW / 60 MWh (2025)</c:v>
                </c:pt>
                <c:pt idx="3">
                  <c:v>O&amp;R Pomona, 3 MW / 12 MWh, utility (2021)</c:v>
                </c:pt>
                <c:pt idx="4">
                  <c:v>Soltage Maspeth, 5 MW / 20 MWh* (2025)</c:v>
                </c:pt>
                <c:pt idx="5">
                  <c:v>NineDot 28-site portfolio, financing floor (2026-27)</c:v>
                </c:pt>
                <c:pt idx="6">
                  <c:v>NineDot Arthur Kill Rd, 9.8 MW / 39 MWh (2025)</c:v>
                </c:pt>
                <c:pt idx="7">
                  <c:v>Con Ed Ozone Park, 1.5 MW / 12 MWh, utility (2019)</c:v>
                </c:pt>
                <c:pt idx="8">
                  <c:v>NYPA Chateaugay, 20 MW / 20 MWh, utility (2023)</c:v>
                </c:pt>
                <c:pt idx="9">
                  <c:v>Hyde Park: vendor contract</c:v>
                </c:pt>
                <c:pt idx="10">
                  <c:v>Hyde Park: battery installed (A+B+C)</c:v>
                </c:pt>
                <c:pt idx="11">
                  <c:v>Hyde Park: station complete, direct</c:v>
                </c:pt>
                <c:pt idx="12">
                  <c:v>Hyde Park: project 21334 approval level</c:v>
                </c:pt>
              </c:strCache>
            </c:strRef>
          </c:cat>
          <c:val>
            <c:numRef>
              <c:f>Sheet1!$B$2:$B$14</c:f>
              <c:numCache>
                <c:formatCode>General</c:formatCode>
                <c:ptCount val="13"/>
                <c:pt idx="0">
                  <c:v>464</c:v>
                </c:pt>
                <c:pt idx="1">
                  <c:v>567</c:v>
                </c:pt>
                <c:pt idx="2">
                  <c:v>524</c:v>
                </c:pt>
                <c:pt idx="3">
                  <c:v>617</c:v>
                </c:pt>
                <c:pt idx="4">
                  <c:v>805</c:v>
                </c:pt>
                <c:pt idx="5">
                  <c:v>872</c:v>
                </c:pt>
                <c:pt idx="6">
                  <c:v>1110</c:v>
                </c:pt>
                <c:pt idx="7">
                  <c:v>1250</c:v>
                </c:pt>
                <c:pt idx="8">
                  <c:v>1490</c:v>
                </c:pt>
                <c:pt idx="9">
                  <c:v>605</c:v>
                </c:pt>
                <c:pt idx="10">
                  <c:v>833</c:v>
                </c:pt>
                <c:pt idx="11">
                  <c:v>1483</c:v>
                </c:pt>
                <c:pt idx="12">
                  <c:v>2862</c:v>
                </c:pt>
              </c:numCache>
            </c:numRef>
          </c:val>
        </c:ser>
        <c:gapWidth val="4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3600.0"/>
        </c:scaling>
        <c:delete/>
        <c:axPos val="b"/>
        <c:majorTickMark val="out"/>
        <c:minorTickMark val="none"/>
        <c:tickLblPos val="nextTo"/>
        <c:crossAx val="-2068027336"/>
        <c:crosses val="autoZero"/>
      </c:valAx>
    </c:plotArea>
    <c:dispBlanksAs val="gap"/>
  </c:chart>
  <c:txPr>
    <a:bodyPr/>
    <a:lstStyle/>
    <a:p>
      <a:pPr>
        <a:defRPr sz="950">
          <a:solidFill>
            <a:srgbClr val="1F2A44"/>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_</c:v>
                </c:pt>
              </c:strCache>
            </c:strRef>
          </c:tx>
          <c:spPr>
            <a:ln w="25400">
              <a:noFill/>
            </a:ln>
          </c:spPr>
          <c:marker>
            <c:symbol val="none"/>
            <c:size val="6"/>
            <c:spPr>
              <a:solidFill>
                <a:srgbClr val="FFFFFF"/>
              </a:solidFill>
              <a:ln>
                <a:solidFill>
                  <a:srgbClr val="FFFFFF"/>
                </a:solidFill>
              </a:ln>
            </c:spPr>
          </c:marker>
          <c:xVal>
            <c:numRef>
              <c:f>Sheet1!$A$2:$A$15</c:f>
              <c:numCache>
                <c:formatCode>General</c:formatCode>
                <c:ptCount val="14"/>
                <c:pt idx="0">
                  <c:v>1990</c:v>
                </c:pt>
                <c:pt idx="1">
                  <c:v>1991</c:v>
                </c:pt>
                <c:pt idx="2">
                  <c:v>1992</c:v>
                </c:pt>
                <c:pt idx="3">
                  <c:v>1993</c:v>
                </c:pt>
                <c:pt idx="4">
                  <c:v>1994</c:v>
                </c:pt>
                <c:pt idx="5">
                  <c:v>1995</c:v>
                </c:pt>
                <c:pt idx="6">
                  <c:v>1996</c:v>
                </c:pt>
                <c:pt idx="7">
                  <c:v>1997</c:v>
                </c:pt>
                <c:pt idx="8">
                  <c:v>1998</c:v>
                </c:pt>
                <c:pt idx="9">
                  <c:v>1999</c:v>
                </c:pt>
                <c:pt idx="10">
                  <c:v>2000</c:v>
                </c:pt>
                <c:pt idx="11">
                  <c:v>2001</c:v>
                </c:pt>
                <c:pt idx="12">
                  <c:v>2002</c:v>
                </c:pt>
                <c:pt idx="13">
                  <c:v>2003</c:v>
                </c:pt>
              </c:numCache>
            </c:numRef>
          </c:xVal>
          <c:yVal>
            <c:numRef>
              <c:f>Sheet1!$B$2:$B$15</c:f>
              <c:numCache>
                <c:formatCode>General</c:formatCode>
                <c:ptCount val="14"/>
                <c:pt idx="0">
                  <c:v>1.0</c:v>
                </c:pt>
                <c:pt idx="1">
                  <c:v>1.0</c:v>
                </c:pt>
                <c:pt idx="2">
                  <c:v>1.0</c:v>
                </c:pt>
                <c:pt idx="3">
                  <c:v>1.0</c:v>
                </c:pt>
                <c:pt idx="4">
                  <c:v>1.0</c:v>
                </c:pt>
                <c:pt idx="5">
                  <c:v>1.0</c:v>
                </c:pt>
                <c:pt idx="6">
                  <c:v>1.0</c:v>
                </c:pt>
                <c:pt idx="7">
                  <c:v>1.0</c:v>
                </c:pt>
                <c:pt idx="8">
                  <c:v>1.0</c:v>
                </c:pt>
                <c:pt idx="9">
                  <c:v>1.0</c:v>
                </c:pt>
                <c:pt idx="10">
                  <c:v>1.0</c:v>
                </c:pt>
                <c:pt idx="11">
                  <c:v>1.0</c:v>
                </c:pt>
                <c:pt idx="12">
                  <c:v>1.0</c:v>
                </c:pt>
                <c:pt idx="13">
                  <c:v>1.0</c:v>
                </c:pt>
              </c:numCache>
            </c:numRef>
          </c:yVal>
          <c:smooth val="0"/>
        </c:ser>
        <c:ser>
          <c:idx val="1"/>
          <c:order val="1"/>
          <c:tx>
            <c:strRef>
              <c:f>Sheet1!$B$17</c:f>
              <c:strCache>
                <c:ptCount val="1"/>
                <c:pt idx="0">
                  <c:v>BNEF pack price</c:v>
                </c:pt>
              </c:strCache>
            </c:strRef>
          </c:tx>
          <c:spPr>
            <a:ln w="25400">
              <a:solidFill>
                <a:srgbClr val="FFC72C"/>
              </a:solidFill>
            </a:ln>
          </c:spPr>
          <c:marker>
            <c:symbol val="circle"/>
            <c:size val="6"/>
            <c:spPr>
              <a:solidFill>
                <a:srgbClr val="FFC72C"/>
              </a:solidFill>
              <a:ln>
                <a:solidFill>
                  <a:srgbClr val="FFC72C"/>
                </a:solidFill>
              </a:ln>
            </c:spPr>
          </c:marker>
          <c:xVal>
            <c:numRef>
              <c:f>Sheet1!$A$18:$A$29</c:f>
              <c:numCache>
                <c:formatCode>General</c:formatCode>
                <c:ptCount val="12"/>
                <c:pt idx="0">
                  <c:v>2014</c:v>
                </c:pt>
                <c:pt idx="1">
                  <c:v>2015</c:v>
                </c:pt>
                <c:pt idx="2">
                  <c:v>2016</c:v>
                </c:pt>
                <c:pt idx="3">
                  <c:v>2017</c:v>
                </c:pt>
                <c:pt idx="4">
                  <c:v>2018</c:v>
                </c:pt>
                <c:pt idx="5">
                  <c:v>2019</c:v>
                </c:pt>
                <c:pt idx="6">
                  <c:v>2020</c:v>
                </c:pt>
                <c:pt idx="7">
                  <c:v>2021</c:v>
                </c:pt>
                <c:pt idx="8">
                  <c:v>2022</c:v>
                </c:pt>
                <c:pt idx="9">
                  <c:v>2023</c:v>
                </c:pt>
                <c:pt idx="10">
                  <c:v>2024</c:v>
                </c:pt>
                <c:pt idx="11">
                  <c:v>2025</c:v>
                </c:pt>
              </c:numCache>
            </c:numRef>
          </c:xVal>
          <c:yVal>
            <c:numRef>
              <c:f>Sheet1!$B$18:$B$29</c:f>
              <c:numCache>
                <c:formatCode>General</c:formatCode>
                <c:ptCount val="12"/>
                <c:pt idx="0">
                  <c:v>3.068</c:v>
                </c:pt>
                <c:pt idx="1">
                  <c:v>1.989</c:v>
                </c:pt>
                <c:pt idx="2">
                  <c:v>1.551</c:v>
                </c:pt>
                <c:pt idx="3">
                  <c:v>1.188</c:v>
                </c:pt>
                <c:pt idx="4">
                  <c:v>1.0</c:v>
                </c:pt>
                <c:pt idx="5">
                  <c:v>0.886</c:v>
                </c:pt>
                <c:pt idx="6">
                  <c:v>0.778</c:v>
                </c:pt>
                <c:pt idx="7">
                  <c:v>0.75</c:v>
                </c:pt>
                <c:pt idx="8">
                  <c:v>0.858</c:v>
                </c:pt>
                <c:pt idx="9">
                  <c:v>0.79</c:v>
                </c:pt>
                <c:pt idx="10">
                  <c:v>0.653</c:v>
                </c:pt>
                <c:pt idx="11">
                  <c:v>0.614</c:v>
                </c:pt>
              </c:numCache>
            </c:numRef>
          </c:yVal>
          <c:smooth val="0"/>
        </c:ser>
        <c:ser>
          <c:idx val="2"/>
          <c:order val="2"/>
          <c:tx>
            <c:strRef>
              <c:f>Sheet1!$B$31</c:f>
              <c:strCache>
                <c:ptCount val="1"/>
                <c:pt idx="0">
                  <c:v>BNEF turnkey system</c:v>
                </c:pt>
              </c:strCache>
            </c:strRef>
          </c:tx>
          <c:spPr>
            <a:ln w="25400">
              <a:solidFill>
                <a:srgbClr val="2A8A8C"/>
              </a:solidFill>
            </a:ln>
          </c:spPr>
          <c:marker>
            <c:symbol val="circle"/>
            <c:size val="6"/>
            <c:spPr>
              <a:solidFill>
                <a:srgbClr val="2A8A8C"/>
              </a:solidFill>
              <a:ln>
                <a:solidFill>
                  <a:srgbClr val="2A8A8C"/>
                </a:solidFill>
              </a:ln>
            </c:spPr>
          </c:marker>
          <c:xVal>
            <c:numRef>
              <c:f>Sheet1!$A$32:$A$36</c:f>
              <c:numCache>
                <c:formatCode>General</c:formatCode>
                <c:ptCount val="5"/>
                <c:pt idx="0">
                  <c:v>2021</c:v>
                </c:pt>
                <c:pt idx="1">
                  <c:v>2022</c:v>
                </c:pt>
                <c:pt idx="2">
                  <c:v>2023</c:v>
                </c:pt>
                <c:pt idx="3">
                  <c:v>2024</c:v>
                </c:pt>
                <c:pt idx="4">
                  <c:v>2025</c:v>
                </c:pt>
              </c:numCache>
            </c:numRef>
          </c:xVal>
          <c:yVal>
            <c:numRef>
              <c:f>Sheet1!$B$32:$B$36</c:f>
              <c:numCache>
                <c:formatCode>General</c:formatCode>
                <c:ptCount val="5"/>
                <c:pt idx="0">
                  <c:v>1.0</c:v>
                </c:pt>
                <c:pt idx="1">
                  <c:v>1.361</c:v>
                </c:pt>
                <c:pt idx="2">
                  <c:v>1.105</c:v>
                </c:pt>
                <c:pt idx="3">
                  <c:v>0.693</c:v>
                </c:pt>
                <c:pt idx="4">
                  <c:v>0.492</c:v>
                </c:pt>
              </c:numCache>
            </c:numRef>
          </c:yVal>
          <c:smooth val="0"/>
        </c:ser>
        <c:ser>
          <c:idx val="3"/>
          <c:order val="3"/>
          <c:tx>
            <c:strRef>
              <c:f>Sheet1!$B$38</c:f>
              <c:strCache>
                <c:ptCount val="1"/>
                <c:pt idx="0">
                  <c:v>NREL bottom-up base year</c:v>
                </c:pt>
              </c:strCache>
            </c:strRef>
          </c:tx>
          <c:spPr>
            <a:ln w="25400">
              <a:solidFill>
                <a:srgbClr val="001E60"/>
              </a:solidFill>
            </a:ln>
          </c:spPr>
          <c:marker>
            <c:symbol val="circle"/>
            <c:size val="6"/>
            <c:spPr>
              <a:solidFill>
                <a:srgbClr val="001E60"/>
              </a:solidFill>
              <a:ln>
                <a:solidFill>
                  <a:srgbClr val="001E60"/>
                </a:solidFill>
              </a:ln>
            </c:spPr>
          </c:marker>
          <c:xVal>
            <c:numRef>
              <c:f>Sheet1!$A$39:$A$40</c:f>
              <c:numCache>
                <c:formatCode>General</c:formatCode>
                <c:ptCount val="2"/>
                <c:pt idx="0">
                  <c:v>2022</c:v>
                </c:pt>
                <c:pt idx="1">
                  <c:v>2024</c:v>
                </c:pt>
              </c:numCache>
            </c:numRef>
          </c:xVal>
          <c:yVal>
            <c:numRef>
              <c:f>Sheet1!$B$39:$B$40</c:f>
              <c:numCache>
                <c:formatCode>General</c:formatCode>
                <c:ptCount val="2"/>
                <c:pt idx="0">
                  <c:v>1.0</c:v>
                </c:pt>
                <c:pt idx="1">
                  <c:v>0.693</c:v>
                </c:pt>
              </c:numCache>
            </c:numRef>
          </c:yVal>
          <c:smooth val="0"/>
        </c:ser>
        <c:ser>
          <c:idx val="4"/>
          <c:order val="4"/>
          <c:tx>
            <c:strRef>
              <c:f>Sheet1!$B$42</c:f>
              <c:strCache>
                <c:ptCount val="1"/>
                <c:pt idx="0">
                  <c:v>EIA / LBNL installed all-in</c:v>
                </c:pt>
              </c:strCache>
            </c:strRef>
          </c:tx>
          <c:spPr>
            <a:ln w="25400">
              <a:solidFill>
                <a:srgbClr val="1F2A44"/>
              </a:solidFill>
            </a:ln>
          </c:spPr>
          <c:marker>
            <c:symbol val="circle"/>
            <c:size val="6"/>
            <c:spPr>
              <a:solidFill>
                <a:srgbClr val="1F2A44"/>
              </a:solidFill>
              <a:ln>
                <a:solidFill>
                  <a:srgbClr val="1F2A44"/>
                </a:solidFill>
              </a:ln>
            </c:spPr>
          </c:marker>
          <c:xVal>
            <c:numRef>
              <c:f>Sheet1!$A$43:$A$51</c:f>
              <c:numCache>
                <c:formatCode>General</c:formatCode>
                <c:ptCount val="9"/>
                <c:pt idx="0">
                  <c:v>2015</c:v>
                </c:pt>
                <c:pt idx="1">
                  <c:v>2016</c:v>
                </c:pt>
                <c:pt idx="2">
                  <c:v>2017</c:v>
                </c:pt>
                <c:pt idx="3">
                  <c:v>2018</c:v>
                </c:pt>
                <c:pt idx="4">
                  <c:v>2019</c:v>
                </c:pt>
                <c:pt idx="5">
                  <c:v>2020</c:v>
                </c:pt>
                <c:pt idx="6">
                  <c:v>2021</c:v>
                </c:pt>
                <c:pt idx="7">
                  <c:v>2022</c:v>
                </c:pt>
                <c:pt idx="8">
                  <c:v>2024</c:v>
                </c:pt>
              </c:numCache>
            </c:numRef>
          </c:xVal>
          <c:yVal>
            <c:numRef>
              <c:f>Sheet1!$B$43:$B$51</c:f>
              <c:numCache>
                <c:formatCode>General</c:formatCode>
                <c:ptCount val="9"/>
                <c:pt idx="0">
                  <c:v>3.363</c:v>
                </c:pt>
                <c:pt idx="1">
                  <c:v>2.031</c:v>
                </c:pt>
                <c:pt idx="2">
                  <c:v>1.334</c:v>
                </c:pt>
                <c:pt idx="3">
                  <c:v>1.0</c:v>
                </c:pt>
                <c:pt idx="4">
                  <c:v>0.942</c:v>
                </c:pt>
                <c:pt idx="5">
                  <c:v>1.032</c:v>
                </c:pt>
                <c:pt idx="6">
                  <c:v>1.074</c:v>
                </c:pt>
                <c:pt idx="7">
                  <c:v>0.633</c:v>
                </c:pt>
                <c:pt idx="8">
                  <c:v>0.733</c:v>
                </c:pt>
              </c:numCache>
            </c:numRef>
          </c:yVal>
          <c:smooth val="0"/>
        </c:ser>
        <c:ser>
          <c:idx val="5"/>
          <c:order val="5"/>
          <c:tx>
            <c:strRef>
              <c:f>Sheet1!$B$53</c:f>
              <c:strCache>
                <c:ptCount val="1"/>
                <c:pt idx="0">
                  <c:v>Lazard LCOS midpoint</c:v>
                </c:pt>
              </c:strCache>
            </c:strRef>
          </c:tx>
          <c:spPr>
            <a:ln w="25400">
              <a:solidFill>
                <a:srgbClr val="6B7280"/>
              </a:solidFill>
              <a:prstDash val="dash"/>
            </a:ln>
          </c:spPr>
          <c:marker>
            <c:symbol val="circle"/>
            <c:size val="6"/>
            <c:spPr>
              <a:solidFill>
                <a:srgbClr val="6B7280"/>
              </a:solidFill>
              <a:ln>
                <a:solidFill>
                  <a:srgbClr val="6B7280"/>
                </a:solidFill>
              </a:ln>
            </c:spPr>
          </c:marker>
          <c:xVal>
            <c:numRef>
              <c:f>Sheet1!$A$54:$A$59</c:f>
              <c:numCache>
                <c:formatCode>General</c:formatCode>
                <c:ptCount val="6"/>
                <c:pt idx="0">
                  <c:v>2019</c:v>
                </c:pt>
                <c:pt idx="1">
                  <c:v>2020</c:v>
                </c:pt>
                <c:pt idx="2">
                  <c:v>2021</c:v>
                </c:pt>
                <c:pt idx="3">
                  <c:v>2024</c:v>
                </c:pt>
                <c:pt idx="4">
                  <c:v>2025</c:v>
                </c:pt>
                <c:pt idx="5">
                  <c:v>2026</c:v>
                </c:pt>
              </c:numCache>
            </c:numRef>
          </c:xVal>
          <c:yVal>
            <c:numRef>
              <c:f>Sheet1!$B$54:$B$59</c:f>
              <c:numCache>
                <c:formatCode>General</c:formatCode>
                <c:ptCount val="6"/>
                <c:pt idx="0">
                  <c:v>1.0</c:v>
                </c:pt>
                <c:pt idx="1">
                  <c:v>0.783</c:v>
                </c:pt>
                <c:pt idx="2">
                  <c:v>0.744</c:v>
                </c:pt>
                <c:pt idx="3">
                  <c:v>0.955</c:v>
                </c:pt>
                <c:pt idx="4">
                  <c:v>0.756</c:v>
                </c:pt>
                <c:pt idx="5">
                  <c:v>1.029</c:v>
                </c:pt>
              </c:numCache>
            </c:numRef>
          </c:yVal>
          <c:smooth val="0"/>
        </c:ser>
        <c:ser>
          <c:idx val="6"/>
          <c:order val="6"/>
          <c:tx>
            <c:strRef>
              <c:f>Sheet1!$B$61</c:f>
              <c:strCache>
                <c:ptCount val="1"/>
                <c:pt idx="0">
                  <c:v>Handy-Whitman construction</c:v>
                </c:pt>
              </c:strCache>
            </c:strRef>
          </c:tx>
          <c:spPr>
            <a:ln w="25400">
              <a:solidFill>
                <a:srgbClr val="6E1F2E"/>
              </a:solidFill>
            </a:ln>
          </c:spPr>
          <c:marker>
            <c:symbol val="circle"/>
            <c:size val="6"/>
            <c:spPr>
              <a:solidFill>
                <a:srgbClr val="6E1F2E"/>
              </a:solidFill>
              <a:ln>
                <a:solidFill>
                  <a:srgbClr val="6E1F2E"/>
                </a:solidFill>
              </a:ln>
            </c:spPr>
          </c:marker>
          <c:xVal>
            <c:numRef>
              <c:f>Sheet1!$A$62:$A$73</c:f>
              <c:numCache>
                <c:formatCode>General</c:formatCode>
                <c:ptCount val="12"/>
                <c:pt idx="0">
                  <c:v>2015</c:v>
                </c:pt>
                <c:pt idx="1">
                  <c:v>2016</c:v>
                </c:pt>
                <c:pt idx="2">
                  <c:v>2017</c:v>
                </c:pt>
                <c:pt idx="3">
                  <c:v>2018</c:v>
                </c:pt>
                <c:pt idx="4">
                  <c:v>2019</c:v>
                </c:pt>
                <c:pt idx="5">
                  <c:v>2020</c:v>
                </c:pt>
                <c:pt idx="6">
                  <c:v>2021</c:v>
                </c:pt>
                <c:pt idx="7">
                  <c:v>2022</c:v>
                </c:pt>
                <c:pt idx="8">
                  <c:v>2023</c:v>
                </c:pt>
                <c:pt idx="9">
                  <c:v>2024</c:v>
                </c:pt>
                <c:pt idx="10">
                  <c:v>2025</c:v>
                </c:pt>
                <c:pt idx="11">
                  <c:v>2026</c:v>
                </c:pt>
              </c:numCache>
            </c:numRef>
          </c:xVal>
          <c:yVal>
            <c:numRef>
              <c:f>Sheet1!$B$62:$B$73</c:f>
              <c:numCache>
                <c:formatCode>General</c:formatCode>
                <c:ptCount val="12"/>
                <c:pt idx="0">
                  <c:v>0.94</c:v>
                </c:pt>
                <c:pt idx="1">
                  <c:v>0.958</c:v>
                </c:pt>
                <c:pt idx="2">
                  <c:v>0.954</c:v>
                </c:pt>
                <c:pt idx="3">
                  <c:v>1.0</c:v>
                </c:pt>
                <c:pt idx="4">
                  <c:v>1.02</c:v>
                </c:pt>
                <c:pt idx="5">
                  <c:v>1.046</c:v>
                </c:pt>
                <c:pt idx="6">
                  <c:v>1.156</c:v>
                </c:pt>
                <c:pt idx="7">
                  <c:v>1.279</c:v>
                </c:pt>
                <c:pt idx="8">
                  <c:v>1.362</c:v>
                </c:pt>
                <c:pt idx="9">
                  <c:v>1.417</c:v>
                </c:pt>
                <c:pt idx="10">
                  <c:v>1.431</c:v>
                </c:pt>
                <c:pt idx="11">
                  <c:v>1.493</c:v>
                </c:pt>
              </c:numCache>
            </c:numRef>
          </c:yVal>
          <c:smooth val="0"/>
        </c:ser>
        <c:axId val="-2128940872"/>
        <c:axId val="-2129643912"/>
      </c:scatterChart>
      <c:valAx>
        <c:axId val="-2128940872"/>
        <c:scaling>
          <c:orientation val="minMax"/>
          <c:max val="2026.5"/>
          <c:min val="2014.0"/>
        </c:scaling>
        <c:delete val="0"/>
        <c:axPos val="b"/>
        <c:numFmt formatCode="0" sourceLinked="0"/>
        <c:majorTickMark val="out"/>
        <c:minorTickMark val="none"/>
        <c:tickLblPos val="nextTo"/>
        <c:spPr>
          <a:ln>
            <a:solidFill>
              <a:srgbClr val="C9D1E0"/>
            </a:solidFill>
          </a:ln>
        </c:spPr>
        <c:txPr>
          <a:bodyPr/>
          <a:lstStyle/>
          <a:p>
            <a:pPr>
              <a:defRPr sz="900"/>
            </a:pPr>
          </a:p>
        </c:txPr>
        <c:crossAx val="-2129643912"/>
        <c:crosses val="autoZero"/>
        <c:crossBetween val="midCat"/>
        <c:majorUnit val="2.0"/>
      </c:valAx>
      <c:valAx>
        <c:axId val="-2129643912"/>
        <c:scaling>
          <c:orientation val="minMax"/>
          <c:max val="3.6"/>
          <c:min val="0.0"/>
        </c:scaling>
        <c:delete val="0"/>
        <c:axPos val="l"/>
        <c:majorGridlines>
          <c:spPr>
            <a:ln>
              <a:solidFill>
                <a:srgbClr val="C9D1E0"/>
              </a:solidFill>
            </a:ln>
          </c:spPr>
        </c:majorGridlines>
        <c:numFmt formatCode="0.0&quot;x&quot;" sourceLinked="0"/>
        <c:majorTickMark val="out"/>
        <c:minorTickMark val="none"/>
        <c:tickLblPos val="nextTo"/>
        <c:spPr>
          <a:ln>
            <a:solidFill>
              <a:srgbClr val="C9D1E0"/>
            </a:solidFill>
          </a:ln>
        </c:spPr>
        <c:txPr>
          <a:bodyPr/>
          <a:lstStyle/>
          <a:p>
            <a:pPr>
              <a:defRPr sz="900"/>
            </a:pPr>
          </a:p>
        </c:txPr>
        <c:crossAx val="-2128940872"/>
        <c:crosses val="autoZero"/>
        <c:crossBetween val="midCat"/>
        <c:majorUnit val="0.5"/>
      </c:valAx>
    </c:plotArea>
    <c:legend>
      <c:legendPos val="b"/>
      <c:legendEntry>
        <c:idx val="0"/>
        <c:delete val="1"/>
      </c:legendEntry>
      <c:layout/>
      <c:overlay val="0"/>
      <c:txPr>
        <a:bodyPr/>
        <a:lstStyle/>
        <a:p>
          <a:pPr>
            <a:defRPr sz="900">
              <a:latin typeface="Calibri"/>
            </a:defRPr>
          </a:pPr>
        </a:p>
      </c:txPr>
    </c:legend>
    <c:plotVisOnly val="1"/>
    <c:dispBlanksAs val="gap"/>
    <c:showDLblsOverMax val="0"/>
  </c:chart>
  <c:txPr>
    <a:bodyPr/>
    <a:lstStyle/>
    <a:p>
      <a:pPr>
        <a:defRPr sz="900">
          <a:solidFill>
            <a:srgbClr val="1F2A44"/>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Anchor battery share 30%</c:v>
                </c:pt>
              </c:strCache>
            </c:strRef>
          </c:tx>
          <c:spPr>
            <a:solidFill>
              <a:srgbClr val="C9D1E0"/>
            </a:solidFill>
          </c:spPr>
          <c:cat>
            <c:strRef>
              <c:f>Sheet1!$A$2:$A$7</c:f>
              <c:strCache>
                <c:ptCount val="6"/>
                <c:pt idx="0">
                  <c:v>Installed all-in</c:v>
                </c:pt>
                <c:pt idx="1">
                  <c:v>BNEF pack</c:v>
                </c:pt>
                <c:pt idx="2">
                  <c:v>BNEF turnkey</c:v>
                </c:pt>
                <c:pt idx="3">
                  <c:v>NREL base year</c:v>
                </c:pt>
                <c:pt idx="4">
                  <c:v>Lazard LCOS</c:v>
                </c:pt>
                <c:pt idx="5">
                  <c:v>Construction only</c:v>
                </c:pt>
              </c:strCache>
            </c:strRef>
          </c:cat>
          <c:val>
            <c:numRef>
              <c:f>Sheet1!$B$2:$B$7</c:f>
              <c:numCache>
                <c:formatCode>General</c:formatCode>
                <c:ptCount val="6"/>
                <c:pt idx="0">
                  <c:v>816</c:v>
                </c:pt>
                <c:pt idx="1">
                  <c:v>802</c:v>
                </c:pt>
                <c:pt idx="2">
                  <c:v>769</c:v>
                </c:pt>
                <c:pt idx="3">
                  <c:v>839</c:v>
                </c:pt>
                <c:pt idx="4">
                  <c:v>932</c:v>
                </c:pt>
                <c:pt idx="5">
                  <c:v>1052</c:v>
                </c:pt>
              </c:numCache>
            </c:numRef>
          </c:val>
        </c:ser>
        <c:ser>
          <c:idx val="1"/>
          <c:order val="1"/>
          <c:tx>
            <c:strRef>
              <c:f>Sheet1!$C$1</c:f>
              <c:strCache>
                <c:ptCount val="1"/>
                <c:pt idx="0">
                  <c:v>Anchor battery share 40%</c:v>
                </c:pt>
              </c:strCache>
            </c:strRef>
          </c:tx>
          <c:spPr>
            <a:solidFill>
              <a:srgbClr val="001E60"/>
            </a:solidFill>
          </c:spPr>
          <c:dLbls>
            <c:numFmt formatCode="&quot;$&quot;#,##0" sourceLinked="0"/>
            <c:txPr>
              <a:bodyPr/>
              <a:lstStyle/>
              <a:p>
                <a:pPr>
                  <a:defRPr sz="900"/>
                </a:pPr>
              </a:p>
            </c:txPr>
            <c:dLblPos val="outEnd"/>
            <c:showLegendKey val="0"/>
            <c:showVal val="1"/>
            <c:showCatName val="0"/>
            <c:showSerName val="0"/>
            <c:showPercent val="0"/>
            <c:showBubbleSize val="0"/>
            <c:showLeaderLines val="1"/>
          </c:dLbls>
          <c:cat>
            <c:strRef>
              <c:f>Sheet1!$A$2:$A$7</c:f>
              <c:strCache>
                <c:ptCount val="6"/>
                <c:pt idx="0">
                  <c:v>Installed all-in</c:v>
                </c:pt>
                <c:pt idx="1">
                  <c:v>BNEF pack</c:v>
                </c:pt>
                <c:pt idx="2">
                  <c:v>BNEF turnkey</c:v>
                </c:pt>
                <c:pt idx="3">
                  <c:v>NREL base year</c:v>
                </c:pt>
                <c:pt idx="4">
                  <c:v>Lazard LCOS</c:v>
                </c:pt>
                <c:pt idx="5">
                  <c:v>Construction only</c:v>
                </c:pt>
              </c:strCache>
            </c:strRef>
          </c:cat>
          <c:val>
            <c:numRef>
              <c:f>Sheet1!$C$2:$C$7</c:f>
              <c:numCache>
                <c:formatCode>General</c:formatCode>
                <c:ptCount val="6"/>
                <c:pt idx="0">
                  <c:v>763</c:v>
                </c:pt>
                <c:pt idx="1">
                  <c:v>748</c:v>
                </c:pt>
                <c:pt idx="2">
                  <c:v>692</c:v>
                </c:pt>
                <c:pt idx="3">
                  <c:v>773</c:v>
                </c:pt>
                <c:pt idx="4">
                  <c:v>892</c:v>
                </c:pt>
                <c:pt idx="5">
                  <c:v>1052</c:v>
                </c:pt>
              </c:numCache>
            </c:numRef>
          </c:val>
        </c:ser>
        <c:ser>
          <c:idx val="2"/>
          <c:order val="2"/>
          <c:tx>
            <c:strRef>
              <c:f>Sheet1!$D$1</c:f>
              <c:strCache>
                <c:ptCount val="1"/>
                <c:pt idx="0">
                  <c:v>Anchor battery share 50%</c:v>
                </c:pt>
              </c:strCache>
            </c:strRef>
          </c:tx>
          <c:spPr>
            <a:solidFill>
              <a:srgbClr val="2A8A8C"/>
            </a:solidFill>
          </c:spPr>
          <c:cat>
            <c:strRef>
              <c:f>Sheet1!$A$2:$A$7</c:f>
              <c:strCache>
                <c:ptCount val="6"/>
                <c:pt idx="0">
                  <c:v>Installed all-in</c:v>
                </c:pt>
                <c:pt idx="1">
                  <c:v>BNEF pack</c:v>
                </c:pt>
                <c:pt idx="2">
                  <c:v>BNEF turnkey</c:v>
                </c:pt>
                <c:pt idx="3">
                  <c:v>NREL base year</c:v>
                </c:pt>
                <c:pt idx="4">
                  <c:v>Lazard LCOS</c:v>
                </c:pt>
                <c:pt idx="5">
                  <c:v>Construction only</c:v>
                </c:pt>
              </c:strCache>
            </c:strRef>
          </c:cat>
          <c:val>
            <c:numRef>
              <c:f>Sheet1!$D$2:$D$7</c:f>
              <c:numCache>
                <c:formatCode>General</c:formatCode>
                <c:ptCount val="6"/>
                <c:pt idx="0">
                  <c:v>737</c:v>
                </c:pt>
                <c:pt idx="1">
                  <c:v>672</c:v>
                </c:pt>
                <c:pt idx="2">
                  <c:v>623</c:v>
                </c:pt>
                <c:pt idx="3">
                  <c:v>725</c:v>
                </c:pt>
                <c:pt idx="4">
                  <c:v>865</c:v>
                </c:pt>
                <c:pt idx="5">
                  <c:v>1052</c:v>
                </c:pt>
              </c:numCache>
            </c:numRef>
          </c:val>
        </c:ser>
        <c:gapWidth val="60"/>
        <c:overlap val="-5"/>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50"/>
            </a:pPr>
          </a:p>
        </c:txPr>
        <c:crossAx val="-2113994440"/>
        <c:crosses val="autoZero"/>
        <c:auto val="1"/>
        <c:lblAlgn val="ctr"/>
        <c:lblOffset val="100"/>
        <c:noMultiLvlLbl val="0"/>
      </c:catAx>
      <c:valAx>
        <c:axId val="-2113994440"/>
        <c:scaling>
          <c:max val="1600.0"/>
          <c:min val="0.0"/>
        </c:scaling>
        <c:delete val="0"/>
        <c:axPos val="l"/>
        <c:majorGridlines>
          <c:spPr>
            <a:ln>
              <a:solidFill>
                <a:srgbClr val="C9D1E0"/>
              </a:solidFill>
            </a:ln>
          </c:spPr>
        </c:majorGridlines>
        <c:numFmt formatCode="&quot;$&quot;#,##0" sourceLinked="0"/>
        <c:majorTickMark val="out"/>
        <c:minorTickMark val="none"/>
        <c:tickLblPos val="nextTo"/>
        <c:txPr>
          <a:bodyPr/>
          <a:lstStyle/>
          <a:p>
            <a:pPr>
              <a:defRPr sz="900"/>
            </a:pPr>
          </a:p>
        </c:txPr>
        <c:crossAx val="-2068027336"/>
        <c:crosses val="autoZero"/>
      </c:valAx>
    </c:plotArea>
    <c:legend>
      <c:legendPos val="b"/>
      <c:overlay val="0"/>
      <c:txPr>
        <a:bodyPr/>
        <a:lstStyle/>
        <a:p>
          <a:pPr>
            <a:defRPr sz="950">
              <a:latin typeface="Calibri"/>
            </a:defRPr>
          </a:pPr>
        </a:p>
      </c:txPr>
    </c:legend>
    <c:dispBlanksAs val="gap"/>
  </c:chart>
  <c:txPr>
    <a:bodyPr/>
    <a:lstStyle/>
    <a:p>
      <a:pPr>
        <a:defRPr sz="950">
          <a:solidFill>
            <a:srgbClr val="1F2A44"/>
          </a:solidFill>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_</c:v>
                </c:pt>
              </c:strCache>
            </c:strRef>
          </c:tx>
          <c:spPr>
            <a:ln w="22225">
              <a:noFill/>
            </a:ln>
          </c:spPr>
          <c:marker>
            <c:symbol val="none"/>
            <c:size val="5"/>
            <c:spPr>
              <a:solidFill>
                <a:srgbClr val="FFFFFF"/>
              </a:solidFill>
              <a:ln>
                <a:solidFill>
                  <a:srgbClr val="FFFFFF"/>
                </a:solidFill>
              </a:ln>
            </c:spPr>
          </c:marker>
          <c:xVal>
            <c:numRef>
              <c:f>Sheet1!$A$2:$A$15</c:f>
              <c:numCache>
                <c:formatCode>General</c:formatCode>
                <c:ptCount val="14"/>
                <c:pt idx="0">
                  <c:v>1990</c:v>
                </c:pt>
                <c:pt idx="1">
                  <c:v>1991</c:v>
                </c:pt>
                <c:pt idx="2">
                  <c:v>1992</c:v>
                </c:pt>
                <c:pt idx="3">
                  <c:v>1993</c:v>
                </c:pt>
                <c:pt idx="4">
                  <c:v>1994</c:v>
                </c:pt>
                <c:pt idx="5">
                  <c:v>1995</c:v>
                </c:pt>
                <c:pt idx="6">
                  <c:v>1996</c:v>
                </c:pt>
                <c:pt idx="7">
                  <c:v>1997</c:v>
                </c:pt>
                <c:pt idx="8">
                  <c:v>1998</c:v>
                </c:pt>
                <c:pt idx="9">
                  <c:v>1999</c:v>
                </c:pt>
                <c:pt idx="10">
                  <c:v>2000</c:v>
                </c:pt>
                <c:pt idx="11">
                  <c:v>2001</c:v>
                </c:pt>
                <c:pt idx="12">
                  <c:v>2002</c:v>
                </c:pt>
                <c:pt idx="13">
                  <c:v>2003</c:v>
                </c:pt>
              </c:numCache>
            </c:numRef>
          </c:xVal>
          <c:yVal>
            <c:numRef>
              <c:f>Sheet1!$B$2:$B$15</c:f>
              <c:numCache>
                <c:formatCode>General</c:formatCode>
                <c:ptCount val="14"/>
                <c:pt idx="0">
                  <c:v>1.0</c:v>
                </c:pt>
                <c:pt idx="1">
                  <c:v>1.0</c:v>
                </c:pt>
                <c:pt idx="2">
                  <c:v>1.0</c:v>
                </c:pt>
                <c:pt idx="3">
                  <c:v>1.0</c:v>
                </c:pt>
                <c:pt idx="4">
                  <c:v>1.0</c:v>
                </c:pt>
                <c:pt idx="5">
                  <c:v>1.0</c:v>
                </c:pt>
                <c:pt idx="6">
                  <c:v>1.0</c:v>
                </c:pt>
                <c:pt idx="7">
                  <c:v>1.0</c:v>
                </c:pt>
                <c:pt idx="8">
                  <c:v>1.0</c:v>
                </c:pt>
                <c:pt idx="9">
                  <c:v>1.0</c:v>
                </c:pt>
                <c:pt idx="10">
                  <c:v>1.0</c:v>
                </c:pt>
                <c:pt idx="11">
                  <c:v>1.0</c:v>
                </c:pt>
                <c:pt idx="12">
                  <c:v>1.0</c:v>
                </c:pt>
                <c:pt idx="13">
                  <c:v>1.0</c:v>
                </c:pt>
              </c:numCache>
            </c:numRef>
          </c:yVal>
          <c:smooth val="0"/>
        </c:ser>
        <c:ser>
          <c:idx val="1"/>
          <c:order val="1"/>
          <c:tx>
            <c:strRef>
              <c:f>Sheet1!$B$17</c:f>
              <c:strCache>
                <c:ptCount val="1"/>
                <c:pt idx="0">
                  <c:v>PPI transformers</c:v>
                </c:pt>
              </c:strCache>
            </c:strRef>
          </c:tx>
          <c:spPr>
            <a:ln w="22225">
              <a:solidFill>
                <a:srgbClr val="6E1F2E"/>
              </a:solidFill>
            </a:ln>
          </c:spPr>
          <c:marker>
            <c:symbol val="circle"/>
            <c:size val="5"/>
            <c:spPr>
              <a:solidFill>
                <a:srgbClr val="6E1F2E"/>
              </a:solidFill>
              <a:ln>
                <a:solidFill>
                  <a:srgbClr val="6E1F2E"/>
                </a:solidFill>
              </a:ln>
            </c:spPr>
          </c:marker>
          <c:xVal>
            <c:numRef>
              <c:f>Sheet1!$A$18:$A$30</c:f>
              <c:numCache>
                <c:formatCode>General</c:formatCode>
                <c:ptCount val="13"/>
                <c:pt idx="0">
                  <c:v>2014</c:v>
                </c:pt>
                <c:pt idx="1">
                  <c:v>2015</c:v>
                </c:pt>
                <c:pt idx="2">
                  <c:v>2016</c:v>
                </c:pt>
                <c:pt idx="3">
                  <c:v>2017</c:v>
                </c:pt>
                <c:pt idx="4">
                  <c:v>2018</c:v>
                </c:pt>
                <c:pt idx="5">
                  <c:v>2019</c:v>
                </c:pt>
                <c:pt idx="6">
                  <c:v>2020</c:v>
                </c:pt>
                <c:pt idx="7">
                  <c:v>2021</c:v>
                </c:pt>
                <c:pt idx="8">
                  <c:v>2022</c:v>
                </c:pt>
                <c:pt idx="9">
                  <c:v>2023</c:v>
                </c:pt>
                <c:pt idx="10">
                  <c:v>2024</c:v>
                </c:pt>
                <c:pt idx="11">
                  <c:v>2025</c:v>
                </c:pt>
                <c:pt idx="12">
                  <c:v>2026</c:v>
                </c:pt>
              </c:numCache>
            </c:numRef>
          </c:xVal>
          <c:yVal>
            <c:numRef>
              <c:f>Sheet1!$B$18:$B$30</c:f>
              <c:numCache>
                <c:formatCode>General</c:formatCode>
                <c:ptCount val="13"/>
                <c:pt idx="0">
                  <c:v>1.005</c:v>
                </c:pt>
                <c:pt idx="1">
                  <c:v>0.943</c:v>
                </c:pt>
                <c:pt idx="2">
                  <c:v>0.915</c:v>
                </c:pt>
                <c:pt idx="3">
                  <c:v>0.949</c:v>
                </c:pt>
                <c:pt idx="4">
                  <c:v>1.0</c:v>
                </c:pt>
                <c:pt idx="5">
                  <c:v>1.02</c:v>
                </c:pt>
                <c:pt idx="6">
                  <c:v>1.034</c:v>
                </c:pt>
                <c:pt idx="7">
                  <c:v>1.213</c:v>
                </c:pt>
                <c:pt idx="8">
                  <c:v>1.632</c:v>
                </c:pt>
                <c:pt idx="9">
                  <c:v>1.741</c:v>
                </c:pt>
                <c:pt idx="10">
                  <c:v>1.788</c:v>
                </c:pt>
                <c:pt idx="11">
                  <c:v>1.842</c:v>
                </c:pt>
                <c:pt idx="12">
                  <c:v>1.912</c:v>
                </c:pt>
              </c:numCache>
            </c:numRef>
          </c:yVal>
          <c:smooth val="0"/>
        </c:ser>
        <c:ser>
          <c:idx val="2"/>
          <c:order val="2"/>
          <c:tx>
            <c:strRef>
              <c:f>Sheet1!$B$32</c:f>
              <c:strCache>
                <c:ptCount val="1"/>
                <c:pt idx="0">
                  <c:v>PPI switchgear</c:v>
                </c:pt>
              </c:strCache>
            </c:strRef>
          </c:tx>
          <c:spPr>
            <a:ln w="22225">
              <a:solidFill>
                <a:srgbClr val="FFC72C"/>
              </a:solidFill>
            </a:ln>
          </c:spPr>
          <c:marker>
            <c:symbol val="circle"/>
            <c:size val="5"/>
            <c:spPr>
              <a:solidFill>
                <a:srgbClr val="FFC72C"/>
              </a:solidFill>
              <a:ln>
                <a:solidFill>
                  <a:srgbClr val="FFC72C"/>
                </a:solidFill>
              </a:ln>
            </c:spPr>
          </c:marker>
          <c:xVal>
            <c:numRef>
              <c:f>Sheet1!$A$33:$A$45</c:f>
              <c:numCache>
                <c:formatCode>General</c:formatCode>
                <c:ptCount val="13"/>
                <c:pt idx="0">
                  <c:v>2014</c:v>
                </c:pt>
                <c:pt idx="1">
                  <c:v>2015</c:v>
                </c:pt>
                <c:pt idx="2">
                  <c:v>2016</c:v>
                </c:pt>
                <c:pt idx="3">
                  <c:v>2017</c:v>
                </c:pt>
                <c:pt idx="4">
                  <c:v>2018</c:v>
                </c:pt>
                <c:pt idx="5">
                  <c:v>2019</c:v>
                </c:pt>
                <c:pt idx="6">
                  <c:v>2020</c:v>
                </c:pt>
                <c:pt idx="7">
                  <c:v>2021</c:v>
                </c:pt>
                <c:pt idx="8">
                  <c:v>2022</c:v>
                </c:pt>
                <c:pt idx="9">
                  <c:v>2023</c:v>
                </c:pt>
                <c:pt idx="10">
                  <c:v>2024</c:v>
                </c:pt>
                <c:pt idx="11">
                  <c:v>2025</c:v>
                </c:pt>
                <c:pt idx="12">
                  <c:v>2026</c:v>
                </c:pt>
              </c:numCache>
            </c:numRef>
          </c:xVal>
          <c:yVal>
            <c:numRef>
              <c:f>Sheet1!$B$33:$B$45</c:f>
              <c:numCache>
                <c:formatCode>General</c:formatCode>
                <c:ptCount val="13"/>
                <c:pt idx="0">
                  <c:v>0.968</c:v>
                </c:pt>
                <c:pt idx="1">
                  <c:v>0.973</c:v>
                </c:pt>
                <c:pt idx="2">
                  <c:v>0.976</c:v>
                </c:pt>
                <c:pt idx="3">
                  <c:v>0.981</c:v>
                </c:pt>
                <c:pt idx="4">
                  <c:v>1.0</c:v>
                </c:pt>
                <c:pt idx="5">
                  <c:v>1.027</c:v>
                </c:pt>
                <c:pt idx="6">
                  <c:v>1.047</c:v>
                </c:pt>
                <c:pt idx="7">
                  <c:v>1.096</c:v>
                </c:pt>
                <c:pt idx="8">
                  <c:v>1.303</c:v>
                </c:pt>
                <c:pt idx="9">
                  <c:v>1.429</c:v>
                </c:pt>
                <c:pt idx="10">
                  <c:v>1.525</c:v>
                </c:pt>
                <c:pt idx="11">
                  <c:v>1.665</c:v>
                </c:pt>
                <c:pt idx="12">
                  <c:v>1.824</c:v>
                </c:pt>
              </c:numCache>
            </c:numRef>
          </c:yVal>
          <c:smooth val="0"/>
        </c:ser>
        <c:ser>
          <c:idx val="3"/>
          <c:order val="3"/>
          <c:tx>
            <c:strRef>
              <c:f>Sheet1!$B$47</c:f>
              <c:strCache>
                <c:ptCount val="1"/>
                <c:pt idx="0">
                  <c:v>IBEW 103 journeyman rate</c:v>
                </c:pt>
              </c:strCache>
            </c:strRef>
          </c:tx>
          <c:spPr>
            <a:ln w="22225">
              <a:solidFill>
                <a:srgbClr val="2A8A8C"/>
              </a:solidFill>
            </a:ln>
          </c:spPr>
          <c:marker>
            <c:symbol val="circle"/>
            <c:size val="5"/>
            <c:spPr>
              <a:solidFill>
                <a:srgbClr val="2A8A8C"/>
              </a:solidFill>
              <a:ln>
                <a:solidFill>
                  <a:srgbClr val="2A8A8C"/>
                </a:solidFill>
              </a:ln>
            </c:spPr>
          </c:marker>
          <c:xVal>
            <c:numRef>
              <c:f>Sheet1!$A$48:$A$57</c:f>
              <c:numCache>
                <c:formatCode>General</c:formatCode>
                <c:ptCount val="10"/>
                <c:pt idx="0">
                  <c:v>2015</c:v>
                </c:pt>
                <c:pt idx="1">
                  <c:v>2016</c:v>
                </c:pt>
                <c:pt idx="2">
                  <c:v>2017</c:v>
                </c:pt>
                <c:pt idx="3">
                  <c:v>2018</c:v>
                </c:pt>
                <c:pt idx="4">
                  <c:v>2020</c:v>
                </c:pt>
                <c:pt idx="5">
                  <c:v>2022</c:v>
                </c:pt>
                <c:pt idx="6">
                  <c:v>2023</c:v>
                </c:pt>
                <c:pt idx="7">
                  <c:v>2024</c:v>
                </c:pt>
                <c:pt idx="8">
                  <c:v>2025</c:v>
                </c:pt>
                <c:pt idx="9">
                  <c:v>2026</c:v>
                </c:pt>
              </c:numCache>
            </c:numRef>
          </c:xVal>
          <c:yVal>
            <c:numRef>
              <c:f>Sheet1!$B$48:$B$57</c:f>
              <c:numCache>
                <c:formatCode>General</c:formatCode>
                <c:ptCount val="10"/>
                <c:pt idx="0">
                  <c:v>0.91</c:v>
                </c:pt>
                <c:pt idx="1">
                  <c:v>0.939</c:v>
                </c:pt>
                <c:pt idx="2">
                  <c:v>0.968</c:v>
                </c:pt>
                <c:pt idx="3">
                  <c:v>1.0</c:v>
                </c:pt>
                <c:pt idx="4">
                  <c:v>1.061</c:v>
                </c:pt>
                <c:pt idx="5">
                  <c:v>1.135</c:v>
                </c:pt>
                <c:pt idx="6">
                  <c:v>1.154</c:v>
                </c:pt>
                <c:pt idx="7">
                  <c:v>1.205</c:v>
                </c:pt>
                <c:pt idx="8">
                  <c:v>1.252</c:v>
                </c:pt>
                <c:pt idx="9">
                  <c:v>1.302</c:v>
                </c:pt>
              </c:numCache>
            </c:numRef>
          </c:yVal>
          <c:smooth val="0"/>
        </c:ser>
        <c:ser>
          <c:idx val="4"/>
          <c:order val="4"/>
          <c:tx>
            <c:strRef>
              <c:f>Sheet1!$B$59</c:f>
              <c:strCache>
                <c:ptCount val="1"/>
                <c:pt idx="0">
                  <c:v>ENR construction cost</c:v>
                </c:pt>
              </c:strCache>
            </c:strRef>
          </c:tx>
          <c:spPr>
            <a:ln w="22225">
              <a:solidFill>
                <a:srgbClr val="001E60"/>
              </a:solidFill>
            </a:ln>
          </c:spPr>
          <c:marker>
            <c:symbol val="circle"/>
            <c:size val="5"/>
            <c:spPr>
              <a:solidFill>
                <a:srgbClr val="001E60"/>
              </a:solidFill>
              <a:ln>
                <a:solidFill>
                  <a:srgbClr val="001E60"/>
                </a:solidFill>
              </a:ln>
            </c:spPr>
          </c:marker>
          <c:xVal>
            <c:numRef>
              <c:f>Sheet1!$A$60:$A$65</c:f>
              <c:numCache>
                <c:formatCode>General</c:formatCode>
                <c:ptCount val="6"/>
                <c:pt idx="0">
                  <c:v>2017</c:v>
                </c:pt>
                <c:pt idx="1">
                  <c:v>2018</c:v>
                </c:pt>
                <c:pt idx="2">
                  <c:v>2023</c:v>
                </c:pt>
                <c:pt idx="3">
                  <c:v>2024</c:v>
                </c:pt>
                <c:pt idx="4">
                  <c:v>2025</c:v>
                </c:pt>
                <c:pt idx="5">
                  <c:v>2026</c:v>
                </c:pt>
              </c:numCache>
            </c:numRef>
          </c:xVal>
          <c:yVal>
            <c:numRef>
              <c:f>Sheet1!$B$60:$B$65</c:f>
              <c:numCache>
                <c:formatCode>General</c:formatCode>
                <c:ptCount val="6"/>
                <c:pt idx="0">
                  <c:v>0.971</c:v>
                </c:pt>
                <c:pt idx="1">
                  <c:v>1.0</c:v>
                </c:pt>
                <c:pt idx="2">
                  <c:v>1.191</c:v>
                </c:pt>
                <c:pt idx="3">
                  <c:v>1.223</c:v>
                </c:pt>
                <c:pt idx="4">
                  <c:v>1.251</c:v>
                </c:pt>
                <c:pt idx="5">
                  <c:v>1.259</c:v>
                </c:pt>
              </c:numCache>
            </c:numRef>
          </c:yVal>
          <c:smooth val="0"/>
        </c:ser>
        <c:ser>
          <c:idx val="5"/>
          <c:order val="5"/>
          <c:tx>
            <c:strRef>
              <c:f>Sheet1!$B$67</c:f>
              <c:strCache>
                <c:ptCount val="1"/>
                <c:pt idx="0">
                  <c:v>PPI engineering services</c:v>
                </c:pt>
              </c:strCache>
            </c:strRef>
          </c:tx>
          <c:spPr>
            <a:ln w="22225">
              <a:solidFill>
                <a:srgbClr val="6B7280"/>
              </a:solidFill>
            </a:ln>
          </c:spPr>
          <c:marker>
            <c:symbol val="circle"/>
            <c:size val="5"/>
            <c:spPr>
              <a:solidFill>
                <a:srgbClr val="6B7280"/>
              </a:solidFill>
              <a:ln>
                <a:solidFill>
                  <a:srgbClr val="6B7280"/>
                </a:solidFill>
              </a:ln>
            </c:spPr>
          </c:marker>
          <c:xVal>
            <c:numRef>
              <c:f>Sheet1!$A$68:$A$80</c:f>
              <c:numCache>
                <c:formatCode>General</c:formatCode>
                <c:ptCount val="13"/>
                <c:pt idx="0">
                  <c:v>2014</c:v>
                </c:pt>
                <c:pt idx="1">
                  <c:v>2015</c:v>
                </c:pt>
                <c:pt idx="2">
                  <c:v>2016</c:v>
                </c:pt>
                <c:pt idx="3">
                  <c:v>2017</c:v>
                </c:pt>
                <c:pt idx="4">
                  <c:v>2018</c:v>
                </c:pt>
                <c:pt idx="5">
                  <c:v>2019</c:v>
                </c:pt>
                <c:pt idx="6">
                  <c:v>2020</c:v>
                </c:pt>
                <c:pt idx="7">
                  <c:v>2021</c:v>
                </c:pt>
                <c:pt idx="8">
                  <c:v>2022</c:v>
                </c:pt>
                <c:pt idx="9">
                  <c:v>2023</c:v>
                </c:pt>
                <c:pt idx="10">
                  <c:v>2024</c:v>
                </c:pt>
                <c:pt idx="11">
                  <c:v>2025</c:v>
                </c:pt>
                <c:pt idx="12">
                  <c:v>2026</c:v>
                </c:pt>
              </c:numCache>
            </c:numRef>
          </c:xVal>
          <c:yVal>
            <c:numRef>
              <c:f>Sheet1!$B$68:$B$80</c:f>
              <c:numCache>
                <c:formatCode>General</c:formatCode>
                <c:ptCount val="13"/>
                <c:pt idx="0">
                  <c:v>0.911</c:v>
                </c:pt>
                <c:pt idx="1">
                  <c:v>0.935</c:v>
                </c:pt>
                <c:pt idx="2">
                  <c:v>0.953</c:v>
                </c:pt>
                <c:pt idx="3">
                  <c:v>0.975</c:v>
                </c:pt>
                <c:pt idx="4">
                  <c:v>1.0</c:v>
                </c:pt>
                <c:pt idx="5">
                  <c:v>1.026</c:v>
                </c:pt>
                <c:pt idx="6">
                  <c:v>1.03</c:v>
                </c:pt>
                <c:pt idx="7">
                  <c:v>1.06</c:v>
                </c:pt>
                <c:pt idx="8">
                  <c:v>1.119</c:v>
                </c:pt>
                <c:pt idx="9">
                  <c:v>1.161</c:v>
                </c:pt>
                <c:pt idx="10">
                  <c:v>1.19</c:v>
                </c:pt>
                <c:pt idx="11">
                  <c:v>1.222</c:v>
                </c:pt>
                <c:pt idx="12">
                  <c:v>1.247</c:v>
                </c:pt>
              </c:numCache>
            </c:numRef>
          </c:yVal>
          <c:smooth val="0"/>
        </c:ser>
        <c:ser>
          <c:idx val="6"/>
          <c:order val="6"/>
          <c:tx>
            <c:strRef>
              <c:f>Sheet1!$B$82</c:f>
              <c:strCache>
                <c:ptCount val="1"/>
                <c:pt idx="0">
                  <c:v>EIA / LBNL installed battery</c:v>
                </c:pt>
              </c:strCache>
            </c:strRef>
          </c:tx>
          <c:spPr>
            <a:ln w="22225">
              <a:solidFill>
                <a:srgbClr val="1F2A44"/>
              </a:solidFill>
              <a:prstDash val="dash"/>
            </a:ln>
          </c:spPr>
          <c:marker>
            <c:symbol val="circle"/>
            <c:size val="5"/>
            <c:spPr>
              <a:solidFill>
                <a:srgbClr val="1F2A44"/>
              </a:solidFill>
              <a:ln>
                <a:solidFill>
                  <a:srgbClr val="1F2A44"/>
                </a:solidFill>
              </a:ln>
            </c:spPr>
          </c:marker>
          <c:xVal>
            <c:numRef>
              <c:f>Sheet1!$A$83:$A$89</c:f>
              <c:numCache>
                <c:formatCode>General</c:formatCode>
                <c:ptCount val="7"/>
                <c:pt idx="0">
                  <c:v>2017</c:v>
                </c:pt>
                <c:pt idx="1">
                  <c:v>2018</c:v>
                </c:pt>
                <c:pt idx="2">
                  <c:v>2019</c:v>
                </c:pt>
                <c:pt idx="3">
                  <c:v>2020</c:v>
                </c:pt>
                <c:pt idx="4">
                  <c:v>2021</c:v>
                </c:pt>
                <c:pt idx="5">
                  <c:v>2022</c:v>
                </c:pt>
                <c:pt idx="6">
                  <c:v>2024</c:v>
                </c:pt>
              </c:numCache>
            </c:numRef>
          </c:xVal>
          <c:yVal>
            <c:numRef>
              <c:f>Sheet1!$B$83:$B$89</c:f>
              <c:numCache>
                <c:formatCode>General</c:formatCode>
                <c:ptCount val="7"/>
                <c:pt idx="0">
                  <c:v>1.334</c:v>
                </c:pt>
                <c:pt idx="1">
                  <c:v>1.0</c:v>
                </c:pt>
                <c:pt idx="2">
                  <c:v>0.942</c:v>
                </c:pt>
                <c:pt idx="3">
                  <c:v>1.032</c:v>
                </c:pt>
                <c:pt idx="4">
                  <c:v>1.074</c:v>
                </c:pt>
                <c:pt idx="5">
                  <c:v>0.633</c:v>
                </c:pt>
                <c:pt idx="6">
                  <c:v>0.733</c:v>
                </c:pt>
              </c:numCache>
            </c:numRef>
          </c:yVal>
          <c:smooth val="0"/>
        </c:ser>
        <c:axId val="-2128940872"/>
        <c:axId val="-2129643912"/>
      </c:scatterChart>
      <c:valAx>
        <c:axId val="-2128940872"/>
        <c:scaling>
          <c:orientation val="minMax"/>
          <c:max val="2026.5"/>
          <c:min val="2015.0"/>
        </c:scaling>
        <c:delete val="0"/>
        <c:axPos val="b"/>
        <c:numFmt formatCode="0" sourceLinked="0"/>
        <c:majorTickMark val="out"/>
        <c:minorTickMark val="none"/>
        <c:tickLblPos val="nextTo"/>
        <c:spPr>
          <a:ln>
            <a:solidFill>
              <a:srgbClr val="C9D1E0"/>
            </a:solidFill>
          </a:ln>
        </c:spPr>
        <c:txPr>
          <a:bodyPr/>
          <a:lstStyle/>
          <a:p>
            <a:pPr>
              <a:defRPr sz="850"/>
            </a:pPr>
          </a:p>
        </c:txPr>
        <c:crossAx val="-2129643912"/>
        <c:crosses val="autoZero"/>
        <c:crossBetween val="midCat"/>
        <c:majorUnit val="2.0"/>
      </c:valAx>
      <c:valAx>
        <c:axId val="-2129643912"/>
        <c:scaling>
          <c:orientation val="minMax"/>
          <c:max val="1.8"/>
          <c:min val="0.4"/>
        </c:scaling>
        <c:delete val="0"/>
        <c:axPos val="l"/>
        <c:majorGridlines>
          <c:spPr>
            <a:ln>
              <a:solidFill>
                <a:srgbClr val="C9D1E0"/>
              </a:solidFill>
            </a:ln>
          </c:spPr>
        </c:majorGridlines>
        <c:numFmt formatCode="0.0&quot;x&quot;" sourceLinked="0"/>
        <c:majorTickMark val="out"/>
        <c:minorTickMark val="none"/>
        <c:tickLblPos val="nextTo"/>
        <c:spPr>
          <a:ln>
            <a:solidFill>
              <a:srgbClr val="C9D1E0"/>
            </a:solidFill>
          </a:ln>
        </c:spPr>
        <c:txPr>
          <a:bodyPr/>
          <a:lstStyle/>
          <a:p>
            <a:pPr>
              <a:defRPr sz="850"/>
            </a:pPr>
          </a:p>
        </c:txPr>
        <c:crossAx val="-2128940872"/>
        <c:crosses val="autoZero"/>
        <c:crossBetween val="midCat"/>
        <c:majorUnit val="0.2"/>
      </c:valAx>
    </c:plotArea>
    <c:legend>
      <c:legendPos val="b"/>
      <c:legendEntry>
        <c:idx val="0"/>
        <c:delete val="1"/>
      </c:legendEntry>
      <c:layout/>
      <c:overlay val="0"/>
      <c:txPr>
        <a:bodyPr/>
        <a:lstStyle/>
        <a:p>
          <a:pPr>
            <a:defRPr sz="850">
              <a:latin typeface="Calibri"/>
            </a:defRPr>
          </a:pPr>
        </a:p>
      </c:txPr>
    </c:legend>
    <c:plotVisOnly val="1"/>
    <c:dispBlanksAs val="gap"/>
    <c:showDLblsOverMax val="0"/>
  </c:chart>
  <c:txPr>
    <a:bodyPr/>
    <a:lstStyle/>
    <a:p>
      <a:pPr>
        <a:defRPr sz="850">
          <a:solidFill>
            <a:srgbClr val="1F2A44"/>
          </a:solidFill>
          <a:latin typeface="Calibri"/>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c:v>
                </c:pt>
              </c:strCache>
            </c:strRef>
          </c:tx>
          <c:dPt>
            <c:idx val="0"/>
            <c:spPr>
              <a:solidFill>
                <a:srgbClr val="C9D1E0"/>
              </a:solidFill>
            </c:spPr>
          </c:dPt>
          <c:dPt>
            <c:idx val="1"/>
            <c:spPr>
              <a:solidFill>
                <a:srgbClr val="FFC72C"/>
              </a:solidFill>
            </c:spPr>
          </c:dPt>
          <c:dPt>
            <c:idx val="2"/>
            <c:spPr>
              <a:solidFill>
                <a:srgbClr val="001E60"/>
              </a:solidFill>
            </c:spPr>
          </c:dPt>
          <c:dPt>
            <c:idx val="3"/>
            <c:spPr>
              <a:solidFill>
                <a:srgbClr val="001E60"/>
              </a:solidFill>
            </c:spPr>
          </c:dPt>
          <c:dPt>
            <c:idx val="4"/>
            <c:spPr>
              <a:solidFill>
                <a:srgbClr val="FFC72C"/>
              </a:solidFill>
            </c:spPr>
          </c:dPt>
          <c:dPt>
            <c:idx val="5"/>
            <c:spPr>
              <a:solidFill>
                <a:srgbClr val="001E60"/>
              </a:solidFill>
            </c:spPr>
          </c:dPt>
          <c:dPt>
            <c:idx val="6"/>
            <c:spPr>
              <a:solidFill>
                <a:srgbClr val="001E60"/>
              </a:solidFill>
            </c:spPr>
          </c:dPt>
          <c:dPt>
            <c:idx val="7"/>
            <c:spPr>
              <a:solidFill>
                <a:srgbClr val="001E60"/>
              </a:solidFill>
            </c:spPr>
          </c:dPt>
          <c:dLbls>
            <c:numFmt formatCode="&quot;$&quot;0.0&quot;M&quot;" sourceLinked="0"/>
            <c:txPr>
              <a:bodyPr/>
              <a:lstStyle/>
              <a:p>
                <a:pPr>
                  <a:defRPr sz="1000" b="1"/>
                </a:pPr>
              </a:p>
            </c:txPr>
            <c:dLblPos val="outEnd"/>
            <c:showLegendKey val="0"/>
            <c:showVal val="1"/>
            <c:showCatName val="0"/>
            <c:showSerName val="0"/>
            <c:showPercent val="0"/>
            <c:showBubbleSize val="0"/>
            <c:showLeaderLines val="1"/>
          </c:dLbls>
          <c:cat>
            <c:strRef>
              <c:f>Sheet1!$A$2:$A$9</c:f>
              <c:strCache>
                <c:ptCount val="8"/>
                <c:pt idx="0">
                  <c:v>Jun 2021
IFR</c:v>
                </c:pt>
                <c:pt idx="1">
                  <c:v>Jul 2023
Vendor indicative
(Company 3, turnkey)</c:v>
                </c:pt>
                <c:pt idx="2">
                  <c:v>Dec 2023
E-23-373
conceptual</c:v>
                </c:pt>
                <c:pt idx="3">
                  <c:v>Feb 2024
SSF incl.
D-Line</c:v>
                </c:pt>
                <c:pt idx="4">
                  <c:v>Mar 2026
Nomad
contract</c:v>
                </c:pt>
                <c:pt idx="5">
                  <c:v>Aug 2026
Rev 0</c:v>
                </c:pt>
                <c:pt idx="6">
                  <c:v>Sep 2026
Rev 2</c:v>
                </c:pt>
                <c:pt idx="7">
                  <c:v>Sep 2026
Rev 3</c:v>
                </c:pt>
              </c:strCache>
            </c:strRef>
          </c:cat>
          <c:val>
            <c:numRef>
              <c:f>Sheet1!$B$2:$B$9</c:f>
              <c:numCache>
                <c:formatCode>General</c:formatCode>
                <c:ptCount val="8"/>
                <c:pt idx="0">
                  <c:v>0.2</c:v>
                </c:pt>
                <c:pt idx="1">
                  <c:v>18.2</c:v>
                </c:pt>
                <c:pt idx="2">
                  <c:v>43.9</c:v>
                </c:pt>
                <c:pt idx="3">
                  <c:v>49.2</c:v>
                </c:pt>
                <c:pt idx="4">
                  <c:v>12.1</c:v>
                </c:pt>
                <c:pt idx="5">
                  <c:v>47.2</c:v>
                </c:pt>
                <c:pt idx="6">
                  <c:v>63.6</c:v>
                </c:pt>
                <c:pt idx="7">
                  <c:v>57.2</c:v>
                </c:pt>
              </c:numCache>
            </c:numRef>
          </c:val>
        </c:ser>
        <c:gapWidth val="5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72.0"/>
        </c:scaling>
        <c:delete/>
        <c:axPos val="l"/>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E-23-373 (Dec 2023)</c:v>
                </c:pt>
              </c:strCache>
            </c:strRef>
          </c:tx>
          <c:spPr>
            <a:solidFill>
              <a:srgbClr val="C9D1E0"/>
            </a:solidFill>
          </c:spPr>
          <c:dLbls>
            <c:numFmt formatCode="0.0" sourceLinked="0"/>
            <c:txPr>
              <a:bodyPr/>
              <a:lstStyle/>
              <a:p>
                <a:pPr>
                  <a:defRPr sz="900"/>
                </a:pPr>
              </a:p>
            </c:txPr>
            <c:dLblPos val="outEnd"/>
            <c:showLegendKey val="0"/>
            <c:showVal val="1"/>
            <c:showCatName val="0"/>
            <c:showSerName val="0"/>
            <c:showPercent val="0"/>
            <c:showBubbleSize val="0"/>
            <c:showLeaderLines val="1"/>
          </c:dLbls>
          <c:cat>
            <c:strRef>
              <c:f>Sheet1!$A$2:$A$12</c:f>
              <c:strCache>
                <c:ptCount val="11"/>
                <c:pt idx="0">
                  <c:v>Materials</c:v>
                </c:pt>
                <c:pt idx="1">
                  <c:v>Construction</c:v>
                </c:pt>
                <c:pt idx="2">
                  <c:v>Testing</c:v>
                </c:pt>
                <c:pt idx="3">
                  <c:v>Engineering</c:v>
                </c:pt>
                <c:pt idx="4">
                  <c:v>Siting + Env + Outreach</c:v>
                </c:pt>
                <c:pt idx="5">
                  <c:v>PMT</c:v>
                </c:pt>
                <c:pt idx="6">
                  <c:v>Other</c:v>
                </c:pt>
                <c:pt idx="7">
                  <c:v>Risks</c:v>
                </c:pt>
                <c:pt idx="8">
                  <c:v>Contingency</c:v>
                </c:pt>
                <c:pt idx="9">
                  <c:v>Indirects</c:v>
                </c:pt>
                <c:pt idx="10">
                  <c:v>AFUDC</c:v>
                </c:pt>
              </c:strCache>
            </c:strRef>
          </c:cat>
          <c:val>
            <c:numRef>
              <c:f>Sheet1!$B$2:$B$12</c:f>
              <c:numCache>
                <c:formatCode>General</c:formatCode>
                <c:ptCount val="11"/>
                <c:pt idx="0">
                  <c:v>13.76</c:v>
                </c:pt>
                <c:pt idx="1">
                  <c:v>6.92</c:v>
                </c:pt>
                <c:pt idx="2">
                  <c:v>1.06</c:v>
                </c:pt>
                <c:pt idx="3">
                  <c:v>0.79</c:v>
                </c:pt>
                <c:pt idx="4">
                  <c:v>0.84</c:v>
                </c:pt>
                <c:pt idx="5">
                  <c:v>1.04</c:v>
                </c:pt>
                <c:pt idx="6">
                  <c:v>0.93</c:v>
                </c:pt>
                <c:pt idx="7">
                  <c:v>3.95</c:v>
                </c:pt>
                <c:pt idx="8">
                  <c:v>1.81</c:v>
                </c:pt>
                <c:pt idx="9">
                  <c:v>9.52</c:v>
                </c:pt>
                <c:pt idx="10">
                  <c:v>3.3</c:v>
                </c:pt>
              </c:numCache>
            </c:numRef>
          </c:val>
        </c:ser>
        <c:ser>
          <c:idx val="1"/>
          <c:order val="1"/>
          <c:tx>
            <c:strRef>
              <c:f>Sheet1!$C$1</c:f>
              <c:strCache>
                <c:ptCount val="1"/>
                <c:pt idx="0">
                  <c:v>Rev 3 (Sep 2026)</c:v>
                </c:pt>
              </c:strCache>
            </c:strRef>
          </c:tx>
          <c:spPr>
            <a:solidFill>
              <a:srgbClr val="001E60"/>
            </a:solidFill>
          </c:spPr>
          <c:dLbls>
            <c:numFmt formatCode="0.0" sourceLinked="0"/>
            <c:txPr>
              <a:bodyPr/>
              <a:lstStyle/>
              <a:p>
                <a:pPr>
                  <a:defRPr sz="900"/>
                </a:pPr>
              </a:p>
            </c:txPr>
            <c:dLblPos val="outEnd"/>
            <c:showLegendKey val="0"/>
            <c:showVal val="1"/>
            <c:showCatName val="0"/>
            <c:showSerName val="0"/>
            <c:showPercent val="0"/>
            <c:showBubbleSize val="0"/>
            <c:showLeaderLines val="1"/>
          </c:dLbls>
          <c:cat>
            <c:strRef>
              <c:f>Sheet1!$A$2:$A$12</c:f>
              <c:strCache>
                <c:ptCount val="11"/>
                <c:pt idx="0">
                  <c:v>Materials</c:v>
                </c:pt>
                <c:pt idx="1">
                  <c:v>Construction</c:v>
                </c:pt>
                <c:pt idx="2">
                  <c:v>Testing</c:v>
                </c:pt>
                <c:pt idx="3">
                  <c:v>Engineering</c:v>
                </c:pt>
                <c:pt idx="4">
                  <c:v>Siting + Env + Outreach</c:v>
                </c:pt>
                <c:pt idx="5">
                  <c:v>PMT</c:v>
                </c:pt>
                <c:pt idx="6">
                  <c:v>Other</c:v>
                </c:pt>
                <c:pt idx="7">
                  <c:v>Risks</c:v>
                </c:pt>
                <c:pt idx="8">
                  <c:v>Contingency</c:v>
                </c:pt>
                <c:pt idx="9">
                  <c:v>Indirects</c:v>
                </c:pt>
                <c:pt idx="10">
                  <c:v>AFUDC</c:v>
                </c:pt>
              </c:strCache>
            </c:strRef>
          </c:cat>
          <c:val>
            <c:numRef>
              <c:f>Sheet1!$C$2:$C$12</c:f>
              <c:numCache>
                <c:formatCode>General</c:formatCode>
                <c:ptCount val="11"/>
                <c:pt idx="0">
                  <c:v>16.68</c:v>
                </c:pt>
                <c:pt idx="1">
                  <c:v>8.05</c:v>
                </c:pt>
                <c:pt idx="2">
                  <c:v>3.08</c:v>
                </c:pt>
                <c:pt idx="3">
                  <c:v>0.96</c:v>
                </c:pt>
                <c:pt idx="4">
                  <c:v>1.91</c:v>
                </c:pt>
                <c:pt idx="5">
                  <c:v>1.89</c:v>
                </c:pt>
                <c:pt idx="6">
                  <c:v>0.99</c:v>
                </c:pt>
                <c:pt idx="7">
                  <c:v>6.07</c:v>
                </c:pt>
                <c:pt idx="8">
                  <c:v>2.62</c:v>
                </c:pt>
                <c:pt idx="9">
                  <c:v>9.99</c:v>
                </c:pt>
                <c:pt idx="10">
                  <c:v>5.01</c:v>
                </c:pt>
              </c:numCache>
            </c:numRef>
          </c:val>
        </c:ser>
        <c:gapWidth val="60"/>
        <c:overlap val="-1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delete val="0"/>
        <c:axPos val="l"/>
        <c:majorGridlines>
          <c:spPr>
            <a:ln>
              <a:solidFill>
                <a:srgbClr val="C9D1E0"/>
              </a:solidFill>
            </a:ln>
          </c:spPr>
        </c:majorGridlines>
        <c:majorTickMark val="out"/>
        <c:minorTickMark val="none"/>
        <c:tickLblPos val="nextTo"/>
        <c:spPr>
          <a:ln>
            <a:noFill/>
          </a:ln>
        </c:spPr>
        <c:txPr>
          <a:bodyPr/>
          <a:lstStyle/>
          <a:p>
            <a:pPr>
              <a:defRPr sz="900"/>
            </a:pPr>
          </a:p>
        </c:txPr>
        <c:crossAx val="-2068027336"/>
        <c:crosses val="autoZero"/>
      </c:valAx>
    </c:plotArea>
    <c:legend>
      <c:legendPos val="b"/>
      <c:overlay val="0"/>
      <c:txPr>
        <a:bodyPr/>
        <a:lstStyle/>
        <a:p>
          <a:pPr>
            <a:defRPr sz="1100">
              <a:latin typeface="Calibri"/>
            </a:defRPr>
          </a:pPr>
        </a:p>
      </c:txPr>
    </c:legend>
    <c:dispBlanksAs val="gap"/>
  </c:chart>
  <c:txPr>
    <a:bodyPr/>
    <a:lstStyle/>
    <a:p>
      <a:pPr>
        <a:defRPr sz="1100">
          <a:solidFill>
            <a:srgbClr val="1F2A44"/>
          </a:solidFill>
          <a:latin typeface="Calibri"/>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cat>
            <c:strRef>
              <c:f>Sheet1!$A$2:$A$8</c:f>
              <c:strCache>
                <c:ptCount val="7"/>
                <c:pt idx="0">
                  <c:v>Rev 0
26 Aug</c:v>
                </c:pt>
                <c:pt idx="1">
                  <c:v>Battery to
project team
value</c:v>
                </c:pt>
                <c:pt idx="2">
                  <c:v>Rev 1
1 Sep</c:v>
                </c:pt>
                <c:pt idx="3">
                  <c:v>Battery to
contract +
relays + eng</c:v>
                </c:pt>
                <c:pt idx="4">
                  <c:v>Rev 2
10 Sep</c:v>
                </c:pt>
                <c:pt idx="5">
                  <c:v>Relays -1.5,
SSVT, eng
re-base</c:v>
                </c:pt>
                <c:pt idx="6">
                  <c:v>Rev 3
24 Sep</c:v>
                </c:pt>
              </c:strCache>
            </c:strRef>
          </c:cat>
          <c:val>
            <c:numRef>
              <c:f>Sheet1!$B$2:$B$8</c:f>
              <c:numCache>
                <c:formatCode>General</c:formatCode>
                <c:ptCount val="7"/>
                <c:pt idx="0">
                  <c:v>0</c:v>
                </c:pt>
                <c:pt idx="1">
                  <c:v>47.2</c:v>
                </c:pt>
                <c:pt idx="2">
                  <c:v>0</c:v>
                </c:pt>
                <c:pt idx="3">
                  <c:v>51.9</c:v>
                </c:pt>
                <c:pt idx="4">
                  <c:v>0</c:v>
                </c:pt>
                <c:pt idx="5">
                  <c:v>57.2</c:v>
                </c:pt>
                <c:pt idx="6">
                  <c:v>0</c:v>
                </c:pt>
              </c:numCache>
            </c:numRef>
          </c:val>
        </c:ser>
        <c:ser>
          <c:idx val="1"/>
          <c:order val="1"/>
          <c:tx>
            <c:strRef>
              <c:f>Sheet1!$C$1</c:f>
              <c:strCache>
                <c:ptCount val="1"/>
                <c:pt idx="0">
                  <c:v>val</c:v>
                </c:pt>
              </c:strCache>
            </c:strRef>
          </c:tx>
          <c:dPt>
            <c:idx val="0"/>
            <c:spPr>
              <a:solidFill>
                <a:srgbClr val="001E60"/>
              </a:solidFill>
            </c:spPr>
          </c:dPt>
          <c:dPt>
            <c:idx val="1"/>
            <c:spPr>
              <a:solidFill>
                <a:srgbClr val="6E1F2E"/>
              </a:solidFill>
            </c:spPr>
          </c:dPt>
          <c:dPt>
            <c:idx val="2"/>
            <c:spPr>
              <a:solidFill>
                <a:srgbClr val="001E60"/>
              </a:solidFill>
            </c:spPr>
          </c:dPt>
          <c:dPt>
            <c:idx val="3"/>
            <c:spPr>
              <a:solidFill>
                <a:srgbClr val="6E1F2E"/>
              </a:solidFill>
            </c:spPr>
          </c:dPt>
          <c:dPt>
            <c:idx val="4"/>
            <c:spPr>
              <a:solidFill>
                <a:srgbClr val="001E60"/>
              </a:solidFill>
            </c:spPr>
          </c:dPt>
          <c:dPt>
            <c:idx val="5"/>
            <c:spPr>
              <a:solidFill>
                <a:srgbClr val="2A8A8C"/>
              </a:solidFill>
            </c:spPr>
          </c:dPt>
          <c:dPt>
            <c:idx val="6"/>
            <c:spPr>
              <a:solidFill>
                <a:srgbClr val="001E60"/>
              </a:solidFill>
            </c:spPr>
          </c:dPt>
          <c:dLbls>
            <c:numFmt formatCode="&quot;$&quot;0.0&quot;M&quot;" sourceLinked="0"/>
            <c:txPr>
              <a:bodyPr/>
              <a:lstStyle/>
              <a:p>
                <a:pPr>
                  <a:defRPr sz="1000" b="1">
                    <a:solidFill>
                      <a:srgbClr val="FFFFFF"/>
                    </a:solidFill>
                  </a:defRPr>
                </a:pPr>
              </a:p>
            </c:txPr>
            <c:dLblPos val="inEnd"/>
            <c:showLegendKey val="0"/>
            <c:showVal val="1"/>
            <c:showCatName val="0"/>
            <c:showSerName val="0"/>
            <c:showPercent val="0"/>
            <c:showBubbleSize val="0"/>
            <c:showLeaderLines val="1"/>
          </c:dLbls>
          <c:cat>
            <c:strRef>
              <c:f>Sheet1!$A$2:$A$8</c:f>
              <c:strCache>
                <c:ptCount val="7"/>
                <c:pt idx="0">
                  <c:v>Rev 0
26 Aug</c:v>
                </c:pt>
                <c:pt idx="1">
                  <c:v>Battery to
project team
value</c:v>
                </c:pt>
                <c:pt idx="2">
                  <c:v>Rev 1
1 Sep</c:v>
                </c:pt>
                <c:pt idx="3">
                  <c:v>Battery to
contract +
relays + eng</c:v>
                </c:pt>
                <c:pt idx="4">
                  <c:v>Rev 2
10 Sep</c:v>
                </c:pt>
                <c:pt idx="5">
                  <c:v>Relays -1.5,
SSVT, eng
re-base</c:v>
                </c:pt>
                <c:pt idx="6">
                  <c:v>Rev 3
24 Sep</c:v>
                </c:pt>
              </c:strCache>
            </c:strRef>
          </c:cat>
          <c:val>
            <c:numRef>
              <c:f>Sheet1!$C$2:$C$8</c:f>
              <c:numCache>
                <c:formatCode>General</c:formatCode>
                <c:ptCount val="7"/>
                <c:pt idx="0">
                  <c:v>47.2</c:v>
                </c:pt>
                <c:pt idx="1">
                  <c:v>4.7</c:v>
                </c:pt>
                <c:pt idx="2">
                  <c:v>51.9</c:v>
                </c:pt>
                <c:pt idx="3">
                  <c:v>11.8</c:v>
                </c:pt>
                <c:pt idx="4">
                  <c:v>63.6</c:v>
                </c:pt>
                <c:pt idx="5">
                  <c:v>6.4</c:v>
                </c:pt>
                <c:pt idx="6">
                  <c:v>57.2</c:v>
                </c:pt>
              </c:numCache>
            </c:numRef>
          </c:val>
        </c:ser>
        <c:gapWidth val="35"/>
        <c:overlap val="10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70.0"/>
        </c:scaling>
        <c:delete/>
        <c:axPos val="l"/>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$/kWh</c:v>
                </c:pt>
              </c:strCache>
            </c:strRef>
          </c:tx>
          <c:dPt>
            <c:idx val="0"/>
            <c:spPr>
              <a:solidFill>
                <a:srgbClr val="C9D1E0"/>
              </a:solidFill>
            </c:spPr>
          </c:dPt>
          <c:dPt>
            <c:idx val="1"/>
            <c:spPr>
              <a:solidFill>
                <a:srgbClr val="C9D1E0"/>
              </a:solidFill>
            </c:spPr>
          </c:dPt>
          <c:dPt>
            <c:idx val="2"/>
            <c:spPr>
              <a:solidFill>
                <a:srgbClr val="C9D1E0"/>
              </a:solidFill>
            </c:spPr>
          </c:dPt>
          <c:dPt>
            <c:idx val="3"/>
            <c:spPr>
              <a:solidFill>
                <a:srgbClr val="6E1F2E"/>
              </a:solidFill>
            </c:spPr>
          </c:dPt>
          <c:dPt>
            <c:idx val="4"/>
            <c:spPr>
              <a:solidFill>
                <a:srgbClr val="C9D1E0"/>
              </a:solidFill>
            </c:spPr>
          </c:dPt>
          <c:dPt>
            <c:idx val="5"/>
            <c:spPr>
              <a:solidFill>
                <a:srgbClr val="C9D1E0"/>
              </a:solidFill>
            </c:spPr>
          </c:dPt>
          <c:dPt>
            <c:idx val="6"/>
            <c:spPr>
              <a:solidFill>
                <a:srgbClr val="FFC72C"/>
              </a:solidFill>
            </c:spPr>
          </c:dPt>
          <c:dLbls>
            <c:numFmt formatCode="&quot;$&quot;#,##0" sourceLinked="0"/>
            <c:txPr>
              <a:bodyPr/>
              <a:lstStyle/>
              <a:p>
                <a:pPr>
                  <a:defRPr sz="1000" b="1"/>
                </a:pPr>
              </a:p>
            </c:txPr>
            <c:dLblPos val="outEnd"/>
            <c:showLegendKey val="0"/>
            <c:showVal val="1"/>
            <c:showCatName val="0"/>
            <c:showSerName val="0"/>
            <c:showPercent val="0"/>
            <c:showBubbleSize val="0"/>
            <c:showLeaderLines val="1"/>
          </c:dLbls>
          <c:cat>
            <c:strRef>
              <c:f>Sheet1!$A$2:$A$8</c:f>
              <c:strCache>
                <c:ptCount val="7"/>
                <c:pt idx="0">
                  <c:v>Company 1</c:v>
                </c:pt>
                <c:pt idx="1">
                  <c:v>Company 2 (Opt 1)</c:v>
                </c:pt>
                <c:pt idx="2">
                  <c:v>Company 2 (Opt 2)</c:v>
                </c:pt>
                <c:pt idx="3">
                  <c:v>Company 3</c:v>
                </c:pt>
                <c:pt idx="4">
                  <c:v>Company 4</c:v>
                </c:pt>
                <c:pt idx="5">
                  <c:v>Company 5</c:v>
                </c:pt>
                <c:pt idx="6">
                  <c:v>Nomad contract
Mar 2026</c:v>
                </c:pt>
              </c:strCache>
            </c:strRef>
          </c:cat>
          <c:val>
            <c:numRef>
              <c:f>Sheet1!$B$2:$B$8</c:f>
              <c:numCache>
                <c:formatCode>General</c:formatCode>
                <c:ptCount val="7"/>
                <c:pt idx="0">
                  <c:v>578</c:v>
                </c:pt>
                <c:pt idx="1">
                  <c:v>527</c:v>
                </c:pt>
                <c:pt idx="2">
                  <c:v>479</c:v>
                </c:pt>
                <c:pt idx="3">
                  <c:v>911</c:v>
                </c:pt>
                <c:pt idx="4">
                  <c:v>574</c:v>
                </c:pt>
                <c:pt idx="5">
                  <c:v>696</c:v>
                </c:pt>
                <c:pt idx="6">
                  <c:v>605</c:v>
                </c:pt>
              </c:numCache>
            </c:numRef>
          </c:val>
        </c:ser>
        <c:gapWidth val="5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1150.0"/>
        </c:scaling>
        <c:delete/>
        <c:axPos val="l"/>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low</c:v>
                </c:pt>
              </c:strCache>
            </c:strRef>
          </c:tx>
          <c:spPr>
            <a:noFill/>
            <a:ln>
              <a:noFill/>
            </a:ln>
          </c:spPr>
          <c:cat>
            <c:strRef>
              <c:f>Sheet1!$A$2:$A$17</c:f>
              <c:strCache>
                <c:ptCount val="16"/>
                <c:pt idx="0">
                  <c:v>A4  E&amp;S overhead on the vendor contract   $1.0 to 2.1M</c:v>
                </c:pt>
                <c:pt idx="1">
                  <c:v>A2  Risk lines that duplicate escalation   $1.3 to 1.8M</c:v>
                </c:pt>
                <c:pt idx="2">
                  <c:v>A1  Escalation on the fixed-price battery   $1.6M</c:v>
                </c:pt>
                <c:pt idx="3">
                  <c:v>A3  Haugland design-basis deducts   $0.9 to 1.2M</c:v>
                </c:pt>
                <c:pt idx="4">
                  <c:v>A5  Commissioning overlap with Nomad   $0.2 to 0.5M</c:v>
                </c:pt>
                <c:pt idx="5">
                  <c:v>B2  Interconnection topology (feeders)   $1.4 to 1.9M</c:v>
                </c:pt>
                <c:pt idx="6">
                  <c:v>B1  Station 496 relay program   $1.1 to 1.5M</c:v>
                </c:pt>
                <c:pt idx="7">
                  <c:v>B3  Platform and wall after geotech   $0.4 to 1.2M</c:v>
                </c:pt>
                <c:pt idx="8">
                  <c:v>B4  Battery install crew build-up   $0.7 to 1.1M</c:v>
                </c:pt>
                <c:pt idx="9">
                  <c:v>B8  Siting budgets   $0.5 to 0.8M</c:v>
                </c:pt>
                <c:pt idx="10">
                  <c:v>B5  Disconnects and PTs carried twice   $0.4M</c:v>
                </c:pt>
                <c:pt idx="11">
                  <c:v>B6  GSU install hours   $0.3 to 0.3M</c:v>
                </c:pt>
                <c:pt idx="12">
                  <c:v>B7  Switchyard lighting   $0.2 to 0.3M</c:v>
                </c:pt>
                <c:pt idx="13">
                  <c:v>C1  Section 48E credit (30%)   $8.4 to 12.4M</c:v>
                </c:pt>
                <c:pt idx="14">
                  <c:v>C2  Energy-community adder (+10 pts)   $2.8 to 4.1M</c:v>
                </c:pt>
                <c:pt idx="15">
                  <c:v>C3  AFUDC: battery payment timing   $0.3 to 0.7M</c:v>
                </c:pt>
              </c:strCache>
            </c:strRef>
          </c:cat>
          <c:val>
            <c:numRef>
              <c:f>Sheet1!$B$2:$B$17</c:f>
              <c:numCache>
                <c:formatCode>General</c:formatCode>
                <c:ptCount val="16"/>
                <c:pt idx="0">
                  <c:v>1.05</c:v>
                </c:pt>
                <c:pt idx="1">
                  <c:v>1.26</c:v>
                </c:pt>
                <c:pt idx="2">
                  <c:v>1.63</c:v>
                </c:pt>
                <c:pt idx="3">
                  <c:v>0.86</c:v>
                </c:pt>
                <c:pt idx="4">
                  <c:v>0.22</c:v>
                </c:pt>
                <c:pt idx="5">
                  <c:v>1.36</c:v>
                </c:pt>
                <c:pt idx="6">
                  <c:v>1.07</c:v>
                </c:pt>
                <c:pt idx="7">
                  <c:v>0.43</c:v>
                </c:pt>
                <c:pt idx="8">
                  <c:v>0.71</c:v>
                </c:pt>
                <c:pt idx="9">
                  <c:v>0.51</c:v>
                </c:pt>
                <c:pt idx="10">
                  <c:v>0.37</c:v>
                </c:pt>
                <c:pt idx="11">
                  <c:v>0.26</c:v>
                </c:pt>
                <c:pt idx="12">
                  <c:v>0.23</c:v>
                </c:pt>
                <c:pt idx="13">
                  <c:v>8.42</c:v>
                </c:pt>
                <c:pt idx="14">
                  <c:v>2.81</c:v>
                </c:pt>
                <c:pt idx="15">
                  <c:v>0.34</c:v>
                </c:pt>
              </c:numCache>
            </c:numRef>
          </c:val>
        </c:ser>
        <c:ser>
          <c:idx val="1"/>
          <c:order val="1"/>
          <c:tx>
            <c:strRef>
              <c:f>Sheet1!$C$1</c:f>
              <c:strCache>
                <c:ptCount val="1"/>
                <c:pt idx="0">
                  <c:v>range</c:v>
                </c:pt>
              </c:strCache>
            </c:strRef>
          </c:tx>
          <c:dPt>
            <c:idx val="0"/>
            <c:spPr>
              <a:solidFill>
                <a:srgbClr val="2A8A8C"/>
              </a:solidFill>
            </c:spPr>
          </c:dPt>
          <c:dPt>
            <c:idx val="1"/>
            <c:spPr>
              <a:solidFill>
                <a:srgbClr val="2A8A8C"/>
              </a:solidFill>
            </c:spPr>
          </c:dPt>
          <c:dPt>
            <c:idx val="2"/>
            <c:spPr>
              <a:solidFill>
                <a:srgbClr val="2A8A8C"/>
              </a:solidFill>
            </c:spPr>
          </c:dPt>
          <c:dPt>
            <c:idx val="3"/>
            <c:spPr>
              <a:solidFill>
                <a:srgbClr val="2A8A8C"/>
              </a:solidFill>
            </c:spPr>
          </c:dPt>
          <c:dPt>
            <c:idx val="4"/>
            <c:spPr>
              <a:solidFill>
                <a:srgbClr val="2A8A8C"/>
              </a:solidFill>
            </c:spPr>
          </c:dPt>
          <c:dPt>
            <c:idx val="5"/>
            <c:spPr>
              <a:solidFill>
                <a:srgbClr val="001E60"/>
              </a:solidFill>
            </c:spPr>
          </c:dPt>
          <c:dPt>
            <c:idx val="6"/>
            <c:spPr>
              <a:solidFill>
                <a:srgbClr val="001E60"/>
              </a:solidFill>
            </c:spPr>
          </c:dPt>
          <c:dPt>
            <c:idx val="7"/>
            <c:spPr>
              <a:solidFill>
                <a:srgbClr val="001E60"/>
              </a:solidFill>
            </c:spPr>
          </c:dPt>
          <c:dPt>
            <c:idx val="8"/>
            <c:spPr>
              <a:solidFill>
                <a:srgbClr val="001E60"/>
              </a:solidFill>
            </c:spPr>
          </c:dPt>
          <c:dPt>
            <c:idx val="9"/>
            <c:spPr>
              <a:solidFill>
                <a:srgbClr val="001E60"/>
              </a:solidFill>
            </c:spPr>
          </c:dPt>
          <c:dPt>
            <c:idx val="10"/>
            <c:spPr>
              <a:solidFill>
                <a:srgbClr val="001E60"/>
              </a:solidFill>
            </c:spPr>
          </c:dPt>
          <c:dPt>
            <c:idx val="11"/>
            <c:spPr>
              <a:solidFill>
                <a:srgbClr val="001E60"/>
              </a:solidFill>
            </c:spPr>
          </c:dPt>
          <c:dPt>
            <c:idx val="12"/>
            <c:spPr>
              <a:solidFill>
                <a:srgbClr val="001E60"/>
              </a:solidFill>
            </c:spPr>
          </c:dPt>
          <c:dPt>
            <c:idx val="13"/>
            <c:spPr>
              <a:solidFill>
                <a:srgbClr val="6E1F2E"/>
              </a:solidFill>
            </c:spPr>
          </c:dPt>
          <c:dPt>
            <c:idx val="14"/>
            <c:spPr>
              <a:solidFill>
                <a:srgbClr val="6E1F2E"/>
              </a:solidFill>
            </c:spPr>
          </c:dPt>
          <c:dPt>
            <c:idx val="15"/>
            <c:spPr>
              <a:solidFill>
                <a:srgbClr val="6E1F2E"/>
              </a:solidFill>
            </c:spPr>
          </c:dPt>
          <c:cat>
            <c:strRef>
              <c:f>Sheet1!$A$2:$A$17</c:f>
              <c:strCache>
                <c:ptCount val="16"/>
                <c:pt idx="0">
                  <c:v>A4  E&amp;S overhead on the vendor contract   $1.0 to 2.1M</c:v>
                </c:pt>
                <c:pt idx="1">
                  <c:v>A2  Risk lines that duplicate escalation   $1.3 to 1.8M</c:v>
                </c:pt>
                <c:pt idx="2">
                  <c:v>A1  Escalation on the fixed-price battery   $1.6M</c:v>
                </c:pt>
                <c:pt idx="3">
                  <c:v>A3  Haugland design-basis deducts   $0.9 to 1.2M</c:v>
                </c:pt>
                <c:pt idx="4">
                  <c:v>A5  Commissioning overlap with Nomad   $0.2 to 0.5M</c:v>
                </c:pt>
                <c:pt idx="5">
                  <c:v>B2  Interconnection topology (feeders)   $1.4 to 1.9M</c:v>
                </c:pt>
                <c:pt idx="6">
                  <c:v>B1  Station 496 relay program   $1.1 to 1.5M</c:v>
                </c:pt>
                <c:pt idx="7">
                  <c:v>B3  Platform and wall after geotech   $0.4 to 1.2M</c:v>
                </c:pt>
                <c:pt idx="8">
                  <c:v>B4  Battery install crew build-up   $0.7 to 1.1M</c:v>
                </c:pt>
                <c:pt idx="9">
                  <c:v>B8  Siting budgets   $0.5 to 0.8M</c:v>
                </c:pt>
                <c:pt idx="10">
                  <c:v>B5  Disconnects and PTs carried twice   $0.4M</c:v>
                </c:pt>
                <c:pt idx="11">
                  <c:v>B6  GSU install hours   $0.3 to 0.3M</c:v>
                </c:pt>
                <c:pt idx="12">
                  <c:v>B7  Switchyard lighting   $0.2 to 0.3M</c:v>
                </c:pt>
                <c:pt idx="13">
                  <c:v>C1  Section 48E credit (30%)   $8.4 to 12.4M</c:v>
                </c:pt>
                <c:pt idx="14">
                  <c:v>C2  Energy-community adder (+10 pts)   $2.8 to 4.1M</c:v>
                </c:pt>
                <c:pt idx="15">
                  <c:v>C3  AFUDC: battery payment timing   $0.3 to 0.7M</c:v>
                </c:pt>
              </c:strCache>
            </c:strRef>
          </c:cat>
          <c:val>
            <c:numRef>
              <c:f>Sheet1!$C$2:$C$17</c:f>
              <c:numCache>
                <c:formatCode>General</c:formatCode>
                <c:ptCount val="16"/>
                <c:pt idx="0">
                  <c:v>1.05</c:v>
                </c:pt>
                <c:pt idx="1">
                  <c:v>0.51</c:v>
                </c:pt>
                <c:pt idx="2">
                  <c:v>0.08</c:v>
                </c:pt>
                <c:pt idx="3">
                  <c:v>0.29</c:v>
                </c:pt>
                <c:pt idx="4">
                  <c:v>0.29</c:v>
                </c:pt>
                <c:pt idx="5">
                  <c:v>0.58</c:v>
                </c:pt>
                <c:pt idx="6">
                  <c:v>0.46</c:v>
                </c:pt>
                <c:pt idx="7">
                  <c:v>0.72</c:v>
                </c:pt>
                <c:pt idx="8">
                  <c:v>0.36</c:v>
                </c:pt>
                <c:pt idx="9">
                  <c:v>0.29</c:v>
                </c:pt>
                <c:pt idx="10">
                  <c:v>0.08</c:v>
                </c:pt>
                <c:pt idx="11">
                  <c:v>0.08</c:v>
                </c:pt>
                <c:pt idx="12">
                  <c:v>0.07</c:v>
                </c:pt>
                <c:pt idx="13">
                  <c:v>3.94</c:v>
                </c:pt>
                <c:pt idx="14">
                  <c:v>1.31</c:v>
                </c:pt>
                <c:pt idx="15">
                  <c:v>0.34</c:v>
                </c:pt>
              </c:numCache>
            </c:numRef>
          </c:val>
        </c:ser>
        <c:gapWidth val="40"/>
        <c:overlap val="10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800"/>
            </a:pPr>
          </a:p>
        </c:txPr>
        <c:crossAx val="-2113994440"/>
        <c:crosses val="autoZero"/>
        <c:auto val="1"/>
        <c:lblAlgn val="ctr"/>
        <c:lblOffset val="100"/>
        <c:noMultiLvlLbl val="0"/>
      </c:catAx>
      <c:valAx>
        <c:axId val="-2113994440"/>
        <c:scaling>
          <c:max val="14.0"/>
          <c:min val="0.0"/>
        </c:scaling>
        <c:delete val="0"/>
        <c:axPos val="b"/>
        <c:majorGridlines>
          <c:spPr>
            <a:ln>
              <a:solidFill>
                <a:srgbClr val="C9D1E0"/>
              </a:solidFill>
            </a:ln>
          </c:spPr>
        </c:majorGridlines>
        <c:numFmt formatCode="&quot;$&quot;0&quot;M&quot;" sourceLinked="0"/>
        <c:majorTickMark val="out"/>
        <c:minorTickMark val="none"/>
        <c:tickLblPos val="nextTo"/>
        <c:txPr>
          <a:bodyPr/>
          <a:lstStyle/>
          <a:p>
            <a:pPr>
              <a:defRPr sz="850"/>
            </a:pPr>
          </a:p>
        </c:txPr>
        <c:crossAx val="-2068027336"/>
        <c:crosses val="autoZero"/>
        <c:majorUnit val="2.0"/>
      </c:valAx>
    </c:plotArea>
    <c:dispBlanksAs val="gap"/>
  </c:chart>
  <c:txPr>
    <a:bodyPr/>
    <a:lstStyle/>
    <a:p>
      <a:pPr>
        <a:defRPr sz="900">
          <a:solidFill>
            <a:srgbClr val="1F2A44"/>
          </a:solidFill>
          <a:latin typeface="Calibri"/>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low</c:v>
                </c:pt>
              </c:strCache>
            </c:strRef>
          </c:tx>
          <c:spPr>
            <a:noFill/>
            <a:ln>
              <a:noFill/>
            </a:ln>
          </c:spPr>
          <c:cat>
            <c:strRef>
              <c:f>Sheet1!$A$2:$A$5</c:f>
              <c:strCache>
                <c:ptCount val="4"/>
                <c:pt idx="0">
                  <c:v>Rev 3 as estimated   $57.2M</c:v>
                </c:pt>
                <c:pt idx="1">
                  <c:v>Contained: decisions only   $50.7 to 52.6M</c:v>
                </c:pt>
                <c:pt idx="2">
                  <c:v>Re-scoped after studies   $42.4 to 47.3M</c:v>
                </c:pt>
                <c:pt idx="3">
                  <c:v>Re-scoped + exposures + Haugland   $48.1 to 58.5M</c:v>
                </c:pt>
              </c:strCache>
            </c:strRef>
          </c:cat>
          <c:val>
            <c:numRef>
              <c:f>Sheet1!$B$2:$B$5</c:f>
              <c:numCache>
                <c:formatCode>General</c:formatCode>
                <c:ptCount val="4"/>
                <c:pt idx="0">
                  <c:v>57.2</c:v>
                </c:pt>
                <c:pt idx="1">
                  <c:v>50.7</c:v>
                </c:pt>
                <c:pt idx="2">
                  <c:v>42.4</c:v>
                </c:pt>
                <c:pt idx="3">
                  <c:v>48.1</c:v>
                </c:pt>
              </c:numCache>
            </c:numRef>
          </c:val>
        </c:ser>
        <c:ser>
          <c:idx val="1"/>
          <c:order val="1"/>
          <c:tx>
            <c:strRef>
              <c:f>Sheet1!$C$1</c:f>
              <c:strCache>
                <c:ptCount val="1"/>
                <c:pt idx="0">
                  <c:v>range</c:v>
                </c:pt>
              </c:strCache>
            </c:strRef>
          </c:tx>
          <c:dPt>
            <c:idx val="0"/>
            <c:spPr>
              <a:solidFill>
                <a:srgbClr val="001E60"/>
              </a:solidFill>
            </c:spPr>
          </c:dPt>
          <c:dPt>
            <c:idx val="1"/>
            <c:spPr>
              <a:solidFill>
                <a:srgbClr val="2A8A8C"/>
              </a:solidFill>
            </c:spPr>
          </c:dPt>
          <c:dPt>
            <c:idx val="2"/>
            <c:spPr>
              <a:solidFill>
                <a:srgbClr val="2A8A8C"/>
              </a:solidFill>
            </c:spPr>
          </c:dPt>
          <c:dPt>
            <c:idx val="3"/>
            <c:spPr>
              <a:solidFill>
                <a:srgbClr val="6E1F2E"/>
              </a:solidFill>
            </c:spPr>
          </c:dPt>
          <c:cat>
            <c:strRef>
              <c:f>Sheet1!$A$2:$A$5</c:f>
              <c:strCache>
                <c:ptCount val="4"/>
                <c:pt idx="0">
                  <c:v>Rev 3 as estimated   $57.2M</c:v>
                </c:pt>
                <c:pt idx="1">
                  <c:v>Contained: decisions only   $50.7 to 52.6M</c:v>
                </c:pt>
                <c:pt idx="2">
                  <c:v>Re-scoped after studies   $42.4 to 47.3M</c:v>
                </c:pt>
                <c:pt idx="3">
                  <c:v>Re-scoped + exposures + Haugland   $48.1 to 58.5M</c:v>
                </c:pt>
              </c:strCache>
            </c:strRef>
          </c:cat>
          <c:val>
            <c:numRef>
              <c:f>Sheet1!$C$2:$C$5</c:f>
              <c:numCache>
                <c:formatCode>General</c:formatCode>
                <c:ptCount val="4"/>
                <c:pt idx="0">
                  <c:v>0.3</c:v>
                </c:pt>
                <c:pt idx="1">
                  <c:v>1.9</c:v>
                </c:pt>
                <c:pt idx="2">
                  <c:v>4.9</c:v>
                </c:pt>
                <c:pt idx="3">
                  <c:v>10.4</c:v>
                </c:pt>
              </c:numCache>
            </c:numRef>
          </c:val>
        </c:ser>
        <c:gapWidth val="50"/>
        <c:overlap val="10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950"/>
            </a:pPr>
          </a:p>
        </c:txPr>
        <c:crossAx val="-2113994440"/>
        <c:crosses val="autoZero"/>
        <c:auto val="1"/>
        <c:lblAlgn val="ctr"/>
        <c:lblOffset val="100"/>
        <c:noMultiLvlLbl val="0"/>
      </c:catAx>
      <c:valAx>
        <c:axId val="-2113994440"/>
        <c:scaling>
          <c:max val="60.0"/>
          <c:min val="35.0"/>
        </c:scaling>
        <c:delete val="0"/>
        <c:axPos val="b"/>
        <c:majorGridlines>
          <c:spPr>
            <a:ln>
              <a:solidFill>
                <a:srgbClr val="C9D1E0"/>
              </a:solidFill>
            </a:ln>
          </c:spPr>
        </c:majorGridlines>
        <c:numFmt formatCode="&quot;$&quot;0&quot;M&quot;" sourceLinked="0"/>
        <c:majorTickMark val="out"/>
        <c:minorTickMark val="none"/>
        <c:tickLblPos val="nextTo"/>
        <c:txPr>
          <a:bodyPr/>
          <a:lstStyle/>
          <a:p>
            <a:pPr>
              <a:defRPr sz="900"/>
            </a:pPr>
          </a:p>
        </c:txPr>
        <c:crossAx val="-2068027336"/>
        <c:crosses val="autoZero"/>
        <c:majorUnit val="5.0"/>
      </c:valAx>
    </c:plotArea>
    <c:dispBlanksAs val="gap"/>
  </c:chart>
  <c:txPr>
    <a:bodyPr/>
    <a:lstStyle/>
    <a:p>
      <a:pPr>
        <a:defRPr sz="950">
          <a:solidFill>
            <a:srgbClr val="1F2A44"/>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promise, not a joke. The one sentence the audience should be able to repeat afterwards: the battery is 21 percent of the project, and the other 79 percent is what it takes to put a battery on a landfill in Boston and connect it to four feeders safely.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numbers. Vendor contract, approval level, share. Everything after this slide is proof. CORE PATH for a 25-minute slot: slides 1, 2, 3, 6, 4, 7, 8, 9, 10, 12, 20, 24, 27, 32, 36, 37, 41. Everything else is reachable from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vendor is not wrong. Their number is a real number for what they sell. It is simply not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left to right. The battery contract is the first bar. Everything to its right is the utility's 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loaded view is the honest comparison basis. When someone quotes an all-in industry $/kWh, it already carries developer overhead and financing; ours carries indirects and AFUDC.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ends the argument. The multiple between the vendor line and the approval level is 4.7x, and each step between them is a named scope.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facilities that make a battery a grid asset. A vendor's job ends at the container terminals.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AFUDC is the cost of a seven-year development window. Every month of siting delay adds to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Benchmarks were retrieved from search-index excerpts of the primary sources because the sandbox proxy blocked direct downloads; each row carries a confidence tag and a URL. Before this slide is used externally, pull the NREL ATB 2025 workbook 2-h values, the Lazard v11 capex input table and the PNNL 10 MW rows directly.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to 'is there a battery curve': yes, and the Nomad price lands on it. The curve is for four-hour, 60 to 150 MW systems in real dollars; our system is two-hour and 10 MW in nominal dollars, which is why the raw comparison looks unfavorable and the adjusted one does not. Sources: EIA Today in Energy #45596 (2015-2018 $/kWh); BNEF Energy Storage System Cost Surveys 2022-2025 (bnef.com/insights/30443, 33081, 35543, 38229); NREL Cole et al. 2025 Update (NREL/TP-6A40-93281); Anza and ESS News for the 2026 tariff and lithium moves. Duration factor from NREL's cost structure; size factor from the Appendix B regression.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to 'escalation to be included': it is, at $2.95M on the ESF Overview tab (Sta 360 $2,622,100; Sta 496 $326,100), inside the directs at the template rates. The slide shows what it is applied to, which part of it is contestable ($1.13M on the fixed-price battery balance), and what the comparison looks like once both sides are in the same dollar year. The ex-escalation column removes the station escalation from the direct boundaries; the allocation of the non-battery escalation to B+C is pro rata to direct cost and approximate. The 2028 benchmark column compounds each published figure at 3% from its dollar year; the 2-h and 10 MW adjustment is the same one used on the curve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class redefined on 2 Oct 2026 at the reviewer's request: every project at or below 100 MWh with an all-in disclosed cost, any owner; and on 5 Oct 2026 restricted to projects verified as operating (status audit: 27 of 81 dataset rows were planned, under development, under construction or cancelled and are out; the pre-audit class is kept in the workbook). Within the class, 14 members have a final or actual cost on record (median $756); the rest are built projects whose public figure is a contract price, approved budget or announcement. 35 members (25 utility-owned, 10 developer-owned); utility-only subclass of 25 kept in the workbook for continuity (median $1,235). Model (revised 5 Oct 2026 after the review challenge that 2016-2018 batteries were far dearer): fixed quantities, not fixed shares. C(y) = s0 x I(y)/I(2024) + (1 - s0) x HW(y)/HW(2024) with s0 the 2024 battery share (0.40 utility-owned, 0.55 developer-owned); cost_2026 = cost_y x C(2026)/C(y). The battery share of a project in its own year is s0 x I(y)/I(2024) / C(y): 73% in 2016, 56% in 2018, 40% in 2024. I = the battery index in the row (installed: EIA 2015-2022 annual figure data, LBNL 2024), HW = Handy-Whitman North Atlantic production-plant index (700 in 2015, 745 in 2018, 1,112 in 2026; PJM posting). The earlier fixed-share version (today's 40% applied to every year) gave a median of $838 and is kept in the workbook for the record. Caveat on the installed series: EIA's 2022 point ($396, a sample dominated by large four-hour hybrids) sits below LBNL's 2024 point ($458, a different population), so 2022-vintage members re-base about 15% dearer while 2021 members re-base slightly cheaper; the splice is as published and is flagged in the memo. Naive whole-cost deflation at the battery rate: $549 (installed), $517 (pack). Sources on the workbook tab '2026$ Adjustment' and in the research log.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to the review comment that New York has built many more of these (NineDot Energy). Sources: NYCIDA public hearing notices and inducement resolutions (edc.nyc, Mar-Apr 2024) for the Arthur Kill Road, Victory Boulevard and Maspeth project costs; NineDot and Natixis releases (Feb 2026) for the 28-project financing; NYSERDA 6 GW Energy Storage Roadmap (Dec 2022) for the retail program averages; Utility Dive and the NY-BEST/NYSEIA filing in Case 24-E-0621 for the interconnection figures; existing dataset rows for Pomona, Ozone Park and Chateaugay. The NY cohort is 2021-2027 dollars and is not re-based (2025 to 2026 at the installed index is +2%). Developer-owned rows carry developer overhead and profit but not utility indirects or AFUDC. Thirteen NYCIDA-costed New York City sites are in the regression dataset and the reference class (2 Oct 2026 research pass); the financing floor and the NYSERDA averages are not project costs and are not. Appendix B carries the re-run regression.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Catalog of the curves a reviewer might cite, with each series divided by its own 2018 value so they can share one axis (turnkey and NREL have no 2018 point and are held at their first published value, so their 2018 ratio understates their decline). Pack 2014-2025 from the BNEF releases as published; turnkey 2021-2025; NREL 2022 and 2024 base years; EIA 2015-2018 and LBNL 2024; Lazard LCOS unsubsidized 100 MW 4-h range midpoints v5.0 to 2026; Handy-Whitman North Atlantic production-plant index from the PJM posting. Sources and confidence tags in indices.json and the research log.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answer to 'what do the different curves do'. Three levers in order of leverage: (1) the non-battery escalator, because 60% of a comparable is station, civil, labor and interconnection and Handy-Whitman says that cost rose half again since 2018; (2) the battery share, which nobody discloses per project; (3) the battery curve itself, where the five published series agree within 4% on the class median once the share is fixed. The ratios in the table: pack 0.61, turnkey 0.49 (2021 base), NREL 0.69 (2022 base), installed 0.73, LCOS 1.03, Handy-Whitman 1.49. Revised 5 Oct 2026: factors now hold quantities fixed (C(2026)/C(y) with 2024 anchor shares), so a 2016 project comes to 2026 at 0.6 to 0.8x and a 2018 project at about 1.0 to 1.1x, instead of 1.1 to 1.2x for every year under the earlier fixed-share form. The anchor share remains the lever nobody discloses; the sensitivities on the chart are anchor shares of 30, 40 and 50%.</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Companion to the catalog slide. Anchor battery share 40% for utility-owned and 55% for developer-owned members, back-cast to each project's own year with quantities held fixed (revised 5 Oct 2026); the Handy-Whitman index escalates the non-battery remainder except in the last column, which applies the battery ratio to the whole cost. Utility subclass = the members owned by investor-owned, municipal, cooperative, state or crown utilities. Workbook tab '2026$ Adjustment' reproduces every cell with an index selector.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Narrative 1, step 1. The two-component model on slides 12 and 14 to 16 uses one battery index and one construction index. This slide replaces the construction index with the published series that fits each layer: ECI construction compensation for labor-driven layers (B, G), the IBEW Local 103 journeyman rate for the labor-driven layers (B, F, G), the BLS producer price index for power and distribution transformers (C), the PPI for switchgear (D), the ENR Construction Cost Index for civil (E) and the PPI for engineering services (H). Weights are the Rev 3 loaded layers A to I. Factors for a 2018 project: composite 1.040, two-component 1.064, naive battery 0.733, Handy-Whitman only 1.493; for 2016: composite 0.676. Revised 5 Oct 2026: the composite now holds physical quantities fixed (1 over the weighted sum of inverse ratios), which is the Laspeyres form; the earlier arithmetic form applied today's dollar shares to yesterday's prices and gave 1.172 for 2018 and 1.076 for 2016. Series values retrieved from search excerpts of the publishers' releases and tagged in indices_layers.json; fetch_indices.py pulls the same series from the FRED and BLS APIs once the environment allows those hosts. Verify before external use.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Narrative 1, step 2. The same built-project class under seven re-basing methods. The developer composition is the NREL/PNNL component structure of a merchant 4-h project (battery, PCS and BOS, labor, civil, transformer, soft costs, interconnection); the Hyde Park composition is the Rev 3 loaded layers. The layer-level methods and the two-component model agree within about one percent on the class median because the non-battery escalators cluster between 1.26x and 1.67x since 2018 and the battery is the only layer that fell. The naive method (whole cost at the battery rate) is the only one that moves Hyde Park's percentile materially, and it is the one that cannot be defended. Revised 5 Oct 2026 after the review challenge on slide 12: every method now holds physical quantities fixed, so the battery share of an older project is back-cast from the indices rather than set at today's value; the superseded fixed-share row is kept for the record. Workbook tab '2026$ Adjustment' holds the index selector; the layer series are in indices_layers.json.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None of these six is optional and none of them is the battery.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story is not that batteries got expensive. The battery got cheaper. The project got more real.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Materials up 2.9, testing up 2.0, siting up 1.4, risk up 2.1, AFUDC up 1.7. Those five are 10.1 of the 13.3.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walk is in the email record. It matters because the full-funding placeholder of $43.9M was never touched between December 2023 and August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lesson from 2023: a low bid with exclusions is not a low project. The lesson from 2026: the vendor price is defensible. It is the boundary that moved.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Steelman first: the battery is contracted, every dollar has a name, the direct cost is inside the reference class. These three are what an outside reviewer will find if we do not.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combination case is the one to plan against. It is not exotic: it is the HEG gap plus one missed siting season.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indicators, none of them expensive to watch. Three of them have no owner today.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Narrative 2. Every item is sized from the Rev 3 rows (savings_model.py, savings.json). Tier A items change the estimate without changing scope: A1 is the escalation on a fixed price; A2 re-words two risk lines that describe escalation; A3 the Haugland deducts net of what Rev 3 already carries; A4 is a policy question on whether the E&amp;S station overhead basis should load a vendor-furnished, vendor-commissioned contract; A5 overlapping commissioning hours. Tier B needs a study or a design decision: the Station 496 relay program at 710 man-hours and $363K per relay; the five-feeder interconnection topology; platform and wall after geotech; battery installation labor from a crew build-up; the breaker package price. Tier C is financial: the Section 48E credit, the energy-community adder, and AFUDC timing. The red team's finding that construction may be low (Haugland $19.2M vs $8.3M direct) stands; Tier A and B are not net of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Floating bars show the low-to-high loaded range per lever; colors are the tiers. The table at right puts Tiers A and B beside the red team's KS1 gap so the audience sees that the two roughly cancel. Tier C is a revenue-requirement effect and is kept off the $57.2M waterfall on purpose.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Tier C1 and C2 from the savings register. Assumptions: 30% base rate with prevailing wage and apprenticeship; eligible basis bracketed by the loaded battery layers (A+B+C) and by those plus station, site and testing (D, E, G); interconnection property excluded because the project exceeds 5 MW AC; energy-community adder shown separately and not assumed. The Section 48E storage credit survived the July 2025 reconciliation law for projects placed in service in the window, with prohibited-foreign-entity restrictions phased in by begin-construction date; the IRA added an election out of normalization for energy storage credits. All of this is to be confirmed by Tax; the research pass of 3 Oct 2026 is logged in the research log with confidence tags.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challenge requested 5 Oct 2026. Every row cites its Rev 3 line. Pink rows are exposures the estimate does not carry. Evidence: Fitzgerald email 12 Aug 2026 (Siemens $300K per skid including disconnects, PTs, relays, cabinets and DC battery; disconnects and PTs on the skid; sound mitigation dropped to 'carry as risk'); Herman email 9 Sep 2026 ('GSU transformers (12)'); constructability review 4-6 Aug 2026 (screening likely required, sound study to come, Article 80 and zoning variance); Rev 3 line notes ('Located on breaker skid'). Civil unit rates: cut and re-place $181/CY, surfacing $100/sy, drive $420/lf, borings $10K each, on a placeholder platform; the Haugland reconciliation decides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Continuation. Station 496: 20 relays, $91K of hardware, 14,200 man-hours of install and test, $1.46M of E&amp;S basis, a $157K siting application for work inside an existing fence. Testing hours for Station 360 were set in E-23-373 before Nomad's commissioning scope existed. Siting external $1.05M against a typical Article 80 small-project budget. The loaders (risk register, indirects, AFUDC) are the savings-register items A2, A4 and C3.</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Cases from scope_challenge.py. Contained = Rev 3 less the decision-only items (battery escalation A1, risk-register wording A2, overhead basis A4, AFUDC timing C3, disconnect double count B5) at the marginal loader. Re-scoped = Rev 3 less every reduction in the register, including the two-feeder topology counted once. Net = re-scoped plus the exposures (sound mitigation, screening, police details, NFPA 855 analysis, GSU count) plus the Haugland gap at $4M to $8M. All ranges are loaded at 1.44; Tier C (the credit) is a revenue-requirement effect and stays off the bars.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Design-to-cost: the target is set at a defensible external reference (the reference-class 75th percentile for station-direct cost, about $1,250 per kWh) rather than at an arbitrary cut, so the project can explain to a regulator why it stopped where it stopped. The gates are tied to the documents the red team and the estimating review already said were missing: geotech, NFPA 855 analysis, hosting capacity, GSU count, the Haugland scope map. Competitive lump-sum pricing converts the unit-library construction estimate into a bid, which is the only way to retire the +25% construction stress test.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ranking answers 'what should we be more aggressive on'. It is ordered by leverage on the outcome, not by the size of the line: the Haugland reconciliation and the siting schedule are not estimate lines, but they carry 72% of the variance between them, and no amount of value engineering on the station offsets a reconciliation that moves the construction base by $5M. Items 3 to 8 are the levers in order of expected value and controllability. Probabilities of realization per lever are in the model file and are judgments: A1 0.8, A2 0.7, B5 0.9, B4 0.6, B1 0.5, C3 0.5, A5 0.5, B3 0.4, B8 0.4, B2 0.35, A4 0.3.</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the approval level less its reserves ($49.6M) plus estimate-accuracy ranges by layer (PERT, as in the red-team Monte Carlo, loaded at 1.44), plus threats not in the estimate (Haugland reconciliation at 60% odds and +$2M to +$8M direct; sound mitigation, screening, police details, NFPA 855 changes, the GSU count, Nomad change orders, outage premiums), plus schedule cost (siting slip at 50% odds of 2 to 14 months, 8% EFSB path of 18 to 24 months, 30% odds of 2 to 6 months on long-lead equipment, construction variance; $0.30M to $0.45M per month), less the levers from the savings register at their assessed odds of realization. Compared to the $57.2M approval, which includes the $7.6M of reserves. Status quo pursues no lever; managed pursues all at assessed odds; ceiling realizes every lever at its mid value. The battery contract is fixed and not varied except through change orders.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bar is the P10 to P90 range of the driver's own contribution to the managed total, with the mean marked; opportunity bars are negative because they reduce the total and their P90 is zero when the lever is not realized. Accuracy bars are two-sided. Variance shares from Spearman rank correlation of each driver with the managed outcome. Chart file mc_scope_tornado.png; data in mc_scope_results.json.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the red team. The first two items are the ones that can move the number by more than the whole reserve; the rest are hygiene.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Mirror the open. Leave this slide up for questions. Do not add a Questions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5.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6.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0515600" cy="1463040"/>
          </a:xfrm>
          <a:prstGeom prst="rect">
            <a:avLst/>
          </a:prstGeom>
          <a:noFill/>
        </p:spPr>
        <p:txBody>
          <a:bodyPr wrap="square" lIns="45720" rIns="45720" tIns="27432" bIns="27432" anchor="t">
            <a:spAutoFit/>
          </a:bodyPr>
          <a:lstStyle/>
          <a:p>
            <a:pPr algn="l">
              <a:lnSpc>
                <a:spcPct val="105000"/>
              </a:lnSpc>
              <a:spcAft>
                <a:spcPts val="400"/>
              </a:spcAft>
            </a:pPr>
            <a:r>
              <a:rPr sz="4400" b="1" i="0">
                <a:solidFill>
                  <a:srgbClr val="FFFFFF"/>
                </a:solidFill>
                <a:latin typeface="Georgia"/>
              </a:rPr>
              <a:t>A $12 million battery. A $57 million project.</a:t>
            </a:r>
          </a:p>
        </p:txBody>
      </p:sp>
      <p:sp>
        <p:nvSpPr>
          <p:cNvPr id="4" name="TextBox 3"/>
          <p:cNvSpPr txBox="1"/>
          <p:nvPr/>
        </p:nvSpPr>
        <p:spPr>
          <a:xfrm>
            <a:off x="731520" y="3246120"/>
            <a:ext cx="10515600" cy="1097280"/>
          </a:xfrm>
          <a:prstGeom prst="rect">
            <a:avLst/>
          </a:prstGeom>
          <a:noFill/>
        </p:spPr>
        <p:txBody>
          <a:bodyPr wrap="square" lIns="45720" rIns="45720" tIns="27432" bIns="27432" anchor="t">
            <a:spAutoFit/>
          </a:bodyPr>
          <a:lstStyle/>
          <a:p>
            <a:pPr algn="l">
              <a:lnSpc>
                <a:spcPct val="105000"/>
              </a:lnSpc>
              <a:spcAft>
                <a:spcPts val="400"/>
              </a:spcAft>
            </a:pPr>
            <a:r>
              <a:rPr sz="2000" b="0" i="0">
                <a:solidFill>
                  <a:srgbClr val="C9D1E0"/>
                </a:solidFill>
                <a:latin typeface="Calibri"/>
              </a:rPr>
              <a:t>Hyde Park BESS (Project 21334): where the cost of a utility-owned, distribution-connected battery storage station actually sits, and how it compares to industry benchmarks</a:t>
            </a:r>
          </a:p>
        </p:txBody>
      </p:sp>
      <p:sp>
        <p:nvSpPr>
          <p:cNvPr id="5" name="TextBox 4"/>
          <p:cNvSpPr txBox="1"/>
          <p:nvPr/>
        </p:nvSpPr>
        <p:spPr>
          <a:xfrm>
            <a:off x="731520" y="5029200"/>
            <a:ext cx="10515600" cy="411480"/>
          </a:xfrm>
          <a:prstGeom prst="rect">
            <a:avLst/>
          </a:prstGeom>
          <a:noFill/>
        </p:spPr>
        <p:txBody>
          <a:bodyPr wrap="square" lIns="45720" rIns="45720" tIns="27432" bIns="27432" anchor="t">
            <a:spAutoFit/>
          </a:bodyPr>
          <a:lstStyle/>
          <a:p>
            <a:pPr algn="l">
              <a:lnSpc>
                <a:spcPct val="105000"/>
              </a:lnSpc>
              <a:spcAft>
                <a:spcPts val="400"/>
              </a:spcAft>
            </a:pPr>
            <a:r>
              <a:rPr sz="1400" b="0" i="0">
                <a:solidFill>
                  <a:srgbClr val="FFC72C"/>
                </a:solidFill>
                <a:latin typeface="Calibri"/>
              </a:rPr>
              <a:t>Cost Estimating Center of Excellence  |  Estimate basis: ESF Total Rev 3, 24 Sep 2026  |  5 Oct 2026</a:t>
            </a:r>
          </a:p>
        </p:txBody>
      </p:sp>
      <p:sp>
        <p:nvSpPr>
          <p:cNvPr id="6" name="TextBox 5"/>
          <p:cNvSpPr txBox="1"/>
          <p:nvPr/>
        </p:nvSpPr>
        <p:spPr>
          <a:xfrm>
            <a:off x="731520" y="5532120"/>
            <a:ext cx="10515600" cy="365760"/>
          </a:xfrm>
          <a:prstGeom prst="rect">
            <a:avLst/>
          </a:prstGeom>
          <a:noFill/>
        </p:spPr>
        <p:txBody>
          <a:bodyPr wrap="square" lIns="45720" rIns="45720" tIns="27432" bIns="27432" anchor="t">
            <a:spAutoFit/>
          </a:bodyPr>
          <a:lstStyle/>
          <a:p>
            <a:pPr algn="l">
              <a:lnSpc>
                <a:spcPct val="105000"/>
              </a:lnSpc>
              <a:spcAft>
                <a:spcPts val="400"/>
              </a:spcAft>
            </a:pPr>
            <a:r>
              <a:rPr sz="1200" b="0" i="0">
                <a:solidFill>
                  <a:srgbClr val="C9D1E0"/>
                </a:solidFill>
                <a:latin typeface="Calibri"/>
              </a:rPr>
              <a:t>Internal. Contains vendor-confidential pricing.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THE PROMISE</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By the end of this deck you can answer one question in one breath</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a:t>
            </a:r>
          </a:p>
        </p:txBody>
      </p:sp>
      <p:sp>
        <p:nvSpPr>
          <p:cNvPr id="7" name="TextBox 6"/>
          <p:cNvSpPr txBox="1"/>
          <p:nvPr/>
        </p:nvSpPr>
        <p:spPr>
          <a:xfrm>
            <a:off x="548640" y="1417320"/>
            <a:ext cx="10972800" cy="640080"/>
          </a:xfrm>
          <a:prstGeom prst="rect">
            <a:avLst/>
          </a:prstGeom>
          <a:noFill/>
        </p:spPr>
        <p:txBody>
          <a:bodyPr wrap="square" lIns="45720" rIns="45720" tIns="27432" bIns="27432" anchor="t">
            <a:spAutoFit/>
          </a:bodyPr>
          <a:lstStyle/>
          <a:p>
            <a:pPr algn="l">
              <a:lnSpc>
                <a:spcPct val="105000"/>
              </a:lnSpc>
              <a:spcAft>
                <a:spcPts val="400"/>
              </a:spcAft>
            </a:pPr>
            <a:r>
              <a:rPr sz="1900" b="0" i="0">
                <a:solidFill>
                  <a:srgbClr val="1F2A44"/>
                </a:solidFill>
                <a:latin typeface="Calibri"/>
              </a:rPr>
              <a:t>“Why is a $12 million battery a $57 million project?”  Because a vendor prices the battery. We build the station, the site, the feeder protection and the siting case, and we carry the risk and the cost of money.</a:t>
            </a:r>
          </a:p>
        </p:txBody>
      </p:sp>
      <p:sp>
        <p:nvSpPr>
          <p:cNvPr id="8" name="Rectangle 7"/>
          <p:cNvSpPr/>
          <p:nvPr/>
        </p:nvSpPr>
        <p:spPr>
          <a:xfrm>
            <a:off x="548640" y="2468880"/>
            <a:ext cx="35661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578608"/>
            <a:ext cx="3291840" cy="822960"/>
          </a:xfrm>
          <a:prstGeom prst="rect">
            <a:avLst/>
          </a:prstGeom>
          <a:noFill/>
        </p:spPr>
        <p:txBody>
          <a:bodyPr wrap="square" lIns="45720" rIns="45720" tIns="27432" bIns="27432" anchor="t">
            <a:spAutoFit/>
          </a:bodyPr>
          <a:lstStyle/>
          <a:p>
            <a:pPr algn="l">
              <a:lnSpc>
                <a:spcPct val="105000"/>
              </a:lnSpc>
              <a:spcAft>
                <a:spcPts val="400"/>
              </a:spcAft>
            </a:pPr>
            <a:r>
              <a:rPr sz="4000" b="1" i="0">
                <a:solidFill>
                  <a:srgbClr val="001E60"/>
                </a:solidFill>
                <a:latin typeface="Georgia"/>
              </a:rPr>
              <a:t>$12.1M</a:t>
            </a:r>
          </a:p>
        </p:txBody>
      </p:sp>
      <p:sp>
        <p:nvSpPr>
          <p:cNvPr id="10" name="TextBox 9"/>
          <p:cNvSpPr txBox="1"/>
          <p:nvPr/>
        </p:nvSpPr>
        <p:spPr>
          <a:xfrm>
            <a:off x="685800" y="326440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Vendor fixed-price contract</a:t>
            </a:r>
          </a:p>
        </p:txBody>
      </p:sp>
      <p:sp>
        <p:nvSpPr>
          <p:cNvPr id="11" name="TextBox 10"/>
          <p:cNvSpPr txBox="1"/>
          <p:nvPr/>
        </p:nvSpPr>
        <p:spPr>
          <a:xfrm>
            <a:off x="685800" y="3648456"/>
            <a:ext cx="3291840" cy="96926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Nomad cover agreement, 10 Mar 2026. 12 Voyager LFP units, PCS, BMS, fire protection, 10-yr warranty. $605/kWh, $1,211/kW.</a:t>
            </a:r>
          </a:p>
        </p:txBody>
      </p:sp>
      <p:sp>
        <p:nvSpPr>
          <p:cNvPr id="12" name="Rectangle 11"/>
          <p:cNvSpPr/>
          <p:nvPr/>
        </p:nvSpPr>
        <p:spPr>
          <a:xfrm>
            <a:off x="4315968" y="2468880"/>
            <a:ext cx="35661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3128" y="2578608"/>
            <a:ext cx="3291840" cy="822960"/>
          </a:xfrm>
          <a:prstGeom prst="rect">
            <a:avLst/>
          </a:prstGeom>
          <a:noFill/>
        </p:spPr>
        <p:txBody>
          <a:bodyPr wrap="square" lIns="45720" rIns="45720" tIns="27432" bIns="27432" anchor="t">
            <a:spAutoFit/>
          </a:bodyPr>
          <a:lstStyle/>
          <a:p>
            <a:pPr algn="l">
              <a:lnSpc>
                <a:spcPct val="105000"/>
              </a:lnSpc>
              <a:spcAft>
                <a:spcPts val="400"/>
              </a:spcAft>
            </a:pPr>
            <a:r>
              <a:rPr sz="4000" b="1" i="0">
                <a:solidFill>
                  <a:srgbClr val="6E1F2E"/>
                </a:solidFill>
                <a:latin typeface="Georgia"/>
              </a:rPr>
              <a:t>$57.2M</a:t>
            </a:r>
          </a:p>
        </p:txBody>
      </p:sp>
      <p:sp>
        <p:nvSpPr>
          <p:cNvPr id="14" name="TextBox 13"/>
          <p:cNvSpPr txBox="1"/>
          <p:nvPr/>
        </p:nvSpPr>
        <p:spPr>
          <a:xfrm>
            <a:off x="4453128" y="326440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Project 21334 approval level</a:t>
            </a:r>
          </a:p>
        </p:txBody>
      </p:sp>
      <p:sp>
        <p:nvSpPr>
          <p:cNvPr id="15" name="TextBox 14"/>
          <p:cNvSpPr txBox="1"/>
          <p:nvPr/>
        </p:nvSpPr>
        <p:spPr>
          <a:xfrm>
            <a:off x="4453128" y="3648456"/>
            <a:ext cx="3291840" cy="96926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ESF Total Rev 3. Station 360 $50.0M plus Station 496 protection $7.3M. $2,862/kWh, $5,725/kW. Conceptual, -25%/+50%.</a:t>
            </a:r>
          </a:p>
        </p:txBody>
      </p:sp>
      <p:sp>
        <p:nvSpPr>
          <p:cNvPr id="16" name="Rectangle 15"/>
          <p:cNvSpPr/>
          <p:nvPr/>
        </p:nvSpPr>
        <p:spPr>
          <a:xfrm>
            <a:off x="8083296" y="2468880"/>
            <a:ext cx="35661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0456" y="2578608"/>
            <a:ext cx="3291840" cy="822960"/>
          </a:xfrm>
          <a:prstGeom prst="rect">
            <a:avLst/>
          </a:prstGeom>
          <a:noFill/>
        </p:spPr>
        <p:txBody>
          <a:bodyPr wrap="square" lIns="45720" rIns="45720" tIns="27432" bIns="27432" anchor="t">
            <a:spAutoFit/>
          </a:bodyPr>
          <a:lstStyle/>
          <a:p>
            <a:pPr algn="l">
              <a:lnSpc>
                <a:spcPct val="105000"/>
              </a:lnSpc>
              <a:spcAft>
                <a:spcPts val="400"/>
              </a:spcAft>
            </a:pPr>
            <a:r>
              <a:rPr sz="4000" b="1" i="0">
                <a:solidFill>
                  <a:srgbClr val="001E60"/>
                </a:solidFill>
                <a:latin typeface="Georgia"/>
              </a:rPr>
              <a:t>21%</a:t>
            </a:r>
          </a:p>
        </p:txBody>
      </p:sp>
      <p:sp>
        <p:nvSpPr>
          <p:cNvPr id="18" name="TextBox 17"/>
          <p:cNvSpPr txBox="1"/>
          <p:nvPr/>
        </p:nvSpPr>
        <p:spPr>
          <a:xfrm>
            <a:off x="8220456" y="326440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Battery share of the total</a:t>
            </a:r>
          </a:p>
        </p:txBody>
      </p:sp>
      <p:sp>
        <p:nvSpPr>
          <p:cNvPr id="19" name="TextBox 18"/>
          <p:cNvSpPr txBox="1"/>
          <p:nvPr/>
        </p:nvSpPr>
        <p:spPr>
          <a:xfrm>
            <a:off x="8220456" y="3648456"/>
            <a:ext cx="3291840" cy="96926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Add the D-Line circuit extension (24211, $4.8M conceptual) and the share drops to 20%. Four dollars of every five are not the battery.</a:t>
            </a:r>
          </a:p>
        </p:txBody>
      </p:sp>
      <p:sp>
        <p:nvSpPr>
          <p:cNvPr id="20" name="TextBox 19"/>
          <p:cNvSpPr txBox="1"/>
          <p:nvPr/>
        </p:nvSpPr>
        <p:spPr>
          <a:xfrm>
            <a:off x="548640" y="4937760"/>
            <a:ext cx="11064240" cy="13716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Three sections: </a:t>
            </a:r>
            <a:r>
              <a:rPr sz="1500" b="0" i="0">
                <a:solidFill>
                  <a:srgbClr val="1F2A44"/>
                </a:solidFill>
                <a:latin typeface="Calibri"/>
              </a:rPr>
              <a:t>where the money sits (thirteen layers, unit costs, benchmarks, six price curves); how the cost changed (2021 to today); can the number be defended (red team, stress tests, what must close).</a:t>
            </a:r>
          </a:p>
          <a:p>
            <a:pPr algn="l">
              <a:lnSpc>
                <a:spcPct val="105000"/>
              </a:lnSpc>
              <a:spcAft>
                <a:spcPts val="400"/>
              </a:spcAft>
            </a:pPr>
            <a:r>
              <a:rPr sz="1500" b="1" i="0">
                <a:solidFill>
                  <a:srgbClr val="001E60"/>
                </a:solidFill>
                <a:latin typeface="Calibri"/>
              </a:rPr>
              <a:t>Against 35 public projects its own size: </a:t>
            </a:r>
            <a:r>
              <a:rPr sz="1500" b="0" i="0">
                <a:solidFill>
                  <a:srgbClr val="1F2A44"/>
                </a:solidFill>
                <a:latin typeface="Calibri"/>
              </a:rPr>
              <a:t>the battery installed sits at the 57% percentile, the station complete at the 77% (68% among the 25 utility-owned), and the approval level above every member. The gap is the station, the interconnection and the loaders, not the battery.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TWO FRAMINGS OF THE SAME PROJECT</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a vendor quote contains, and what it leaves for the utility</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a:t>
            </a:r>
          </a:p>
        </p:txBody>
      </p:sp>
      <p:sp>
        <p:nvSpPr>
          <p:cNvPr id="7" name="Rectangle 6"/>
          <p:cNvSpPr/>
          <p:nvPr/>
        </p:nvSpPr>
        <p:spPr>
          <a:xfrm>
            <a:off x="548640" y="1417320"/>
            <a:ext cx="5394960" cy="47548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63640" y="1417320"/>
            <a:ext cx="5394960" cy="47548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508760"/>
            <a:ext cx="5029200" cy="411480"/>
          </a:xfrm>
          <a:prstGeom prst="rect">
            <a:avLst/>
          </a:prstGeom>
          <a:noFill/>
        </p:spPr>
        <p:txBody>
          <a:bodyPr wrap="square" lIns="45720" rIns="45720" tIns="27432" bIns="27432" anchor="t">
            <a:spAutoFit/>
          </a:bodyPr>
          <a:lstStyle/>
          <a:p>
            <a:pPr algn="l">
              <a:lnSpc>
                <a:spcPct val="105000"/>
              </a:lnSpc>
              <a:spcAft>
                <a:spcPts val="400"/>
              </a:spcAft>
            </a:pPr>
            <a:r>
              <a:rPr sz="1700" b="1" i="0">
                <a:solidFill>
                  <a:srgbClr val="001E60"/>
                </a:solidFill>
                <a:latin typeface="Georgia"/>
              </a:rPr>
              <a:t>Inside the $12.1M Nomad price</a:t>
            </a:r>
          </a:p>
        </p:txBody>
      </p:sp>
      <p:sp>
        <p:nvSpPr>
          <p:cNvPr id="10" name="TextBox 9"/>
          <p:cNvSpPr txBox="1"/>
          <p:nvPr/>
        </p:nvSpPr>
        <p:spPr>
          <a:xfrm>
            <a:off x="731520" y="2011680"/>
            <a:ext cx="5120640" cy="4114800"/>
          </a:xfrm>
          <a:prstGeom prst="rect">
            <a:avLst/>
          </a:prstGeom>
          <a:noFill/>
        </p:spPr>
        <p:txBody>
          <a:bodyPr wrap="square" lIns="45720">
            <a:spAutoFit/>
          </a:bodyPr>
          <a:lstStyle/>
          <a:p>
            <a:pPr>
              <a:lnSpc>
                <a:spcPct val="105000"/>
              </a:lnSpc>
              <a:spcAft>
                <a:spcPts val="500"/>
              </a:spcAft>
            </a:pPr>
            <a:r>
              <a:rPr sz="1500">
                <a:solidFill>
                  <a:srgbClr val="FFC72C"/>
                </a:solidFill>
                <a:latin typeface="Calibri"/>
              </a:rPr>
              <a:t>▪  </a:t>
            </a:r>
            <a:r>
              <a:rPr sz="1500">
                <a:solidFill>
                  <a:srgbClr val="1F2A44"/>
                </a:solidFill>
                <a:latin typeface="Calibri"/>
              </a:rPr>
              <a:t>12 containerized LFP units, 10 MW / 20 MWh, 12 MVA</a:t>
            </a:r>
          </a:p>
          <a:p>
            <a:pPr>
              <a:lnSpc>
                <a:spcPct val="105000"/>
              </a:lnSpc>
              <a:spcAft>
                <a:spcPts val="500"/>
              </a:spcAft>
            </a:pPr>
            <a:r>
              <a:rPr sz="1500">
                <a:solidFill>
                  <a:srgbClr val="FFC72C"/>
                </a:solidFill>
                <a:latin typeface="Calibri"/>
              </a:rPr>
              <a:t>▪  </a:t>
            </a:r>
            <a:r>
              <a:rPr sz="1500">
                <a:solidFill>
                  <a:srgbClr val="1F2A44"/>
                </a:solidFill>
                <a:latin typeface="Calibri"/>
              </a:rPr>
              <a:t>Inverters (PCS), BMS, HVAC, fire detection and suppression inside the container</a:t>
            </a:r>
          </a:p>
          <a:p>
            <a:pPr>
              <a:lnSpc>
                <a:spcPct val="105000"/>
              </a:lnSpc>
              <a:spcAft>
                <a:spcPts val="500"/>
              </a:spcAft>
            </a:pPr>
            <a:r>
              <a:rPr sz="1500">
                <a:solidFill>
                  <a:srgbClr val="FFC72C"/>
                </a:solidFill>
                <a:latin typeface="Calibri"/>
              </a:rPr>
              <a:t>▪  </a:t>
            </a:r>
            <a:r>
              <a:rPr sz="1500">
                <a:solidFill>
                  <a:srgbClr val="1F2A44"/>
                </a:solidFill>
                <a:latin typeface="Calibri"/>
              </a:rPr>
              <a:t>Spares $125K, shipping $90K, remote support $210K</a:t>
            </a:r>
          </a:p>
          <a:p>
            <a:pPr>
              <a:lnSpc>
                <a:spcPct val="105000"/>
              </a:lnSpc>
              <a:spcAft>
                <a:spcPts val="500"/>
              </a:spcAft>
            </a:pPr>
            <a:r>
              <a:rPr sz="1500">
                <a:solidFill>
                  <a:srgbClr val="FFC72C"/>
                </a:solidFill>
                <a:latin typeface="Calibri"/>
              </a:rPr>
              <a:t>▪  </a:t>
            </a:r>
            <a:r>
              <a:rPr sz="1500">
                <a:solidFill>
                  <a:srgbClr val="1F2A44"/>
                </a:solidFill>
                <a:latin typeface="Calibri"/>
              </a:rPr>
              <a:t>10-year warranty; years 3-7 extension $798K</a:t>
            </a:r>
          </a:p>
          <a:p>
            <a:pPr>
              <a:lnSpc>
                <a:spcPct val="105000"/>
              </a:lnSpc>
              <a:spcAft>
                <a:spcPts val="500"/>
              </a:spcAft>
            </a:pPr>
            <a:r>
              <a:rPr sz="1500">
                <a:solidFill>
                  <a:srgbClr val="FFC72C"/>
                </a:solidFill>
                <a:latin typeface="Calibri"/>
              </a:rPr>
              <a:t>▪  </a:t>
            </a:r>
            <a:r>
              <a:rPr sz="1500">
                <a:solidFill>
                  <a:srgbClr val="1F2A44"/>
                </a:solidFill>
                <a:latin typeface="Calibri"/>
              </a:rPr>
              <a:t>Field assembly supervision, commissioning, training: $246K</a:t>
            </a:r>
          </a:p>
          <a:p>
            <a:pPr>
              <a:lnSpc>
                <a:spcPct val="105000"/>
              </a:lnSpc>
              <a:spcAft>
                <a:spcPts val="500"/>
              </a:spcAft>
            </a:pPr>
            <a:r>
              <a:rPr sz="1500">
                <a:solidFill>
                  <a:srgbClr val="FFC72C"/>
                </a:solidFill>
                <a:latin typeface="Calibri"/>
              </a:rPr>
              <a:t>▪  </a:t>
            </a:r>
            <a:r>
              <a:rPr sz="1500">
                <a:solidFill>
                  <a:srgbClr val="1F2A44"/>
                </a:solidFill>
                <a:latin typeface="Calibri"/>
              </a:rPr>
              <a:t>Fixed until Final Acceptance; LDs capped at 10%</a:t>
            </a:r>
          </a:p>
        </p:txBody>
      </p:sp>
      <p:sp>
        <p:nvSpPr>
          <p:cNvPr id="11" name="TextBox 10"/>
          <p:cNvSpPr txBox="1"/>
          <p:nvPr/>
        </p:nvSpPr>
        <p:spPr>
          <a:xfrm>
            <a:off x="6446520" y="1508760"/>
            <a:ext cx="5029200" cy="411480"/>
          </a:xfrm>
          <a:prstGeom prst="rect">
            <a:avLst/>
          </a:prstGeom>
          <a:noFill/>
        </p:spPr>
        <p:txBody>
          <a:bodyPr wrap="square" lIns="45720" rIns="45720" tIns="27432" bIns="27432" anchor="t">
            <a:spAutoFit/>
          </a:bodyPr>
          <a:lstStyle/>
          <a:p>
            <a:pPr algn="l">
              <a:lnSpc>
                <a:spcPct val="105000"/>
              </a:lnSpc>
              <a:spcAft>
                <a:spcPts val="400"/>
              </a:spcAft>
            </a:pPr>
            <a:r>
              <a:rPr sz="1700" b="1" i="0">
                <a:solidFill>
                  <a:srgbClr val="6E1F2E"/>
                </a:solidFill>
                <a:latin typeface="Georgia"/>
              </a:rPr>
              <a:t>Outside it: $45.1M, 79% of the project</a:t>
            </a:r>
          </a:p>
        </p:txBody>
      </p:sp>
      <p:sp>
        <p:nvSpPr>
          <p:cNvPr id="12" name="TextBox 11"/>
          <p:cNvSpPr txBox="1"/>
          <p:nvPr/>
        </p:nvSpPr>
        <p:spPr>
          <a:xfrm>
            <a:off x="6446520" y="2011680"/>
            <a:ext cx="5120640" cy="4114800"/>
          </a:xfrm>
          <a:prstGeom prst="rect">
            <a:avLst/>
          </a:prstGeom>
          <a:noFill/>
        </p:spPr>
        <p:txBody>
          <a:bodyPr wrap="square" lIns="45720">
            <a:spAutoFit/>
          </a:bodyPr>
          <a:lstStyle/>
          <a:p>
            <a:pPr>
              <a:lnSpc>
                <a:spcPct val="105000"/>
              </a:lnSpc>
              <a:spcAft>
                <a:spcPts val="500"/>
              </a:spcAft>
            </a:pPr>
            <a:r>
              <a:rPr sz="1500">
                <a:solidFill>
                  <a:srgbClr val="FFC72C"/>
                </a:solidFill>
                <a:latin typeface="Calibri"/>
              </a:rPr>
              <a:t>▪  </a:t>
            </a:r>
            <a:r>
              <a:rPr b="1" sz="1500">
                <a:solidFill>
                  <a:srgbClr val="1F2A44"/>
                </a:solidFill>
                <a:latin typeface="Calibri"/>
              </a:rPr>
              <a:t>Station 360, </a:t>
            </a:r>
            <a:r>
              <a:rPr sz="1500">
                <a:solidFill>
                  <a:srgbClr val="1F2A44"/>
                </a:solidFill>
                <a:latin typeface="Calibri"/>
              </a:rPr>
              <a:t>$3.8M direct: four 15 kV breaker skids, GSUs, SSVT, metering, cable, duct bank, ground grid</a:t>
            </a:r>
          </a:p>
          <a:p>
            <a:pPr>
              <a:lnSpc>
                <a:spcPct val="105000"/>
              </a:lnSpc>
              <a:spcAft>
                <a:spcPts val="500"/>
              </a:spcAft>
            </a:pPr>
            <a:r>
              <a:rPr sz="1500">
                <a:solidFill>
                  <a:srgbClr val="FFC72C"/>
                </a:solidFill>
                <a:latin typeface="Calibri"/>
              </a:rPr>
              <a:t>▪  </a:t>
            </a:r>
            <a:r>
              <a:rPr b="1" sz="1500">
                <a:solidFill>
                  <a:srgbClr val="1F2A44"/>
                </a:solidFill>
                <a:latin typeface="Calibri"/>
              </a:rPr>
              <a:t>Site, </a:t>
            </a:r>
            <a:r>
              <a:rPr sz="1500">
                <a:solidFill>
                  <a:srgbClr val="1F2A44"/>
                </a:solidFill>
                <a:latin typeface="Calibri"/>
              </a:rPr>
              <a:t>$2.7M direct: a 200 ft x 200 ft platform on a closed landfill, access road, retaining wall</a:t>
            </a:r>
          </a:p>
          <a:p>
            <a:pPr>
              <a:lnSpc>
                <a:spcPct val="105000"/>
              </a:lnSpc>
              <a:spcAft>
                <a:spcPts val="500"/>
              </a:spcAft>
            </a:pPr>
            <a:r>
              <a:rPr sz="1500">
                <a:solidFill>
                  <a:srgbClr val="FFC72C"/>
                </a:solidFill>
                <a:latin typeface="Calibri"/>
              </a:rPr>
              <a:t>▪  </a:t>
            </a:r>
            <a:r>
              <a:rPr b="1" sz="1500">
                <a:solidFill>
                  <a:srgbClr val="1F2A44"/>
                </a:solidFill>
                <a:latin typeface="Calibri"/>
              </a:rPr>
              <a:t>Station 496, </a:t>
            </a:r>
            <a:r>
              <a:rPr sz="1500">
                <a:solidFill>
                  <a:srgbClr val="1F2A44"/>
                </a:solidFill>
                <a:latin typeface="Calibri"/>
              </a:rPr>
              <a:t>$7.3M: 20 relays, transfer trip, RTU work so four feeders can accept 2.5 MW each</a:t>
            </a:r>
          </a:p>
          <a:p>
            <a:pPr>
              <a:lnSpc>
                <a:spcPct val="105000"/>
              </a:lnSpc>
              <a:spcAft>
                <a:spcPts val="500"/>
              </a:spcAft>
            </a:pPr>
            <a:r>
              <a:rPr sz="1500">
                <a:solidFill>
                  <a:srgbClr val="FFC72C"/>
                </a:solidFill>
                <a:latin typeface="Calibri"/>
              </a:rPr>
              <a:t>▪  </a:t>
            </a:r>
            <a:r>
              <a:rPr b="1" sz="1500">
                <a:solidFill>
                  <a:srgbClr val="1F2A44"/>
                </a:solidFill>
                <a:latin typeface="Calibri"/>
              </a:rPr>
              <a:t>Owner scope, </a:t>
            </a:r>
            <a:r>
              <a:rPr sz="1500">
                <a:solidFill>
                  <a:srgbClr val="1F2A44"/>
                </a:solidFill>
                <a:latin typeface="Calibri"/>
              </a:rPr>
              <a:t>$10.1M: install labor, GSUs, EMS, testing, engineering, Article 80 siting, outreach, PM, taxes</a:t>
            </a:r>
          </a:p>
          <a:p>
            <a:pPr>
              <a:lnSpc>
                <a:spcPct val="105000"/>
              </a:lnSpc>
              <a:spcAft>
                <a:spcPts val="500"/>
              </a:spcAft>
            </a:pPr>
            <a:r>
              <a:rPr sz="1500">
                <a:solidFill>
                  <a:srgbClr val="FFC72C"/>
                </a:solidFill>
                <a:latin typeface="Calibri"/>
              </a:rPr>
              <a:t>▪  </a:t>
            </a:r>
            <a:r>
              <a:rPr b="1" sz="1500">
                <a:solidFill>
                  <a:srgbClr val="1F2A44"/>
                </a:solidFill>
                <a:latin typeface="Calibri"/>
              </a:rPr>
              <a:t>Station 360 risk, contingency, indirects, AFUDC, </a:t>
            </a:r>
            <a:r>
              <a:rPr sz="1500">
                <a:solidFill>
                  <a:srgbClr val="1F2A44"/>
                </a:solidFill>
                <a:latin typeface="Calibri"/>
              </a:rPr>
              <a:t>$20.3M: 35% of the total (Station 496 carries its own inside its $7.3M)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COST LAYER EXTRACTION, ESF TOTAL REV 3 (DIRECTS, $M)</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Thirteen layers between the battery contract and the approval level</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4</a:t>
            </a:r>
          </a:p>
        </p:txBody>
      </p:sp>
      <p:graphicFrame>
        <p:nvGraphicFramePr>
          <p:cNvPr id="7" name="Chart 6"/>
          <p:cNvGraphicFramePr>
            <a:graphicFrameLocks noGrp="1"/>
          </p:cNvGraphicFramePr>
          <p:nvPr/>
        </p:nvGraphicFramePr>
        <p:xfrm>
          <a:off x="457200" y="1371600"/>
          <a:ext cx="11247120" cy="4846320"/>
        </p:xfrm>
        <a:graphic>
          <a:graphicData uri="http://schemas.openxmlformats.org/drawingml/2006/chart">
            <c:chart xmlns:c="http://schemas.openxmlformats.org/drawingml/2006/chart" r:id="rId2"/>
          </a:graphicData>
        </a:graphic>
      </p:graphicFrame>
      <p:sp>
        <p:nvSpPr>
          <p:cNvPr id="8" name="TextBox 7"/>
          <p:cNvSpPr txBox="1"/>
          <p:nvPr/>
        </p:nvSpPr>
        <p:spPr>
          <a:xfrm>
            <a:off x="548640" y="6080760"/>
            <a:ext cx="10972800" cy="320040"/>
          </a:xfrm>
          <a:prstGeom prst="rect">
            <a:avLst/>
          </a:prstGeom>
          <a:noFill/>
        </p:spPr>
        <p:txBody>
          <a:bodyPr wrap="square" lIns="45720" rIns="45720" tIns="27432" bIns="27432" anchor="t">
            <a:spAutoFit/>
          </a:bodyPr>
          <a:lstStyle/>
          <a:p>
            <a:pPr algn="l">
              <a:lnSpc>
                <a:spcPct val="105000"/>
              </a:lnSpc>
              <a:spcAft>
                <a:spcPts val="400"/>
              </a:spcAft>
            </a:pPr>
            <a:r>
              <a:rPr sz="1100" b="0" i="0">
                <a:solidFill>
                  <a:srgbClr val="6B7280"/>
                </a:solidFill>
                <a:latin typeface="Calibri"/>
              </a:rPr>
              <a:t>Gold = battery contract as carried in Rev 3 ($12.1M contract plus $1.1M escalation on the unpaid balance; see slide 23). Teal = station, site and feeder protection. Burgundy = risk, contingency, indirects, AFUDC. Total $57.2M.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LOADED VIEW, FACTOR 1.685 ON STATION 360 DIRECTS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Where the $57.2M sits when risk, contingency, indirects and AFUDC are spread</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5</a:t>
            </a:r>
          </a:p>
        </p:txBody>
      </p:sp>
      <p:graphicFrame>
        <p:nvGraphicFramePr>
          <p:cNvPr id="7" name="Table 6"/>
          <p:cNvGraphicFramePr>
            <a:graphicFrameLocks noGrp="1"/>
          </p:cNvGraphicFramePr>
          <p:nvPr/>
        </p:nvGraphicFramePr>
        <p:xfrm>
          <a:off x="548640" y="1417320"/>
          <a:ext cx="11064240" cy="4389120"/>
        </p:xfrm>
        <a:graphic>
          <a:graphicData uri="http://schemas.openxmlformats.org/drawingml/2006/table">
            <a:tbl>
              <a:tblPr firstRow="1" bandRow="1">
                <a:tableStyleId>{5C22544A-7EE6-4342-B048-85BDC9FD1C3A}</a:tableStyleId>
              </a:tblPr>
              <a:tblGrid>
                <a:gridCol w="6675120"/>
                <a:gridCol w="1828800"/>
                <a:gridCol w="1463040"/>
                <a:gridCol w="1097280"/>
              </a:tblGrid>
              <a:tr h="399010">
                <a:tc>
                  <a:txBody>
                    <a:bodyPr/>
                    <a:lstStyle/>
                    <a:p>
                      <a:r>
                        <a:rPr sz="1300" b="1">
                          <a:solidFill>
                            <a:srgbClr val="FFFFFF"/>
                          </a:solidFill>
                          <a:latin typeface="Calibri"/>
                        </a:rPr>
                        <a:t>Layer</a:t>
                      </a:r>
                    </a:p>
                  </a:txBody>
                  <a:tcPr marL="54864" marR="54864" marT="27432" marB="27432">
                    <a:solidFill>
                      <a:srgbClr val="001E60"/>
                    </a:solidFill>
                  </a:tcPr>
                </a:tc>
                <a:tc>
                  <a:txBody>
                    <a:bodyPr/>
                    <a:lstStyle/>
                    <a:p>
                      <a:pPr algn="r"/>
                      <a:r>
                        <a:rPr sz="1300" b="1">
                          <a:solidFill>
                            <a:srgbClr val="FFFFFF"/>
                          </a:solidFill>
                          <a:latin typeface="Calibri"/>
                        </a:rPr>
                        <a:t>Direct</a:t>
                      </a:r>
                    </a:p>
                  </a:txBody>
                  <a:tcPr marL="54864" marR="54864" marT="27432" marB="27432">
                    <a:solidFill>
                      <a:srgbClr val="001E60"/>
                    </a:solidFill>
                  </a:tcPr>
                </a:tc>
                <a:tc>
                  <a:txBody>
                    <a:bodyPr/>
                    <a:lstStyle/>
                    <a:p>
                      <a:pPr algn="r"/>
                      <a:r>
                        <a:rPr sz="1300" b="1">
                          <a:solidFill>
                            <a:srgbClr val="FFFFFF"/>
                          </a:solidFill>
                          <a:latin typeface="Calibri"/>
                        </a:rPr>
                        <a:t>Loaded</a:t>
                      </a:r>
                    </a:p>
                  </a:txBody>
                  <a:tcPr marL="54864" marR="54864" marT="27432" marB="27432">
                    <a:solidFill>
                      <a:srgbClr val="001E60"/>
                    </a:solidFill>
                  </a:tcPr>
                </a:tc>
                <a:tc>
                  <a:txBody>
                    <a:bodyPr/>
                    <a:lstStyle/>
                    <a:p>
                      <a:pPr algn="r"/>
                      <a:r>
                        <a:rPr sz="1300" b="1">
                          <a:solidFill>
                            <a:srgbClr val="FFFFFF"/>
                          </a:solidFill>
                          <a:latin typeface="Calibri"/>
                        </a:rPr>
                        <a:t>Share</a:t>
                      </a:r>
                    </a:p>
                  </a:txBody>
                  <a:tcPr marL="54864" marR="54864" marT="27432" marB="27432">
                    <a:solidFill>
                      <a:srgbClr val="001E60"/>
                    </a:solidFill>
                  </a:tcPr>
                </a:tc>
              </a:tr>
              <a:tr h="399010">
                <a:tc>
                  <a:txBody>
                    <a:bodyPr/>
                    <a:lstStyle/>
                    <a:p>
                      <a:r>
                        <a:rPr sz="1300" b="0">
                          <a:solidFill>
                            <a:srgbClr val="1F2A44"/>
                          </a:solidFill>
                          <a:latin typeface="Calibri"/>
                        </a:rPr>
                        <a:t>Battery supply contract (Nomad)</a:t>
                      </a:r>
                    </a:p>
                  </a:txBody>
                  <a:tcPr marL="54864" marR="54864" marT="27432" marB="27432" anchor="ctr">
                    <a:solidFill>
                      <a:srgbClr val="FFFFFF"/>
                    </a:solidFill>
                  </a:tcPr>
                </a:tc>
                <a:tc>
                  <a:txBody>
                    <a:bodyPr/>
                    <a:lstStyle/>
                    <a:p>
                      <a:pPr algn="r"/>
                      <a:r>
                        <a:rPr sz="1300" b="0">
                          <a:solidFill>
                            <a:srgbClr val="1F2A44"/>
                          </a:solidFill>
                          <a:latin typeface="Calibri"/>
                        </a:rPr>
                        <a:t>$13.0M</a:t>
                      </a:r>
                    </a:p>
                  </a:txBody>
                  <a:tcPr marL="54864" marR="54864" marT="27432" marB="27432" anchor="ctr">
                    <a:solidFill>
                      <a:srgbClr val="FFFFFF"/>
                    </a:solidFill>
                  </a:tcPr>
                </a:tc>
                <a:tc>
                  <a:txBody>
                    <a:bodyPr/>
                    <a:lstStyle/>
                    <a:p>
                      <a:pPr algn="r"/>
                      <a:r>
                        <a:rPr sz="1300" b="0">
                          <a:solidFill>
                            <a:srgbClr val="1F2A44"/>
                          </a:solidFill>
                          <a:latin typeface="Calibri"/>
                        </a:rPr>
                        <a:t>$21.9M</a:t>
                      </a:r>
                    </a:p>
                  </a:txBody>
                  <a:tcPr marL="54864" marR="54864" marT="27432" marB="27432" anchor="ctr">
                    <a:solidFill>
                      <a:srgbClr val="FFFFFF"/>
                    </a:solidFill>
                  </a:tcPr>
                </a:tc>
                <a:tc>
                  <a:txBody>
                    <a:bodyPr/>
                    <a:lstStyle/>
                    <a:p>
                      <a:pPr algn="r"/>
                      <a:r>
                        <a:rPr sz="1300" b="0">
                          <a:solidFill>
                            <a:srgbClr val="1F2A44"/>
                          </a:solidFill>
                          <a:latin typeface="Calibri"/>
                        </a:rPr>
                        <a:t>38%</a:t>
                      </a:r>
                    </a:p>
                  </a:txBody>
                  <a:tcPr marL="54864" marR="54864" marT="27432" marB="27432" anchor="ctr">
                    <a:solidFill>
                      <a:srgbClr val="FFFFFF"/>
                    </a:solidFill>
                  </a:tcPr>
                </a:tc>
              </a:tr>
              <a:tr h="399010">
                <a:tc>
                  <a:txBody>
                    <a:bodyPr/>
                    <a:lstStyle/>
                    <a:p>
                      <a:r>
                        <a:rPr sz="1300" b="0">
                          <a:solidFill>
                            <a:srgbClr val="1F2A44"/>
                          </a:solidFill>
                          <a:latin typeface="Calibri"/>
                        </a:rPr>
                        <a:t>Battery installation &amp; integration (owner scope)</a:t>
                      </a:r>
                    </a:p>
                  </a:txBody>
                  <a:tcPr marL="54864" marR="54864" marT="27432" marB="27432" anchor="ctr">
                    <a:solidFill>
                      <a:srgbClr val="F2F4F8"/>
                    </a:solidFill>
                  </a:tcPr>
                </a:tc>
                <a:tc>
                  <a:txBody>
                    <a:bodyPr/>
                    <a:lstStyle/>
                    <a:p>
                      <a:pPr algn="r"/>
                      <a:r>
                        <a:rPr sz="1300" b="0">
                          <a:solidFill>
                            <a:srgbClr val="1F2A44"/>
                          </a:solidFill>
                          <a:latin typeface="Calibri"/>
                        </a:rPr>
                        <a:t>$1.7M</a:t>
                      </a:r>
                    </a:p>
                  </a:txBody>
                  <a:tcPr marL="54864" marR="54864" marT="27432" marB="27432" anchor="ctr">
                    <a:solidFill>
                      <a:srgbClr val="F2F4F8"/>
                    </a:solidFill>
                  </a:tcPr>
                </a:tc>
                <a:tc>
                  <a:txBody>
                    <a:bodyPr/>
                    <a:lstStyle/>
                    <a:p>
                      <a:pPr algn="r"/>
                      <a:r>
                        <a:rPr sz="1300" b="0">
                          <a:solidFill>
                            <a:srgbClr val="1F2A44"/>
                          </a:solidFill>
                          <a:latin typeface="Calibri"/>
                        </a:rPr>
                        <a:t>$2.9M</a:t>
                      </a:r>
                    </a:p>
                  </a:txBody>
                  <a:tcPr marL="54864" marR="54864" marT="27432" marB="27432" anchor="ctr">
                    <a:solidFill>
                      <a:srgbClr val="F2F4F8"/>
                    </a:solidFill>
                  </a:tcPr>
                </a:tc>
                <a:tc>
                  <a:txBody>
                    <a:bodyPr/>
                    <a:lstStyle/>
                    <a:p>
                      <a:pPr algn="r"/>
                      <a:r>
                        <a:rPr sz="1300" b="0">
                          <a:solidFill>
                            <a:srgbClr val="1F2A44"/>
                          </a:solidFill>
                          <a:latin typeface="Calibri"/>
                        </a:rPr>
                        <a:t>5%</a:t>
                      </a:r>
                    </a:p>
                  </a:txBody>
                  <a:tcPr marL="54864" marR="54864" marT="27432" marB="27432" anchor="ctr">
                    <a:solidFill>
                      <a:srgbClr val="F2F4F8"/>
                    </a:solidFill>
                  </a:tcPr>
                </a:tc>
              </a:tr>
              <a:tr h="399010">
                <a:tc>
                  <a:txBody>
                    <a:bodyPr/>
                    <a:lstStyle/>
                    <a:p>
                      <a:r>
                        <a:rPr sz="1300" b="0">
                          <a:solidFill>
                            <a:srgbClr val="1F2A44"/>
                          </a:solidFill>
                          <a:latin typeface="Calibri"/>
                        </a:rPr>
                        <a:t>Battery balance-of-plant (GSUs, EMS/comms, aux power)</a:t>
                      </a:r>
                    </a:p>
                  </a:txBody>
                  <a:tcPr marL="54864" marR="54864" marT="27432" marB="27432" anchor="ctr">
                    <a:solidFill>
                      <a:srgbClr val="FFFFFF"/>
                    </a:solidFill>
                  </a:tcPr>
                </a:tc>
                <a:tc>
                  <a:txBody>
                    <a:bodyPr/>
                    <a:lstStyle/>
                    <a:p>
                      <a:pPr algn="r"/>
                      <a:r>
                        <a:rPr sz="1300" b="0">
                          <a:solidFill>
                            <a:srgbClr val="1F2A44"/>
                          </a:solidFill>
                          <a:latin typeface="Calibri"/>
                        </a:rPr>
                        <a:t>$1.9M</a:t>
                      </a:r>
                    </a:p>
                  </a:txBody>
                  <a:tcPr marL="54864" marR="54864" marT="27432" marB="27432" anchor="ctr">
                    <a:solidFill>
                      <a:srgbClr val="FFFFFF"/>
                    </a:solidFill>
                  </a:tcPr>
                </a:tc>
                <a:tc>
                  <a:txBody>
                    <a:bodyPr/>
                    <a:lstStyle/>
                    <a:p>
                      <a:pPr algn="r"/>
                      <a:r>
                        <a:rPr sz="1300" b="0">
                          <a:solidFill>
                            <a:srgbClr val="1F2A44"/>
                          </a:solidFill>
                          <a:latin typeface="Calibri"/>
                        </a:rPr>
                        <a:t>$3.3M</a:t>
                      </a:r>
                    </a:p>
                  </a:txBody>
                  <a:tcPr marL="54864" marR="54864" marT="27432" marB="27432" anchor="ctr">
                    <a:solidFill>
                      <a:srgbClr val="FFFFFF"/>
                    </a:solidFill>
                  </a:tcPr>
                </a:tc>
                <a:tc>
                  <a:txBody>
                    <a:bodyPr/>
                    <a:lstStyle/>
                    <a:p>
                      <a:pPr algn="r"/>
                      <a:r>
                        <a:rPr sz="1300" b="0">
                          <a:solidFill>
                            <a:srgbClr val="1F2A44"/>
                          </a:solidFill>
                          <a:latin typeface="Calibri"/>
                        </a:rPr>
                        <a:t>6%</a:t>
                      </a:r>
                    </a:p>
                  </a:txBody>
                  <a:tcPr marL="54864" marR="54864" marT="27432" marB="27432" anchor="ctr">
                    <a:solidFill>
                      <a:srgbClr val="FFFFFF"/>
                    </a:solidFill>
                  </a:tcPr>
                </a:tc>
              </a:tr>
              <a:tr h="399010">
                <a:tc>
                  <a:txBody>
                    <a:bodyPr/>
                    <a:lstStyle/>
                    <a:p>
                      <a:r>
                        <a:rPr sz="1300" b="0">
                          <a:solidFill>
                            <a:srgbClr val="1F2A44"/>
                          </a:solidFill>
                          <a:latin typeface="Calibri"/>
                        </a:rPr>
                        <a:t>Station 360 13.8 kV switching &amp; interconnection facilities</a:t>
                      </a:r>
                    </a:p>
                  </a:txBody>
                  <a:tcPr marL="54864" marR="54864" marT="27432" marB="27432" anchor="ctr">
                    <a:solidFill>
                      <a:srgbClr val="F2F4F8"/>
                    </a:solidFill>
                  </a:tcPr>
                </a:tc>
                <a:tc>
                  <a:txBody>
                    <a:bodyPr/>
                    <a:lstStyle/>
                    <a:p>
                      <a:pPr algn="r"/>
                      <a:r>
                        <a:rPr sz="1300" b="0">
                          <a:solidFill>
                            <a:srgbClr val="1F2A44"/>
                          </a:solidFill>
                          <a:latin typeface="Calibri"/>
                        </a:rPr>
                        <a:t>$3.8M</a:t>
                      </a:r>
                    </a:p>
                  </a:txBody>
                  <a:tcPr marL="54864" marR="54864" marT="27432" marB="27432" anchor="ctr">
                    <a:solidFill>
                      <a:srgbClr val="F2F4F8"/>
                    </a:solidFill>
                  </a:tcPr>
                </a:tc>
                <a:tc>
                  <a:txBody>
                    <a:bodyPr/>
                    <a:lstStyle/>
                    <a:p>
                      <a:pPr algn="r"/>
                      <a:r>
                        <a:rPr sz="1300" b="0">
                          <a:solidFill>
                            <a:srgbClr val="1F2A44"/>
                          </a:solidFill>
                          <a:latin typeface="Calibri"/>
                        </a:rPr>
                        <a:t>$6.5M</a:t>
                      </a:r>
                    </a:p>
                  </a:txBody>
                  <a:tcPr marL="54864" marR="54864" marT="27432" marB="27432" anchor="ctr">
                    <a:solidFill>
                      <a:srgbClr val="F2F4F8"/>
                    </a:solidFill>
                  </a:tcPr>
                </a:tc>
                <a:tc>
                  <a:txBody>
                    <a:bodyPr/>
                    <a:lstStyle/>
                    <a:p>
                      <a:pPr algn="r"/>
                      <a:r>
                        <a:rPr sz="1300" b="0">
                          <a:solidFill>
                            <a:srgbClr val="1F2A44"/>
                          </a:solidFill>
                          <a:latin typeface="Calibri"/>
                        </a:rPr>
                        <a:t>11%</a:t>
                      </a:r>
                    </a:p>
                  </a:txBody>
                  <a:tcPr marL="54864" marR="54864" marT="27432" marB="27432" anchor="ctr">
                    <a:solidFill>
                      <a:srgbClr val="F2F4F8"/>
                    </a:solidFill>
                  </a:tcPr>
                </a:tc>
              </a:tr>
              <a:tr h="399010">
                <a:tc>
                  <a:txBody>
                    <a:bodyPr/>
                    <a:lstStyle/>
                    <a:p>
                      <a:r>
                        <a:rPr sz="1300" b="0">
                          <a:solidFill>
                            <a:srgbClr val="1F2A44"/>
                          </a:solidFill>
                          <a:latin typeface="Calibri"/>
                        </a:rPr>
                        <a:t>Site development &amp; civil (former landfill site)</a:t>
                      </a:r>
                    </a:p>
                  </a:txBody>
                  <a:tcPr marL="54864" marR="54864" marT="27432" marB="27432" anchor="ctr">
                    <a:solidFill>
                      <a:srgbClr val="FFFFFF"/>
                    </a:solidFill>
                  </a:tcPr>
                </a:tc>
                <a:tc>
                  <a:txBody>
                    <a:bodyPr/>
                    <a:lstStyle/>
                    <a:p>
                      <a:pPr algn="r"/>
                      <a:r>
                        <a:rPr sz="1300" b="0">
                          <a:solidFill>
                            <a:srgbClr val="1F2A44"/>
                          </a:solidFill>
                          <a:latin typeface="Calibri"/>
                        </a:rPr>
                        <a:t>$2.7M</a:t>
                      </a:r>
                    </a:p>
                  </a:txBody>
                  <a:tcPr marL="54864" marR="54864" marT="27432" marB="27432" anchor="ctr">
                    <a:solidFill>
                      <a:srgbClr val="FFFFFF"/>
                    </a:solidFill>
                  </a:tcPr>
                </a:tc>
                <a:tc>
                  <a:txBody>
                    <a:bodyPr/>
                    <a:lstStyle/>
                    <a:p>
                      <a:pPr algn="r"/>
                      <a:r>
                        <a:rPr sz="1300" b="0">
                          <a:solidFill>
                            <a:srgbClr val="1F2A44"/>
                          </a:solidFill>
                          <a:latin typeface="Calibri"/>
                        </a:rPr>
                        <a:t>$4.5M</a:t>
                      </a:r>
                    </a:p>
                  </a:txBody>
                  <a:tcPr marL="54864" marR="54864" marT="27432" marB="27432" anchor="ctr">
                    <a:solidFill>
                      <a:srgbClr val="FFFFFF"/>
                    </a:solidFill>
                  </a:tcPr>
                </a:tc>
                <a:tc>
                  <a:txBody>
                    <a:bodyPr/>
                    <a:lstStyle/>
                    <a:p>
                      <a:pPr algn="r"/>
                      <a:r>
                        <a:rPr sz="1300" b="0">
                          <a:solidFill>
                            <a:srgbClr val="1F2A44"/>
                          </a:solidFill>
                          <a:latin typeface="Calibri"/>
                        </a:rPr>
                        <a:t>8%</a:t>
                      </a:r>
                    </a:p>
                  </a:txBody>
                  <a:tcPr marL="54864" marR="54864" marT="27432" marB="27432" anchor="ctr">
                    <a:solidFill>
                      <a:srgbClr val="FFFFFF"/>
                    </a:solidFill>
                  </a:tcPr>
                </a:tc>
              </a:tr>
              <a:tr h="399010">
                <a:tc>
                  <a:txBody>
                    <a:bodyPr/>
                    <a:lstStyle/>
                    <a:p>
                      <a:r>
                        <a:rPr sz="1300" b="0">
                          <a:solidFill>
                            <a:srgbClr val="1F2A44"/>
                          </a:solidFill>
                          <a:latin typeface="Calibri"/>
                        </a:rPr>
                        <a:t>Station 496 feeder protection upgrades (interconnection)</a:t>
                      </a:r>
                    </a:p>
                  </a:txBody>
                  <a:tcPr marL="54864" marR="54864" marT="27432" marB="27432" anchor="ctr">
                    <a:solidFill>
                      <a:srgbClr val="F2F4F8"/>
                    </a:solidFill>
                  </a:tcPr>
                </a:tc>
                <a:tc>
                  <a:txBody>
                    <a:bodyPr/>
                    <a:lstStyle/>
                    <a:p>
                      <a:pPr algn="r"/>
                      <a:r>
                        <a:rPr sz="1300" b="0">
                          <a:solidFill>
                            <a:srgbClr val="1F2A44"/>
                          </a:solidFill>
                          <a:latin typeface="Calibri"/>
                        </a:rPr>
                        <a:t>$7.3M</a:t>
                      </a:r>
                    </a:p>
                  </a:txBody>
                  <a:tcPr marL="54864" marR="54864" marT="27432" marB="27432" anchor="ctr">
                    <a:solidFill>
                      <a:srgbClr val="F2F4F8"/>
                    </a:solidFill>
                  </a:tcPr>
                </a:tc>
                <a:tc>
                  <a:txBody>
                    <a:bodyPr/>
                    <a:lstStyle/>
                    <a:p>
                      <a:pPr algn="r"/>
                      <a:r>
                        <a:rPr sz="1300" b="0">
                          <a:solidFill>
                            <a:srgbClr val="1F2A44"/>
                          </a:solidFill>
                          <a:latin typeface="Calibri"/>
                        </a:rPr>
                        <a:t>$7.3M</a:t>
                      </a:r>
                    </a:p>
                  </a:txBody>
                  <a:tcPr marL="54864" marR="54864" marT="27432" marB="27432" anchor="ctr">
                    <a:solidFill>
                      <a:srgbClr val="F2F4F8"/>
                    </a:solidFill>
                  </a:tcPr>
                </a:tc>
                <a:tc>
                  <a:txBody>
                    <a:bodyPr/>
                    <a:lstStyle/>
                    <a:p>
                      <a:pPr algn="r"/>
                      <a:r>
                        <a:rPr sz="1300" b="0">
                          <a:solidFill>
                            <a:srgbClr val="1F2A44"/>
                          </a:solidFill>
                          <a:latin typeface="Calibri"/>
                        </a:rPr>
                        <a:t>13%</a:t>
                      </a:r>
                    </a:p>
                  </a:txBody>
                  <a:tcPr marL="54864" marR="54864" marT="27432" marB="27432" anchor="ctr">
                    <a:solidFill>
                      <a:srgbClr val="F2F4F8"/>
                    </a:solidFill>
                  </a:tcPr>
                </a:tc>
              </a:tr>
              <a:tr h="399010">
                <a:tc>
                  <a:txBody>
                    <a:bodyPr/>
                    <a:lstStyle/>
                    <a:p>
                      <a:r>
                        <a:rPr sz="1300" b="0">
                          <a:solidFill>
                            <a:srgbClr val="1F2A44"/>
                          </a:solidFill>
                          <a:latin typeface="Calibri"/>
                        </a:rPr>
                        <a:t>Testing &amp; commissioning</a:t>
                      </a:r>
                    </a:p>
                  </a:txBody>
                  <a:tcPr marL="54864" marR="54864" marT="27432" marB="27432" anchor="ctr">
                    <a:solidFill>
                      <a:srgbClr val="FFFFFF"/>
                    </a:solidFill>
                  </a:tcPr>
                </a:tc>
                <a:tc>
                  <a:txBody>
                    <a:bodyPr/>
                    <a:lstStyle/>
                    <a:p>
                      <a:pPr algn="r"/>
                      <a:r>
                        <a:rPr sz="1300" b="0">
                          <a:solidFill>
                            <a:srgbClr val="1F2A44"/>
                          </a:solidFill>
                          <a:latin typeface="Calibri"/>
                        </a:rPr>
                        <a:t>$1.3M</a:t>
                      </a:r>
                    </a:p>
                  </a:txBody>
                  <a:tcPr marL="54864" marR="54864" marT="27432" marB="27432" anchor="ctr">
                    <a:solidFill>
                      <a:srgbClr val="FFFFFF"/>
                    </a:solidFill>
                  </a:tcPr>
                </a:tc>
                <a:tc>
                  <a:txBody>
                    <a:bodyPr/>
                    <a:lstStyle/>
                    <a:p>
                      <a:pPr algn="r"/>
                      <a:r>
                        <a:rPr sz="1300" b="0">
                          <a:solidFill>
                            <a:srgbClr val="1F2A44"/>
                          </a:solidFill>
                          <a:latin typeface="Calibri"/>
                        </a:rPr>
                        <a:t>$2.1M</a:t>
                      </a:r>
                    </a:p>
                  </a:txBody>
                  <a:tcPr marL="54864" marR="54864" marT="27432" marB="27432" anchor="ctr">
                    <a:solidFill>
                      <a:srgbClr val="FFFFFF"/>
                    </a:solidFill>
                  </a:tcPr>
                </a:tc>
                <a:tc>
                  <a:txBody>
                    <a:bodyPr/>
                    <a:lstStyle/>
                    <a:p>
                      <a:pPr algn="r"/>
                      <a:r>
                        <a:rPr sz="1300" b="0">
                          <a:solidFill>
                            <a:srgbClr val="1F2A44"/>
                          </a:solidFill>
                          <a:latin typeface="Calibri"/>
                        </a:rPr>
                        <a:t>4%</a:t>
                      </a:r>
                    </a:p>
                  </a:txBody>
                  <a:tcPr marL="54864" marR="54864" marT="27432" marB="27432" anchor="ctr">
                    <a:solidFill>
                      <a:srgbClr val="FFFFFF"/>
                    </a:solidFill>
                  </a:tcPr>
                </a:tc>
              </a:tr>
              <a:tr h="399010">
                <a:tc>
                  <a:txBody>
                    <a:bodyPr/>
                    <a:lstStyle/>
                    <a:p>
                      <a:r>
                        <a:rPr sz="1300" b="0">
                          <a:solidFill>
                            <a:srgbClr val="1F2A44"/>
                          </a:solidFill>
                          <a:latin typeface="Calibri"/>
                        </a:rPr>
                        <a:t>Owner soft costs (engineering, siting, environmental, outreach, PM, land)</a:t>
                      </a:r>
                    </a:p>
                  </a:txBody>
                  <a:tcPr marL="54864" marR="54864" marT="27432" marB="27432" anchor="ctr">
                    <a:solidFill>
                      <a:srgbClr val="F2F4F8"/>
                    </a:solidFill>
                  </a:tcPr>
                </a:tc>
                <a:tc>
                  <a:txBody>
                    <a:bodyPr/>
                    <a:lstStyle/>
                    <a:p>
                      <a:pPr algn="r"/>
                      <a:r>
                        <a:rPr sz="1300" b="0">
                          <a:solidFill>
                            <a:srgbClr val="1F2A44"/>
                          </a:solidFill>
                          <a:latin typeface="Calibri"/>
                        </a:rPr>
                        <a:t>$4.4M</a:t>
                      </a:r>
                    </a:p>
                  </a:txBody>
                  <a:tcPr marL="54864" marR="54864" marT="27432" marB="27432" anchor="ctr">
                    <a:solidFill>
                      <a:srgbClr val="F2F4F8"/>
                    </a:solidFill>
                  </a:tcPr>
                </a:tc>
                <a:tc>
                  <a:txBody>
                    <a:bodyPr/>
                    <a:lstStyle/>
                    <a:p>
                      <a:pPr algn="r"/>
                      <a:r>
                        <a:rPr sz="1300" b="0">
                          <a:solidFill>
                            <a:srgbClr val="1F2A44"/>
                          </a:solidFill>
                          <a:latin typeface="Calibri"/>
                        </a:rPr>
                        <a:t>$7.4M</a:t>
                      </a:r>
                    </a:p>
                  </a:txBody>
                  <a:tcPr marL="54864" marR="54864" marT="27432" marB="27432" anchor="ctr">
                    <a:solidFill>
                      <a:srgbClr val="F2F4F8"/>
                    </a:solidFill>
                  </a:tcPr>
                </a:tc>
                <a:tc>
                  <a:txBody>
                    <a:bodyPr/>
                    <a:lstStyle/>
                    <a:p>
                      <a:pPr algn="r"/>
                      <a:r>
                        <a:rPr sz="1300" b="0">
                          <a:solidFill>
                            <a:srgbClr val="1F2A44"/>
                          </a:solidFill>
                          <a:latin typeface="Calibri"/>
                        </a:rPr>
                        <a:t>13%</a:t>
                      </a:r>
                    </a:p>
                  </a:txBody>
                  <a:tcPr marL="54864" marR="54864" marT="27432" marB="27432" anchor="ctr">
                    <a:solidFill>
                      <a:srgbClr val="F2F4F8"/>
                    </a:solidFill>
                  </a:tcPr>
                </a:tc>
              </a:tr>
              <a:tr h="399010">
                <a:tc>
                  <a:txBody>
                    <a:bodyPr/>
                    <a:lstStyle/>
                    <a:p>
                      <a:r>
                        <a:rPr sz="1300" b="0">
                          <a:solidFill>
                            <a:srgbClr val="1F2A44"/>
                          </a:solidFill>
                          <a:latin typeface="Calibri"/>
                        </a:rPr>
                        <a:t>Taxes, CWIP, builders-risk insurance</a:t>
                      </a:r>
                    </a:p>
                  </a:txBody>
                  <a:tcPr marL="54864" marR="54864" marT="27432" marB="27432" anchor="ctr">
                    <a:solidFill>
                      <a:srgbClr val="FFFFFF"/>
                    </a:solidFill>
                  </a:tcPr>
                </a:tc>
                <a:tc>
                  <a:txBody>
                    <a:bodyPr/>
                    <a:lstStyle/>
                    <a:p>
                      <a:pPr algn="r"/>
                      <a:r>
                        <a:rPr sz="1300" b="0">
                          <a:solidFill>
                            <a:srgbClr val="1F2A44"/>
                          </a:solidFill>
                          <a:latin typeface="Calibri"/>
                        </a:rPr>
                        <a:t>$0.8M</a:t>
                      </a:r>
                    </a:p>
                  </a:txBody>
                  <a:tcPr marL="54864" marR="54864" marT="27432" marB="27432" anchor="ctr">
                    <a:solidFill>
                      <a:srgbClr val="FFFFFF"/>
                    </a:solidFill>
                  </a:tcPr>
                </a:tc>
                <a:tc>
                  <a:txBody>
                    <a:bodyPr/>
                    <a:lstStyle/>
                    <a:p>
                      <a:pPr algn="r"/>
                      <a:r>
                        <a:rPr sz="1300" b="0">
                          <a:solidFill>
                            <a:srgbClr val="1F2A44"/>
                          </a:solidFill>
                          <a:latin typeface="Calibri"/>
                        </a:rPr>
                        <a:t>$1.3M</a:t>
                      </a:r>
                    </a:p>
                  </a:txBody>
                  <a:tcPr marL="54864" marR="54864" marT="27432" marB="27432" anchor="ctr">
                    <a:solidFill>
                      <a:srgbClr val="FFFFFF"/>
                    </a:solidFill>
                  </a:tcPr>
                </a:tc>
                <a:tc>
                  <a:txBody>
                    <a:bodyPr/>
                    <a:lstStyle/>
                    <a:p>
                      <a:pPr algn="r"/>
                      <a:r>
                        <a:rPr sz="1300" b="0">
                          <a:solidFill>
                            <a:srgbClr val="1F2A44"/>
                          </a:solidFill>
                          <a:latin typeface="Calibri"/>
                        </a:rPr>
                        <a:t>2%</a:t>
                      </a:r>
                    </a:p>
                  </a:txBody>
                  <a:tcPr marL="54864" marR="54864" marT="27432" marB="27432" anchor="ctr">
                    <a:solidFill>
                      <a:srgbClr val="FFFFFF"/>
                    </a:solidFill>
                  </a:tcPr>
                </a:tc>
              </a:tr>
              <a:tr h="399020">
                <a:tc>
                  <a:txBody>
                    <a:bodyPr/>
                    <a:lstStyle/>
                    <a:p>
                      <a:r>
                        <a:rPr sz="1300" b="1">
                          <a:solidFill>
                            <a:srgbClr val="1F2A44"/>
                          </a:solidFill>
                          <a:latin typeface="Calibri"/>
                        </a:rPr>
                        <a:t>Total, project 21334 (directs incl. $20.3M of loaders J-M)</a:t>
                      </a:r>
                    </a:p>
                  </a:txBody>
                  <a:tcPr marL="54864" marR="54864" marT="27432" marB="27432" anchor="ctr">
                    <a:solidFill>
                      <a:srgbClr val="F2F4F8"/>
                    </a:solidFill>
                  </a:tcPr>
                </a:tc>
                <a:tc>
                  <a:txBody>
                    <a:bodyPr/>
                    <a:lstStyle/>
                    <a:p>
                      <a:pPr algn="r"/>
                      <a:r>
                        <a:rPr sz="1300" b="1">
                          <a:solidFill>
                            <a:srgbClr val="1F2A44"/>
                          </a:solidFill>
                          <a:latin typeface="Calibri"/>
                        </a:rPr>
                        <a:t>$57.2M</a:t>
                      </a:r>
                    </a:p>
                  </a:txBody>
                  <a:tcPr marL="54864" marR="54864" marT="27432" marB="27432" anchor="ctr">
                    <a:solidFill>
                      <a:srgbClr val="F2F4F8"/>
                    </a:solidFill>
                  </a:tcPr>
                </a:tc>
                <a:tc>
                  <a:txBody>
                    <a:bodyPr/>
                    <a:lstStyle/>
                    <a:p>
                      <a:pPr algn="r"/>
                      <a:r>
                        <a:rPr sz="1300" b="1">
                          <a:solidFill>
                            <a:srgbClr val="1F2A44"/>
                          </a:solidFill>
                          <a:latin typeface="Calibri"/>
                        </a:rPr>
                        <a:t>$57.2M</a:t>
                      </a:r>
                    </a:p>
                  </a:txBody>
                  <a:tcPr marL="54864" marR="54864" marT="27432" marB="27432" anchor="ctr">
                    <a:solidFill>
                      <a:srgbClr val="F2F4F8"/>
                    </a:solidFill>
                  </a:tcPr>
                </a:tc>
                <a:tc>
                  <a:txBody>
                    <a:bodyPr/>
                    <a:lstStyle/>
                    <a:p>
                      <a:pPr algn="r"/>
                      <a:r>
                        <a:rPr sz="1300" b="1">
                          <a:solidFill>
                            <a:srgbClr val="1F2A44"/>
                          </a:solidFill>
                          <a:latin typeface="Calibri"/>
                        </a:rPr>
                        <a:t>100%</a:t>
                      </a:r>
                    </a:p>
                  </a:txBody>
                  <a:tcPr marL="54864" marR="54864" marT="27432" marB="27432" anchor="ctr">
                    <a:solidFill>
                      <a:srgbClr val="F2F4F8"/>
                    </a:solidFill>
                  </a:tcPr>
                </a:tc>
              </a:tr>
            </a:tbl>
          </a:graphicData>
        </a:graphic>
      </p:graphicFrame>
      <p:sp>
        <p:nvSpPr>
          <p:cNvPr id="8" name="TextBox 7"/>
          <p:cNvSpPr txBox="1"/>
          <p:nvPr/>
        </p:nvSpPr>
        <p:spPr>
          <a:xfrm>
            <a:off x="548640" y="5897880"/>
            <a:ext cx="11064240" cy="457200"/>
          </a:xfrm>
          <a:prstGeom prst="rect">
            <a:avLst/>
          </a:prstGeom>
          <a:noFill/>
        </p:spPr>
        <p:txBody>
          <a:bodyPr wrap="square" lIns="45720" rIns="45720" tIns="27432" bIns="27432" anchor="t">
            <a:spAutoFit/>
          </a:bodyPr>
          <a:lstStyle/>
          <a:p>
            <a:pPr algn="l">
              <a:lnSpc>
                <a:spcPct val="105000"/>
              </a:lnSpc>
              <a:spcAft>
                <a:spcPts val="400"/>
              </a:spcAft>
            </a:pPr>
            <a:r>
              <a:rPr sz="1300" b="0" i="0">
                <a:solidFill>
                  <a:srgbClr val="1F2A44"/>
                </a:solidFill>
                <a:latin typeface="Calibri"/>
              </a:rPr>
              <a:t>Battery-related layers A+B+C loaded: $28.1M (49%). Station, site and feeder interconnection D+E+F loaded: $18.3M (32%). Owner soft costs, testing and taxes: $10.9M.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UNIT COST AT EACH BOUNDARY, 20 MWH / 10 MW</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same project is $605/kWh or $2,862/kWh depending on where you draw the line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6</a:t>
            </a:r>
          </a:p>
        </p:txBody>
      </p:sp>
      <p:graphicFrame>
        <p:nvGraphicFramePr>
          <p:cNvPr id="7" name="Chart 6"/>
          <p:cNvGraphicFramePr>
            <a:graphicFrameLocks noGrp="1"/>
          </p:cNvGraphicFramePr>
          <p:nvPr/>
        </p:nvGraphicFramePr>
        <p:xfrm>
          <a:off x="457200" y="1371600"/>
          <a:ext cx="6949440" cy="484632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635240" y="1417320"/>
          <a:ext cx="4023360" cy="3291840"/>
        </p:xfrm>
        <a:graphic>
          <a:graphicData uri="http://schemas.openxmlformats.org/drawingml/2006/table">
            <a:tbl>
              <a:tblPr firstRow="1" bandRow="1">
                <a:tableStyleId>{5C22544A-7EE6-4342-B048-85BDC9FD1C3A}</a:tableStyleId>
              </a:tblPr>
              <a:tblGrid>
                <a:gridCol w="1554480"/>
                <a:gridCol w="822960"/>
                <a:gridCol w="822960"/>
                <a:gridCol w="822960"/>
              </a:tblGrid>
              <a:tr h="548640">
                <a:tc>
                  <a:txBody>
                    <a:bodyPr/>
                    <a:lstStyle/>
                    <a:p>
                      <a:r>
                        <a:rPr sz="1200" b="1">
                          <a:solidFill>
                            <a:srgbClr val="FFFFFF"/>
                          </a:solidFill>
                          <a:latin typeface="Calibri"/>
                        </a:rPr>
                        <a:t>Boundary</a:t>
                      </a:r>
                    </a:p>
                  </a:txBody>
                  <a:tcPr marL="54864" marR="54864" marT="27432" marB="27432">
                    <a:solidFill>
                      <a:srgbClr val="001E60"/>
                    </a:solidFill>
                  </a:tcPr>
                </a:tc>
                <a:tc>
                  <a:txBody>
                    <a:bodyPr/>
                    <a:lstStyle/>
                    <a:p>
                      <a:pPr algn="r"/>
                      <a:r>
                        <a:rPr sz="1200" b="1">
                          <a:solidFill>
                            <a:srgbClr val="FFFFFF"/>
                          </a:solidFill>
                          <a:latin typeface="Calibri"/>
                        </a:rPr>
                        <a:t>$/kW</a:t>
                      </a:r>
                    </a:p>
                  </a:txBody>
                  <a:tcPr marL="54864" marR="54864" marT="27432" marB="27432">
                    <a:solidFill>
                      <a:srgbClr val="001E60"/>
                    </a:solidFill>
                  </a:tcPr>
                </a:tc>
                <a:tc>
                  <a:txBody>
                    <a:bodyPr/>
                    <a:lstStyle/>
                    <a:p>
                      <a:pPr algn="r"/>
                      <a:r>
                        <a:rPr sz="1200" b="1">
                          <a:solidFill>
                            <a:srgbClr val="FFFFFF"/>
                          </a:solidFill>
                          <a:latin typeface="Calibri"/>
                        </a:rPr>
                        <a:t>$/kWh</a:t>
                      </a:r>
                    </a:p>
                  </a:txBody>
                  <a:tcPr marL="54864" marR="54864" marT="27432" marB="27432">
                    <a:solidFill>
                      <a:srgbClr val="001E60"/>
                    </a:solidFill>
                  </a:tcPr>
                </a:tc>
                <a:tc>
                  <a:txBody>
                    <a:bodyPr/>
                    <a:lstStyle/>
                    <a:p>
                      <a:pPr algn="r"/>
                      <a:r>
                        <a:rPr sz="1200" b="1">
                          <a:solidFill>
                            <a:srgbClr val="FFFFFF"/>
                          </a:solidFill>
                          <a:latin typeface="Calibri"/>
                        </a:rPr>
                        <a:t>x</a:t>
                      </a:r>
                    </a:p>
                  </a:txBody>
                  <a:tcPr marL="54864" marR="54864" marT="27432" marB="27432">
                    <a:solidFill>
                      <a:srgbClr val="001E60"/>
                    </a:solidFill>
                  </a:tcPr>
                </a:tc>
              </a:tr>
              <a:tr h="548640">
                <a:tc>
                  <a:txBody>
                    <a:bodyPr/>
                    <a:lstStyle/>
                    <a:p>
                      <a:r>
                        <a:rPr sz="1200" b="0">
                          <a:solidFill>
                            <a:srgbClr val="1F2A44"/>
                          </a:solidFill>
                          <a:latin typeface="Calibri"/>
                        </a:rPr>
                        <a:t>Vendor contract</a:t>
                      </a:r>
                    </a:p>
                  </a:txBody>
                  <a:tcPr marL="54864" marR="54864" marT="27432" marB="27432" anchor="ctr">
                    <a:solidFill>
                      <a:srgbClr val="FFFFFF"/>
                    </a:solidFill>
                  </a:tcPr>
                </a:tc>
                <a:tc>
                  <a:txBody>
                    <a:bodyPr/>
                    <a:lstStyle/>
                    <a:p>
                      <a:pPr algn="r"/>
                      <a:r>
                        <a:rPr sz="1200" b="0">
                          <a:solidFill>
                            <a:srgbClr val="1F2A44"/>
                          </a:solidFill>
                          <a:latin typeface="Calibri"/>
                        </a:rPr>
                        <a:t>$1,211</a:t>
                      </a:r>
                    </a:p>
                  </a:txBody>
                  <a:tcPr marL="54864" marR="54864" marT="27432" marB="27432" anchor="ctr">
                    <a:solidFill>
                      <a:srgbClr val="FFFFFF"/>
                    </a:solidFill>
                  </a:tcPr>
                </a:tc>
                <a:tc>
                  <a:txBody>
                    <a:bodyPr/>
                    <a:lstStyle/>
                    <a:p>
                      <a:pPr algn="r"/>
                      <a:r>
                        <a:rPr sz="1200" b="0">
                          <a:solidFill>
                            <a:srgbClr val="1F2A44"/>
                          </a:solidFill>
                          <a:latin typeface="Calibri"/>
                        </a:rPr>
                        <a:t>$605</a:t>
                      </a:r>
                    </a:p>
                  </a:txBody>
                  <a:tcPr marL="54864" marR="54864" marT="27432" marB="27432" anchor="ctr">
                    <a:solidFill>
                      <a:srgbClr val="FFFFFF"/>
                    </a:solidFill>
                  </a:tcPr>
                </a:tc>
                <a:tc>
                  <a:txBody>
                    <a:bodyPr/>
                    <a:lstStyle/>
                    <a:p>
                      <a:pPr algn="r"/>
                      <a:r>
                        <a:rPr sz="1200" b="0">
                          <a:solidFill>
                            <a:srgbClr val="1F2A44"/>
                          </a:solidFill>
                          <a:latin typeface="Calibri"/>
                        </a:rPr>
                        <a:t>1.0x</a:t>
                      </a:r>
                    </a:p>
                  </a:txBody>
                  <a:tcPr marL="54864" marR="54864" marT="27432" marB="27432" anchor="ctr">
                    <a:solidFill>
                      <a:srgbClr val="FFFFFF"/>
                    </a:solidFill>
                  </a:tcPr>
                </a:tc>
              </a:tr>
              <a:tr h="548640">
                <a:tc>
                  <a:txBody>
                    <a:bodyPr/>
                    <a:lstStyle/>
                    <a:p>
                      <a:r>
                        <a:rPr sz="1200" b="0">
                          <a:solidFill>
                            <a:srgbClr val="1F2A44"/>
                          </a:solidFill>
                          <a:latin typeface="Calibri"/>
                        </a:rPr>
                        <a:t>Battery installed</a:t>
                      </a:r>
                    </a:p>
                  </a:txBody>
                  <a:tcPr marL="54864" marR="54864" marT="27432" marB="27432" anchor="ctr">
                    <a:solidFill>
                      <a:srgbClr val="F2F4F8"/>
                    </a:solidFill>
                  </a:tcPr>
                </a:tc>
                <a:tc>
                  <a:txBody>
                    <a:bodyPr/>
                    <a:lstStyle/>
                    <a:p>
                      <a:pPr algn="r"/>
                      <a:r>
                        <a:rPr sz="1200" b="0">
                          <a:solidFill>
                            <a:srgbClr val="1F2A44"/>
                          </a:solidFill>
                          <a:latin typeface="Calibri"/>
                        </a:rPr>
                        <a:t>$1,666</a:t>
                      </a:r>
                    </a:p>
                  </a:txBody>
                  <a:tcPr marL="54864" marR="54864" marT="27432" marB="27432" anchor="ctr">
                    <a:solidFill>
                      <a:srgbClr val="F2F4F8"/>
                    </a:solidFill>
                  </a:tcPr>
                </a:tc>
                <a:tc>
                  <a:txBody>
                    <a:bodyPr/>
                    <a:lstStyle/>
                    <a:p>
                      <a:pPr algn="r"/>
                      <a:r>
                        <a:rPr sz="1200" b="0">
                          <a:solidFill>
                            <a:srgbClr val="1F2A44"/>
                          </a:solidFill>
                          <a:latin typeface="Calibri"/>
                        </a:rPr>
                        <a:t>$833</a:t>
                      </a:r>
                    </a:p>
                  </a:txBody>
                  <a:tcPr marL="54864" marR="54864" marT="27432" marB="27432" anchor="ctr">
                    <a:solidFill>
                      <a:srgbClr val="F2F4F8"/>
                    </a:solidFill>
                  </a:tcPr>
                </a:tc>
                <a:tc>
                  <a:txBody>
                    <a:bodyPr/>
                    <a:lstStyle/>
                    <a:p>
                      <a:pPr algn="r"/>
                      <a:r>
                        <a:rPr sz="1200" b="0">
                          <a:solidFill>
                            <a:srgbClr val="1F2A44"/>
                          </a:solidFill>
                          <a:latin typeface="Calibri"/>
                        </a:rPr>
                        <a:t>1.4x</a:t>
                      </a:r>
                    </a:p>
                  </a:txBody>
                  <a:tcPr marL="54864" marR="54864" marT="27432" marB="27432" anchor="ctr">
                    <a:solidFill>
                      <a:srgbClr val="F2F4F8"/>
                    </a:solidFill>
                  </a:tcPr>
                </a:tc>
              </a:tr>
              <a:tr h="548640">
                <a:tc>
                  <a:txBody>
                    <a:bodyPr/>
                    <a:lstStyle/>
                    <a:p>
                      <a:r>
                        <a:rPr sz="1200" b="0">
                          <a:solidFill>
                            <a:srgbClr val="1F2A44"/>
                          </a:solidFill>
                          <a:latin typeface="Calibri"/>
                        </a:rPr>
                        <a:t>Sta 360 approval</a:t>
                      </a:r>
                    </a:p>
                  </a:txBody>
                  <a:tcPr marL="54864" marR="54864" marT="27432" marB="27432" anchor="ctr">
                    <a:solidFill>
                      <a:srgbClr val="FFFFFF"/>
                    </a:solidFill>
                  </a:tcPr>
                </a:tc>
                <a:tc>
                  <a:txBody>
                    <a:bodyPr/>
                    <a:lstStyle/>
                    <a:p>
                      <a:pPr algn="r"/>
                      <a:r>
                        <a:rPr sz="1200" b="0">
                          <a:solidFill>
                            <a:srgbClr val="1F2A44"/>
                          </a:solidFill>
                          <a:latin typeface="Calibri"/>
                        </a:rPr>
                        <a:t>$4,999</a:t>
                      </a:r>
                    </a:p>
                  </a:txBody>
                  <a:tcPr marL="54864" marR="54864" marT="27432" marB="27432" anchor="ctr">
                    <a:solidFill>
                      <a:srgbClr val="FFFFFF"/>
                    </a:solidFill>
                  </a:tcPr>
                </a:tc>
                <a:tc>
                  <a:txBody>
                    <a:bodyPr/>
                    <a:lstStyle/>
                    <a:p>
                      <a:pPr algn="r"/>
                      <a:r>
                        <a:rPr sz="1200" b="0">
                          <a:solidFill>
                            <a:srgbClr val="1F2A44"/>
                          </a:solidFill>
                          <a:latin typeface="Calibri"/>
                        </a:rPr>
                        <a:t>$2,500</a:t>
                      </a:r>
                    </a:p>
                  </a:txBody>
                  <a:tcPr marL="54864" marR="54864" marT="27432" marB="27432" anchor="ctr">
                    <a:solidFill>
                      <a:srgbClr val="FFFFFF"/>
                    </a:solidFill>
                  </a:tcPr>
                </a:tc>
                <a:tc>
                  <a:txBody>
                    <a:bodyPr/>
                    <a:lstStyle/>
                    <a:p>
                      <a:pPr algn="r"/>
                      <a:r>
                        <a:rPr sz="1200" b="0">
                          <a:solidFill>
                            <a:srgbClr val="1F2A44"/>
                          </a:solidFill>
                          <a:latin typeface="Calibri"/>
                        </a:rPr>
                        <a:t>4.1x</a:t>
                      </a:r>
                    </a:p>
                  </a:txBody>
                  <a:tcPr marL="54864" marR="54864" marT="27432" marB="27432" anchor="ctr">
                    <a:solidFill>
                      <a:srgbClr val="FFFFFF"/>
                    </a:solidFill>
                  </a:tcPr>
                </a:tc>
              </a:tr>
              <a:tr h="548640">
                <a:tc>
                  <a:txBody>
                    <a:bodyPr/>
                    <a:lstStyle/>
                    <a:p>
                      <a:r>
                        <a:rPr sz="1200" b="0">
                          <a:solidFill>
                            <a:srgbClr val="1F2A44"/>
                          </a:solidFill>
                          <a:latin typeface="Calibri"/>
                        </a:rPr>
                        <a:t>Project 21334</a:t>
                      </a:r>
                    </a:p>
                  </a:txBody>
                  <a:tcPr marL="54864" marR="54864" marT="27432" marB="27432" anchor="ctr">
                    <a:solidFill>
                      <a:srgbClr val="F2F4F8"/>
                    </a:solidFill>
                  </a:tcPr>
                </a:tc>
                <a:tc>
                  <a:txBody>
                    <a:bodyPr/>
                    <a:lstStyle/>
                    <a:p>
                      <a:pPr algn="r"/>
                      <a:r>
                        <a:rPr sz="1200" b="0">
                          <a:solidFill>
                            <a:srgbClr val="1F2A44"/>
                          </a:solidFill>
                          <a:latin typeface="Calibri"/>
                        </a:rPr>
                        <a:t>$5,725</a:t>
                      </a:r>
                    </a:p>
                  </a:txBody>
                  <a:tcPr marL="54864" marR="54864" marT="27432" marB="27432" anchor="ctr">
                    <a:solidFill>
                      <a:srgbClr val="F2F4F8"/>
                    </a:solidFill>
                  </a:tcPr>
                </a:tc>
                <a:tc>
                  <a:txBody>
                    <a:bodyPr/>
                    <a:lstStyle/>
                    <a:p>
                      <a:pPr algn="r"/>
                      <a:r>
                        <a:rPr sz="1200" b="0">
                          <a:solidFill>
                            <a:srgbClr val="1F2A44"/>
                          </a:solidFill>
                          <a:latin typeface="Calibri"/>
                        </a:rPr>
                        <a:t>$2,862</a:t>
                      </a:r>
                    </a:p>
                  </a:txBody>
                  <a:tcPr marL="54864" marR="54864" marT="27432" marB="27432" anchor="ctr">
                    <a:solidFill>
                      <a:srgbClr val="F2F4F8"/>
                    </a:solidFill>
                  </a:tcPr>
                </a:tc>
                <a:tc>
                  <a:txBody>
                    <a:bodyPr/>
                    <a:lstStyle/>
                    <a:p>
                      <a:pPr algn="r"/>
                      <a:r>
                        <a:rPr sz="1200" b="0">
                          <a:solidFill>
                            <a:srgbClr val="1F2A44"/>
                          </a:solidFill>
                          <a:latin typeface="Calibri"/>
                        </a:rPr>
                        <a:t>4.7x</a:t>
                      </a:r>
                    </a:p>
                  </a:txBody>
                  <a:tcPr marL="54864" marR="54864" marT="27432" marB="27432" anchor="ctr">
                    <a:solidFill>
                      <a:srgbClr val="F2F4F8"/>
                    </a:solidFill>
                  </a:tcPr>
                </a:tc>
              </a:tr>
              <a:tr h="548640">
                <a:tc>
                  <a:txBody>
                    <a:bodyPr/>
                    <a:lstStyle/>
                    <a:p>
                      <a:r>
                        <a:rPr sz="1200" b="0">
                          <a:solidFill>
                            <a:srgbClr val="1F2A44"/>
                          </a:solidFill>
                          <a:latin typeface="Calibri"/>
                        </a:rPr>
                        <a:t>Incl. D-Line</a:t>
                      </a:r>
                    </a:p>
                  </a:txBody>
                  <a:tcPr marL="54864" marR="54864" marT="27432" marB="27432" anchor="ctr">
                    <a:solidFill>
                      <a:srgbClr val="FFFFFF"/>
                    </a:solidFill>
                  </a:tcPr>
                </a:tc>
                <a:tc>
                  <a:txBody>
                    <a:bodyPr/>
                    <a:lstStyle/>
                    <a:p>
                      <a:pPr algn="r"/>
                      <a:r>
                        <a:rPr sz="1200" b="0">
                          <a:solidFill>
                            <a:srgbClr val="1F2A44"/>
                          </a:solidFill>
                          <a:latin typeface="Calibri"/>
                        </a:rPr>
                        <a:t>$6,204</a:t>
                      </a:r>
                    </a:p>
                  </a:txBody>
                  <a:tcPr marL="54864" marR="54864" marT="27432" marB="27432" anchor="ctr">
                    <a:solidFill>
                      <a:srgbClr val="FFFFFF"/>
                    </a:solidFill>
                  </a:tcPr>
                </a:tc>
                <a:tc>
                  <a:txBody>
                    <a:bodyPr/>
                    <a:lstStyle/>
                    <a:p>
                      <a:pPr algn="r"/>
                      <a:r>
                        <a:rPr sz="1200" b="0">
                          <a:solidFill>
                            <a:srgbClr val="1F2A44"/>
                          </a:solidFill>
                          <a:latin typeface="Calibri"/>
                        </a:rPr>
                        <a:t>$3,102</a:t>
                      </a:r>
                    </a:p>
                  </a:txBody>
                  <a:tcPr marL="54864" marR="54864" marT="27432" marB="27432" anchor="ctr">
                    <a:solidFill>
                      <a:srgbClr val="FFFFFF"/>
                    </a:solidFill>
                  </a:tcPr>
                </a:tc>
                <a:tc>
                  <a:txBody>
                    <a:bodyPr/>
                    <a:lstStyle/>
                    <a:p>
                      <a:pPr algn="r"/>
                      <a:r>
                        <a:rPr sz="1200" b="0">
                          <a:solidFill>
                            <a:srgbClr val="1F2A44"/>
                          </a:solidFill>
                          <a:latin typeface="Calibri"/>
                        </a:rPr>
                        <a:t>5.1x</a:t>
                      </a:r>
                    </a:p>
                  </a:txBody>
                  <a:tcPr marL="54864" marR="54864" marT="27432" marB="27432" anchor="ctr">
                    <a:solidFill>
                      <a:srgbClr val="FFFFFF"/>
                    </a:solidFill>
                  </a:tcPr>
                </a:tc>
              </a:tr>
            </a:tbl>
          </a:graphicData>
        </a:graphic>
      </p:graphicFrame>
      <p:sp>
        <p:nvSpPr>
          <p:cNvPr id="9" name="TextBox 8"/>
          <p:cNvSpPr txBox="1"/>
          <p:nvPr/>
        </p:nvSpPr>
        <p:spPr>
          <a:xfrm>
            <a:off x="7635240" y="4846320"/>
            <a:ext cx="4023360" cy="137160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6B7280"/>
                </a:solidFill>
                <a:latin typeface="Calibri"/>
              </a:rPr>
              <a:t>A benchmark is only meaningful against the row that matches its definition. Pack and DC-block prices belong beside the top bar; NREL and EIA installed costs beside 'battery installed' or 'station complete'; nothing published includes a utility's own indirects and AFUDC.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WHAT IT TAKES TO PUT 10 MW ON FOUR 13.8 KV FEEDERS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Station and interconnection: $18.3M loaded, none of it in a vendor quote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7</a:t>
            </a:r>
          </a:p>
        </p:txBody>
      </p:sp>
      <p:graphicFrame>
        <p:nvGraphicFramePr>
          <p:cNvPr id="7" name="Chart 6"/>
          <p:cNvGraphicFramePr>
            <a:graphicFrameLocks noGrp="1"/>
          </p:cNvGraphicFramePr>
          <p:nvPr/>
        </p:nvGraphicFramePr>
        <p:xfrm>
          <a:off x="457200" y="1371600"/>
          <a:ext cx="5852160" cy="2926080"/>
        </p:xfrm>
        <a:graphic>
          <a:graphicData uri="http://schemas.openxmlformats.org/drawingml/2006/chart">
            <c:chart xmlns:c="http://schemas.openxmlformats.org/drawingml/2006/chart" r:id="rId2"/>
          </a:graphicData>
        </a:graphic>
      </p:graphicFrame>
      <p:sp>
        <p:nvSpPr>
          <p:cNvPr id="8" name="Rectangle 7"/>
          <p:cNvSpPr/>
          <p:nvPr/>
        </p:nvSpPr>
        <p:spPr>
          <a:xfrm>
            <a:off x="548640" y="4480560"/>
            <a:ext cx="2743200" cy="17373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590288"/>
            <a:ext cx="2468880" cy="822960"/>
          </a:xfrm>
          <a:prstGeom prst="rect">
            <a:avLst/>
          </a:prstGeom>
          <a:noFill/>
        </p:spPr>
        <p:txBody>
          <a:bodyPr wrap="square" lIns="45720" rIns="45720" tIns="27432" bIns="27432" anchor="t">
            <a:spAutoFit/>
          </a:bodyPr>
          <a:lstStyle/>
          <a:p>
            <a:pPr algn="l">
              <a:lnSpc>
                <a:spcPct val="105000"/>
              </a:lnSpc>
              <a:spcAft>
                <a:spcPts val="400"/>
              </a:spcAft>
            </a:pPr>
            <a:r>
              <a:rPr sz="3200" b="1" i="0">
                <a:solidFill>
                  <a:srgbClr val="001E60"/>
                </a:solidFill>
                <a:latin typeface="Georgia"/>
              </a:rPr>
              <a:t>$18.3M</a:t>
            </a:r>
          </a:p>
        </p:txBody>
      </p:sp>
      <p:sp>
        <p:nvSpPr>
          <p:cNvPr id="10" name="TextBox 9"/>
          <p:cNvSpPr txBox="1"/>
          <p:nvPr/>
        </p:nvSpPr>
        <p:spPr>
          <a:xfrm>
            <a:off x="685800" y="5138928"/>
            <a:ext cx="246888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Loaded, in 21334</a:t>
            </a:r>
          </a:p>
        </p:txBody>
      </p:sp>
      <p:sp>
        <p:nvSpPr>
          <p:cNvPr id="11" name="TextBox 10"/>
          <p:cNvSpPr txBox="1"/>
          <p:nvPr/>
        </p:nvSpPr>
        <p:spPr>
          <a:xfrm>
            <a:off x="685800" y="5522976"/>
            <a:ext cx="2468880" cy="64922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32% of the approval level</a:t>
            </a:r>
          </a:p>
        </p:txBody>
      </p:sp>
      <p:sp>
        <p:nvSpPr>
          <p:cNvPr id="12" name="Rectangle 11"/>
          <p:cNvSpPr/>
          <p:nvPr/>
        </p:nvSpPr>
        <p:spPr>
          <a:xfrm>
            <a:off x="3429000" y="4480560"/>
            <a:ext cx="2880360" cy="17373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4590288"/>
            <a:ext cx="2606040" cy="822960"/>
          </a:xfrm>
          <a:prstGeom prst="rect">
            <a:avLst/>
          </a:prstGeom>
          <a:noFill/>
        </p:spPr>
        <p:txBody>
          <a:bodyPr wrap="square" lIns="45720" rIns="45720" tIns="27432" bIns="27432" anchor="t">
            <a:spAutoFit/>
          </a:bodyPr>
          <a:lstStyle/>
          <a:p>
            <a:pPr algn="l">
              <a:lnSpc>
                <a:spcPct val="105000"/>
              </a:lnSpc>
              <a:spcAft>
                <a:spcPts val="400"/>
              </a:spcAft>
            </a:pPr>
            <a:r>
              <a:rPr sz="3200" b="1" i="0">
                <a:solidFill>
                  <a:srgbClr val="001E60"/>
                </a:solidFill>
                <a:latin typeface="Georgia"/>
              </a:rPr>
              <a:t>$23.1M</a:t>
            </a:r>
          </a:p>
        </p:txBody>
      </p:sp>
      <p:sp>
        <p:nvSpPr>
          <p:cNvPr id="14" name="TextBox 13"/>
          <p:cNvSpPr txBox="1"/>
          <p:nvPr/>
        </p:nvSpPr>
        <p:spPr>
          <a:xfrm>
            <a:off x="3566160" y="5138928"/>
            <a:ext cx="26060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Incl. D-Line memo</a:t>
            </a:r>
          </a:p>
        </p:txBody>
      </p:sp>
      <p:sp>
        <p:nvSpPr>
          <p:cNvPr id="15" name="TextBox 14"/>
          <p:cNvSpPr txBox="1"/>
          <p:nvPr/>
        </p:nvSpPr>
        <p:spPr>
          <a:xfrm>
            <a:off x="3566160" y="5522976"/>
            <a:ext cx="2606040" cy="64922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37% of the all-in view</a:t>
            </a:r>
          </a:p>
        </p:txBody>
      </p:sp>
      <p:sp>
        <p:nvSpPr>
          <p:cNvPr id="16" name="TextBox 15"/>
          <p:cNvSpPr txBox="1"/>
          <p:nvPr/>
        </p:nvSpPr>
        <p:spPr>
          <a:xfrm>
            <a:off x="6537960" y="1417320"/>
            <a:ext cx="5120640" cy="4846320"/>
          </a:xfrm>
          <a:prstGeom prst="rect">
            <a:avLst/>
          </a:prstGeom>
          <a:noFill/>
        </p:spPr>
        <p:txBody>
          <a:bodyPr wrap="square" lIns="45720">
            <a:spAutoFit/>
          </a:bodyPr>
          <a:lstStyle/>
          <a:p>
            <a:pPr>
              <a:lnSpc>
                <a:spcPct val="105000"/>
              </a:lnSpc>
              <a:spcAft>
                <a:spcPts val="600"/>
              </a:spcAft>
            </a:pPr>
            <a:r>
              <a:rPr sz="1300">
                <a:solidFill>
                  <a:srgbClr val="FFC72C"/>
                </a:solidFill>
                <a:latin typeface="Calibri"/>
              </a:rPr>
              <a:t>▪  </a:t>
            </a:r>
            <a:r>
              <a:rPr b="1" sz="1300">
                <a:solidFill>
                  <a:srgbClr val="1F2A44"/>
                </a:solidFill>
                <a:latin typeface="Calibri"/>
              </a:rPr>
              <a:t>Four Siemens SDV7 breaker skids at $300K each </a:t>
            </a:r>
            <a:r>
              <a:rPr sz="1300">
                <a:solidFill>
                  <a:srgbClr val="1F2A44"/>
                </a:solidFill>
                <a:latin typeface="Calibri"/>
              </a:rPr>
              <a:t>(relays, PTs, DC battery, cabinet on the skid), disconnects, four metering transclosures, station service, riser poles, 15 kV cable and 1,240 ft of duct bank.</a:t>
            </a:r>
          </a:p>
          <a:p>
            <a:pPr>
              <a:lnSpc>
                <a:spcPct val="105000"/>
              </a:lnSpc>
              <a:spcAft>
                <a:spcPts val="600"/>
              </a:spcAft>
            </a:pPr>
            <a:r>
              <a:rPr sz="1300">
                <a:solidFill>
                  <a:srgbClr val="FFC72C"/>
                </a:solidFill>
                <a:latin typeface="Calibri"/>
              </a:rPr>
              <a:t>▪  </a:t>
            </a:r>
            <a:r>
              <a:rPr b="1" sz="1300">
                <a:solidFill>
                  <a:srgbClr val="1F2A44"/>
                </a:solidFill>
                <a:latin typeface="Calibri"/>
              </a:rPr>
              <a:t>Station 496: </a:t>
            </a:r>
            <a:r>
              <a:rPr sz="1300">
                <a:solidFill>
                  <a:srgbClr val="1F2A44"/>
                </a:solidFill>
                <a:latin typeface="Calibri"/>
              </a:rPr>
              <a:t>20 SEL relays replacing SEL-551 and REF610 units on four feeders, RTU and RTAC points, transfer trip over dark fiber; $1.8M of that is testing.</a:t>
            </a:r>
          </a:p>
          <a:p>
            <a:pPr>
              <a:lnSpc>
                <a:spcPct val="105000"/>
              </a:lnSpc>
              <a:spcAft>
                <a:spcPts val="600"/>
              </a:spcAft>
            </a:pPr>
            <a:r>
              <a:rPr sz="1300">
                <a:solidFill>
                  <a:srgbClr val="FFC72C"/>
                </a:solidFill>
                <a:latin typeface="Calibri"/>
              </a:rPr>
              <a:t>▪  </a:t>
            </a:r>
            <a:r>
              <a:rPr b="1" sz="1300">
                <a:solidFill>
                  <a:srgbClr val="1F2A44"/>
                </a:solidFill>
                <a:latin typeface="Calibri"/>
              </a:rPr>
              <a:t>Site: </a:t>
            </a:r>
            <a:r>
              <a:rPr sz="1300">
                <a:solidFill>
                  <a:srgbClr val="1F2A44"/>
                </a:solidFill>
                <a:latin typeface="Calibri"/>
              </a:rPr>
              <a:t>2.5 acres cleared, 760 ft road, 2,520 CY cut, imported fill, 14 ft retaining wall, ground grid, fence, lighting; Haugland's platform take-off is larger than ours and is unreconciled.</a:t>
            </a:r>
          </a:p>
          <a:p>
            <a:pPr>
              <a:lnSpc>
                <a:spcPct val="105000"/>
              </a:lnSpc>
              <a:spcAft>
                <a:spcPts val="600"/>
              </a:spcAft>
            </a:pPr>
            <a:r>
              <a:rPr sz="1300">
                <a:solidFill>
                  <a:srgbClr val="FFC72C"/>
                </a:solidFill>
                <a:latin typeface="Calibri"/>
              </a:rPr>
              <a:t>▪  </a:t>
            </a:r>
            <a:r>
              <a:rPr b="1" sz="1300">
                <a:solidFill>
                  <a:srgbClr val="1F2A44"/>
                </a:solidFill>
                <a:latin typeface="Calibri"/>
              </a:rPr>
              <a:t>D-Line (24211): </a:t>
            </a:r>
            <a:r>
              <a:rPr sz="1300">
                <a:solidFill>
                  <a:srgbClr val="1F2A44"/>
                </a:solidFill>
                <a:latin typeface="Calibri"/>
              </a:rPr>
              <a:t>5,465 ft feeder extension, three manholes, 16,395 ft of 3-700 cable; $4.8M is a 2023 conceptual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LOADERS ON PROJECT 21334</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Risk, contingency, indirects and AFUDC are 41% of the approval level</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8</a:t>
            </a:r>
          </a:p>
        </p:txBody>
      </p:sp>
      <p:graphicFrame>
        <p:nvGraphicFramePr>
          <p:cNvPr id="7" name="Chart 6"/>
          <p:cNvGraphicFramePr>
            <a:graphicFrameLocks noGrp="1"/>
          </p:cNvGraphicFramePr>
          <p:nvPr/>
        </p:nvGraphicFramePr>
        <p:xfrm>
          <a:off x="457200" y="1371600"/>
          <a:ext cx="4754880" cy="475488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5486400" y="1417320"/>
          <a:ext cx="6172200" cy="3200400"/>
        </p:xfrm>
        <a:graphic>
          <a:graphicData uri="http://schemas.openxmlformats.org/drawingml/2006/table">
            <a:tbl>
              <a:tblPr firstRow="1" bandRow="1">
                <a:tableStyleId>{5C22544A-7EE6-4342-B048-85BDC9FD1C3A}</a:tableStyleId>
              </a:tblPr>
              <a:tblGrid>
                <a:gridCol w="4572000"/>
                <a:gridCol w="1600200"/>
              </a:tblGrid>
              <a:tr h="355600">
                <a:tc>
                  <a:txBody>
                    <a:bodyPr/>
                    <a:lstStyle/>
                    <a:p>
                      <a:r>
                        <a:rPr sz="1200" b="1">
                          <a:solidFill>
                            <a:srgbClr val="FFFFFF"/>
                          </a:solidFill>
                          <a:latin typeface="Calibri"/>
                        </a:rPr>
                        <a:t>Station 360 risk item</a:t>
                      </a:r>
                    </a:p>
                  </a:txBody>
                  <a:tcPr marL="54864" marR="54864" marT="27432" marB="27432">
                    <a:solidFill>
                      <a:srgbClr val="001E60"/>
                    </a:solidFill>
                  </a:tcPr>
                </a:tc>
                <a:tc>
                  <a:txBody>
                    <a:bodyPr/>
                    <a:lstStyle/>
                    <a:p>
                      <a:pPr algn="r"/>
                      <a:r>
                        <a:rPr sz="1200" b="1">
                          <a:solidFill>
                            <a:srgbClr val="FFFFFF"/>
                          </a:solidFill>
                          <a:latin typeface="Calibri"/>
                        </a:rPr>
                        <a:t>$K</a:t>
                      </a:r>
                    </a:p>
                  </a:txBody>
                  <a:tcPr marL="54864" marR="54864" marT="27432" marB="27432">
                    <a:solidFill>
                      <a:srgbClr val="001E60"/>
                    </a:solidFill>
                  </a:tcPr>
                </a:tc>
              </a:tr>
              <a:tr h="355600">
                <a:tc>
                  <a:txBody>
                    <a:bodyPr/>
                    <a:lstStyle/>
                    <a:p>
                      <a:r>
                        <a:rPr sz="1200" b="0">
                          <a:solidFill>
                            <a:srgbClr val="1F2A44"/>
                          </a:solidFill>
                          <a:latin typeface="Calibri"/>
                        </a:rPr>
                        <a:t>Material cost, tariffs</a:t>
                      </a:r>
                    </a:p>
                  </a:txBody>
                  <a:tcPr marL="54864" marR="54864" marT="27432" marB="27432" anchor="ctr">
                    <a:solidFill>
                      <a:srgbClr val="FFFFFF"/>
                    </a:solidFill>
                  </a:tcPr>
                </a:tc>
                <a:tc>
                  <a:txBody>
                    <a:bodyPr/>
                    <a:lstStyle/>
                    <a:p>
                      <a:pPr algn="r"/>
                      <a:r>
                        <a:rPr sz="1200" b="0">
                          <a:solidFill>
                            <a:srgbClr val="1F2A44"/>
                          </a:solidFill>
                          <a:latin typeface="Calibri"/>
                        </a:rPr>
                        <a:t>1,000</a:t>
                      </a:r>
                    </a:p>
                  </a:txBody>
                  <a:tcPr marL="54864" marR="54864" marT="27432" marB="27432" anchor="ctr">
                    <a:solidFill>
                      <a:srgbClr val="FFFFFF"/>
                    </a:solidFill>
                  </a:tcPr>
                </a:tc>
              </a:tr>
              <a:tr h="355600">
                <a:tc>
                  <a:txBody>
                    <a:bodyPr/>
                    <a:lstStyle/>
                    <a:p>
                      <a:r>
                        <a:rPr sz="1200" b="0">
                          <a:solidFill>
                            <a:srgbClr val="1F2A44"/>
                          </a:solidFill>
                          <a:latin typeface="Calibri"/>
                        </a:rPr>
                        <a:t>Design / scope change orders</a:t>
                      </a:r>
                    </a:p>
                  </a:txBody>
                  <a:tcPr marL="54864" marR="54864" marT="27432" marB="27432" anchor="ctr">
                    <a:solidFill>
                      <a:srgbClr val="F2F4F8"/>
                    </a:solidFill>
                  </a:tcPr>
                </a:tc>
                <a:tc>
                  <a:txBody>
                    <a:bodyPr/>
                    <a:lstStyle/>
                    <a:p>
                      <a:pPr algn="r"/>
                      <a:r>
                        <a:rPr sz="1200" b="0">
                          <a:solidFill>
                            <a:srgbClr val="1F2A44"/>
                          </a:solidFill>
                          <a:latin typeface="Calibri"/>
                        </a:rPr>
                        <a:t>800</a:t>
                      </a:r>
                    </a:p>
                  </a:txBody>
                  <a:tcPr marL="54864" marR="54864" marT="27432" marB="27432" anchor="ctr">
                    <a:solidFill>
                      <a:srgbClr val="F2F4F8"/>
                    </a:solidFill>
                  </a:tcPr>
                </a:tc>
              </a:tr>
              <a:tr h="355600">
                <a:tc>
                  <a:txBody>
                    <a:bodyPr/>
                    <a:lstStyle/>
                    <a:p>
                      <a:r>
                        <a:rPr sz="1200" b="0">
                          <a:solidFill>
                            <a:srgbClr val="1F2A44"/>
                          </a:solidFill>
                          <a:latin typeface="Calibri"/>
                        </a:rPr>
                        <a:t>Labor cost, shortage, overtime</a:t>
                      </a:r>
                    </a:p>
                  </a:txBody>
                  <a:tcPr marL="54864" marR="54864" marT="27432" marB="27432" anchor="ctr">
                    <a:solidFill>
                      <a:srgbClr val="FFFFFF"/>
                    </a:solidFill>
                  </a:tcPr>
                </a:tc>
                <a:tc>
                  <a:txBody>
                    <a:bodyPr/>
                    <a:lstStyle/>
                    <a:p>
                      <a:pPr algn="r"/>
                      <a:r>
                        <a:rPr sz="1200" b="0">
                          <a:solidFill>
                            <a:srgbClr val="1F2A44"/>
                          </a:solidFill>
                          <a:latin typeface="Calibri"/>
                        </a:rPr>
                        <a:t>800</a:t>
                      </a:r>
                    </a:p>
                  </a:txBody>
                  <a:tcPr marL="54864" marR="54864" marT="27432" marB="27432" anchor="ctr">
                    <a:solidFill>
                      <a:srgbClr val="FFFFFF"/>
                    </a:solidFill>
                  </a:tcPr>
                </a:tc>
              </a:tr>
              <a:tr h="355600">
                <a:tc>
                  <a:txBody>
                    <a:bodyPr/>
                    <a:lstStyle/>
                    <a:p>
                      <a:r>
                        <a:rPr sz="1200" b="0">
                          <a:solidFill>
                            <a:srgbClr val="1F2A44"/>
                          </a:solidFill>
                          <a:latin typeface="Calibri"/>
                        </a:rPr>
                        <a:t>Unforeseen UG obstructions (landfill)</a:t>
                      </a:r>
                    </a:p>
                  </a:txBody>
                  <a:tcPr marL="54864" marR="54864" marT="27432" marB="27432" anchor="ctr">
                    <a:solidFill>
                      <a:srgbClr val="F2F4F8"/>
                    </a:solidFill>
                  </a:tcPr>
                </a:tc>
                <a:tc>
                  <a:txBody>
                    <a:bodyPr/>
                    <a:lstStyle/>
                    <a:p>
                      <a:pPr algn="r"/>
                      <a:r>
                        <a:rPr sz="1200" b="0">
                          <a:solidFill>
                            <a:srgbClr val="1F2A44"/>
                          </a:solidFill>
                          <a:latin typeface="Calibri"/>
                        </a:rPr>
                        <a:t>450</a:t>
                      </a:r>
                    </a:p>
                  </a:txBody>
                  <a:tcPr marL="54864" marR="54864" marT="27432" marB="27432" anchor="ctr">
                    <a:solidFill>
                      <a:srgbClr val="F2F4F8"/>
                    </a:solidFill>
                  </a:tcPr>
                </a:tc>
              </a:tr>
              <a:tr h="355600">
                <a:tc>
                  <a:txBody>
                    <a:bodyPr/>
                    <a:lstStyle/>
                    <a:p>
                      <a:r>
                        <a:rPr sz="1200" b="0">
                          <a:solidFill>
                            <a:srgbClr val="1F2A44"/>
                          </a:solidFill>
                          <a:latin typeface="Calibri"/>
                        </a:rPr>
                        <a:t>Environmental (DEP, landfill closure docs)</a:t>
                      </a:r>
                    </a:p>
                  </a:txBody>
                  <a:tcPr marL="54864" marR="54864" marT="27432" marB="27432" anchor="ctr">
                    <a:solidFill>
                      <a:srgbClr val="FFFFFF"/>
                    </a:solidFill>
                  </a:tcPr>
                </a:tc>
                <a:tc>
                  <a:txBody>
                    <a:bodyPr/>
                    <a:lstStyle/>
                    <a:p>
                      <a:pPr algn="r"/>
                      <a:r>
                        <a:rPr sz="1200" b="0">
                          <a:solidFill>
                            <a:srgbClr val="1F2A44"/>
                          </a:solidFill>
                          <a:latin typeface="Calibri"/>
                        </a:rPr>
                        <a:t>300</a:t>
                      </a:r>
                    </a:p>
                  </a:txBody>
                  <a:tcPr marL="54864" marR="54864" marT="27432" marB="27432" anchor="ctr">
                    <a:solidFill>
                      <a:srgbClr val="FFFFFF"/>
                    </a:solidFill>
                  </a:tcPr>
                </a:tc>
              </a:tr>
              <a:tr h="355600">
                <a:tc>
                  <a:txBody>
                    <a:bodyPr/>
                    <a:lstStyle/>
                    <a:p>
                      <a:r>
                        <a:rPr sz="1200" b="0">
                          <a:solidFill>
                            <a:srgbClr val="1F2A44"/>
                          </a:solidFill>
                          <a:latin typeface="Calibri"/>
                        </a:rPr>
                        <a:t>Soil contamination remediation</a:t>
                      </a:r>
                    </a:p>
                  </a:txBody>
                  <a:tcPr marL="54864" marR="54864" marT="27432" marB="27432" anchor="ctr">
                    <a:solidFill>
                      <a:srgbClr val="F2F4F8"/>
                    </a:solidFill>
                  </a:tcPr>
                </a:tc>
                <a:tc>
                  <a:txBody>
                    <a:bodyPr/>
                    <a:lstStyle/>
                    <a:p>
                      <a:pPr algn="r"/>
                      <a:r>
                        <a:rPr sz="1200" b="0">
                          <a:solidFill>
                            <a:srgbClr val="1F2A44"/>
                          </a:solidFill>
                          <a:latin typeface="Calibri"/>
                        </a:rPr>
                        <a:t>300</a:t>
                      </a:r>
                    </a:p>
                  </a:txBody>
                  <a:tcPr marL="54864" marR="54864" marT="27432" marB="27432" anchor="ctr">
                    <a:solidFill>
                      <a:srgbClr val="F2F4F8"/>
                    </a:solidFill>
                  </a:tcPr>
                </a:tc>
              </a:tr>
              <a:tr h="355600">
                <a:tc>
                  <a:txBody>
                    <a:bodyPr/>
                    <a:lstStyle/>
                    <a:p>
                      <a:r>
                        <a:rPr sz="1200" b="0">
                          <a:solidFill>
                            <a:srgbClr val="1F2A44"/>
                          </a:solidFill>
                          <a:latin typeface="Calibri"/>
                        </a:rPr>
                        <a:t>Station and P&amp;C engineering changes</a:t>
                      </a:r>
                    </a:p>
                  </a:txBody>
                  <a:tcPr marL="54864" marR="54864" marT="27432" marB="27432" anchor="ctr">
                    <a:solidFill>
                      <a:srgbClr val="FFFFFF"/>
                    </a:solidFill>
                  </a:tcPr>
                </a:tc>
                <a:tc>
                  <a:txBody>
                    <a:bodyPr/>
                    <a:lstStyle/>
                    <a:p>
                      <a:pPr algn="r"/>
                      <a:r>
                        <a:rPr sz="1200" b="0">
                          <a:solidFill>
                            <a:srgbClr val="1F2A44"/>
                          </a:solidFill>
                          <a:latin typeface="Calibri"/>
                        </a:rPr>
                        <a:t>600</a:t>
                      </a:r>
                    </a:p>
                  </a:txBody>
                  <a:tcPr marL="54864" marR="54864" marT="27432" marB="27432" anchor="ctr">
                    <a:solidFill>
                      <a:srgbClr val="FFFFFF"/>
                    </a:solidFill>
                  </a:tcPr>
                </a:tc>
              </a:tr>
              <a:tr h="355600">
                <a:tc>
                  <a:txBody>
                    <a:bodyPr/>
                    <a:lstStyle/>
                    <a:p>
                      <a:r>
                        <a:rPr sz="1200" b="0">
                          <a:solidFill>
                            <a:srgbClr val="1F2A44"/>
                          </a:solidFill>
                          <a:latin typeface="Calibri"/>
                        </a:rPr>
                        <a:t>Weather, siting delay, outreach, BAR deductibles</a:t>
                      </a:r>
                    </a:p>
                  </a:txBody>
                  <a:tcPr marL="54864" marR="54864" marT="27432" marB="27432" anchor="ctr">
                    <a:solidFill>
                      <a:srgbClr val="F2F4F8"/>
                    </a:solidFill>
                  </a:tcPr>
                </a:tc>
                <a:tc>
                  <a:txBody>
                    <a:bodyPr/>
                    <a:lstStyle/>
                    <a:p>
                      <a:pPr algn="r"/>
                      <a:r>
                        <a:rPr sz="1200" b="0">
                          <a:solidFill>
                            <a:srgbClr val="1F2A44"/>
                          </a:solidFill>
                          <a:latin typeface="Calibri"/>
                        </a:rPr>
                        <a:t>1,050</a:t>
                      </a:r>
                    </a:p>
                  </a:txBody>
                  <a:tcPr marL="54864" marR="54864" marT="27432" marB="27432" anchor="ctr">
                    <a:solidFill>
                      <a:srgbClr val="F2F4F8"/>
                    </a:solidFill>
                  </a:tcPr>
                </a:tc>
              </a:tr>
            </a:tbl>
          </a:graphicData>
        </a:graphic>
      </p:graphicFrame>
      <p:sp>
        <p:nvSpPr>
          <p:cNvPr id="9" name="TextBox 8"/>
          <p:cNvSpPr txBox="1"/>
          <p:nvPr/>
        </p:nvSpPr>
        <p:spPr>
          <a:xfrm>
            <a:off x="5486400" y="4754880"/>
            <a:ext cx="6172200" cy="146304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6B7280"/>
                </a:solidFill>
                <a:latin typeface="Calibri"/>
              </a:rPr>
              <a:t>Risk plus contingency is 17.9% of the approval level before loaders, inside the 15-18% lead-review guidance. Indirects at 17.4% and AFUDC at 8.8% follow the EMA station template on a spend curve that runs from July 2021 to December 2028. Haugland's Attachment 4-F carries overlapping exposures (geotech $0.6M-$3.5M, fault-study equipment change $0.25M-$1.8M) that have not been reconciled with this register.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INDUSTRY BENCHMARKS VS HYDE PARK BOUNDARIES, $/KWH NOMINAL</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battery is at market; the project is above it for reasons benchmarks exclude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9</a:t>
            </a:r>
          </a:p>
        </p:txBody>
      </p:sp>
      <p:graphicFrame>
        <p:nvGraphicFramePr>
          <p:cNvPr id="7" name="Chart 6"/>
          <p:cNvGraphicFramePr>
            <a:graphicFrameLocks noGrp="1"/>
          </p:cNvGraphicFramePr>
          <p:nvPr/>
        </p:nvGraphicFramePr>
        <p:xfrm>
          <a:off x="457200" y="1371600"/>
          <a:ext cx="6766560" cy="4937760"/>
        </p:xfrm>
        <a:graphic>
          <a:graphicData uri="http://schemas.openxmlformats.org/drawingml/2006/chart">
            <c:chart xmlns:c="http://schemas.openxmlformats.org/drawingml/2006/chart" r:id="rId2"/>
          </a:graphicData>
        </a:graphic>
      </p:graphicFrame>
      <p:sp>
        <p:nvSpPr>
          <p:cNvPr id="8" name="TextBox 7"/>
          <p:cNvSpPr txBox="1"/>
          <p:nvPr/>
        </p:nvSpPr>
        <p:spPr>
          <a:xfrm>
            <a:off x="7406640" y="1417320"/>
            <a:ext cx="4297680" cy="4846320"/>
          </a:xfrm>
          <a:prstGeom prst="rect">
            <a:avLst/>
          </a:prstGeom>
          <a:noFill/>
        </p:spPr>
        <p:txBody>
          <a:bodyPr wrap="square" lIns="45720">
            <a:spAutoFit/>
          </a:bodyPr>
          <a:lstStyle/>
          <a:p>
            <a:pPr>
              <a:lnSpc>
                <a:spcPct val="105000"/>
              </a:lnSpc>
              <a:spcAft>
                <a:spcPts val="600"/>
              </a:spcAft>
            </a:pPr>
            <a:r>
              <a:rPr sz="1300">
                <a:solidFill>
                  <a:srgbClr val="FFC72C"/>
                </a:solidFill>
                <a:latin typeface="Calibri"/>
              </a:rPr>
              <a:t>▪  </a:t>
            </a:r>
            <a:r>
              <a:rPr b="1" sz="1300">
                <a:solidFill>
                  <a:srgbClr val="1F2A44"/>
                </a:solidFill>
                <a:latin typeface="Calibri"/>
              </a:rPr>
              <a:t>Battery at market. </a:t>
            </a:r>
            <a:r>
              <a:rPr sz="1300">
                <a:solidFill>
                  <a:srgbClr val="1F2A44"/>
                </a:solidFill>
                <a:latin typeface="Calibri"/>
              </a:rPr>
              <a:t>Nomad's $532/kWh equipment price sits between BNEF's US turnkey ($219, 4-h, 100 MW class) and the disclosed utility-owned projects ($513-584). For a 12-unit, 2-h, FEOC-era order in New England that is a fair price.</a:t>
            </a:r>
          </a:p>
          <a:p>
            <a:pPr>
              <a:lnSpc>
                <a:spcPct val="105000"/>
              </a:lnSpc>
              <a:spcAft>
                <a:spcPts val="600"/>
              </a:spcAft>
            </a:pPr>
            <a:r>
              <a:rPr sz="1300">
                <a:solidFill>
                  <a:srgbClr val="FFC72C"/>
                </a:solidFill>
                <a:latin typeface="Calibri"/>
              </a:rPr>
              <a:t>▪  </a:t>
            </a:r>
            <a:r>
              <a:rPr b="1" sz="1300">
                <a:solidFill>
                  <a:srgbClr val="1F2A44"/>
                </a:solidFill>
                <a:latin typeface="Calibri"/>
              </a:rPr>
              <a:t>Installed battery (A+B+C) at $833/kWh </a:t>
            </a:r>
            <a:r>
              <a:rPr sz="1300">
                <a:solidFill>
                  <a:srgbClr val="1F2A44"/>
                </a:solidFill>
                <a:latin typeface="Calibri"/>
              </a:rPr>
              <a:t>is above every national all-in index because those indices are four-hour and 60-150 MW. NREL's own cost structure (pack $/kWh x hours + BOS $/kW) puts a 2-h system at roughly 1.3-1.5x the 4-h $/kWh.</a:t>
            </a:r>
          </a:p>
          <a:p>
            <a:pPr>
              <a:lnSpc>
                <a:spcPct val="105000"/>
              </a:lnSpc>
              <a:spcAft>
                <a:spcPts val="600"/>
              </a:spcAft>
            </a:pPr>
            <a:r>
              <a:rPr sz="1300">
                <a:solidFill>
                  <a:srgbClr val="FFC72C"/>
                </a:solidFill>
                <a:latin typeface="Calibri"/>
              </a:rPr>
              <a:t>▪  </a:t>
            </a:r>
            <a:r>
              <a:rPr b="1" sz="1300">
                <a:solidFill>
                  <a:srgbClr val="1F2A44"/>
                </a:solidFill>
                <a:latin typeface="Calibri"/>
              </a:rPr>
              <a:t>The project at $2,862/kWh </a:t>
            </a:r>
            <a:r>
              <a:rPr sz="1300">
                <a:solidFill>
                  <a:srgbClr val="1F2A44"/>
                </a:solidFill>
                <a:latin typeface="Calibri"/>
              </a:rPr>
              <a:t>is not a battery benchmark at all. It carries a switching station, feeder protection at Station 496, a landfill platform, Article 80 siting, indirects and AFUDC. The closest published analogue is Provincetown at $1,289/kWh (2022 dollars, no separate station, existing site).</a:t>
            </a:r>
          </a:p>
          <a:p>
            <a:pPr>
              <a:lnSpc>
                <a:spcPct val="105000"/>
              </a:lnSpc>
              <a:spcAft>
                <a:spcPts val="600"/>
              </a:spcAft>
            </a:pPr>
            <a:r>
              <a:rPr sz="1300">
                <a:solidFill>
                  <a:srgbClr val="FFC72C"/>
                </a:solidFill>
                <a:latin typeface="Calibri"/>
              </a:rPr>
              <a:t>▪  </a:t>
            </a:r>
            <a:r>
              <a:rPr b="1" sz="1300">
                <a:solidFill>
                  <a:srgbClr val="1F2A44"/>
                </a:solidFill>
                <a:latin typeface="Calibri"/>
              </a:rPr>
              <a:t>No published index includes a utility's indirects or AFUDC. </a:t>
            </a:r>
            <a:r>
              <a:rPr sz="1300">
                <a:solidFill>
                  <a:srgbClr val="1F2A44"/>
                </a:solidFill>
                <a:latin typeface="Calibri"/>
              </a:rPr>
              <a:t>Strip J-M and Hyde Park is $1,483/kWh direct; strip the station and site layers D and E as well and it is $1,156/kWh.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INDUSTRY CURVE 2015-2028 VS HYDE PARK, $/KWH, LOG SCALE</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Battery installed-cost curve: the Nomad price sits on it once duration and size are adjusted</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10</a:t>
            </a:r>
          </a:p>
        </p:txBody>
      </p:sp>
      <p:graphicFrame>
        <p:nvGraphicFramePr>
          <p:cNvPr id="7" name="Chart 6"/>
          <p:cNvGraphicFramePr>
            <a:graphicFrameLocks noGrp="1"/>
          </p:cNvGraphicFramePr>
          <p:nvPr/>
        </p:nvGraphicFramePr>
        <p:xfrm>
          <a:off x="457200" y="1371600"/>
          <a:ext cx="7040880" cy="4526280"/>
        </p:xfrm>
        <a:graphic>
          <a:graphicData uri="http://schemas.openxmlformats.org/drawingml/2006/chart">
            <c:chart xmlns:c="http://schemas.openxmlformats.org/drawingml/2006/chart" r:id="rId2"/>
          </a:graphicData>
        </a:graphic>
      </p:graphicFrame>
      <p:sp>
        <p:nvSpPr>
          <p:cNvPr id="8" name="TextBox 7"/>
          <p:cNvSpPr txBox="1"/>
          <p:nvPr/>
        </p:nvSpPr>
        <p:spPr>
          <a:xfrm>
            <a:off x="7680960" y="1417320"/>
            <a:ext cx="4023360" cy="4572000"/>
          </a:xfrm>
          <a:prstGeom prst="rect">
            <a:avLst/>
          </a:prstGeom>
          <a:noFill/>
        </p:spPr>
        <p:txBody>
          <a:bodyPr wrap="square" lIns="45720">
            <a:spAutoFit/>
          </a:bodyPr>
          <a:lstStyle/>
          <a:p>
            <a:pPr>
              <a:lnSpc>
                <a:spcPct val="105000"/>
              </a:lnSpc>
              <a:spcAft>
                <a:spcPts val="500"/>
              </a:spcAft>
            </a:pPr>
            <a:r>
              <a:rPr sz="1200">
                <a:solidFill>
                  <a:srgbClr val="FFC72C"/>
                </a:solidFill>
                <a:latin typeface="Calibri"/>
              </a:rPr>
              <a:t>▪  </a:t>
            </a:r>
            <a:r>
              <a:rPr b="1" sz="1200">
                <a:solidFill>
                  <a:srgbClr val="1F2A44"/>
                </a:solidFill>
                <a:latin typeface="Calibri"/>
              </a:rPr>
              <a:t>The curve is a 4-h, 60-150 MW, real-dollar curve. </a:t>
            </a:r>
            <a:r>
              <a:rPr sz="1200">
                <a:solidFill>
                  <a:srgbClr val="1F2A44"/>
                </a:solidFill>
                <a:latin typeface="Calibri"/>
              </a:rPr>
              <a:t>EIA's reported all-in fell from $2,152 (2015) to $625 (2018); BNEF turnkey from $324 (2022) to $117 global and $219 US (2025); NREL's 4-h bottom-up base is $334 (2024), $247 by 2035.</a:t>
            </a:r>
          </a:p>
          <a:p>
            <a:pPr>
              <a:lnSpc>
                <a:spcPct val="105000"/>
              </a:lnSpc>
              <a:spcAft>
                <a:spcPts val="500"/>
              </a:spcAft>
            </a:pPr>
            <a:r>
              <a:rPr sz="1200">
                <a:solidFill>
                  <a:srgbClr val="FFC72C"/>
                </a:solidFill>
                <a:latin typeface="Calibri"/>
              </a:rPr>
              <a:t>▪  </a:t>
            </a:r>
            <a:r>
              <a:rPr b="1" sz="1200">
                <a:solidFill>
                  <a:srgbClr val="1F2A44"/>
                </a:solidFill>
                <a:latin typeface="Calibri"/>
              </a:rPr>
              <a:t>Hyde Park is 2-h, 10 MW, nominal. </a:t>
            </a:r>
            <a:r>
              <a:rPr sz="1200">
                <a:solidFill>
                  <a:srgbClr val="1F2A44"/>
                </a:solidFill>
                <a:latin typeface="Calibri"/>
              </a:rPr>
              <a:t>NREL's structure puts a 2-h system at 1.3-1.5x the 4-h $/kWh; the size elasticity in Appendix B adds 1.5x at 20 MWh. Adjusted US turnkey: $440-$505. Nomad equipment: $532.</a:t>
            </a:r>
          </a:p>
          <a:p>
            <a:pPr>
              <a:lnSpc>
                <a:spcPct val="105000"/>
              </a:lnSpc>
              <a:spcAft>
                <a:spcPts val="500"/>
              </a:spcAft>
            </a:pPr>
            <a:r>
              <a:rPr sz="1200">
                <a:solidFill>
                  <a:srgbClr val="FFC72C"/>
                </a:solidFill>
                <a:latin typeface="Calibri"/>
              </a:rPr>
              <a:t>▪  </a:t>
            </a:r>
            <a:r>
              <a:rPr b="1" sz="1200">
                <a:solidFill>
                  <a:srgbClr val="1F2A44"/>
                </a:solidFill>
                <a:latin typeface="Calibri"/>
              </a:rPr>
              <a:t>Install is the layer the curve never shows. </a:t>
            </a:r>
            <a:r>
              <a:rPr sz="1200">
                <a:solidFill>
                  <a:srgbClr val="1F2A44"/>
                </a:solidFill>
                <a:latin typeface="Calibri"/>
              </a:rPr>
              <a:t>Owner-scope installation, integration and balance of plant (B+C) add $183/kWh to the $650 battery line: $833 installed. BNEF's install sits inside a developer's EPC; ours is Eversource scope at New England rates.</a:t>
            </a:r>
          </a:p>
          <a:p>
            <a:pPr>
              <a:lnSpc>
                <a:spcPct val="105000"/>
              </a:lnSpc>
              <a:spcAft>
                <a:spcPts val="500"/>
              </a:spcAft>
            </a:pPr>
            <a:r>
              <a:rPr sz="1200">
                <a:solidFill>
                  <a:srgbClr val="FFC72C"/>
                </a:solidFill>
                <a:latin typeface="Calibri"/>
              </a:rPr>
              <a:t>▪  </a:t>
            </a:r>
            <a:r>
              <a:rPr b="1" sz="1200">
                <a:solidFill>
                  <a:srgbClr val="1F2A44"/>
                </a:solidFill>
                <a:latin typeface="Calibri"/>
              </a:rPr>
              <a:t>The 2026 turn. </a:t>
            </a:r>
            <a:r>
              <a:rPr sz="1200">
                <a:solidFill>
                  <a:srgbClr val="1F2A44"/>
                </a:solidFill>
                <a:latin typeface="Calibri"/>
              </a:rPr>
              <a:t>Lithium carbonate roughly doubled year on year by August 2026 and tariffs lifted delivered US prices. The March 2026 fixed price sits below where a 2027 re-procurement would land.</a:t>
            </a:r>
          </a:p>
        </p:txBody>
      </p:sp>
      <p:sp>
        <p:nvSpPr>
          <p:cNvPr id="9" name="TextBox 8"/>
          <p:cNvSpPr txBox="1"/>
          <p:nvPr/>
        </p:nvSpPr>
        <p:spPr>
          <a:xfrm>
            <a:off x="548640" y="5943600"/>
            <a:ext cx="6949440" cy="457200"/>
          </a:xfrm>
          <a:prstGeom prst="rect">
            <a:avLst/>
          </a:prstGeom>
          <a:noFill/>
        </p:spPr>
        <p:txBody>
          <a:bodyPr wrap="square" lIns="45720" rIns="45720" tIns="27432" bIns="27432" anchor="t">
            <a:spAutoFit/>
          </a:bodyPr>
          <a:lstStyle/>
          <a:p>
            <a:pPr algn="l">
              <a:lnSpc>
                <a:spcPct val="105000"/>
              </a:lnSpc>
              <a:spcAft>
                <a:spcPts val="400"/>
              </a:spcAft>
            </a:pPr>
            <a:r>
              <a:rPr sz="950" b="0" i="0">
                <a:solidFill>
                  <a:srgbClr val="6B7280"/>
                </a:solidFill>
                <a:latin typeface="Calibri"/>
              </a:rPr>
              <a:t>Plotted as published: EIA-860 nominal; BNEF real survey-year; NREL 2024$ (2028 interpolated between the 2024 base and the 2035 mid case). 2023 bar = five indicative bids, $479-$911/kWh, differing scopes. Retrieved from search excerpts; verify before external use.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ESCALATION BASIS AND THE COMMON-DOLLAR COMPARISON</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Escalation is already in the number: $2.9M at template rates, $1.1M of it on a fixed price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11</a:t>
            </a:r>
          </a:p>
        </p:txBody>
      </p:sp>
      <p:sp>
        <p:nvSpPr>
          <p:cNvPr id="7" name="TextBox 6"/>
          <p:cNvSpPr txBox="1"/>
          <p:nvPr/>
        </p:nvSpPr>
        <p:spPr>
          <a:xfrm>
            <a:off x="548640" y="1371600"/>
            <a:ext cx="5486400" cy="320040"/>
          </a:xfrm>
          <a:prstGeom prst="rect">
            <a:avLst/>
          </a:prstGeom>
          <a:noFill/>
        </p:spPr>
        <p:txBody>
          <a:bodyPr wrap="square" lIns="45720" rIns="45720" tIns="27432" bIns="27432" anchor="t">
            <a:spAutoFit/>
          </a:bodyPr>
          <a:lstStyle/>
          <a:p>
            <a:pPr algn="l">
              <a:lnSpc>
                <a:spcPct val="105000"/>
              </a:lnSpc>
              <a:spcAft>
                <a:spcPts val="400"/>
              </a:spcAft>
            </a:pPr>
            <a:r>
              <a:rPr sz="1300" b="1" i="0">
                <a:solidFill>
                  <a:srgbClr val="001E60"/>
                </a:solidFill>
                <a:latin typeface="Calibri"/>
              </a:rPr>
              <a:t>Where the escalation sits (Rev 3, included in the directs)</a:t>
            </a:r>
          </a:p>
        </p:txBody>
      </p:sp>
      <p:graphicFrame>
        <p:nvGraphicFramePr>
          <p:cNvPr id="8" name="Table 7"/>
          <p:cNvGraphicFramePr>
            <a:graphicFrameLocks noGrp="1"/>
          </p:cNvGraphicFramePr>
          <p:nvPr/>
        </p:nvGraphicFramePr>
        <p:xfrm>
          <a:off x="548640" y="1737360"/>
          <a:ext cx="5486400" cy="2148840"/>
        </p:xfrm>
        <a:graphic>
          <a:graphicData uri="http://schemas.openxmlformats.org/drawingml/2006/table">
            <a:tbl>
              <a:tblPr firstRow="1" bandRow="1">
                <a:tableStyleId>{5C22544A-7EE6-4342-B048-85BDC9FD1C3A}</a:tableStyleId>
              </a:tblPr>
              <a:tblGrid>
                <a:gridCol w="4114800"/>
                <a:gridCol w="731520"/>
                <a:gridCol w="640080"/>
              </a:tblGrid>
              <a:tr h="429768">
                <a:tc>
                  <a:txBody>
                    <a:bodyPr/>
                    <a:lstStyle/>
                    <a:p>
                      <a:r>
                        <a:rPr sz="1100" b="1">
                          <a:solidFill>
                            <a:srgbClr val="FFFFFF"/>
                          </a:solidFill>
                          <a:latin typeface="Calibri"/>
                        </a:rPr>
                        <a:t>Item</a:t>
                      </a:r>
                    </a:p>
                  </a:txBody>
                  <a:tcPr marL="54864" marR="54864" marT="27432" marB="27432">
                    <a:solidFill>
                      <a:srgbClr val="001E60"/>
                    </a:solidFill>
                  </a:tcPr>
                </a:tc>
                <a:tc>
                  <a:txBody>
                    <a:bodyPr/>
                    <a:lstStyle/>
                    <a:p>
                      <a:pPr algn="r"/>
                      <a:r>
                        <a:rPr sz="1100" b="1">
                          <a:solidFill>
                            <a:srgbClr val="FFFFFF"/>
                          </a:solidFill>
                          <a:latin typeface="Calibri"/>
                        </a:rPr>
                        <a:t>$</a:t>
                      </a:r>
                    </a:p>
                  </a:txBody>
                  <a:tcPr marL="54864" marR="54864" marT="27432" marB="27432">
                    <a:solidFill>
                      <a:srgbClr val="001E60"/>
                    </a:solidFill>
                  </a:tcPr>
                </a:tc>
                <a:tc>
                  <a:txBody>
                    <a:bodyPr/>
                    <a:lstStyle/>
                    <a:p>
                      <a:pPr algn="r"/>
                      <a:r>
                        <a:rPr sz="1100" b="1">
                          <a:solidFill>
                            <a:srgbClr val="FFFFFF"/>
                          </a:solidFill>
                          <a:latin typeface="Calibri"/>
                        </a:rPr>
                        <a:t>$/kWh</a:t>
                      </a:r>
                    </a:p>
                  </a:txBody>
                  <a:tcPr marL="54864" marR="54864" marT="27432" marB="27432">
                    <a:solidFill>
                      <a:srgbClr val="001E60"/>
                    </a:solidFill>
                  </a:tcPr>
                </a:tc>
              </a:tr>
              <a:tr h="429768">
                <a:tc>
                  <a:txBody>
                    <a:bodyPr/>
                    <a:lstStyle/>
                    <a:p>
                      <a:r>
                        <a:rPr sz="1100" b="0">
                          <a:solidFill>
                            <a:srgbClr val="1F2A44"/>
                          </a:solidFill>
                          <a:latin typeface="Calibri"/>
                        </a:rPr>
                        <a:t>Escalation in the approval level (Sta 360 $2,622K + Sta 496 $326K)</a:t>
                      </a:r>
                    </a:p>
                  </a:txBody>
                  <a:tcPr marL="54864" marR="54864" marT="27432" marB="27432" anchor="ctr">
                    <a:solidFill>
                      <a:srgbClr val="FFFFFF"/>
                    </a:solidFill>
                  </a:tcPr>
                </a:tc>
                <a:tc>
                  <a:txBody>
                    <a:bodyPr/>
                    <a:lstStyle/>
                    <a:p>
                      <a:pPr algn="r"/>
                      <a:r>
                        <a:rPr sz="1100" b="0">
                          <a:solidFill>
                            <a:srgbClr val="1F2A44"/>
                          </a:solidFill>
                          <a:latin typeface="Calibri"/>
                        </a:rPr>
                        <a:t>$2,948K</a:t>
                      </a:r>
                    </a:p>
                  </a:txBody>
                  <a:tcPr marL="54864" marR="54864" marT="27432" marB="27432" anchor="ctr">
                    <a:solidFill>
                      <a:srgbClr val="FFFFFF"/>
                    </a:solidFill>
                  </a:tcPr>
                </a:tc>
                <a:tc>
                  <a:txBody>
                    <a:bodyPr/>
                    <a:lstStyle/>
                    <a:p>
                      <a:pPr algn="r"/>
                      <a:r>
                        <a:rPr sz="1100" b="0">
                          <a:solidFill>
                            <a:srgbClr val="1F2A44"/>
                          </a:solidFill>
                          <a:latin typeface="Calibri"/>
                        </a:rPr>
                        <a:t>$147</a:t>
                      </a:r>
                    </a:p>
                  </a:txBody>
                  <a:tcPr marL="54864" marR="54864" marT="27432" marB="27432" anchor="ctr">
                    <a:solidFill>
                      <a:srgbClr val="FFFFFF"/>
                    </a:solidFill>
                  </a:tcPr>
                </a:tc>
              </a:tr>
              <a:tr h="429768">
                <a:tc>
                  <a:txBody>
                    <a:bodyPr/>
                    <a:lstStyle/>
                    <a:p>
                      <a:r>
                        <a:rPr sz="1100" b="0">
                          <a:solidFill>
                            <a:srgbClr val="1F2A44"/>
                          </a:solidFill>
                          <a:latin typeface="Calibri"/>
                        </a:rPr>
                        <a:t>on the Nomad balance, which Exhibit C fixes until Final Acceptance</a:t>
                      </a:r>
                    </a:p>
                  </a:txBody>
                  <a:tcPr marL="54864" marR="54864" marT="27432" marB="27432" anchor="ctr">
                    <a:solidFill>
                      <a:srgbClr val="F2F4F8"/>
                    </a:solidFill>
                  </a:tcPr>
                </a:tc>
                <a:tc>
                  <a:txBody>
                    <a:bodyPr/>
                    <a:lstStyle/>
                    <a:p>
                      <a:pPr algn="r"/>
                      <a:r>
                        <a:rPr sz="1100" b="0">
                          <a:solidFill>
                            <a:srgbClr val="1F2A44"/>
                          </a:solidFill>
                          <a:latin typeface="Calibri"/>
                        </a:rPr>
                        <a:t>$1,130K</a:t>
                      </a:r>
                    </a:p>
                  </a:txBody>
                  <a:tcPr marL="54864" marR="54864" marT="27432" marB="27432" anchor="ctr">
                    <a:solidFill>
                      <a:srgbClr val="F2F4F8"/>
                    </a:solidFill>
                  </a:tcPr>
                </a:tc>
                <a:tc>
                  <a:txBody>
                    <a:bodyPr/>
                    <a:lstStyle/>
                    <a:p>
                      <a:pPr algn="r"/>
                      <a:r>
                        <a:rPr sz="1100" b="0">
                          <a:solidFill>
                            <a:srgbClr val="1F2A44"/>
                          </a:solidFill>
                          <a:latin typeface="Calibri"/>
                        </a:rPr>
                        <a:t>$57</a:t>
                      </a:r>
                    </a:p>
                  </a:txBody>
                  <a:tcPr marL="54864" marR="54864" marT="27432" marB="27432" anchor="ctr">
                    <a:solidFill>
                      <a:srgbClr val="F2F4F8"/>
                    </a:solidFill>
                  </a:tcPr>
                </a:tc>
              </a:tr>
              <a:tr h="429768">
                <a:tc>
                  <a:txBody>
                    <a:bodyPr/>
                    <a:lstStyle/>
                    <a:p>
                      <a:r>
                        <a:rPr sz="1100" b="0">
                          <a:solidFill>
                            <a:srgbClr val="1F2A44"/>
                          </a:solidFill>
                          <a:latin typeface="Calibri"/>
                        </a:rPr>
                        <a:t>on station, site, feeder protection, testing and owner scope</a:t>
                      </a:r>
                    </a:p>
                  </a:txBody>
                  <a:tcPr marL="54864" marR="54864" marT="27432" marB="27432" anchor="ctr">
                    <a:solidFill>
                      <a:srgbClr val="FFFFFF"/>
                    </a:solidFill>
                  </a:tcPr>
                </a:tc>
                <a:tc>
                  <a:txBody>
                    <a:bodyPr/>
                    <a:lstStyle/>
                    <a:p>
                      <a:pPr algn="r"/>
                      <a:r>
                        <a:rPr sz="1100" b="0">
                          <a:solidFill>
                            <a:srgbClr val="1F2A44"/>
                          </a:solidFill>
                          <a:latin typeface="Calibri"/>
                        </a:rPr>
                        <a:t>$1,818K</a:t>
                      </a:r>
                    </a:p>
                  </a:txBody>
                  <a:tcPr marL="54864" marR="54864" marT="27432" marB="27432" anchor="ctr">
                    <a:solidFill>
                      <a:srgbClr val="FFFFFF"/>
                    </a:solidFill>
                  </a:tcPr>
                </a:tc>
                <a:tc>
                  <a:txBody>
                    <a:bodyPr/>
                    <a:lstStyle/>
                    <a:p>
                      <a:pPr algn="r"/>
                      <a:r>
                        <a:rPr sz="1100" b="0">
                          <a:solidFill>
                            <a:srgbClr val="1F2A44"/>
                          </a:solidFill>
                          <a:latin typeface="Calibri"/>
                        </a:rPr>
                        <a:t>$91</a:t>
                      </a:r>
                    </a:p>
                  </a:txBody>
                  <a:tcPr marL="54864" marR="54864" marT="27432" marB="27432" anchor="ctr">
                    <a:solidFill>
                      <a:srgbClr val="FFFFFF"/>
                    </a:solidFill>
                  </a:tcPr>
                </a:tc>
              </a:tr>
              <a:tr h="429768">
                <a:tc>
                  <a:txBody>
                    <a:bodyPr/>
                    <a:lstStyle/>
                    <a:p>
                      <a:r>
                        <a:rPr sz="1100" b="0">
                          <a:solidFill>
                            <a:srgbClr val="1F2A44"/>
                          </a:solidFill>
                          <a:latin typeface="Calibri"/>
                        </a:rPr>
                        <a:t>Spend curve it is applied to: actuals $5.2M, 2026 $13.5M, 2027 $12.5M, 2028 $26.1M</a:t>
                      </a:r>
                    </a:p>
                  </a:txBody>
                  <a:tcPr marL="54864" marR="54864" marT="27432" marB="27432" anchor="ctr">
                    <a:solidFill>
                      <a:srgbClr val="F2F4F8"/>
                    </a:solidFill>
                  </a:tcPr>
                </a:tc>
                <a:tc>
                  <a:txBody>
                    <a:bodyPr/>
                    <a:lstStyle/>
                    <a:p>
                      <a:pPr algn="r"/>
                      <a:r>
                        <a:rPr sz="1100" b="0">
                          <a:solidFill>
                            <a:srgbClr val="1F2A44"/>
                          </a:solidFill>
                          <a:latin typeface="Calibri"/>
                        </a:rPr>
                        <a:t/>
                      </a:r>
                    </a:p>
                  </a:txBody>
                  <a:tcPr marL="54864" marR="54864" marT="27432" marB="27432" anchor="ctr">
                    <a:solidFill>
                      <a:srgbClr val="F2F4F8"/>
                    </a:solidFill>
                  </a:tcPr>
                </a:tc>
                <a:tc>
                  <a:txBody>
                    <a:bodyPr/>
                    <a:lstStyle/>
                    <a:p>
                      <a:pPr algn="r"/>
                      <a:r>
                        <a:rPr sz="1100" b="0">
                          <a:solidFill>
                            <a:srgbClr val="1F2A44"/>
                          </a:solidFill>
                          <a:latin typeface="Calibri"/>
                        </a:rPr>
                        <a:t/>
                      </a:r>
                    </a:p>
                  </a:txBody>
                  <a:tcPr marL="54864" marR="54864" marT="27432" marB="27432" anchor="ctr">
                    <a:solidFill>
                      <a:srgbClr val="F2F4F8"/>
                    </a:solidFill>
                  </a:tcPr>
                </a:tc>
              </a:tr>
            </a:tbl>
          </a:graphicData>
        </a:graphic>
      </p:graphicFrame>
      <p:sp>
        <p:nvSpPr>
          <p:cNvPr id="9" name="TextBox 8"/>
          <p:cNvSpPr txBox="1"/>
          <p:nvPr/>
        </p:nvSpPr>
        <p:spPr>
          <a:xfrm>
            <a:off x="548640" y="4023360"/>
            <a:ext cx="5486400" cy="320040"/>
          </a:xfrm>
          <a:prstGeom prst="rect">
            <a:avLst/>
          </a:prstGeom>
          <a:noFill/>
        </p:spPr>
        <p:txBody>
          <a:bodyPr wrap="square" lIns="45720" rIns="45720" tIns="27432" bIns="27432" anchor="t">
            <a:spAutoFit/>
          </a:bodyPr>
          <a:lstStyle/>
          <a:p>
            <a:pPr algn="l">
              <a:lnSpc>
                <a:spcPct val="105000"/>
              </a:lnSpc>
              <a:spcAft>
                <a:spcPts val="400"/>
              </a:spcAft>
            </a:pPr>
            <a:r>
              <a:rPr sz="1300" b="1" i="0">
                <a:solidFill>
                  <a:srgbClr val="001E60"/>
                </a:solidFill>
                <a:latin typeface="Calibri"/>
              </a:rPr>
              <a:t>Same comparison, same dollars (per kWh)</a:t>
            </a:r>
          </a:p>
        </p:txBody>
      </p:sp>
      <p:graphicFrame>
        <p:nvGraphicFramePr>
          <p:cNvPr id="10" name="Table 9"/>
          <p:cNvGraphicFramePr>
            <a:graphicFrameLocks noGrp="1"/>
          </p:cNvGraphicFramePr>
          <p:nvPr/>
        </p:nvGraphicFramePr>
        <p:xfrm>
          <a:off x="548640" y="4389120"/>
          <a:ext cx="5486400" cy="1783080"/>
        </p:xfrm>
        <a:graphic>
          <a:graphicData uri="http://schemas.openxmlformats.org/drawingml/2006/table">
            <a:tbl>
              <a:tblPr firstRow="1" bandRow="1">
                <a:tableStyleId>{5C22544A-7EE6-4342-B048-85BDC9FD1C3A}</a:tableStyleId>
              </a:tblPr>
              <a:tblGrid>
                <a:gridCol w="1417320"/>
                <a:gridCol w="777240"/>
                <a:gridCol w="1005840"/>
                <a:gridCol w="2286000"/>
              </a:tblGrid>
              <a:tr h="356616">
                <a:tc>
                  <a:txBody>
                    <a:bodyPr/>
                    <a:lstStyle/>
                    <a:p>
                      <a:r>
                        <a:rPr sz="1050" b="1">
                          <a:solidFill>
                            <a:srgbClr val="FFFFFF"/>
                          </a:solidFill>
                          <a:latin typeface="Calibri"/>
                        </a:rPr>
                        <a:t>Boundary</a:t>
                      </a:r>
                    </a:p>
                  </a:txBody>
                  <a:tcPr marL="54864" marR="54864" marT="27432" marB="27432">
                    <a:solidFill>
                      <a:srgbClr val="001E60"/>
                    </a:solidFill>
                  </a:tcPr>
                </a:tc>
                <a:tc>
                  <a:txBody>
                    <a:bodyPr/>
                    <a:lstStyle/>
                    <a:p>
                      <a:pPr algn="r"/>
                      <a:r>
                        <a:rPr sz="1050" b="1">
                          <a:solidFill>
                            <a:srgbClr val="FFFFFF"/>
                          </a:solidFill>
                          <a:latin typeface="Calibri"/>
                        </a:rPr>
                        <a:t>Nominal</a:t>
                      </a:r>
                    </a:p>
                  </a:txBody>
                  <a:tcPr marL="54864" marR="54864" marT="27432" marB="27432">
                    <a:solidFill>
                      <a:srgbClr val="001E60"/>
                    </a:solidFill>
                  </a:tcPr>
                </a:tc>
                <a:tc>
                  <a:txBody>
                    <a:bodyPr/>
                    <a:lstStyle/>
                    <a:p>
                      <a:pPr algn="r"/>
                      <a:r>
                        <a:rPr sz="1050" b="1">
                          <a:solidFill>
                            <a:srgbClr val="FFFFFF"/>
                          </a:solidFill>
                          <a:latin typeface="Calibri"/>
                        </a:rPr>
                        <a:t>Ex-escalation</a:t>
                      </a:r>
                    </a:p>
                  </a:txBody>
                  <a:tcPr marL="54864" marR="54864" marT="27432" marB="27432">
                    <a:solidFill>
                      <a:srgbClr val="001E60"/>
                    </a:solidFill>
                  </a:tcPr>
                </a:tc>
                <a:tc>
                  <a:txBody>
                    <a:bodyPr/>
                    <a:lstStyle/>
                    <a:p>
                      <a:r>
                        <a:rPr sz="1050" b="1">
                          <a:solidFill>
                            <a:srgbClr val="FFFFFF"/>
                          </a:solidFill>
                          <a:latin typeface="Calibri"/>
                        </a:rPr>
                        <a:t>Benchmark brought to 2028 at 3%/yr</a:t>
                      </a:r>
                    </a:p>
                  </a:txBody>
                  <a:tcPr marL="54864" marR="54864" marT="27432" marB="27432">
                    <a:solidFill>
                      <a:srgbClr val="001E60"/>
                    </a:solidFill>
                  </a:tcPr>
                </a:tc>
              </a:tr>
              <a:tr h="356616">
                <a:tc>
                  <a:txBody>
                    <a:bodyPr/>
                    <a:lstStyle/>
                    <a:p>
                      <a:r>
                        <a:rPr sz="1050" b="0">
                          <a:solidFill>
                            <a:srgbClr val="1F2A44"/>
                          </a:solidFill>
                          <a:latin typeface="Calibri"/>
                        </a:rPr>
                        <a:t>Vendor contract</a:t>
                      </a:r>
                    </a:p>
                  </a:txBody>
                  <a:tcPr marL="54864" marR="54864" marT="27432" marB="27432" anchor="ctr">
                    <a:solidFill>
                      <a:srgbClr val="FFFFFF"/>
                    </a:solidFill>
                  </a:tcPr>
                </a:tc>
                <a:tc>
                  <a:txBody>
                    <a:bodyPr/>
                    <a:lstStyle/>
                    <a:p>
                      <a:pPr algn="r"/>
                      <a:r>
                        <a:rPr sz="1050" b="0">
                          <a:solidFill>
                            <a:srgbClr val="1F2A44"/>
                          </a:solidFill>
                          <a:latin typeface="Calibri"/>
                        </a:rPr>
                        <a:t>$605</a:t>
                      </a:r>
                    </a:p>
                  </a:txBody>
                  <a:tcPr marL="54864" marR="54864" marT="27432" marB="27432" anchor="ctr">
                    <a:solidFill>
                      <a:srgbClr val="FFFFFF"/>
                    </a:solidFill>
                  </a:tcPr>
                </a:tc>
                <a:tc>
                  <a:txBody>
                    <a:bodyPr/>
                    <a:lstStyle/>
                    <a:p>
                      <a:pPr algn="r"/>
                      <a:r>
                        <a:rPr sz="1050" b="0">
                          <a:solidFill>
                            <a:srgbClr val="1F2A44"/>
                          </a:solidFill>
                          <a:latin typeface="Calibri"/>
                        </a:rPr>
                        <a:t>$605 (fixed)</a:t>
                      </a:r>
                    </a:p>
                  </a:txBody>
                  <a:tcPr marL="54864" marR="54864" marT="27432" marB="27432" anchor="ctr">
                    <a:solidFill>
                      <a:srgbClr val="FFFFFF"/>
                    </a:solidFill>
                  </a:tcPr>
                </a:tc>
                <a:tc>
                  <a:txBody>
                    <a:bodyPr/>
                    <a:lstStyle/>
                    <a:p>
                      <a:r>
                        <a:rPr sz="1050" b="0">
                          <a:solidFill>
                            <a:srgbClr val="1F2A44"/>
                          </a:solidFill>
                          <a:latin typeface="Calibri"/>
                        </a:rPr>
                        <a:t>BNEF US turnkey $219 (2025) = $239</a:t>
                      </a:r>
                    </a:p>
                  </a:txBody>
                  <a:tcPr marL="54864" marR="54864" marT="27432" marB="27432" anchor="ctr">
                    <a:solidFill>
                      <a:srgbClr val="FFFFFF"/>
                    </a:solidFill>
                  </a:tcPr>
                </a:tc>
              </a:tr>
              <a:tr h="356616">
                <a:tc>
                  <a:txBody>
                    <a:bodyPr/>
                    <a:lstStyle/>
                    <a:p>
                      <a:r>
                        <a:rPr sz="1050" b="0">
                          <a:solidFill>
                            <a:srgbClr val="1F2A44"/>
                          </a:solidFill>
                          <a:latin typeface="Calibri"/>
                        </a:rPr>
                        <a:t>Battery as carried (A)</a:t>
                      </a:r>
                    </a:p>
                  </a:txBody>
                  <a:tcPr marL="54864" marR="54864" marT="27432" marB="27432" anchor="ctr">
                    <a:solidFill>
                      <a:srgbClr val="F2F4F8"/>
                    </a:solidFill>
                  </a:tcPr>
                </a:tc>
                <a:tc>
                  <a:txBody>
                    <a:bodyPr/>
                    <a:lstStyle/>
                    <a:p>
                      <a:pPr algn="r"/>
                      <a:r>
                        <a:rPr sz="1050" b="0">
                          <a:solidFill>
                            <a:srgbClr val="1F2A44"/>
                          </a:solidFill>
                          <a:latin typeface="Calibri"/>
                        </a:rPr>
                        <a:t>$650</a:t>
                      </a:r>
                    </a:p>
                  </a:txBody>
                  <a:tcPr marL="54864" marR="54864" marT="27432" marB="27432" anchor="ctr">
                    <a:solidFill>
                      <a:srgbClr val="F2F4F8"/>
                    </a:solidFill>
                  </a:tcPr>
                </a:tc>
                <a:tc>
                  <a:txBody>
                    <a:bodyPr/>
                    <a:lstStyle/>
                    <a:p>
                      <a:pPr algn="r"/>
                      <a:r>
                        <a:rPr sz="1050" b="0">
                          <a:solidFill>
                            <a:srgbClr val="1F2A44"/>
                          </a:solidFill>
                          <a:latin typeface="Calibri"/>
                        </a:rPr>
                        <a:t>$593</a:t>
                      </a:r>
                    </a:p>
                  </a:txBody>
                  <a:tcPr marL="54864" marR="54864" marT="27432" marB="27432" anchor="ctr">
                    <a:solidFill>
                      <a:srgbClr val="F2F4F8"/>
                    </a:solidFill>
                  </a:tcPr>
                </a:tc>
                <a:tc>
                  <a:txBody>
                    <a:bodyPr/>
                    <a:lstStyle/>
                    <a:p>
                      <a:r>
                        <a:rPr sz="1050" b="0">
                          <a:solidFill>
                            <a:srgbClr val="1F2A44"/>
                          </a:solidFill>
                          <a:latin typeface="Calibri"/>
                        </a:rPr>
                        <a:t>NREL 4-h $334 (2024$) = $376</a:t>
                      </a:r>
                    </a:p>
                  </a:txBody>
                  <a:tcPr marL="54864" marR="54864" marT="27432" marB="27432" anchor="ctr">
                    <a:solidFill>
                      <a:srgbClr val="F2F4F8"/>
                    </a:solidFill>
                  </a:tcPr>
                </a:tc>
              </a:tr>
              <a:tr h="356616">
                <a:tc>
                  <a:txBody>
                    <a:bodyPr/>
                    <a:lstStyle/>
                    <a:p>
                      <a:r>
                        <a:rPr sz="1050" b="0">
                          <a:solidFill>
                            <a:srgbClr val="1F2A44"/>
                          </a:solidFill>
                          <a:latin typeface="Calibri"/>
                        </a:rPr>
                        <a:t>Battery installed (A+B+C)</a:t>
                      </a:r>
                    </a:p>
                  </a:txBody>
                  <a:tcPr marL="54864" marR="54864" marT="27432" marB="27432" anchor="ctr">
                    <a:solidFill>
                      <a:srgbClr val="FFFFFF"/>
                    </a:solidFill>
                  </a:tcPr>
                </a:tc>
                <a:tc>
                  <a:txBody>
                    <a:bodyPr/>
                    <a:lstStyle/>
                    <a:p>
                      <a:pPr algn="r"/>
                      <a:r>
                        <a:rPr sz="1050" b="0">
                          <a:solidFill>
                            <a:srgbClr val="1F2A44"/>
                          </a:solidFill>
                          <a:latin typeface="Calibri"/>
                        </a:rPr>
                        <a:t>$833</a:t>
                      </a:r>
                    </a:p>
                  </a:txBody>
                  <a:tcPr marL="54864" marR="54864" marT="27432" marB="27432" anchor="ctr">
                    <a:solidFill>
                      <a:srgbClr val="FFFFFF"/>
                    </a:solidFill>
                  </a:tcPr>
                </a:tc>
                <a:tc>
                  <a:txBody>
                    <a:bodyPr/>
                    <a:lstStyle/>
                    <a:p>
                      <a:pPr algn="r"/>
                      <a:r>
                        <a:rPr sz="1050" b="0">
                          <a:solidFill>
                            <a:srgbClr val="1F2A44"/>
                          </a:solidFill>
                          <a:latin typeface="Calibri"/>
                        </a:rPr>
                        <a:t>~$756</a:t>
                      </a:r>
                    </a:p>
                  </a:txBody>
                  <a:tcPr marL="54864" marR="54864" marT="27432" marB="27432" anchor="ctr">
                    <a:solidFill>
                      <a:srgbClr val="FFFFFF"/>
                    </a:solidFill>
                  </a:tcPr>
                </a:tc>
                <a:tc>
                  <a:txBody>
                    <a:bodyPr/>
                    <a:lstStyle/>
                    <a:p>
                      <a:r>
                        <a:rPr sz="1050" b="0">
                          <a:solidFill>
                            <a:srgbClr val="1F2A44"/>
                          </a:solidFill>
                          <a:latin typeface="Calibri"/>
                        </a:rPr>
                        <a:t>NREL adjusted to 2-h, 10 MW: $750-$870</a:t>
                      </a:r>
                    </a:p>
                  </a:txBody>
                  <a:tcPr marL="54864" marR="54864" marT="27432" marB="27432" anchor="ctr">
                    <a:solidFill>
                      <a:srgbClr val="FFFFFF"/>
                    </a:solidFill>
                  </a:tcPr>
                </a:tc>
              </a:tr>
              <a:tr h="356616">
                <a:tc>
                  <a:txBody>
                    <a:bodyPr/>
                    <a:lstStyle/>
                    <a:p>
                      <a:r>
                        <a:rPr sz="1050" b="0">
                          <a:solidFill>
                            <a:srgbClr val="1F2A44"/>
                          </a:solidFill>
                          <a:latin typeface="Calibri"/>
                        </a:rPr>
                        <a:t>Station complete, direct</a:t>
                      </a:r>
                    </a:p>
                  </a:txBody>
                  <a:tcPr marL="54864" marR="54864" marT="27432" marB="27432" anchor="ctr">
                    <a:solidFill>
                      <a:srgbClr val="F2F4F8"/>
                    </a:solidFill>
                  </a:tcPr>
                </a:tc>
                <a:tc>
                  <a:txBody>
                    <a:bodyPr/>
                    <a:lstStyle/>
                    <a:p>
                      <a:pPr algn="r"/>
                      <a:r>
                        <a:rPr sz="1050" b="0">
                          <a:solidFill>
                            <a:srgbClr val="1F2A44"/>
                          </a:solidFill>
                          <a:latin typeface="Calibri"/>
                        </a:rPr>
                        <a:t>$1,483</a:t>
                      </a:r>
                    </a:p>
                  </a:txBody>
                  <a:tcPr marL="54864" marR="54864" marT="27432" marB="27432" anchor="ctr">
                    <a:solidFill>
                      <a:srgbClr val="F2F4F8"/>
                    </a:solidFill>
                  </a:tcPr>
                </a:tc>
                <a:tc>
                  <a:txBody>
                    <a:bodyPr/>
                    <a:lstStyle/>
                    <a:p>
                      <a:pPr algn="r"/>
                      <a:r>
                        <a:rPr sz="1050" b="0">
                          <a:solidFill>
                            <a:srgbClr val="1F2A44"/>
                          </a:solidFill>
                          <a:latin typeface="Calibri"/>
                        </a:rPr>
                        <a:t>$1,352</a:t>
                      </a:r>
                    </a:p>
                  </a:txBody>
                  <a:tcPr marL="54864" marR="54864" marT="27432" marB="27432" anchor="ctr">
                    <a:solidFill>
                      <a:srgbClr val="F2F4F8"/>
                    </a:solidFill>
                  </a:tcPr>
                </a:tc>
                <a:tc>
                  <a:txBody>
                    <a:bodyPr/>
                    <a:lstStyle/>
                    <a:p>
                      <a:r>
                        <a:rPr sz="1050" b="0">
                          <a:solidFill>
                            <a:srgbClr val="1F2A44"/>
                          </a:solidFill>
                          <a:latin typeface="Calibri"/>
                        </a:rPr>
                        <a:t>EIA/S&amp;L $436 (2023$) = $505; LBNL $458 = $516</a:t>
                      </a:r>
                    </a:p>
                  </a:txBody>
                  <a:tcPr marL="54864" marR="54864" marT="27432" marB="27432" anchor="ctr">
                    <a:solidFill>
                      <a:srgbClr val="F2F4F8"/>
                    </a:solidFill>
                  </a:tcPr>
                </a:tc>
              </a:tr>
            </a:tbl>
          </a:graphicData>
        </a:graphic>
      </p:graphicFrame>
      <p:sp>
        <p:nvSpPr>
          <p:cNvPr id="11" name="TextBox 10"/>
          <p:cNvSpPr txBox="1"/>
          <p:nvPr/>
        </p:nvSpPr>
        <p:spPr>
          <a:xfrm>
            <a:off x="6309360" y="1371600"/>
            <a:ext cx="5394960" cy="4846320"/>
          </a:xfrm>
          <a:prstGeom prst="rect">
            <a:avLst/>
          </a:prstGeom>
          <a:noFill/>
        </p:spPr>
        <p:txBody>
          <a:bodyPr wrap="square" lIns="45720">
            <a:spAutoFit/>
          </a:bodyPr>
          <a:lstStyle/>
          <a:p>
            <a:pPr>
              <a:lnSpc>
                <a:spcPct val="105000"/>
              </a:lnSpc>
              <a:spcAft>
                <a:spcPts val="400"/>
              </a:spcAft>
            </a:pPr>
            <a:r>
              <a:rPr sz="1150">
                <a:solidFill>
                  <a:srgbClr val="FFC72C"/>
                </a:solidFill>
                <a:latin typeface="Calibri"/>
              </a:rPr>
              <a:t>▪  </a:t>
            </a:r>
            <a:r>
              <a:rPr b="1" sz="1150">
                <a:solidFill>
                  <a:srgbClr val="1F2A44"/>
                </a:solidFill>
                <a:latin typeface="Calibri"/>
              </a:rPr>
              <a:t>Rates. </a:t>
            </a:r>
            <a:r>
              <a:rPr sz="1150">
                <a:solidFill>
                  <a:srgbClr val="1F2A44"/>
                </a:solidFill>
                <a:latin typeface="Calibri"/>
              </a:rPr>
              <a:t>ESF template escalation, about 3% a year, on the 2026-2028 spend curve. $2.9M is 5.1% of the approval level and 7.4% of directs. Benchmarks are 2023-2025 dollars; Rev 3 is 2026-2028 nominal, so one side must move before they are compared.</a:t>
            </a:r>
          </a:p>
          <a:p>
            <a:pPr>
              <a:lnSpc>
                <a:spcPct val="105000"/>
              </a:lnSpc>
              <a:spcAft>
                <a:spcPts val="400"/>
              </a:spcAft>
            </a:pPr>
            <a:r>
              <a:rPr sz="1150">
                <a:solidFill>
                  <a:srgbClr val="FFC72C"/>
                </a:solidFill>
                <a:latin typeface="Calibri"/>
              </a:rPr>
              <a:t>▪  </a:t>
            </a:r>
            <a:r>
              <a:rPr b="1" sz="1150">
                <a:solidFill>
                  <a:srgbClr val="1F2A44"/>
                </a:solidFill>
                <a:latin typeface="Calibri"/>
              </a:rPr>
              <a:t>Decision pending. </a:t>
            </a:r>
            <a:r>
              <a:rPr sz="1150">
                <a:solidFill>
                  <a:srgbClr val="1F2A44"/>
                </a:solidFill>
                <a:latin typeface="Calibri"/>
              </a:rPr>
              <a:t>$1.13M sits on a price the contract fixes. Remove it or move it to the risk register with a stated rationale (open item, slide 37).</a:t>
            </a:r>
          </a:p>
          <a:p>
            <a:pPr>
              <a:lnSpc>
                <a:spcPct val="105000"/>
              </a:lnSpc>
              <a:spcAft>
                <a:spcPts val="400"/>
              </a:spcAft>
            </a:pPr>
            <a:r>
              <a:rPr sz="1150">
                <a:solidFill>
                  <a:srgbClr val="FFC72C"/>
                </a:solidFill>
                <a:latin typeface="Calibri"/>
              </a:rPr>
              <a:t>▪  </a:t>
            </a:r>
            <a:r>
              <a:rPr b="1" sz="1150">
                <a:solidFill>
                  <a:srgbClr val="1F2A44"/>
                </a:solidFill>
                <a:latin typeface="Calibri"/>
              </a:rPr>
              <a:t>Brought to the same year, the installed battery is on the index. </a:t>
            </a:r>
            <a:r>
              <a:rPr sz="1150">
                <a:solidFill>
                  <a:srgbClr val="1F2A44"/>
                </a:solidFill>
                <a:latin typeface="Calibri"/>
              </a:rPr>
              <a:t>NREL's $334 is $376 in 2028 dollars and $750-$870 after the 2-h and 10 MW adjustments; Hyde Park installed is $833.</a:t>
            </a:r>
          </a:p>
          <a:p>
            <a:pPr>
              <a:lnSpc>
                <a:spcPct val="105000"/>
              </a:lnSpc>
              <a:spcAft>
                <a:spcPts val="400"/>
              </a:spcAft>
            </a:pPr>
            <a:r>
              <a:rPr sz="1150">
                <a:solidFill>
                  <a:srgbClr val="FFC72C"/>
                </a:solidFill>
                <a:latin typeface="Calibri"/>
              </a:rPr>
              <a:t>▪  </a:t>
            </a:r>
            <a:r>
              <a:rPr b="1" sz="1150">
                <a:solidFill>
                  <a:srgbClr val="1F2A44"/>
                </a:solidFill>
                <a:latin typeface="Calibri"/>
              </a:rPr>
              <a:t>What 3% does not cover. </a:t>
            </a:r>
            <a:r>
              <a:rPr sz="1150">
                <a:solidFill>
                  <a:srgbClr val="1F2A44"/>
                </a:solidFill>
                <a:latin typeface="Calibri"/>
              </a:rPr>
              <a:t>Lithium carbonate and tariffs moved faster than 3% in 2026. The battery is fixed by contract, so the exposure is the $3.7M of non-battery material and the labor lines. The $1.0M tariff item in the risk register is sized on total material, battery included.</a:t>
            </a:r>
          </a:p>
          <a:p>
            <a:pPr>
              <a:lnSpc>
                <a:spcPct val="105000"/>
              </a:lnSpc>
              <a:spcAft>
                <a:spcPts val="400"/>
              </a:spcAft>
            </a:pPr>
            <a:r>
              <a:rPr sz="1150">
                <a:solidFill>
                  <a:srgbClr val="FFC72C"/>
                </a:solidFill>
                <a:latin typeface="Calibri"/>
              </a:rPr>
              <a:t>▪  </a:t>
            </a:r>
            <a:r>
              <a:rPr b="1" sz="1150">
                <a:solidFill>
                  <a:srgbClr val="1F2A44"/>
                </a:solidFill>
                <a:latin typeface="Calibri"/>
              </a:rPr>
              <a:t>Schedule. </a:t>
            </a:r>
            <a:r>
              <a:rPr sz="1150">
                <a:solidFill>
                  <a:srgbClr val="1F2A44"/>
                </a:solidFill>
                <a:latin typeface="Calibri"/>
              </a:rPr>
              <a:t>Twelve months of slip adds about $1.2M of escalation on the $38.6M scheduled for 2027-2028, before AFUDC, PM and indirects (about $5M in total).</a:t>
            </a:r>
          </a:p>
          <a:p>
            <a:pPr>
              <a:lnSpc>
                <a:spcPct val="105000"/>
              </a:lnSpc>
              <a:spcAft>
                <a:spcPts val="400"/>
              </a:spcAft>
            </a:pPr>
            <a:r>
              <a:rPr sz="1150">
                <a:solidFill>
                  <a:srgbClr val="FFC72C"/>
                </a:solidFill>
                <a:latin typeface="Calibri"/>
              </a:rPr>
              <a:t>▪  </a:t>
            </a:r>
            <a:r>
              <a:rPr b="1" sz="1150">
                <a:solidFill>
                  <a:srgbClr val="1F2A44"/>
                </a:solidFill>
                <a:latin typeface="Calibri"/>
              </a:rPr>
              <a:t>Ex-escalation values </a:t>
            </a:r>
            <a:r>
              <a:rPr sz="1150">
                <a:solidFill>
                  <a:srgbClr val="1F2A44"/>
                </a:solidFill>
                <a:latin typeface="Calibri"/>
              </a:rPr>
              <a:t>strip the station's $131/kWh from the direct boundaries; the B+C share (~$20/kWh) is allocated pro rata and is approximate.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35 BUILT COMPARABLES AT OR BELOW 100 MWH, STATUS VERIFIED 5 OCT 2026, NOMINAL VS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Own-year battery shares: the re-based class median barely moves and Hyde Park's station cost stays in the top fifth</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12</a:t>
            </a:r>
          </a:p>
        </p:txBody>
      </p:sp>
      <p:pic>
        <p:nvPicPr>
          <p:cNvPr id="7" name="Picture 6" descr="adjust_dumbbell.png"/>
          <p:cNvPicPr>
            <a:picLocks noChangeAspect="1"/>
          </p:cNvPicPr>
          <p:nvPr/>
        </p:nvPicPr>
        <p:blipFill>
          <a:blip r:embed="rId2"/>
          <a:stretch>
            <a:fillRect/>
          </a:stretch>
        </p:blipFill>
        <p:spPr>
          <a:xfrm>
            <a:off x="411480" y="1325880"/>
            <a:ext cx="7013787" cy="4983480"/>
          </a:xfrm>
          <a:prstGeom prst="rect">
            <a:avLst/>
          </a:prstGeom>
        </p:spPr>
      </p:pic>
      <p:graphicFrame>
        <p:nvGraphicFramePr>
          <p:cNvPr id="8" name="Table 7"/>
          <p:cNvGraphicFramePr>
            <a:graphicFrameLocks noGrp="1"/>
          </p:cNvGraphicFramePr>
          <p:nvPr/>
        </p:nvGraphicFramePr>
        <p:xfrm>
          <a:off x="7635240" y="1371600"/>
          <a:ext cx="4069079" cy="2834640"/>
        </p:xfrm>
        <a:graphic>
          <a:graphicData uri="http://schemas.openxmlformats.org/drawingml/2006/table">
            <a:tbl>
              <a:tblPr firstRow="1" bandRow="1">
                <a:tableStyleId>{5C22544A-7EE6-4342-B048-85BDC9FD1C3A}</a:tableStyleId>
              </a:tblPr>
              <a:tblGrid>
                <a:gridCol w="1874519"/>
                <a:gridCol w="822960"/>
                <a:gridCol w="685800"/>
                <a:gridCol w="685800"/>
              </a:tblGrid>
              <a:tr h="354330">
                <a:tc>
                  <a:txBody>
                    <a:bodyPr/>
                    <a:lstStyle/>
                    <a:p>
                      <a:r>
                        <a:rPr sz="950" b="1">
                          <a:solidFill>
                            <a:srgbClr val="FFFFFF"/>
                          </a:solidFill>
                          <a:latin typeface="Calibri"/>
                        </a:rPr>
                        <a:t>Battery index (own-year share)</a:t>
                      </a:r>
                    </a:p>
                  </a:txBody>
                  <a:tcPr marL="54864" marR="54864" marT="27432" marB="27432">
                    <a:solidFill>
                      <a:srgbClr val="001E60"/>
                    </a:solidFill>
                  </a:tcPr>
                </a:tc>
                <a:tc>
                  <a:txBody>
                    <a:bodyPr/>
                    <a:lstStyle/>
                    <a:p>
                      <a:pPr algn="r"/>
                      <a:r>
                        <a:rPr sz="950" b="1">
                          <a:solidFill>
                            <a:srgbClr val="FFFFFF"/>
                          </a:solidFill>
                          <a:latin typeface="Calibri"/>
                        </a:rPr>
                        <a:t>Median $/kWh</a:t>
                      </a:r>
                    </a:p>
                  </a:txBody>
                  <a:tcPr marL="54864" marR="54864" marT="27432" marB="27432">
                    <a:solidFill>
                      <a:srgbClr val="001E60"/>
                    </a:solidFill>
                  </a:tcPr>
                </a:tc>
                <a:tc>
                  <a:txBody>
                    <a:bodyPr/>
                    <a:lstStyle/>
                    <a:p>
                      <a:pPr algn="r"/>
                      <a:r>
                        <a:rPr sz="950" b="1">
                          <a:solidFill>
                            <a:srgbClr val="FFFFFF"/>
                          </a:solidFill>
                          <a:latin typeface="Calibri"/>
                        </a:rPr>
                        <a:t>HP installed</a:t>
                      </a:r>
                    </a:p>
                  </a:txBody>
                  <a:tcPr marL="54864" marR="54864" marT="27432" marB="27432">
                    <a:solidFill>
                      <a:srgbClr val="001E60"/>
                    </a:solidFill>
                  </a:tcPr>
                </a:tc>
                <a:tc>
                  <a:txBody>
                    <a:bodyPr/>
                    <a:lstStyle/>
                    <a:p>
                      <a:pPr algn="r"/>
                      <a:r>
                        <a:rPr sz="950" b="1">
                          <a:solidFill>
                            <a:srgbClr val="FFFFFF"/>
                          </a:solidFill>
                          <a:latin typeface="Calibri"/>
                        </a:rPr>
                        <a:t>HP station</a:t>
                      </a:r>
                    </a:p>
                  </a:txBody>
                  <a:tcPr marL="54864" marR="54864" marT="27432" marB="27432">
                    <a:solidFill>
                      <a:srgbClr val="001E60"/>
                    </a:solidFill>
                  </a:tcPr>
                </a:tc>
              </a:tr>
              <a:tr h="354330">
                <a:tc>
                  <a:txBody>
                    <a:bodyPr/>
                    <a:lstStyle/>
                    <a:p>
                      <a:r>
                        <a:rPr sz="950" b="0">
                          <a:solidFill>
                            <a:srgbClr val="1F2A44"/>
                          </a:solidFill>
                          <a:latin typeface="Calibri"/>
                        </a:rPr>
                        <a:t>Nominal, as published</a:t>
                      </a:r>
                    </a:p>
                  </a:txBody>
                  <a:tcPr marL="54864" marR="54864" marT="27432" marB="27432" anchor="ctr">
                    <a:solidFill>
                      <a:srgbClr val="FFFFFF"/>
                    </a:solidFill>
                  </a:tcPr>
                </a:tc>
                <a:tc>
                  <a:txBody>
                    <a:bodyPr/>
                    <a:lstStyle/>
                    <a:p>
                      <a:pPr algn="r"/>
                      <a:r>
                        <a:rPr sz="950" b="0">
                          <a:solidFill>
                            <a:srgbClr val="1F2A44"/>
                          </a:solidFill>
                          <a:latin typeface="Calibri"/>
                        </a:rPr>
                        <a:t>$750</a:t>
                      </a:r>
                    </a:p>
                  </a:txBody>
                  <a:tcPr marL="54864" marR="54864" marT="27432" marB="27432" anchor="ctr">
                    <a:solidFill>
                      <a:srgbClr val="FFFFFF"/>
                    </a:solidFill>
                  </a:tcPr>
                </a:tc>
                <a:tc>
                  <a:txBody>
                    <a:bodyPr/>
                    <a:lstStyle/>
                    <a:p>
                      <a:pPr algn="r"/>
                      <a:r>
                        <a:rPr sz="950" b="0">
                          <a:solidFill>
                            <a:srgbClr val="1F2A44"/>
                          </a:solidFill>
                          <a:latin typeface="Calibri"/>
                        </a:rPr>
                        <a:t>57%</a:t>
                      </a:r>
                    </a:p>
                  </a:txBody>
                  <a:tcPr marL="54864" marR="54864" marT="27432" marB="27432" anchor="ctr">
                    <a:solidFill>
                      <a:srgbClr val="FFFFFF"/>
                    </a:solidFill>
                  </a:tcPr>
                </a:tc>
                <a:tc>
                  <a:txBody>
                    <a:bodyPr/>
                    <a:lstStyle/>
                    <a:p>
                      <a:pPr algn="r"/>
                      <a:r>
                        <a:rPr sz="950" b="0">
                          <a:solidFill>
                            <a:srgbClr val="1F2A44"/>
                          </a:solidFill>
                          <a:latin typeface="Calibri"/>
                        </a:rPr>
                        <a:t>77%</a:t>
                      </a:r>
                    </a:p>
                  </a:txBody>
                  <a:tcPr marL="54864" marR="54864" marT="27432" marB="27432" anchor="ctr">
                    <a:solidFill>
                      <a:srgbClr val="FFFFFF"/>
                    </a:solidFill>
                  </a:tcPr>
                </a:tc>
              </a:tr>
              <a:tr h="354330">
                <a:tc>
                  <a:txBody>
                    <a:bodyPr/>
                    <a:lstStyle/>
                    <a:p>
                      <a:r>
                        <a:rPr sz="950" b="0">
                          <a:solidFill>
                            <a:srgbClr val="1F2A44"/>
                          </a:solidFill>
                          <a:latin typeface="Calibri"/>
                        </a:rPr>
                        <a:t>Installed all-in (EIA, LBNL)</a:t>
                      </a:r>
                    </a:p>
                  </a:txBody>
                  <a:tcPr marL="54864" marR="54864" marT="27432" marB="27432" anchor="ctr">
                    <a:solidFill>
                      <a:srgbClr val="F2F4F8"/>
                    </a:solidFill>
                  </a:tcPr>
                </a:tc>
                <a:tc>
                  <a:txBody>
                    <a:bodyPr/>
                    <a:lstStyle/>
                    <a:p>
                      <a:pPr algn="r"/>
                      <a:r>
                        <a:rPr sz="950" b="0">
                          <a:solidFill>
                            <a:srgbClr val="1F2A44"/>
                          </a:solidFill>
                          <a:latin typeface="Calibri"/>
                        </a:rPr>
                        <a:t>$742</a:t>
                      </a:r>
                    </a:p>
                  </a:txBody>
                  <a:tcPr marL="54864" marR="54864" marT="27432" marB="27432" anchor="ctr">
                    <a:solidFill>
                      <a:srgbClr val="F2F4F8"/>
                    </a:solidFill>
                  </a:tcPr>
                </a:tc>
                <a:tc>
                  <a:txBody>
                    <a:bodyPr/>
                    <a:lstStyle/>
                    <a:p>
                      <a:pPr algn="r"/>
                      <a:r>
                        <a:rPr sz="950" b="0">
                          <a:solidFill>
                            <a:srgbClr val="1F2A44"/>
                          </a:solidFill>
                          <a:latin typeface="Calibri"/>
                        </a:rPr>
                        <a:t>57%</a:t>
                      </a:r>
                    </a:p>
                  </a:txBody>
                  <a:tcPr marL="54864" marR="54864" marT="27432" marB="27432" anchor="ctr">
                    <a:solidFill>
                      <a:srgbClr val="F2F4F8"/>
                    </a:solidFill>
                  </a:tcPr>
                </a:tc>
                <a:tc>
                  <a:txBody>
                    <a:bodyPr/>
                    <a:lstStyle/>
                    <a:p>
                      <a:pPr algn="r"/>
                      <a:r>
                        <a:rPr sz="950" b="0">
                          <a:solidFill>
                            <a:srgbClr val="1F2A44"/>
                          </a:solidFill>
                          <a:latin typeface="Calibri"/>
                        </a:rPr>
                        <a:t>77%</a:t>
                      </a:r>
                    </a:p>
                  </a:txBody>
                  <a:tcPr marL="54864" marR="54864" marT="27432" marB="27432" anchor="ctr">
                    <a:solidFill>
                      <a:srgbClr val="F2F4F8"/>
                    </a:solidFill>
                  </a:tcPr>
                </a:tc>
              </a:tr>
              <a:tr h="354330">
                <a:tc>
                  <a:txBody>
                    <a:bodyPr/>
                    <a:lstStyle/>
                    <a:p>
                      <a:r>
                        <a:rPr sz="950" b="0">
                          <a:solidFill>
                            <a:srgbClr val="1F2A44"/>
                          </a:solidFill>
                          <a:latin typeface="Calibri"/>
                        </a:rPr>
                        <a:t>BNEF pack price</a:t>
                      </a:r>
                    </a:p>
                  </a:txBody>
                  <a:tcPr marL="54864" marR="54864" marT="27432" marB="27432" anchor="ctr">
                    <a:solidFill>
                      <a:srgbClr val="FFFFFF"/>
                    </a:solidFill>
                  </a:tcPr>
                </a:tc>
                <a:tc>
                  <a:txBody>
                    <a:bodyPr/>
                    <a:lstStyle/>
                    <a:p>
                      <a:pPr algn="r"/>
                      <a:r>
                        <a:rPr sz="950" b="0">
                          <a:solidFill>
                            <a:srgbClr val="1F2A44"/>
                          </a:solidFill>
                          <a:latin typeface="Calibri"/>
                        </a:rPr>
                        <a:t>$743</a:t>
                      </a:r>
                    </a:p>
                  </a:txBody>
                  <a:tcPr marL="54864" marR="54864" marT="27432" marB="27432" anchor="ctr">
                    <a:solidFill>
                      <a:srgbClr val="FFFFFF"/>
                    </a:solidFill>
                  </a:tcPr>
                </a:tc>
                <a:tc>
                  <a:txBody>
                    <a:bodyPr/>
                    <a:lstStyle/>
                    <a:p>
                      <a:pPr algn="r"/>
                      <a:r>
                        <a:rPr sz="950" b="0">
                          <a:solidFill>
                            <a:srgbClr val="1F2A44"/>
                          </a:solidFill>
                          <a:latin typeface="Calibri"/>
                        </a:rPr>
                        <a:t>60%</a:t>
                      </a:r>
                    </a:p>
                  </a:txBody>
                  <a:tcPr marL="54864" marR="54864" marT="27432" marB="27432" anchor="ctr">
                    <a:solidFill>
                      <a:srgbClr val="FFFFFF"/>
                    </a:solidFill>
                  </a:tcPr>
                </a:tc>
                <a:tc>
                  <a:txBody>
                    <a:bodyPr/>
                    <a:lstStyle/>
                    <a:p>
                      <a:pPr algn="r"/>
                      <a:r>
                        <a:rPr sz="950" b="0">
                          <a:solidFill>
                            <a:srgbClr val="1F2A44"/>
                          </a:solidFill>
                          <a:latin typeface="Calibri"/>
                        </a:rPr>
                        <a:t>83%</a:t>
                      </a:r>
                    </a:p>
                  </a:txBody>
                  <a:tcPr marL="54864" marR="54864" marT="27432" marB="27432" anchor="ctr">
                    <a:solidFill>
                      <a:srgbClr val="FFFFFF"/>
                    </a:solidFill>
                  </a:tcPr>
                </a:tc>
              </a:tr>
              <a:tr h="354330">
                <a:tc>
                  <a:txBody>
                    <a:bodyPr/>
                    <a:lstStyle/>
                    <a:p>
                      <a:r>
                        <a:rPr sz="950" b="0">
                          <a:solidFill>
                            <a:srgbClr val="1F2A44"/>
                          </a:solidFill>
                          <a:latin typeface="Calibri"/>
                        </a:rPr>
                        <a:t>BNEF turnkey system</a:t>
                      </a:r>
                    </a:p>
                  </a:txBody>
                  <a:tcPr marL="54864" marR="54864" marT="27432" marB="27432" anchor="ctr">
                    <a:solidFill>
                      <a:srgbClr val="F2F4F8"/>
                    </a:solidFill>
                  </a:tcPr>
                </a:tc>
                <a:tc>
                  <a:txBody>
                    <a:bodyPr/>
                    <a:lstStyle/>
                    <a:p>
                      <a:pPr algn="r"/>
                      <a:r>
                        <a:rPr sz="950" b="0">
                          <a:solidFill>
                            <a:srgbClr val="1F2A44"/>
                          </a:solidFill>
                          <a:latin typeface="Calibri"/>
                        </a:rPr>
                        <a:t>$686</a:t>
                      </a:r>
                    </a:p>
                  </a:txBody>
                  <a:tcPr marL="54864" marR="54864" marT="27432" marB="27432" anchor="ctr">
                    <a:solidFill>
                      <a:srgbClr val="F2F4F8"/>
                    </a:solidFill>
                  </a:tcPr>
                </a:tc>
                <a:tc>
                  <a:txBody>
                    <a:bodyPr/>
                    <a:lstStyle/>
                    <a:p>
                      <a:pPr algn="r"/>
                      <a:r>
                        <a:rPr sz="950" b="0">
                          <a:solidFill>
                            <a:srgbClr val="1F2A44"/>
                          </a:solidFill>
                          <a:latin typeface="Calibri"/>
                        </a:rPr>
                        <a:t>57%</a:t>
                      </a:r>
                    </a:p>
                  </a:txBody>
                  <a:tcPr marL="54864" marR="54864" marT="27432" marB="27432" anchor="ctr">
                    <a:solidFill>
                      <a:srgbClr val="F2F4F8"/>
                    </a:solidFill>
                  </a:tcPr>
                </a:tc>
                <a:tc>
                  <a:txBody>
                    <a:bodyPr/>
                    <a:lstStyle/>
                    <a:p>
                      <a:pPr algn="r"/>
                      <a:r>
                        <a:rPr sz="950" b="0">
                          <a:solidFill>
                            <a:srgbClr val="1F2A44"/>
                          </a:solidFill>
                          <a:latin typeface="Calibri"/>
                        </a:rPr>
                        <a:t>83%</a:t>
                      </a:r>
                    </a:p>
                  </a:txBody>
                  <a:tcPr marL="54864" marR="54864" marT="27432" marB="27432" anchor="ctr">
                    <a:solidFill>
                      <a:srgbClr val="F2F4F8"/>
                    </a:solidFill>
                  </a:tcPr>
                </a:tc>
              </a:tr>
              <a:tr h="354330">
                <a:tc>
                  <a:txBody>
                    <a:bodyPr/>
                    <a:lstStyle/>
                    <a:p>
                      <a:r>
                        <a:rPr sz="950" b="0">
                          <a:solidFill>
                            <a:srgbClr val="1F2A44"/>
                          </a:solidFill>
                          <a:latin typeface="Calibri"/>
                        </a:rPr>
                        <a:t>NREL bottom-up base year</a:t>
                      </a:r>
                    </a:p>
                  </a:txBody>
                  <a:tcPr marL="54864" marR="54864" marT="27432" marB="27432" anchor="ctr">
                    <a:solidFill>
                      <a:srgbClr val="FFFFFF"/>
                    </a:solidFill>
                  </a:tcPr>
                </a:tc>
                <a:tc>
                  <a:txBody>
                    <a:bodyPr/>
                    <a:lstStyle/>
                    <a:p>
                      <a:pPr algn="r"/>
                      <a:r>
                        <a:rPr sz="950" b="0">
                          <a:solidFill>
                            <a:srgbClr val="1F2A44"/>
                          </a:solidFill>
                          <a:latin typeface="Calibri"/>
                        </a:rPr>
                        <a:t>$742</a:t>
                      </a:r>
                    </a:p>
                  </a:txBody>
                  <a:tcPr marL="54864" marR="54864" marT="27432" marB="27432" anchor="ctr">
                    <a:solidFill>
                      <a:srgbClr val="FFFFFF"/>
                    </a:solidFill>
                  </a:tcPr>
                </a:tc>
                <a:tc>
                  <a:txBody>
                    <a:bodyPr/>
                    <a:lstStyle/>
                    <a:p>
                      <a:pPr algn="r"/>
                      <a:r>
                        <a:rPr sz="950" b="0">
                          <a:solidFill>
                            <a:srgbClr val="1F2A44"/>
                          </a:solidFill>
                          <a:latin typeface="Calibri"/>
                        </a:rPr>
                        <a:t>54%</a:t>
                      </a:r>
                    </a:p>
                  </a:txBody>
                  <a:tcPr marL="54864" marR="54864" marT="27432" marB="27432" anchor="ctr">
                    <a:solidFill>
                      <a:srgbClr val="FFFFFF"/>
                    </a:solidFill>
                  </a:tcPr>
                </a:tc>
                <a:tc>
                  <a:txBody>
                    <a:bodyPr/>
                    <a:lstStyle/>
                    <a:p>
                      <a:pPr algn="r"/>
                      <a:r>
                        <a:rPr sz="950" b="0">
                          <a:solidFill>
                            <a:srgbClr val="1F2A44"/>
                          </a:solidFill>
                          <a:latin typeface="Calibri"/>
                        </a:rPr>
                        <a:t>80%</a:t>
                      </a:r>
                    </a:p>
                  </a:txBody>
                  <a:tcPr marL="54864" marR="54864" marT="27432" marB="27432" anchor="ctr">
                    <a:solidFill>
                      <a:srgbClr val="FFFFFF"/>
                    </a:solidFill>
                  </a:tcPr>
                </a:tc>
              </a:tr>
              <a:tr h="354330">
                <a:tc>
                  <a:txBody>
                    <a:bodyPr/>
                    <a:lstStyle/>
                    <a:p>
                      <a:r>
                        <a:rPr sz="950" b="0">
                          <a:solidFill>
                            <a:srgbClr val="1F2A44"/>
                          </a:solidFill>
                          <a:latin typeface="Calibri"/>
                        </a:rPr>
                        <a:t>Lazard LCOS midpoint</a:t>
                      </a:r>
                    </a:p>
                  </a:txBody>
                  <a:tcPr marL="54864" marR="54864" marT="27432" marB="27432" anchor="ctr">
                    <a:solidFill>
                      <a:srgbClr val="F2F4F8"/>
                    </a:solidFill>
                  </a:tcPr>
                </a:tc>
                <a:tc>
                  <a:txBody>
                    <a:bodyPr/>
                    <a:lstStyle/>
                    <a:p>
                      <a:pPr algn="r"/>
                      <a:r>
                        <a:rPr sz="950" b="0">
                          <a:solidFill>
                            <a:srgbClr val="1F2A44"/>
                          </a:solidFill>
                          <a:latin typeface="Calibri"/>
                        </a:rPr>
                        <a:t>$892</a:t>
                      </a:r>
                    </a:p>
                  </a:txBody>
                  <a:tcPr marL="54864" marR="54864" marT="27432" marB="27432" anchor="ctr">
                    <a:solidFill>
                      <a:srgbClr val="F2F4F8"/>
                    </a:solidFill>
                  </a:tcPr>
                </a:tc>
                <a:tc>
                  <a:txBody>
                    <a:bodyPr/>
                    <a:lstStyle/>
                    <a:p>
                      <a:pPr algn="r"/>
                      <a:r>
                        <a:rPr sz="950" b="0">
                          <a:solidFill>
                            <a:srgbClr val="1F2A44"/>
                          </a:solidFill>
                          <a:latin typeface="Calibri"/>
                        </a:rPr>
                        <a:t>40%</a:t>
                      </a:r>
                    </a:p>
                  </a:txBody>
                  <a:tcPr marL="54864" marR="54864" marT="27432" marB="27432" anchor="ctr">
                    <a:solidFill>
                      <a:srgbClr val="F2F4F8"/>
                    </a:solidFill>
                  </a:tcPr>
                </a:tc>
                <a:tc>
                  <a:txBody>
                    <a:bodyPr/>
                    <a:lstStyle/>
                    <a:p>
                      <a:pPr algn="r"/>
                      <a:r>
                        <a:rPr sz="950" b="0">
                          <a:solidFill>
                            <a:srgbClr val="1F2A44"/>
                          </a:solidFill>
                          <a:latin typeface="Calibri"/>
                        </a:rPr>
                        <a:t>66%</a:t>
                      </a:r>
                    </a:p>
                  </a:txBody>
                  <a:tcPr marL="54864" marR="54864" marT="27432" marB="27432" anchor="ctr">
                    <a:solidFill>
                      <a:srgbClr val="F2F4F8"/>
                    </a:solidFill>
                  </a:tcPr>
                </a:tc>
              </a:tr>
              <a:tr h="354330">
                <a:tc>
                  <a:txBody>
                    <a:bodyPr/>
                    <a:lstStyle/>
                    <a:p>
                      <a:r>
                        <a:rPr sz="950" b="0">
                          <a:solidFill>
                            <a:srgbClr val="1F2A44"/>
                          </a:solidFill>
                          <a:latin typeface="Calibri"/>
                        </a:rPr>
                        <a:t>Construction index only</a:t>
                      </a:r>
                    </a:p>
                  </a:txBody>
                  <a:tcPr marL="54864" marR="54864" marT="27432" marB="27432" anchor="ctr">
                    <a:solidFill>
                      <a:srgbClr val="FFFFFF"/>
                    </a:solidFill>
                  </a:tcPr>
                </a:tc>
                <a:tc>
                  <a:txBody>
                    <a:bodyPr/>
                    <a:lstStyle/>
                    <a:p>
                      <a:pPr algn="r"/>
                      <a:r>
                        <a:rPr sz="950" b="0">
                          <a:solidFill>
                            <a:srgbClr val="1F2A44"/>
                          </a:solidFill>
                          <a:latin typeface="Calibri"/>
                        </a:rPr>
                        <a:t>$1,052</a:t>
                      </a:r>
                    </a:p>
                  </a:txBody>
                  <a:tcPr marL="54864" marR="54864" marT="27432" marB="27432" anchor="ctr">
                    <a:solidFill>
                      <a:srgbClr val="FFFFFF"/>
                    </a:solidFill>
                  </a:tcPr>
                </a:tc>
                <a:tc>
                  <a:txBody>
                    <a:bodyPr/>
                    <a:lstStyle/>
                    <a:p>
                      <a:pPr algn="r"/>
                      <a:r>
                        <a:rPr sz="950" b="0">
                          <a:solidFill>
                            <a:srgbClr val="1F2A44"/>
                          </a:solidFill>
                          <a:latin typeface="Calibri"/>
                        </a:rPr>
                        <a:t>40%</a:t>
                      </a:r>
                    </a:p>
                  </a:txBody>
                  <a:tcPr marL="54864" marR="54864" marT="27432" marB="27432" anchor="ctr">
                    <a:solidFill>
                      <a:srgbClr val="FFFFFF"/>
                    </a:solidFill>
                  </a:tcPr>
                </a:tc>
                <a:tc>
                  <a:txBody>
                    <a:bodyPr/>
                    <a:lstStyle/>
                    <a:p>
                      <a:pPr algn="r"/>
                      <a:r>
                        <a:rPr sz="950" b="0">
                          <a:solidFill>
                            <a:srgbClr val="1F2A44"/>
                          </a:solidFill>
                          <a:latin typeface="Calibri"/>
                        </a:rPr>
                        <a:t>63%</a:t>
                      </a:r>
                    </a:p>
                  </a:txBody>
                  <a:tcPr marL="54864" marR="54864" marT="27432" marB="27432" anchor="ctr">
                    <a:solidFill>
                      <a:srgbClr val="FFFFFF"/>
                    </a:solidFill>
                  </a:tcPr>
                </a:tc>
              </a:tr>
            </a:tbl>
          </a:graphicData>
        </a:graphic>
      </p:graphicFrame>
      <p:sp>
        <p:nvSpPr>
          <p:cNvPr id="9" name="TextBox 8"/>
          <p:cNvSpPr txBox="1"/>
          <p:nvPr/>
        </p:nvSpPr>
        <p:spPr>
          <a:xfrm>
            <a:off x="7635240" y="4297680"/>
            <a:ext cx="4069080" cy="2103120"/>
          </a:xfrm>
          <a:prstGeom prst="rect">
            <a:avLst/>
          </a:prstGeom>
          <a:noFill/>
        </p:spPr>
        <p:txBody>
          <a:bodyPr wrap="square" lIns="45720">
            <a:spAutoFit/>
          </a:bodyPr>
          <a:lstStyle/>
          <a:p>
            <a:pPr>
              <a:lnSpc>
                <a:spcPct val="105000"/>
              </a:lnSpc>
              <a:spcAft>
                <a:spcPts val="300"/>
              </a:spcAft>
            </a:pPr>
            <a:r>
              <a:rPr sz="950">
                <a:solidFill>
                  <a:srgbClr val="FFC72C"/>
                </a:solidFill>
                <a:latin typeface="Calibri"/>
              </a:rPr>
              <a:t>▪  </a:t>
            </a:r>
            <a:r>
              <a:rPr b="1" sz="950">
                <a:solidFill>
                  <a:srgbClr val="1F2A44"/>
                </a:solidFill>
                <a:latin typeface="Calibri"/>
              </a:rPr>
              <a:t>The weights move with the prices. </a:t>
            </a:r>
            <a:r>
              <a:rPr sz="950">
                <a:solidFill>
                  <a:srgbClr val="1F2A44"/>
                </a:solidFill>
                <a:latin typeface="Calibri"/>
              </a:rPr>
              <a:t>Quantities are held fixed, not today's dollar shares: a 2016 project was about 73% battery and comes to 2026 at 0.68x; a 2018 project was 56% battery, 1.06x; 2021 and later about 1.0x. The 5 Oct review challenge stands: the earlier version held a 40% share fixed and made every old project dearer (median $838).</a:t>
            </a:r>
          </a:p>
          <a:p>
            <a:pPr>
              <a:lnSpc>
                <a:spcPct val="105000"/>
              </a:lnSpc>
              <a:spcAft>
                <a:spcPts val="300"/>
              </a:spcAft>
            </a:pPr>
            <a:r>
              <a:rPr sz="950">
                <a:solidFill>
                  <a:srgbClr val="FFC72C"/>
                </a:solidFill>
                <a:latin typeface="Calibri"/>
              </a:rPr>
              <a:t>▪  </a:t>
            </a:r>
            <a:r>
              <a:rPr b="1" sz="950">
                <a:solidFill>
                  <a:srgbClr val="1F2A44"/>
                </a:solidFill>
                <a:latin typeface="Calibri"/>
              </a:rPr>
              <a:t>Widening the class to 35 projects, 10 developer-owned, </a:t>
            </a:r>
            <a:r>
              <a:rPr sz="950">
                <a:solidFill>
                  <a:srgbClr val="1F2A44"/>
                </a:solidFill>
                <a:latin typeface="Calibri"/>
              </a:rPr>
              <a:t>puts Hyde Park's station-direct cost at the 77% percentile nominal and 77% re-based; the developer sites carry no utility station, no landfill and no siting case.</a:t>
            </a:r>
          </a:p>
          <a:p>
            <a:pPr>
              <a:lnSpc>
                <a:spcPct val="105000"/>
              </a:lnSpc>
              <a:spcAft>
                <a:spcPts val="300"/>
              </a:spcAft>
            </a:pPr>
            <a:r>
              <a:rPr sz="950">
                <a:solidFill>
                  <a:srgbClr val="FFC72C"/>
                </a:solidFill>
                <a:latin typeface="Calibri"/>
              </a:rPr>
              <a:t>▪  </a:t>
            </a:r>
            <a:r>
              <a:rPr b="1" sz="950">
                <a:solidFill>
                  <a:srgbClr val="1F2A44"/>
                </a:solidFill>
                <a:latin typeface="Calibri"/>
              </a:rPr>
              <a:t>The battery curve you pick moves the median by 8%; </a:t>
            </a:r>
            <a:r>
              <a:rPr sz="950">
                <a:solidFill>
                  <a:srgbClr val="1F2A44"/>
                </a:solidFill>
                <a:latin typeface="Calibri"/>
              </a:rPr>
              <a:t>slides 14 to 18 show the curves and what moves it more.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NEW YORK DISTRIBUTION-SCALE COHORT VS HYDE PARK, $/KWH NOMINAL (2021-2027 DOLLARS)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New York is building the same thing: distribution-connected, 2025, $524 to $1,110 per kWh before any utility station</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13</a:t>
            </a:r>
          </a:p>
        </p:txBody>
      </p:sp>
      <p:graphicFrame>
        <p:nvGraphicFramePr>
          <p:cNvPr id="7" name="Chart 6"/>
          <p:cNvGraphicFramePr>
            <a:graphicFrameLocks noGrp="1"/>
          </p:cNvGraphicFramePr>
          <p:nvPr/>
        </p:nvGraphicFramePr>
        <p:xfrm>
          <a:off x="457200" y="1371600"/>
          <a:ext cx="6949440" cy="457200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589520" y="1371600"/>
          <a:ext cx="4114800" cy="1920240"/>
        </p:xfrm>
        <a:graphic>
          <a:graphicData uri="http://schemas.openxmlformats.org/drawingml/2006/table">
            <a:tbl>
              <a:tblPr firstRow="1" bandRow="1">
                <a:tableStyleId>{5C22544A-7EE6-4342-B048-85BDC9FD1C3A}</a:tableStyleId>
              </a:tblPr>
              <a:tblGrid>
                <a:gridCol w="3108960"/>
                <a:gridCol w="1005840"/>
              </a:tblGrid>
              <a:tr h="274320">
                <a:tc>
                  <a:txBody>
                    <a:bodyPr/>
                    <a:lstStyle/>
                    <a:p>
                      <a:r>
                        <a:rPr sz="1000" b="1">
                          <a:solidFill>
                            <a:srgbClr val="FFFFFF"/>
                          </a:solidFill>
                          <a:latin typeface="Calibri"/>
                        </a:rPr>
                        <a:t>Per kW of power</a:t>
                      </a:r>
                    </a:p>
                  </a:txBody>
                  <a:tcPr marL="54864" marR="54864" marT="27432" marB="27432">
                    <a:solidFill>
                      <a:srgbClr val="001E60"/>
                    </a:solidFill>
                  </a:tcPr>
                </a:tc>
                <a:tc>
                  <a:txBody>
                    <a:bodyPr/>
                    <a:lstStyle/>
                    <a:p>
                      <a:pPr algn="r"/>
                      <a:r>
                        <a:rPr sz="1000" b="1">
                          <a:solidFill>
                            <a:srgbClr val="FFFFFF"/>
                          </a:solidFill>
                          <a:latin typeface="Calibri"/>
                        </a:rPr>
                        <a:t>$/kW</a:t>
                      </a:r>
                    </a:p>
                  </a:txBody>
                  <a:tcPr marL="54864" marR="54864" marT="27432" marB="27432">
                    <a:solidFill>
                      <a:srgbClr val="001E60"/>
                    </a:solidFill>
                  </a:tcPr>
                </a:tc>
              </a:tr>
              <a:tr h="274320">
                <a:tc>
                  <a:txBody>
                    <a:bodyPr/>
                    <a:lstStyle/>
                    <a:p>
                      <a:r>
                        <a:rPr sz="1000" b="0">
                          <a:solidFill>
                            <a:srgbClr val="1F2A44"/>
                          </a:solidFill>
                          <a:latin typeface="Calibri"/>
                        </a:rPr>
                        <a:t>NineDot Arthur Kill Rd (NYCIDA budget)</a:t>
                      </a:r>
                    </a:p>
                  </a:txBody>
                  <a:tcPr marL="54864" marR="54864" marT="27432" marB="27432" anchor="ctr">
                    <a:solidFill>
                      <a:srgbClr val="FFFFFF"/>
                    </a:solidFill>
                  </a:tcPr>
                </a:tc>
                <a:tc>
                  <a:txBody>
                    <a:bodyPr/>
                    <a:lstStyle/>
                    <a:p>
                      <a:pPr algn="r"/>
                      <a:r>
                        <a:rPr sz="1000" b="0">
                          <a:solidFill>
                            <a:srgbClr val="1F2A44"/>
                          </a:solidFill>
                          <a:latin typeface="Calibri"/>
                        </a:rPr>
                        <a:t>$4,427</a:t>
                      </a:r>
                    </a:p>
                  </a:txBody>
                  <a:tcPr marL="54864" marR="54864" marT="27432" marB="27432" anchor="ctr">
                    <a:solidFill>
                      <a:srgbClr val="FFFFFF"/>
                    </a:solidFill>
                  </a:tcPr>
                </a:tc>
              </a:tr>
              <a:tr h="274320">
                <a:tc>
                  <a:txBody>
                    <a:bodyPr/>
                    <a:lstStyle/>
                    <a:p>
                      <a:r>
                        <a:rPr sz="1000" b="0">
                          <a:solidFill>
                            <a:srgbClr val="1F2A44"/>
                          </a:solidFill>
                          <a:latin typeface="Calibri"/>
                        </a:rPr>
                        <a:t>NineDot portfolio financing (floor)</a:t>
                      </a:r>
                    </a:p>
                  </a:txBody>
                  <a:tcPr marL="54864" marR="54864" marT="27432" marB="27432" anchor="ctr">
                    <a:solidFill>
                      <a:srgbClr val="F2F4F8"/>
                    </a:solidFill>
                  </a:tcPr>
                </a:tc>
                <a:tc>
                  <a:txBody>
                    <a:bodyPr/>
                    <a:lstStyle/>
                    <a:p>
                      <a:pPr algn="r"/>
                      <a:r>
                        <a:rPr sz="1000" b="0">
                          <a:solidFill>
                            <a:srgbClr val="1F2A44"/>
                          </a:solidFill>
                          <a:latin typeface="Calibri"/>
                        </a:rPr>
                        <a:t>$3,476</a:t>
                      </a:r>
                    </a:p>
                  </a:txBody>
                  <a:tcPr marL="54864" marR="54864" marT="27432" marB="27432" anchor="ctr">
                    <a:solidFill>
                      <a:srgbClr val="F2F4F8"/>
                    </a:solidFill>
                  </a:tcPr>
                </a:tc>
              </a:tr>
              <a:tr h="274320">
                <a:tc>
                  <a:txBody>
                    <a:bodyPr/>
                    <a:lstStyle/>
                    <a:p>
                      <a:r>
                        <a:rPr sz="1000" b="0">
                          <a:solidFill>
                            <a:srgbClr val="1F2A44"/>
                          </a:solidFill>
                          <a:latin typeface="Calibri"/>
                        </a:rPr>
                        <a:t>Soltage Maspeth (NYCIDA)</a:t>
                      </a:r>
                    </a:p>
                  </a:txBody>
                  <a:tcPr marL="54864" marR="54864" marT="27432" marB="27432" anchor="ctr">
                    <a:solidFill>
                      <a:srgbClr val="FFFFFF"/>
                    </a:solidFill>
                  </a:tcPr>
                </a:tc>
                <a:tc>
                  <a:txBody>
                    <a:bodyPr/>
                    <a:lstStyle/>
                    <a:p>
                      <a:pPr algn="r"/>
                      <a:r>
                        <a:rPr sz="1000" b="0">
                          <a:solidFill>
                            <a:srgbClr val="1F2A44"/>
                          </a:solidFill>
                          <a:latin typeface="Calibri"/>
                        </a:rPr>
                        <a:t>$3,221</a:t>
                      </a:r>
                    </a:p>
                  </a:txBody>
                  <a:tcPr marL="54864" marR="54864" marT="27432" marB="27432" anchor="ctr">
                    <a:solidFill>
                      <a:srgbClr val="FFFFFF"/>
                    </a:solidFill>
                  </a:tcPr>
                </a:tc>
              </a:tr>
              <a:tr h="274320">
                <a:tc>
                  <a:txBody>
                    <a:bodyPr/>
                    <a:lstStyle/>
                    <a:p>
                      <a:r>
                        <a:rPr sz="1000" b="0">
                          <a:solidFill>
                            <a:srgbClr val="1F2A44"/>
                          </a:solidFill>
                          <a:latin typeface="Calibri"/>
                        </a:rPr>
                        <a:t>Elevate Victory Blvd (NYCIDA)</a:t>
                      </a:r>
                    </a:p>
                  </a:txBody>
                  <a:tcPr marL="54864" marR="54864" marT="27432" marB="27432" anchor="ctr">
                    <a:solidFill>
                      <a:srgbClr val="F2F4F8"/>
                    </a:solidFill>
                  </a:tcPr>
                </a:tc>
                <a:tc>
                  <a:txBody>
                    <a:bodyPr/>
                    <a:lstStyle/>
                    <a:p>
                      <a:pPr algn="r"/>
                      <a:r>
                        <a:rPr sz="1000" b="0">
                          <a:solidFill>
                            <a:srgbClr val="1F2A44"/>
                          </a:solidFill>
                          <a:latin typeface="Calibri"/>
                        </a:rPr>
                        <a:t>$2,096</a:t>
                      </a:r>
                    </a:p>
                  </a:txBody>
                  <a:tcPr marL="54864" marR="54864" marT="27432" marB="27432" anchor="ctr">
                    <a:solidFill>
                      <a:srgbClr val="F2F4F8"/>
                    </a:solidFill>
                  </a:tcPr>
                </a:tc>
              </a:tr>
              <a:tr h="274320">
                <a:tc>
                  <a:txBody>
                    <a:bodyPr/>
                    <a:lstStyle/>
                    <a:p>
                      <a:r>
                        <a:rPr sz="1000" b="0">
                          <a:solidFill>
                            <a:srgbClr val="1F2A44"/>
                          </a:solidFill>
                          <a:latin typeface="Calibri"/>
                        </a:rPr>
                        <a:t>Hyde Park station complete, direct</a:t>
                      </a:r>
                    </a:p>
                  </a:txBody>
                  <a:tcPr marL="54864" marR="54864" marT="27432" marB="27432" anchor="ctr">
                    <a:solidFill>
                      <a:srgbClr val="FFFFFF"/>
                    </a:solidFill>
                  </a:tcPr>
                </a:tc>
                <a:tc>
                  <a:txBody>
                    <a:bodyPr/>
                    <a:lstStyle/>
                    <a:p>
                      <a:pPr algn="r"/>
                      <a:r>
                        <a:rPr sz="1000" b="0">
                          <a:solidFill>
                            <a:srgbClr val="1F2A44"/>
                          </a:solidFill>
                          <a:latin typeface="Calibri"/>
                        </a:rPr>
                        <a:t>$2,967</a:t>
                      </a:r>
                    </a:p>
                  </a:txBody>
                  <a:tcPr marL="54864" marR="54864" marT="27432" marB="27432" anchor="ctr">
                    <a:solidFill>
                      <a:srgbClr val="FFFFFF"/>
                    </a:solidFill>
                  </a:tcPr>
                </a:tc>
              </a:tr>
              <a:tr h="274320">
                <a:tc>
                  <a:txBody>
                    <a:bodyPr/>
                    <a:lstStyle/>
                    <a:p>
                      <a:r>
                        <a:rPr sz="1000" b="0">
                          <a:solidFill>
                            <a:srgbClr val="1F2A44"/>
                          </a:solidFill>
                          <a:latin typeface="Calibri"/>
                        </a:rPr>
                        <a:t>Hyde Park approval level</a:t>
                      </a:r>
                    </a:p>
                  </a:txBody>
                  <a:tcPr marL="54864" marR="54864" marT="27432" marB="27432" anchor="ctr">
                    <a:solidFill>
                      <a:srgbClr val="F2F4F8"/>
                    </a:solidFill>
                  </a:tcPr>
                </a:tc>
                <a:tc>
                  <a:txBody>
                    <a:bodyPr/>
                    <a:lstStyle/>
                    <a:p>
                      <a:pPr algn="r"/>
                      <a:r>
                        <a:rPr sz="1000" b="0">
                          <a:solidFill>
                            <a:srgbClr val="1F2A44"/>
                          </a:solidFill>
                          <a:latin typeface="Calibri"/>
                        </a:rPr>
                        <a:t>$5,725</a:t>
                      </a:r>
                    </a:p>
                  </a:txBody>
                  <a:tcPr marL="54864" marR="54864" marT="27432" marB="27432" anchor="ctr">
                    <a:solidFill>
                      <a:srgbClr val="F2F4F8"/>
                    </a:solidFill>
                  </a:tcPr>
                </a:tc>
              </a:tr>
            </a:tbl>
          </a:graphicData>
        </a:graphic>
      </p:graphicFrame>
      <p:sp>
        <p:nvSpPr>
          <p:cNvPr id="9" name="TextBox 8"/>
          <p:cNvSpPr txBox="1"/>
          <p:nvPr/>
        </p:nvSpPr>
        <p:spPr>
          <a:xfrm>
            <a:off x="7589520" y="3429000"/>
            <a:ext cx="4114800" cy="2834640"/>
          </a:xfrm>
          <a:prstGeom prst="rect">
            <a:avLst/>
          </a:prstGeom>
          <a:noFill/>
        </p:spPr>
        <p:txBody>
          <a:bodyPr wrap="square" lIns="45720">
            <a:spAutoFit/>
          </a:bodyPr>
          <a:lstStyle/>
          <a:p>
            <a:pPr>
              <a:lnSpc>
                <a:spcPct val="105000"/>
              </a:lnSpc>
              <a:spcAft>
                <a:spcPts val="300"/>
              </a:spcAft>
            </a:pPr>
            <a:r>
              <a:rPr sz="1000">
                <a:solidFill>
                  <a:srgbClr val="FFC72C"/>
                </a:solidFill>
                <a:latin typeface="Calibri"/>
              </a:rPr>
              <a:t>▪  </a:t>
            </a:r>
            <a:r>
              <a:rPr b="1" sz="1000">
                <a:solidFill>
                  <a:srgbClr val="1F2A44"/>
                </a:solidFill>
                <a:latin typeface="Calibri"/>
              </a:rPr>
              <a:t>NineDot: </a:t>
            </a:r>
            <a:r>
              <a:rPr sz="1000">
                <a:solidFill>
                  <a:srgbClr val="1F2A44"/>
                </a:solidFill>
                <a:latin typeface="Calibri"/>
              </a:rPr>
              <a:t>11 projects at 6 NYC sites, 39 MW operating (Sep 2026); 28 more financed at $431M for 494 MWh. Thirteen NYC developer sites with NYCIDA-filed costs are in the dataset (NineDot, Convergent, Soltage, Agilitas, Greenbacker, Elevate): $410 to $1,110/kWh, median about $830. Developer-owned 4-h sites on leased lots, VDER revenue, NYSERDA incentive, ITC; no utility station, no landfill, no siting case.</a:t>
            </a:r>
          </a:p>
          <a:p>
            <a:pPr>
              <a:lnSpc>
                <a:spcPct val="105000"/>
              </a:lnSpc>
              <a:spcAft>
                <a:spcPts val="300"/>
              </a:spcAft>
            </a:pPr>
            <a:r>
              <a:rPr sz="1000">
                <a:solidFill>
                  <a:srgbClr val="FFC72C"/>
                </a:solidFill>
                <a:latin typeface="Calibri"/>
              </a:rPr>
              <a:t>▪  </a:t>
            </a:r>
            <a:r>
              <a:rPr b="1" sz="1000">
                <a:solidFill>
                  <a:srgbClr val="1F2A44"/>
                </a:solidFill>
                <a:latin typeface="Calibri"/>
              </a:rPr>
              <a:t>Their own filed budget for Arthur Kill Road is $1,110/kWh and $4,427/kW, </a:t>
            </a:r>
            <a:r>
              <a:rPr sz="1000">
                <a:solidFill>
                  <a:srgbClr val="1F2A44"/>
                </a:solidFill>
                <a:latin typeface="Calibri"/>
              </a:rPr>
              <a:t>inside Hyde Park's installed-to-station band on $/kWh at twice the duration.</a:t>
            </a:r>
          </a:p>
          <a:p>
            <a:pPr>
              <a:lnSpc>
                <a:spcPct val="105000"/>
              </a:lnSpc>
              <a:spcAft>
                <a:spcPts val="300"/>
              </a:spcAft>
            </a:pPr>
            <a:r>
              <a:rPr sz="1000">
                <a:solidFill>
                  <a:srgbClr val="FFC72C"/>
                </a:solidFill>
                <a:latin typeface="Calibri"/>
              </a:rPr>
              <a:t>▪  </a:t>
            </a:r>
            <a:r>
              <a:rPr b="1" sz="1000">
                <a:solidFill>
                  <a:srgbClr val="1F2A44"/>
                </a:solidFill>
                <a:latin typeface="Calibri"/>
              </a:rPr>
              <a:t>Interconnection is the cost no index carries: </a:t>
            </a:r>
            <a:r>
              <a:rPr sz="1000">
                <a:solidFill>
                  <a:srgbClr val="1F2A44"/>
                </a:solidFill>
                <a:latin typeface="Calibri"/>
              </a:rPr>
              <a:t>Con Edison's two-part test added about $21M of upgrades per project on 34 projects (161 MW), per the NY-BEST and NYSEIA filing of 11 Mar 2026. Hyde Park's Station 496 scope is $7.3M.</a:t>
            </a:r>
          </a:p>
          <a:p>
            <a:pPr>
              <a:lnSpc>
                <a:spcPct val="105000"/>
              </a:lnSpc>
              <a:spcAft>
                <a:spcPts val="300"/>
              </a:spcAft>
            </a:pPr>
            <a:r>
              <a:rPr sz="1000">
                <a:solidFill>
                  <a:srgbClr val="FFC72C"/>
                </a:solidFill>
                <a:latin typeface="Calibri"/>
              </a:rPr>
              <a:t>▪  </a:t>
            </a:r>
            <a:r>
              <a:rPr b="1" sz="1000">
                <a:solidFill>
                  <a:srgbClr val="1F2A44"/>
                </a:solidFill>
                <a:latin typeface="Calibri"/>
              </a:rPr>
              <a:t>*Soltage duration assumed 4-h; </a:t>
            </a:r>
            <a:r>
              <a:rPr sz="1000">
                <a:solidFill>
                  <a:srgbClr val="1F2A44"/>
                </a:solidFill>
                <a:latin typeface="Calibri"/>
              </a:rPr>
              <a:t>incentives and ITC not netted from any row.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BATTERY PRICE CURVES YOU COULD CITE, 2014-2026, EACH SERIES INDEXED TO ITS 2018 VALUE = 1.00</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Six published curves, indexed to 2018: batteries fell 1.4 to 2x, the rest of a project rose half again</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14</a:t>
            </a:r>
          </a:p>
        </p:txBody>
      </p:sp>
      <p:graphicFrame>
        <p:nvGraphicFramePr>
          <p:cNvPr id="7" name="Chart 6"/>
          <p:cNvGraphicFramePr>
            <a:graphicFrameLocks noGrp="1"/>
          </p:cNvGraphicFramePr>
          <p:nvPr/>
        </p:nvGraphicFramePr>
        <p:xfrm>
          <a:off x="457200" y="1371600"/>
          <a:ext cx="6400800" cy="457200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086600" y="1371600"/>
          <a:ext cx="4617720" cy="3749039"/>
        </p:xfrm>
        <a:graphic>
          <a:graphicData uri="http://schemas.openxmlformats.org/drawingml/2006/table">
            <a:tbl>
              <a:tblPr firstRow="1" bandRow="1">
                <a:tableStyleId>{5C22544A-7EE6-4342-B048-85BDC9FD1C3A}</a:tableStyleId>
              </a:tblPr>
              <a:tblGrid>
                <a:gridCol w="1051560"/>
                <a:gridCol w="2057400"/>
                <a:gridCol w="685800"/>
                <a:gridCol w="822960"/>
              </a:tblGrid>
              <a:tr h="535577">
                <a:tc>
                  <a:txBody>
                    <a:bodyPr/>
                    <a:lstStyle/>
                    <a:p>
                      <a:r>
                        <a:rPr sz="800" b="1">
                          <a:solidFill>
                            <a:srgbClr val="FFFFFF"/>
                          </a:solidFill>
                          <a:latin typeface="Calibri"/>
                        </a:rPr>
                        <a:t>Curve</a:t>
                      </a:r>
                    </a:p>
                  </a:txBody>
                  <a:tcPr marL="54864" marR="54864" marT="27432" marB="27432">
                    <a:solidFill>
                      <a:srgbClr val="001E60"/>
                    </a:solidFill>
                  </a:tcPr>
                </a:tc>
                <a:tc>
                  <a:txBody>
                    <a:bodyPr/>
                    <a:lstStyle/>
                    <a:p>
                      <a:r>
                        <a:rPr sz="800" b="1">
                          <a:solidFill>
                            <a:srgbClr val="FFFFFF"/>
                          </a:solidFill>
                          <a:latin typeface="Calibri"/>
                        </a:rPr>
                        <a:t>What it measures</a:t>
                      </a:r>
                    </a:p>
                  </a:txBody>
                  <a:tcPr marL="54864" marR="54864" marT="27432" marB="27432">
                    <a:solidFill>
                      <a:srgbClr val="001E60"/>
                    </a:solidFill>
                  </a:tcPr>
                </a:tc>
                <a:tc>
                  <a:txBody>
                    <a:bodyPr/>
                    <a:lstStyle/>
                    <a:p>
                      <a:r>
                        <a:rPr sz="800" b="1">
                          <a:solidFill>
                            <a:srgbClr val="FFFFFF"/>
                          </a:solidFill>
                          <a:latin typeface="Calibri"/>
                        </a:rPr>
                        <a:t>2018 to latest</a:t>
                      </a:r>
                    </a:p>
                  </a:txBody>
                  <a:tcPr marL="54864" marR="54864" marT="27432" marB="27432">
                    <a:solidFill>
                      <a:srgbClr val="001E60"/>
                    </a:solidFill>
                  </a:tcPr>
                </a:tc>
                <a:tc>
                  <a:txBody>
                    <a:bodyPr/>
                    <a:lstStyle/>
                    <a:p>
                      <a:r>
                        <a:rPr sz="800" b="1">
                          <a:solidFill>
                            <a:srgbClr val="FFFFFF"/>
                          </a:solidFill>
                          <a:latin typeface="Calibri"/>
                        </a:rPr>
                        <a:t>Use in re-basing</a:t>
                      </a:r>
                    </a:p>
                  </a:txBody>
                  <a:tcPr marL="54864" marR="54864" marT="27432" marB="27432">
                    <a:solidFill>
                      <a:srgbClr val="001E60"/>
                    </a:solidFill>
                  </a:tcPr>
                </a:tc>
              </a:tr>
              <a:tr h="535577">
                <a:tc>
                  <a:txBody>
                    <a:bodyPr/>
                    <a:lstStyle/>
                    <a:p>
                      <a:r>
                        <a:rPr sz="800" b="0">
                          <a:solidFill>
                            <a:srgbClr val="1F2A44"/>
                          </a:solidFill>
                          <a:latin typeface="Calibri"/>
                        </a:rPr>
                        <a:t>BNEF pack price</a:t>
                      </a:r>
                    </a:p>
                  </a:txBody>
                  <a:tcPr marL="54864" marR="54864" marT="27432" marB="27432" anchor="ctr">
                    <a:solidFill>
                      <a:srgbClr val="FFFFFF"/>
                    </a:solidFill>
                  </a:tcPr>
                </a:tc>
                <a:tc>
                  <a:txBody>
                    <a:bodyPr/>
                    <a:lstStyle/>
                    <a:p>
                      <a:r>
                        <a:rPr sz="800" b="0">
                          <a:solidFill>
                            <a:srgbClr val="1F2A44"/>
                          </a:solidFill>
                          <a:latin typeface="Calibri"/>
                        </a:rPr>
                        <a:t>Cells and pack, ex-works; real $; annual since 2010</a:t>
                      </a:r>
                    </a:p>
                  </a:txBody>
                  <a:tcPr marL="54864" marR="54864" marT="27432" marB="27432" anchor="ctr">
                    <a:solidFill>
                      <a:srgbClr val="FFFFFF"/>
                    </a:solidFill>
                  </a:tcPr>
                </a:tc>
                <a:tc>
                  <a:txBody>
                    <a:bodyPr/>
                    <a:lstStyle/>
                    <a:p>
                      <a:r>
                        <a:rPr sz="800" b="0">
                          <a:solidFill>
                            <a:srgbClr val="1F2A44"/>
                          </a:solidFill>
                          <a:latin typeface="Calibri"/>
                        </a:rPr>
                        <a:t>0.61x</a:t>
                      </a:r>
                    </a:p>
                  </a:txBody>
                  <a:tcPr marL="54864" marR="54864" marT="27432" marB="27432" anchor="ctr">
                    <a:solidFill>
                      <a:srgbClr val="FFFFFF"/>
                    </a:solidFill>
                  </a:tcPr>
                </a:tc>
                <a:tc>
                  <a:txBody>
                    <a:bodyPr/>
                    <a:lstStyle/>
                    <a:p>
                      <a:r>
                        <a:rPr sz="800" b="0">
                          <a:solidFill>
                            <a:srgbClr val="1F2A44"/>
                          </a:solidFill>
                          <a:latin typeface="Calibri"/>
                        </a:rPr>
                        <a:t>Battery share only</a:t>
                      </a:r>
                    </a:p>
                  </a:txBody>
                  <a:tcPr marL="54864" marR="54864" marT="27432" marB="27432" anchor="ctr">
                    <a:solidFill>
                      <a:srgbClr val="FFFFFF"/>
                    </a:solidFill>
                  </a:tcPr>
                </a:tc>
              </a:tr>
              <a:tr h="535577">
                <a:tc>
                  <a:txBody>
                    <a:bodyPr/>
                    <a:lstStyle/>
                    <a:p>
                      <a:r>
                        <a:rPr sz="800" b="0">
                          <a:solidFill>
                            <a:srgbClr val="1F2A44"/>
                          </a:solidFill>
                          <a:latin typeface="Calibri"/>
                        </a:rPr>
                        <a:t>BNEF turnkey system</a:t>
                      </a:r>
                    </a:p>
                  </a:txBody>
                  <a:tcPr marL="54864" marR="54864" marT="27432" marB="27432" anchor="ctr">
                    <a:solidFill>
                      <a:srgbClr val="F2F4F8"/>
                    </a:solidFill>
                  </a:tcPr>
                </a:tc>
                <a:tc>
                  <a:txBody>
                    <a:bodyPr/>
                    <a:lstStyle/>
                    <a:p>
                      <a:r>
                        <a:rPr sz="800" b="0">
                          <a:solidFill>
                            <a:srgbClr val="1F2A44"/>
                          </a:solidFill>
                          <a:latin typeface="Calibri"/>
                        </a:rPr>
                        <a:t>Racks, PCS, BOS, install; excl. grid connection, land, owner costs</a:t>
                      </a:r>
                    </a:p>
                  </a:txBody>
                  <a:tcPr marL="54864" marR="54864" marT="27432" marB="27432" anchor="ctr">
                    <a:solidFill>
                      <a:srgbClr val="F2F4F8"/>
                    </a:solidFill>
                  </a:tcPr>
                </a:tc>
                <a:tc>
                  <a:txBody>
                    <a:bodyPr/>
                    <a:lstStyle/>
                    <a:p>
                      <a:r>
                        <a:rPr sz="800" b="0">
                          <a:solidFill>
                            <a:srgbClr val="1F2A44"/>
                          </a:solidFill>
                          <a:latin typeface="Calibri"/>
                        </a:rPr>
                        <a:t>0.49x</a:t>
                      </a:r>
                    </a:p>
                  </a:txBody>
                  <a:tcPr marL="54864" marR="54864" marT="27432" marB="27432" anchor="ctr">
                    <a:solidFill>
                      <a:srgbClr val="F2F4F8"/>
                    </a:solidFill>
                  </a:tcPr>
                </a:tc>
                <a:tc>
                  <a:txBody>
                    <a:bodyPr/>
                    <a:lstStyle/>
                    <a:p>
                      <a:r>
                        <a:rPr sz="800" b="0">
                          <a:solidFill>
                            <a:srgbClr val="1F2A44"/>
                          </a:solidFill>
                          <a:latin typeface="Calibri"/>
                        </a:rPr>
                        <a:t>Battery share; short history</a:t>
                      </a:r>
                    </a:p>
                  </a:txBody>
                  <a:tcPr marL="54864" marR="54864" marT="27432" marB="27432" anchor="ctr">
                    <a:solidFill>
                      <a:srgbClr val="F2F4F8"/>
                    </a:solidFill>
                  </a:tcPr>
                </a:tc>
              </a:tr>
              <a:tr h="535577">
                <a:tc>
                  <a:txBody>
                    <a:bodyPr/>
                    <a:lstStyle/>
                    <a:p>
                      <a:r>
                        <a:rPr sz="800" b="0">
                          <a:solidFill>
                            <a:srgbClr val="1F2A44"/>
                          </a:solidFill>
                          <a:latin typeface="Calibri"/>
                        </a:rPr>
                        <a:t>NREL bottom-up base year</a:t>
                      </a:r>
                    </a:p>
                  </a:txBody>
                  <a:tcPr marL="54864" marR="54864" marT="27432" marB="27432" anchor="ctr">
                    <a:solidFill>
                      <a:srgbClr val="FFFFFF"/>
                    </a:solidFill>
                  </a:tcPr>
                </a:tc>
                <a:tc>
                  <a:txBody>
                    <a:bodyPr/>
                    <a:lstStyle/>
                    <a:p>
                      <a:r>
                        <a:rPr sz="800" b="0">
                          <a:solidFill>
                            <a:srgbClr val="1F2A44"/>
                          </a:solidFill>
                          <a:latin typeface="Calibri"/>
                        </a:rPr>
                        <a:t>Modeled 4-h 60 MW all-in incl. EPC, developer overhead, interconnection allowance</a:t>
                      </a:r>
                    </a:p>
                  </a:txBody>
                  <a:tcPr marL="54864" marR="54864" marT="27432" marB="27432" anchor="ctr">
                    <a:solidFill>
                      <a:srgbClr val="FFFFFF"/>
                    </a:solidFill>
                  </a:tcPr>
                </a:tc>
                <a:tc>
                  <a:txBody>
                    <a:bodyPr/>
                    <a:lstStyle/>
                    <a:p>
                      <a:r>
                        <a:rPr sz="800" b="0">
                          <a:solidFill>
                            <a:srgbClr val="1F2A44"/>
                          </a:solidFill>
                          <a:latin typeface="Calibri"/>
                        </a:rPr>
                        <a:t>0.69x</a:t>
                      </a:r>
                    </a:p>
                  </a:txBody>
                  <a:tcPr marL="54864" marR="54864" marT="27432" marB="27432" anchor="ctr">
                    <a:solidFill>
                      <a:srgbClr val="FFFFFF"/>
                    </a:solidFill>
                  </a:tcPr>
                </a:tc>
                <a:tc>
                  <a:txBody>
                    <a:bodyPr/>
                    <a:lstStyle/>
                    <a:p>
                      <a:r>
                        <a:rPr sz="800" b="0">
                          <a:solidFill>
                            <a:srgbClr val="1F2A44"/>
                          </a:solidFill>
                          <a:latin typeface="Calibri"/>
                        </a:rPr>
                        <a:t>Battery share; two points</a:t>
                      </a:r>
                    </a:p>
                  </a:txBody>
                  <a:tcPr marL="54864" marR="54864" marT="27432" marB="27432" anchor="ctr">
                    <a:solidFill>
                      <a:srgbClr val="FFFFFF"/>
                    </a:solidFill>
                  </a:tcPr>
                </a:tc>
              </a:tr>
              <a:tr h="535577">
                <a:tc>
                  <a:txBody>
                    <a:bodyPr/>
                    <a:lstStyle/>
                    <a:p>
                      <a:r>
                        <a:rPr sz="800" b="0">
                          <a:solidFill>
                            <a:srgbClr val="1F2A44"/>
                          </a:solidFill>
                          <a:latin typeface="Calibri"/>
                        </a:rPr>
                        <a:t>EIA / LBNL installed all-in</a:t>
                      </a:r>
                    </a:p>
                  </a:txBody>
                  <a:tcPr marL="54864" marR="54864" marT="27432" marB="27432" anchor="ctr">
                    <a:solidFill>
                      <a:srgbClr val="F2F4F8"/>
                    </a:solidFill>
                  </a:tcPr>
                </a:tc>
                <a:tc>
                  <a:txBody>
                    <a:bodyPr/>
                    <a:lstStyle/>
                    <a:p>
                      <a:r>
                        <a:rPr sz="800" b="0">
                          <a:solidFill>
                            <a:srgbClr val="1F2A44"/>
                          </a:solidFill>
                          <a:latin typeface="Calibri"/>
                        </a:rPr>
                        <a:t>Reported capitalized cost of installed systems (EIA-860 2015-18; LBNL 2024)</a:t>
                      </a:r>
                    </a:p>
                  </a:txBody>
                  <a:tcPr marL="54864" marR="54864" marT="27432" marB="27432" anchor="ctr">
                    <a:solidFill>
                      <a:srgbClr val="F2F4F8"/>
                    </a:solidFill>
                  </a:tcPr>
                </a:tc>
                <a:tc>
                  <a:txBody>
                    <a:bodyPr/>
                    <a:lstStyle/>
                    <a:p>
                      <a:r>
                        <a:rPr sz="800" b="0">
                          <a:solidFill>
                            <a:srgbClr val="1F2A44"/>
                          </a:solidFill>
                          <a:latin typeface="Calibri"/>
                        </a:rPr>
                        <a:t>0.73x</a:t>
                      </a:r>
                    </a:p>
                  </a:txBody>
                  <a:tcPr marL="54864" marR="54864" marT="27432" marB="27432" anchor="ctr">
                    <a:solidFill>
                      <a:srgbClr val="F2F4F8"/>
                    </a:solidFill>
                  </a:tcPr>
                </a:tc>
                <a:tc>
                  <a:txBody>
                    <a:bodyPr/>
                    <a:lstStyle/>
                    <a:p>
                      <a:r>
                        <a:rPr sz="800" b="0">
                          <a:solidFill>
                            <a:srgbClr val="1F2A44"/>
                          </a:solidFill>
                          <a:latin typeface="Calibri"/>
                        </a:rPr>
                        <a:t>Primary: closest to a project</a:t>
                      </a:r>
                    </a:p>
                  </a:txBody>
                  <a:tcPr marL="54864" marR="54864" marT="27432" marB="27432" anchor="ctr">
                    <a:solidFill>
                      <a:srgbClr val="F2F4F8"/>
                    </a:solidFill>
                  </a:tcPr>
                </a:tc>
              </a:tr>
              <a:tr h="535577">
                <a:tc>
                  <a:txBody>
                    <a:bodyPr/>
                    <a:lstStyle/>
                    <a:p>
                      <a:r>
                        <a:rPr sz="800" b="0">
                          <a:solidFill>
                            <a:srgbClr val="1F2A44"/>
                          </a:solidFill>
                          <a:latin typeface="Calibri"/>
                        </a:rPr>
                        <a:t>Lazard LCOS</a:t>
                      </a:r>
                    </a:p>
                  </a:txBody>
                  <a:tcPr marL="54864" marR="54864" marT="27432" marB="27432" anchor="ctr">
                    <a:solidFill>
                      <a:srgbClr val="FFFFFF"/>
                    </a:solidFill>
                  </a:tcPr>
                </a:tc>
                <a:tc>
                  <a:txBody>
                    <a:bodyPr/>
                    <a:lstStyle/>
                    <a:p>
                      <a:r>
                        <a:rPr sz="800" b="0">
                          <a:solidFill>
                            <a:srgbClr val="1F2A44"/>
                          </a:solidFill>
                          <a:latin typeface="Calibri"/>
                        </a:rPr>
                        <a:t>Levelized $/MWh incl. charging, O&amp;M, augmentation, financing, ITC</a:t>
                      </a:r>
                    </a:p>
                  </a:txBody>
                  <a:tcPr marL="54864" marR="54864" marT="27432" marB="27432" anchor="ctr">
                    <a:solidFill>
                      <a:srgbClr val="FFFFFF"/>
                    </a:solidFill>
                  </a:tcPr>
                </a:tc>
                <a:tc>
                  <a:txBody>
                    <a:bodyPr/>
                    <a:lstStyle/>
                    <a:p>
                      <a:r>
                        <a:rPr sz="800" b="0">
                          <a:solidFill>
                            <a:srgbClr val="1F2A44"/>
                          </a:solidFill>
                          <a:latin typeface="Calibri"/>
                        </a:rPr>
                        <a:t>1.03x</a:t>
                      </a:r>
                    </a:p>
                  </a:txBody>
                  <a:tcPr marL="54864" marR="54864" marT="27432" marB="27432" anchor="ctr">
                    <a:solidFill>
                      <a:srgbClr val="FFFFFF"/>
                    </a:solidFill>
                  </a:tcPr>
                </a:tc>
                <a:tc>
                  <a:txBody>
                    <a:bodyPr/>
                    <a:lstStyle/>
                    <a:p>
                      <a:r>
                        <a:rPr sz="800" b="0">
                          <a:solidFill>
                            <a:srgbClr val="1F2A44"/>
                          </a:solidFill>
                          <a:latin typeface="Calibri"/>
                        </a:rPr>
                        <a:t>Not a capital-cost deflator</a:t>
                      </a:r>
                    </a:p>
                  </a:txBody>
                  <a:tcPr marL="54864" marR="54864" marT="27432" marB="27432" anchor="ctr">
                    <a:solidFill>
                      <a:srgbClr val="FFFFFF"/>
                    </a:solidFill>
                  </a:tcPr>
                </a:tc>
              </a:tr>
              <a:tr h="535577">
                <a:tc>
                  <a:txBody>
                    <a:bodyPr/>
                    <a:lstStyle/>
                    <a:p>
                      <a:r>
                        <a:rPr sz="800" b="0">
                          <a:solidFill>
                            <a:srgbClr val="1F2A44"/>
                          </a:solidFill>
                          <a:latin typeface="Calibri"/>
                        </a:rPr>
                        <a:t>Handy-Whitman construction</a:t>
                      </a:r>
                    </a:p>
                  </a:txBody>
                  <a:tcPr marL="54864" marR="54864" marT="27432" marB="27432" anchor="ctr">
                    <a:solidFill>
                      <a:srgbClr val="F2F4F8"/>
                    </a:solidFill>
                  </a:tcPr>
                </a:tc>
                <a:tc>
                  <a:txBody>
                    <a:bodyPr/>
                    <a:lstStyle/>
                    <a:p>
                      <a:r>
                        <a:rPr sz="800" b="0">
                          <a:solidFill>
                            <a:srgbClr val="1F2A44"/>
                          </a:solidFill>
                          <a:latin typeface="Calibri"/>
                        </a:rPr>
                        <a:t>Utility plant construction cost index, North Atlantic (via PJM)</a:t>
                      </a:r>
                    </a:p>
                  </a:txBody>
                  <a:tcPr marL="54864" marR="54864" marT="27432" marB="27432" anchor="ctr">
                    <a:solidFill>
                      <a:srgbClr val="F2F4F8"/>
                    </a:solidFill>
                  </a:tcPr>
                </a:tc>
                <a:tc>
                  <a:txBody>
                    <a:bodyPr/>
                    <a:lstStyle/>
                    <a:p>
                      <a:r>
                        <a:rPr sz="800" b="0">
                          <a:solidFill>
                            <a:srgbClr val="1F2A44"/>
                          </a:solidFill>
                          <a:latin typeface="Calibri"/>
                        </a:rPr>
                        <a:t>1.49x</a:t>
                      </a:r>
                    </a:p>
                  </a:txBody>
                  <a:tcPr marL="54864" marR="54864" marT="27432" marB="27432" anchor="ctr">
                    <a:solidFill>
                      <a:srgbClr val="F2F4F8"/>
                    </a:solidFill>
                  </a:tcPr>
                </a:tc>
                <a:tc>
                  <a:txBody>
                    <a:bodyPr/>
                    <a:lstStyle/>
                    <a:p>
                      <a:r>
                        <a:rPr sz="800" b="0">
                          <a:solidFill>
                            <a:srgbClr val="1F2A44"/>
                          </a:solidFill>
                          <a:latin typeface="Calibri"/>
                        </a:rPr>
                        <a:t>Non-battery share (60%)</a:t>
                      </a:r>
                    </a:p>
                  </a:txBody>
                  <a:tcPr marL="54864" marR="54864" marT="27432" marB="27432" anchor="ctr">
                    <a:solidFill>
                      <a:srgbClr val="F2F4F8"/>
                    </a:solidFill>
                  </a:tcPr>
                </a:tc>
              </a:tr>
            </a:tbl>
          </a:graphicData>
        </a:graphic>
      </p:graphicFrame>
      <p:sp>
        <p:nvSpPr>
          <p:cNvPr id="9" name="TextBox 8"/>
          <p:cNvSpPr txBox="1"/>
          <p:nvPr/>
        </p:nvSpPr>
        <p:spPr>
          <a:xfrm>
            <a:off x="7086600" y="5440680"/>
            <a:ext cx="4617720" cy="914400"/>
          </a:xfrm>
          <a:prstGeom prst="rect">
            <a:avLst/>
          </a:prstGeom>
          <a:noFill/>
        </p:spPr>
        <p:txBody>
          <a:bodyPr wrap="square" lIns="45720">
            <a:spAutoFit/>
          </a:bodyPr>
          <a:lstStyle/>
          <a:p>
            <a:pPr>
              <a:lnSpc>
                <a:spcPct val="105000"/>
              </a:lnSpc>
              <a:spcAft>
                <a:spcPts val="300"/>
              </a:spcAft>
            </a:pPr>
            <a:r>
              <a:rPr sz="1000">
                <a:solidFill>
                  <a:srgbClr val="FFC72C"/>
                </a:solidFill>
                <a:latin typeface="Calibri"/>
              </a:rPr>
              <a:t>▪  </a:t>
            </a:r>
            <a:r>
              <a:rPr b="1" sz="1000">
                <a:solidFill>
                  <a:srgbClr val="1F2A44"/>
                </a:solidFill>
                <a:latin typeface="Calibri"/>
              </a:rPr>
              <a:t>Four curves describe the battery, one the rest of the project, one neither. </a:t>
            </a:r>
            <a:r>
              <a:rPr sz="1000">
                <a:solidFill>
                  <a:srgbClr val="1F2A44"/>
                </a:solidFill>
                <a:latin typeface="Calibri"/>
              </a:rPr>
              <a:t>A re-basing picks one from each of the first two groups and says which. LCOS is cited most and fits least.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NORMALIZING TO 2026: SIX INDICES X THREE ANCHOR BATTERY SHARES, CLASS MEDIAN $/KWH</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battery curve you choose moves the median 8%; the battery share and the construction index move it more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15</a:t>
            </a:r>
          </a:p>
        </p:txBody>
      </p:sp>
      <p:graphicFrame>
        <p:nvGraphicFramePr>
          <p:cNvPr id="7" name="Chart 6"/>
          <p:cNvGraphicFramePr>
            <a:graphicFrameLocks noGrp="1"/>
          </p:cNvGraphicFramePr>
          <p:nvPr/>
        </p:nvGraphicFramePr>
        <p:xfrm>
          <a:off x="457200" y="1371600"/>
          <a:ext cx="6949440" cy="3291840"/>
        </p:xfrm>
        <a:graphic>
          <a:graphicData uri="http://schemas.openxmlformats.org/drawingml/2006/chart">
            <c:chart xmlns:c="http://schemas.openxmlformats.org/drawingml/2006/chart" r:id="rId2"/>
          </a:graphicData>
        </a:graphic>
      </p:graphicFrame>
      <p:sp>
        <p:nvSpPr>
          <p:cNvPr id="8" name="TextBox 7"/>
          <p:cNvSpPr txBox="1"/>
          <p:nvPr/>
        </p:nvSpPr>
        <p:spPr>
          <a:xfrm>
            <a:off x="548640" y="4709160"/>
            <a:ext cx="6858000" cy="320040"/>
          </a:xfrm>
          <a:prstGeom prst="rect">
            <a:avLst/>
          </a:prstGeom>
          <a:noFill/>
        </p:spPr>
        <p:txBody>
          <a:bodyPr wrap="square" lIns="45720" rIns="45720" tIns="27432" bIns="27432" anchor="t">
            <a:spAutoFit/>
          </a:bodyPr>
          <a:lstStyle/>
          <a:p>
            <a:pPr algn="l">
              <a:lnSpc>
                <a:spcPct val="105000"/>
              </a:lnSpc>
              <a:spcAft>
                <a:spcPts val="400"/>
              </a:spcAft>
            </a:pPr>
            <a:r>
              <a:rPr sz="1050" b="0" i="0">
                <a:solidFill>
                  <a:srgbClr val="6B7280"/>
                </a:solidFill>
                <a:latin typeface="Calibri"/>
              </a:rPr>
              <a:t>Nominal median $750. Hyde Park station complete, direct, is $1,483/kWh; its percentile under each index is at right. Deflating whole projects at the battery rate gives $390 to $549.</a:t>
            </a:r>
          </a:p>
        </p:txBody>
      </p:sp>
      <p:graphicFrame>
        <p:nvGraphicFramePr>
          <p:cNvPr id="9" name="Table 8"/>
          <p:cNvGraphicFramePr>
            <a:graphicFrameLocks noGrp="1"/>
          </p:cNvGraphicFramePr>
          <p:nvPr/>
        </p:nvGraphicFramePr>
        <p:xfrm>
          <a:off x="7635240" y="1371600"/>
          <a:ext cx="4069080" cy="2651760"/>
        </p:xfrm>
        <a:graphic>
          <a:graphicData uri="http://schemas.openxmlformats.org/drawingml/2006/table">
            <a:tbl>
              <a:tblPr firstRow="1" bandRow="1">
                <a:tableStyleId>{5C22544A-7EE6-4342-B048-85BDC9FD1C3A}</a:tableStyleId>
              </a:tblPr>
              <a:tblGrid>
                <a:gridCol w="1325880"/>
                <a:gridCol w="868680"/>
                <a:gridCol w="1188720"/>
                <a:gridCol w="685800"/>
              </a:tblGrid>
              <a:tr h="378822">
                <a:tc>
                  <a:txBody>
                    <a:bodyPr/>
                    <a:lstStyle/>
                    <a:p>
                      <a:r>
                        <a:rPr sz="950" b="1">
                          <a:solidFill>
                            <a:srgbClr val="FFFFFF"/>
                          </a:solidFill>
                          <a:latin typeface="Calibri"/>
                        </a:rPr>
                        <a:t>Index</a:t>
                      </a:r>
                    </a:p>
                  </a:txBody>
                  <a:tcPr marL="54864" marR="54864" marT="27432" marB="27432">
                    <a:solidFill>
                      <a:srgbClr val="001E60"/>
                    </a:solidFill>
                  </a:tcPr>
                </a:tc>
                <a:tc>
                  <a:txBody>
                    <a:bodyPr/>
                    <a:lstStyle/>
                    <a:p>
                      <a:pPr algn="r"/>
                      <a:r>
                        <a:rPr sz="950" b="1">
                          <a:solidFill>
                            <a:srgbClr val="FFFFFF"/>
                          </a:solidFill>
                          <a:latin typeface="Calibri"/>
                        </a:rPr>
                        <a:t>2018 to 2026</a:t>
                      </a:r>
                    </a:p>
                  </a:txBody>
                  <a:tcPr marL="54864" marR="54864" marT="27432" marB="27432">
                    <a:solidFill>
                      <a:srgbClr val="001E60"/>
                    </a:solidFill>
                  </a:tcPr>
                </a:tc>
                <a:tc>
                  <a:txBody>
                    <a:bodyPr/>
                    <a:lstStyle/>
                    <a:p>
                      <a:pPr algn="r"/>
                      <a:r>
                        <a:rPr sz="950" b="1">
                          <a:solidFill>
                            <a:srgbClr val="FFFFFF"/>
                          </a:solidFill>
                          <a:latin typeface="Calibri"/>
                        </a:rPr>
                        <a:t>Factor to 2026: 2018 / 2016 project</a:t>
                      </a:r>
                    </a:p>
                  </a:txBody>
                  <a:tcPr marL="54864" marR="54864" marT="27432" marB="27432">
                    <a:solidFill>
                      <a:srgbClr val="001E60"/>
                    </a:solidFill>
                  </a:tcPr>
                </a:tc>
                <a:tc>
                  <a:txBody>
                    <a:bodyPr/>
                    <a:lstStyle/>
                    <a:p>
                      <a:pPr algn="r"/>
                      <a:r>
                        <a:rPr sz="950" b="1">
                          <a:solidFill>
                            <a:srgbClr val="FFFFFF"/>
                          </a:solidFill>
                          <a:latin typeface="Calibri"/>
                        </a:rPr>
                        <a:t>HP station pct</a:t>
                      </a:r>
                    </a:p>
                  </a:txBody>
                  <a:tcPr marL="54864" marR="54864" marT="27432" marB="27432">
                    <a:solidFill>
                      <a:srgbClr val="001E60"/>
                    </a:solidFill>
                  </a:tcPr>
                </a:tc>
              </a:tr>
              <a:tr h="378822">
                <a:tc>
                  <a:txBody>
                    <a:bodyPr/>
                    <a:lstStyle/>
                    <a:p>
                      <a:r>
                        <a:rPr sz="950" b="0">
                          <a:solidFill>
                            <a:srgbClr val="1F2A44"/>
                          </a:solidFill>
                          <a:latin typeface="Calibri"/>
                        </a:rPr>
                        <a:t>Installed all-in</a:t>
                      </a:r>
                    </a:p>
                  </a:txBody>
                  <a:tcPr marL="54864" marR="54864" marT="27432" marB="27432" anchor="ctr">
                    <a:solidFill>
                      <a:srgbClr val="FFFFFF"/>
                    </a:solidFill>
                  </a:tcPr>
                </a:tc>
                <a:tc>
                  <a:txBody>
                    <a:bodyPr/>
                    <a:lstStyle/>
                    <a:p>
                      <a:pPr algn="r"/>
                      <a:r>
                        <a:rPr sz="950" b="0">
                          <a:solidFill>
                            <a:srgbClr val="1F2A44"/>
                          </a:solidFill>
                          <a:latin typeface="Calibri"/>
                        </a:rPr>
                        <a:t>0.73x</a:t>
                      </a:r>
                    </a:p>
                  </a:txBody>
                  <a:tcPr marL="54864" marR="54864" marT="27432" marB="27432" anchor="ctr">
                    <a:solidFill>
                      <a:srgbClr val="FFFFFF"/>
                    </a:solidFill>
                  </a:tcPr>
                </a:tc>
                <a:tc>
                  <a:txBody>
                    <a:bodyPr/>
                    <a:lstStyle/>
                    <a:p>
                      <a:pPr algn="r"/>
                      <a:r>
                        <a:rPr sz="950" b="0">
                          <a:solidFill>
                            <a:srgbClr val="1F2A44"/>
                          </a:solidFill>
                          <a:latin typeface="Calibri"/>
                        </a:rPr>
                        <a:t>1.06x / 0.68x</a:t>
                      </a:r>
                    </a:p>
                  </a:txBody>
                  <a:tcPr marL="54864" marR="54864" marT="27432" marB="27432" anchor="ctr">
                    <a:solidFill>
                      <a:srgbClr val="FFFFFF"/>
                    </a:solidFill>
                  </a:tcPr>
                </a:tc>
                <a:tc>
                  <a:txBody>
                    <a:bodyPr/>
                    <a:lstStyle/>
                    <a:p>
                      <a:pPr algn="r"/>
                      <a:r>
                        <a:rPr sz="950" b="0">
                          <a:solidFill>
                            <a:srgbClr val="1F2A44"/>
                          </a:solidFill>
                          <a:latin typeface="Calibri"/>
                        </a:rPr>
                        <a:t>77%</a:t>
                      </a:r>
                    </a:p>
                  </a:txBody>
                  <a:tcPr marL="54864" marR="54864" marT="27432" marB="27432" anchor="ctr">
                    <a:solidFill>
                      <a:srgbClr val="FFFFFF"/>
                    </a:solidFill>
                  </a:tcPr>
                </a:tc>
              </a:tr>
              <a:tr h="378822">
                <a:tc>
                  <a:txBody>
                    <a:bodyPr/>
                    <a:lstStyle/>
                    <a:p>
                      <a:r>
                        <a:rPr sz="950" b="0">
                          <a:solidFill>
                            <a:srgbClr val="1F2A44"/>
                          </a:solidFill>
                          <a:latin typeface="Calibri"/>
                        </a:rPr>
                        <a:t>BNEF pack</a:t>
                      </a:r>
                    </a:p>
                  </a:txBody>
                  <a:tcPr marL="54864" marR="54864" marT="27432" marB="27432" anchor="ctr">
                    <a:solidFill>
                      <a:srgbClr val="F2F4F8"/>
                    </a:solidFill>
                  </a:tcPr>
                </a:tc>
                <a:tc>
                  <a:txBody>
                    <a:bodyPr/>
                    <a:lstStyle/>
                    <a:p>
                      <a:pPr algn="r"/>
                      <a:r>
                        <a:rPr sz="950" b="0">
                          <a:solidFill>
                            <a:srgbClr val="1F2A44"/>
                          </a:solidFill>
                          <a:latin typeface="Calibri"/>
                        </a:rPr>
                        <a:t>0.61x</a:t>
                      </a:r>
                    </a:p>
                  </a:txBody>
                  <a:tcPr marL="54864" marR="54864" marT="27432" marB="27432" anchor="ctr">
                    <a:solidFill>
                      <a:srgbClr val="F2F4F8"/>
                    </a:solidFill>
                  </a:tcPr>
                </a:tc>
                <a:tc>
                  <a:txBody>
                    <a:bodyPr/>
                    <a:lstStyle/>
                    <a:p>
                      <a:pPr algn="r"/>
                      <a:r>
                        <a:rPr sz="950" b="0">
                          <a:solidFill>
                            <a:srgbClr val="1F2A44"/>
                          </a:solidFill>
                          <a:latin typeface="Calibri"/>
                        </a:rPr>
                        <a:t>0.97x / 0.74x</a:t>
                      </a:r>
                    </a:p>
                  </a:txBody>
                  <a:tcPr marL="54864" marR="54864" marT="27432" marB="27432" anchor="ctr">
                    <a:solidFill>
                      <a:srgbClr val="F2F4F8"/>
                    </a:solidFill>
                  </a:tcPr>
                </a:tc>
                <a:tc>
                  <a:txBody>
                    <a:bodyPr/>
                    <a:lstStyle/>
                    <a:p>
                      <a:pPr algn="r"/>
                      <a:r>
                        <a:rPr sz="950" b="0">
                          <a:solidFill>
                            <a:srgbClr val="1F2A44"/>
                          </a:solidFill>
                          <a:latin typeface="Calibri"/>
                        </a:rPr>
                        <a:t>83%</a:t>
                      </a:r>
                    </a:p>
                  </a:txBody>
                  <a:tcPr marL="54864" marR="54864" marT="27432" marB="27432" anchor="ctr">
                    <a:solidFill>
                      <a:srgbClr val="F2F4F8"/>
                    </a:solidFill>
                  </a:tcPr>
                </a:tc>
              </a:tr>
              <a:tr h="378822">
                <a:tc>
                  <a:txBody>
                    <a:bodyPr/>
                    <a:lstStyle/>
                    <a:p>
                      <a:r>
                        <a:rPr sz="950" b="0">
                          <a:solidFill>
                            <a:srgbClr val="1F2A44"/>
                          </a:solidFill>
                          <a:latin typeface="Calibri"/>
                        </a:rPr>
                        <a:t>BNEF turnkey</a:t>
                      </a:r>
                    </a:p>
                  </a:txBody>
                  <a:tcPr marL="54864" marR="54864" marT="27432" marB="27432" anchor="ctr">
                    <a:solidFill>
                      <a:srgbClr val="FFFFFF"/>
                    </a:solidFill>
                  </a:tcPr>
                </a:tc>
                <a:tc>
                  <a:txBody>
                    <a:bodyPr/>
                    <a:lstStyle/>
                    <a:p>
                      <a:pPr algn="r"/>
                      <a:r>
                        <a:rPr sz="950" b="0">
                          <a:solidFill>
                            <a:srgbClr val="1F2A44"/>
                          </a:solidFill>
                          <a:latin typeface="Calibri"/>
                        </a:rPr>
                        <a:t>0.49x</a:t>
                      </a:r>
                    </a:p>
                  </a:txBody>
                  <a:tcPr marL="54864" marR="54864" marT="27432" marB="27432" anchor="ctr">
                    <a:solidFill>
                      <a:srgbClr val="FFFFFF"/>
                    </a:solidFill>
                  </a:tcPr>
                </a:tc>
                <a:tc>
                  <a:txBody>
                    <a:bodyPr/>
                    <a:lstStyle/>
                    <a:p>
                      <a:pPr algn="r"/>
                      <a:r>
                        <a:rPr sz="950" b="0">
                          <a:solidFill>
                            <a:srgbClr val="1F2A44"/>
                          </a:solidFill>
                          <a:latin typeface="Calibri"/>
                        </a:rPr>
                        <a:t>0.92x / 0.93x</a:t>
                      </a:r>
                    </a:p>
                  </a:txBody>
                  <a:tcPr marL="54864" marR="54864" marT="27432" marB="27432" anchor="ctr">
                    <a:solidFill>
                      <a:srgbClr val="FFFFFF"/>
                    </a:solidFill>
                  </a:tcPr>
                </a:tc>
                <a:tc>
                  <a:txBody>
                    <a:bodyPr/>
                    <a:lstStyle/>
                    <a:p>
                      <a:pPr algn="r"/>
                      <a:r>
                        <a:rPr sz="950" b="0">
                          <a:solidFill>
                            <a:srgbClr val="1F2A44"/>
                          </a:solidFill>
                          <a:latin typeface="Calibri"/>
                        </a:rPr>
                        <a:t>83%</a:t>
                      </a:r>
                    </a:p>
                  </a:txBody>
                  <a:tcPr marL="54864" marR="54864" marT="27432" marB="27432" anchor="ctr">
                    <a:solidFill>
                      <a:srgbClr val="FFFFFF"/>
                    </a:solidFill>
                  </a:tcPr>
                </a:tc>
              </a:tr>
              <a:tr h="378822">
                <a:tc>
                  <a:txBody>
                    <a:bodyPr/>
                    <a:lstStyle/>
                    <a:p>
                      <a:r>
                        <a:rPr sz="950" b="0">
                          <a:solidFill>
                            <a:srgbClr val="1F2A44"/>
                          </a:solidFill>
                          <a:latin typeface="Calibri"/>
                        </a:rPr>
                        <a:t>NREL base year</a:t>
                      </a:r>
                    </a:p>
                  </a:txBody>
                  <a:tcPr marL="54864" marR="54864" marT="27432" marB="27432" anchor="ctr">
                    <a:solidFill>
                      <a:srgbClr val="F2F4F8"/>
                    </a:solidFill>
                  </a:tcPr>
                </a:tc>
                <a:tc>
                  <a:txBody>
                    <a:bodyPr/>
                    <a:lstStyle/>
                    <a:p>
                      <a:pPr algn="r"/>
                      <a:r>
                        <a:rPr sz="950" b="0">
                          <a:solidFill>
                            <a:srgbClr val="1F2A44"/>
                          </a:solidFill>
                          <a:latin typeface="Calibri"/>
                        </a:rPr>
                        <a:t>0.69x</a:t>
                      </a:r>
                    </a:p>
                  </a:txBody>
                  <a:tcPr marL="54864" marR="54864" marT="27432" marB="27432" anchor="ctr">
                    <a:solidFill>
                      <a:srgbClr val="F2F4F8"/>
                    </a:solidFill>
                  </a:tcPr>
                </a:tc>
                <a:tc>
                  <a:txBody>
                    <a:bodyPr/>
                    <a:lstStyle/>
                    <a:p>
                      <a:pPr algn="r"/>
                      <a:r>
                        <a:rPr sz="950" b="0">
                          <a:solidFill>
                            <a:srgbClr val="1F2A44"/>
                          </a:solidFill>
                          <a:latin typeface="Calibri"/>
                        </a:rPr>
                        <a:t>1.03x / 1.05x</a:t>
                      </a:r>
                    </a:p>
                  </a:txBody>
                  <a:tcPr marL="54864" marR="54864" marT="27432" marB="27432" anchor="ctr">
                    <a:solidFill>
                      <a:srgbClr val="F2F4F8"/>
                    </a:solidFill>
                  </a:tcPr>
                </a:tc>
                <a:tc>
                  <a:txBody>
                    <a:bodyPr/>
                    <a:lstStyle/>
                    <a:p>
                      <a:pPr algn="r"/>
                      <a:r>
                        <a:rPr sz="950" b="0">
                          <a:solidFill>
                            <a:srgbClr val="1F2A44"/>
                          </a:solidFill>
                          <a:latin typeface="Calibri"/>
                        </a:rPr>
                        <a:t>80%</a:t>
                      </a:r>
                    </a:p>
                  </a:txBody>
                  <a:tcPr marL="54864" marR="54864" marT="27432" marB="27432" anchor="ctr">
                    <a:solidFill>
                      <a:srgbClr val="F2F4F8"/>
                    </a:solidFill>
                  </a:tcPr>
                </a:tc>
              </a:tr>
              <a:tr h="378822">
                <a:tc>
                  <a:txBody>
                    <a:bodyPr/>
                    <a:lstStyle/>
                    <a:p>
                      <a:r>
                        <a:rPr sz="950" b="0">
                          <a:solidFill>
                            <a:srgbClr val="1F2A44"/>
                          </a:solidFill>
                          <a:latin typeface="Calibri"/>
                        </a:rPr>
                        <a:t>Lazard LCOS</a:t>
                      </a:r>
                    </a:p>
                  </a:txBody>
                  <a:tcPr marL="54864" marR="54864" marT="27432" marB="27432" anchor="ctr">
                    <a:solidFill>
                      <a:srgbClr val="FFFFFF"/>
                    </a:solidFill>
                  </a:tcPr>
                </a:tc>
                <a:tc>
                  <a:txBody>
                    <a:bodyPr/>
                    <a:lstStyle/>
                    <a:p>
                      <a:pPr algn="r"/>
                      <a:r>
                        <a:rPr sz="950" b="0">
                          <a:solidFill>
                            <a:srgbClr val="1F2A44"/>
                          </a:solidFill>
                          <a:latin typeface="Calibri"/>
                        </a:rPr>
                        <a:t>1.03x</a:t>
                      </a:r>
                    </a:p>
                  </a:txBody>
                  <a:tcPr marL="54864" marR="54864" marT="27432" marB="27432" anchor="ctr">
                    <a:solidFill>
                      <a:srgbClr val="FFFFFF"/>
                    </a:solidFill>
                  </a:tcPr>
                </a:tc>
                <a:tc>
                  <a:txBody>
                    <a:bodyPr/>
                    <a:lstStyle/>
                    <a:p>
                      <a:pPr algn="r"/>
                      <a:r>
                        <a:rPr sz="950" b="0">
                          <a:solidFill>
                            <a:srgbClr val="1F2A44"/>
                          </a:solidFill>
                          <a:latin typeface="Calibri"/>
                        </a:rPr>
                        <a:t>1.26x / 1.29x</a:t>
                      </a:r>
                    </a:p>
                  </a:txBody>
                  <a:tcPr marL="54864" marR="54864" marT="27432" marB="27432" anchor="ctr">
                    <a:solidFill>
                      <a:srgbClr val="FFFFFF"/>
                    </a:solidFill>
                  </a:tcPr>
                </a:tc>
                <a:tc>
                  <a:txBody>
                    <a:bodyPr/>
                    <a:lstStyle/>
                    <a:p>
                      <a:pPr algn="r"/>
                      <a:r>
                        <a:rPr sz="950" b="0">
                          <a:solidFill>
                            <a:srgbClr val="1F2A44"/>
                          </a:solidFill>
                          <a:latin typeface="Calibri"/>
                        </a:rPr>
                        <a:t>66%</a:t>
                      </a:r>
                    </a:p>
                  </a:txBody>
                  <a:tcPr marL="54864" marR="54864" marT="27432" marB="27432" anchor="ctr">
                    <a:solidFill>
                      <a:srgbClr val="FFFFFF"/>
                    </a:solidFill>
                  </a:tcPr>
                </a:tc>
              </a:tr>
              <a:tr h="378828">
                <a:tc>
                  <a:txBody>
                    <a:bodyPr/>
                    <a:lstStyle/>
                    <a:p>
                      <a:r>
                        <a:rPr sz="950" b="0">
                          <a:solidFill>
                            <a:srgbClr val="1F2A44"/>
                          </a:solidFill>
                          <a:latin typeface="Calibri"/>
                        </a:rPr>
                        <a:t>Construction only</a:t>
                      </a:r>
                    </a:p>
                  </a:txBody>
                  <a:tcPr marL="54864" marR="54864" marT="27432" marB="27432" anchor="ctr">
                    <a:solidFill>
                      <a:srgbClr val="F2F4F8"/>
                    </a:solidFill>
                  </a:tcPr>
                </a:tc>
                <a:tc>
                  <a:txBody>
                    <a:bodyPr/>
                    <a:lstStyle/>
                    <a:p>
                      <a:pPr algn="r"/>
                      <a:r>
                        <a:rPr sz="950" b="0">
                          <a:solidFill>
                            <a:srgbClr val="1F2A44"/>
                          </a:solidFill>
                          <a:latin typeface="Calibri"/>
                        </a:rPr>
                        <a:t>1.49x</a:t>
                      </a:r>
                    </a:p>
                  </a:txBody>
                  <a:tcPr marL="54864" marR="54864" marT="27432" marB="27432" anchor="ctr">
                    <a:solidFill>
                      <a:srgbClr val="F2F4F8"/>
                    </a:solidFill>
                  </a:tcPr>
                </a:tc>
                <a:tc>
                  <a:txBody>
                    <a:bodyPr/>
                    <a:lstStyle/>
                    <a:p>
                      <a:pPr algn="r"/>
                      <a:r>
                        <a:rPr sz="950" b="0">
                          <a:solidFill>
                            <a:srgbClr val="1F2A44"/>
                          </a:solidFill>
                          <a:latin typeface="Calibri"/>
                        </a:rPr>
                        <a:t>1.49x / 1.56x</a:t>
                      </a:r>
                    </a:p>
                  </a:txBody>
                  <a:tcPr marL="54864" marR="54864" marT="27432" marB="27432" anchor="ctr">
                    <a:solidFill>
                      <a:srgbClr val="F2F4F8"/>
                    </a:solidFill>
                  </a:tcPr>
                </a:tc>
                <a:tc>
                  <a:txBody>
                    <a:bodyPr/>
                    <a:lstStyle/>
                    <a:p>
                      <a:pPr algn="r"/>
                      <a:r>
                        <a:rPr sz="950" b="0">
                          <a:solidFill>
                            <a:srgbClr val="1F2A44"/>
                          </a:solidFill>
                          <a:latin typeface="Calibri"/>
                        </a:rPr>
                        <a:t>63%</a:t>
                      </a:r>
                    </a:p>
                  </a:txBody>
                  <a:tcPr marL="54864" marR="54864" marT="27432" marB="27432" anchor="ctr">
                    <a:solidFill>
                      <a:srgbClr val="F2F4F8"/>
                    </a:solidFill>
                  </a:tcPr>
                </a:tc>
              </a:tr>
            </a:tbl>
          </a:graphicData>
        </a:graphic>
      </p:graphicFrame>
      <p:sp>
        <p:nvSpPr>
          <p:cNvPr id="10" name="TextBox 9"/>
          <p:cNvSpPr txBox="1"/>
          <p:nvPr/>
        </p:nvSpPr>
        <p:spPr>
          <a:xfrm>
            <a:off x="7635240" y="4160520"/>
            <a:ext cx="4069080" cy="2194560"/>
          </a:xfrm>
          <a:prstGeom prst="rect">
            <a:avLst/>
          </a:prstGeom>
          <a:noFill/>
        </p:spPr>
        <p:txBody>
          <a:bodyPr wrap="square" lIns="45720">
            <a:spAutoFit/>
          </a:bodyPr>
          <a:lstStyle/>
          <a:p>
            <a:pPr>
              <a:lnSpc>
                <a:spcPct val="105000"/>
              </a:lnSpc>
              <a:spcAft>
                <a:spcPts val="400"/>
              </a:spcAft>
            </a:pPr>
            <a:r>
              <a:rPr sz="1000">
                <a:solidFill>
                  <a:srgbClr val="FFC72C"/>
                </a:solidFill>
                <a:latin typeface="Calibri"/>
              </a:rPr>
              <a:t>▪  </a:t>
            </a:r>
            <a:r>
              <a:rPr b="1" sz="1000">
                <a:solidFill>
                  <a:srgbClr val="1F2A44"/>
                </a:solidFill>
                <a:latin typeface="Calibri"/>
              </a:rPr>
              <a:t>Choice of battery curve: </a:t>
            </a:r>
            <a:r>
              <a:rPr sz="1000">
                <a:solidFill>
                  <a:srgbClr val="1F2A44"/>
                </a:solidFill>
                <a:latin typeface="Calibri"/>
              </a:rPr>
              <a:t>medians $686 to $743 across the four battery series (LCOS $892). The curves disagree about packs, not about projects.</a:t>
            </a:r>
          </a:p>
          <a:p>
            <a:pPr>
              <a:lnSpc>
                <a:spcPct val="105000"/>
              </a:lnSpc>
              <a:spcAft>
                <a:spcPts val="400"/>
              </a:spcAft>
            </a:pPr>
            <a:r>
              <a:rPr sz="1000">
                <a:solidFill>
                  <a:srgbClr val="FFC72C"/>
                </a:solidFill>
                <a:latin typeface="Calibri"/>
              </a:rPr>
              <a:t>▪  </a:t>
            </a:r>
            <a:r>
              <a:rPr b="1" sz="1000">
                <a:solidFill>
                  <a:srgbClr val="1F2A44"/>
                </a:solidFill>
                <a:latin typeface="Calibri"/>
              </a:rPr>
              <a:t>Anchor battery share: </a:t>
            </a:r>
            <a:r>
              <a:rPr sz="1000">
                <a:solidFill>
                  <a:srgbClr val="1F2A44"/>
                </a:solidFill>
                <a:latin typeface="Calibri"/>
              </a:rPr>
              <a:t>30% to 50% (2024 basis) moves the median $79 to $146 depending on the curve; the share is a lever of the same order as the curve.</a:t>
            </a:r>
          </a:p>
          <a:p>
            <a:pPr>
              <a:lnSpc>
                <a:spcPct val="105000"/>
              </a:lnSpc>
              <a:spcAft>
                <a:spcPts val="400"/>
              </a:spcAft>
            </a:pPr>
            <a:r>
              <a:rPr sz="1000">
                <a:solidFill>
                  <a:srgbClr val="FFC72C"/>
                </a:solidFill>
                <a:latin typeface="Calibri"/>
              </a:rPr>
              <a:t>▪  </a:t>
            </a:r>
            <a:r>
              <a:rPr b="1" sz="1000">
                <a:solidFill>
                  <a:srgbClr val="1F2A44"/>
                </a:solidFill>
                <a:latin typeface="Calibri"/>
              </a:rPr>
              <a:t>Construction index: </a:t>
            </a:r>
            <a:r>
              <a:rPr sz="1000">
                <a:solidFill>
                  <a:srgbClr val="1F2A44"/>
                </a:solidFill>
                <a:latin typeface="Calibri"/>
              </a:rPr>
              <a:t>Handy-Whitman North Atlantic rose 49% from 2018 to 2026 (10% a year in 2021-22); a flat 3.5% proxy gives 32%, and a median $742 instead of $742.</a:t>
            </a:r>
          </a:p>
          <a:p>
            <a:pPr>
              <a:lnSpc>
                <a:spcPct val="105000"/>
              </a:lnSpc>
              <a:spcAft>
                <a:spcPts val="400"/>
              </a:spcAft>
            </a:pPr>
            <a:r>
              <a:rPr sz="1000">
                <a:solidFill>
                  <a:srgbClr val="FFC72C"/>
                </a:solidFill>
                <a:latin typeface="Calibri"/>
              </a:rPr>
              <a:t>▪  </a:t>
            </a:r>
            <a:r>
              <a:rPr b="1" sz="1000">
                <a:solidFill>
                  <a:srgbClr val="1F2A44"/>
                </a:solidFill>
                <a:latin typeface="Calibri"/>
              </a:rPr>
              <a:t>LCOS </a:t>
            </a:r>
            <a:r>
              <a:rPr sz="1000">
                <a:solidFill>
                  <a:srgbClr val="1F2A44"/>
                </a:solidFill>
                <a:latin typeface="Calibri"/>
              </a:rPr>
              <a:t>is a levelized $/MWh metric, flat since 2019; using it re-bases nothing on the battery side.</a:t>
            </a:r>
          </a:p>
        </p:txBody>
      </p:sp>
      <p:sp>
        <p:nvSpPr>
          <p:cNvPr id="11" name="TextBox 10"/>
          <p:cNvSpPr txBox="1"/>
          <p:nvPr/>
        </p:nvSpPr>
        <p:spPr>
          <a:xfrm>
            <a:off x="548640" y="5074920"/>
            <a:ext cx="6858000" cy="1188720"/>
          </a:xfrm>
          <a:prstGeom prst="rect">
            <a:avLst/>
          </a:prstGeom>
          <a:noFill/>
        </p:spPr>
        <p:txBody>
          <a:bodyPr wrap="square" lIns="45720" rIns="45720" tIns="27432" bIns="27432" anchor="t">
            <a:spAutoFit/>
          </a:bodyPr>
          <a:lstStyle/>
          <a:p>
            <a:pPr algn="l">
              <a:lnSpc>
                <a:spcPct val="105000"/>
              </a:lnSpc>
              <a:spcAft>
                <a:spcPts val="400"/>
              </a:spcAft>
            </a:pPr>
            <a:r>
              <a:rPr sz="950" b="0" i="0">
                <a:solidFill>
                  <a:srgbClr val="6B7280"/>
                </a:solidFill>
                <a:latin typeface="Calibri"/>
              </a:rPr>
              <a:t>Indices as published (BNEF pack and ESS surveys 2014-2025; EIA-860 2015-18 and LBNL 2024; NREL 2022 and 2024 base years; Lazard LCOS v5.0-2026 midpoints; Handy-Whitman via PJM), linearly interpolated between published points and held flat outside them. Retrieved from search excerpts; verify before external use.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HOW THE COMPARISON CHANGES UNDER EACH CURVE, 2026$ (35-PROJECT CLASS; 25 UTILITY-OWNED)</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Whichever curve you cite, Hyde Park's station cost stays in the top quarter and the approval level stays above the class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16</a:t>
            </a:r>
          </a:p>
        </p:txBody>
      </p:sp>
      <p:graphicFrame>
        <p:nvGraphicFramePr>
          <p:cNvPr id="7" name="Table 6"/>
          <p:cNvGraphicFramePr>
            <a:graphicFrameLocks noGrp="1"/>
          </p:cNvGraphicFramePr>
          <p:nvPr/>
        </p:nvGraphicFramePr>
        <p:xfrm>
          <a:off x="548640" y="1371600"/>
          <a:ext cx="11064240" cy="3017520"/>
        </p:xfrm>
        <a:graphic>
          <a:graphicData uri="http://schemas.openxmlformats.org/drawingml/2006/table">
            <a:tbl>
              <a:tblPr firstRow="1" bandRow="1">
                <a:tableStyleId>{5C22544A-7EE6-4342-B048-85BDC9FD1C3A}</a:tableStyleId>
              </a:tblPr>
              <a:tblGrid>
                <a:gridCol w="2286000"/>
                <a:gridCol w="1097280"/>
                <a:gridCol w="1188720"/>
                <a:gridCol w="1188720"/>
                <a:gridCol w="1463040"/>
                <a:gridCol w="1371600"/>
                <a:gridCol w="2468880"/>
              </a:tblGrid>
              <a:tr h="377190">
                <a:tc>
                  <a:txBody>
                    <a:bodyPr/>
                    <a:lstStyle/>
                    <a:p>
                      <a:r>
                        <a:rPr sz="1050" b="1">
                          <a:solidFill>
                            <a:srgbClr val="FFFFFF"/>
                          </a:solidFill>
                          <a:latin typeface="Calibri"/>
                        </a:rPr>
                        <a:t>Curve used to re-base</a:t>
                      </a:r>
                    </a:p>
                  </a:txBody>
                  <a:tcPr marL="54864" marR="54864" marT="27432" marB="27432">
                    <a:solidFill>
                      <a:srgbClr val="001E60"/>
                    </a:solidFill>
                  </a:tcPr>
                </a:tc>
                <a:tc>
                  <a:txBody>
                    <a:bodyPr/>
                    <a:lstStyle/>
                    <a:p>
                      <a:pPr algn="r"/>
                      <a:r>
                        <a:rPr sz="1050" b="1">
                          <a:solidFill>
                            <a:srgbClr val="FFFFFF"/>
                          </a:solidFill>
                          <a:latin typeface="Calibri"/>
                        </a:rPr>
                        <a:t>Class median</a:t>
                      </a:r>
                    </a:p>
                  </a:txBody>
                  <a:tcPr marL="54864" marR="54864" marT="27432" marB="27432">
                    <a:solidFill>
                      <a:srgbClr val="001E60"/>
                    </a:solidFill>
                  </a:tcPr>
                </a:tc>
                <a:tc>
                  <a:txBody>
                    <a:bodyPr/>
                    <a:lstStyle/>
                    <a:p>
                      <a:pPr algn="r"/>
                      <a:r>
                        <a:rPr sz="1050" b="1">
                          <a:solidFill>
                            <a:srgbClr val="FFFFFF"/>
                          </a:solidFill>
                          <a:latin typeface="Calibri"/>
                        </a:rPr>
                        <a:t>HP installed pct</a:t>
                      </a:r>
                    </a:p>
                  </a:txBody>
                  <a:tcPr marL="54864" marR="54864" marT="27432" marB="27432">
                    <a:solidFill>
                      <a:srgbClr val="001E60"/>
                    </a:solidFill>
                  </a:tcPr>
                </a:tc>
                <a:tc>
                  <a:txBody>
                    <a:bodyPr/>
                    <a:lstStyle/>
                    <a:p>
                      <a:pPr algn="r"/>
                      <a:r>
                        <a:rPr sz="1050" b="1">
                          <a:solidFill>
                            <a:srgbClr val="FFFFFF"/>
                          </a:solidFill>
                          <a:latin typeface="Calibri"/>
                        </a:rPr>
                        <a:t>HP station pct</a:t>
                      </a:r>
                    </a:p>
                  </a:txBody>
                  <a:tcPr marL="54864" marR="54864" marT="27432" marB="27432">
                    <a:solidFill>
                      <a:srgbClr val="001E60"/>
                    </a:solidFill>
                  </a:tcPr>
                </a:tc>
                <a:tc>
                  <a:txBody>
                    <a:bodyPr/>
                    <a:lstStyle/>
                    <a:p>
                      <a:pPr algn="r"/>
                      <a:r>
                        <a:rPr sz="1050" b="1">
                          <a:solidFill>
                            <a:srgbClr val="FFFFFF"/>
                          </a:solidFill>
                          <a:latin typeface="Calibri"/>
                        </a:rPr>
                        <a:t>Utility subclass median</a:t>
                      </a:r>
                    </a:p>
                  </a:txBody>
                  <a:tcPr marL="54864" marR="54864" marT="27432" marB="27432">
                    <a:solidFill>
                      <a:srgbClr val="001E60"/>
                    </a:solidFill>
                  </a:tcPr>
                </a:tc>
                <a:tc>
                  <a:txBody>
                    <a:bodyPr/>
                    <a:lstStyle/>
                    <a:p>
                      <a:pPr algn="r"/>
                      <a:r>
                        <a:rPr sz="1050" b="1">
                          <a:solidFill>
                            <a:srgbClr val="FFFFFF"/>
                          </a:solidFill>
                          <a:latin typeface="Calibri"/>
                        </a:rPr>
                        <a:t>HP station pct (utility)</a:t>
                      </a:r>
                    </a:p>
                  </a:txBody>
                  <a:tcPr marL="54864" marR="54864" marT="27432" marB="27432">
                    <a:solidFill>
                      <a:srgbClr val="001E60"/>
                    </a:solidFill>
                  </a:tcPr>
                </a:tc>
                <a:tc>
                  <a:txBody>
                    <a:bodyPr/>
                    <a:lstStyle/>
                    <a:p>
                      <a:pPr algn="r"/>
                      <a:r>
                        <a:rPr sz="1050" b="1">
                          <a:solidFill>
                            <a:srgbClr val="FFFFFF"/>
                          </a:solidFill>
                          <a:latin typeface="Calibri"/>
                        </a:rPr>
                        <a:t>Whole cost deflated at battery rate: median / HP station pct</a:t>
                      </a:r>
                    </a:p>
                  </a:txBody>
                  <a:tcPr marL="54864" marR="54864" marT="27432" marB="27432">
                    <a:solidFill>
                      <a:srgbClr val="001E60"/>
                    </a:solidFill>
                  </a:tcPr>
                </a:tc>
              </a:tr>
              <a:tr h="377190">
                <a:tc>
                  <a:txBody>
                    <a:bodyPr/>
                    <a:lstStyle/>
                    <a:p>
                      <a:r>
                        <a:rPr sz="1050" b="0">
                          <a:solidFill>
                            <a:srgbClr val="1F2A44"/>
                          </a:solidFill>
                          <a:latin typeface="Calibri"/>
                        </a:rPr>
                        <a:t>Nominal, as published</a:t>
                      </a:r>
                    </a:p>
                  </a:txBody>
                  <a:tcPr marL="54864" marR="54864" marT="27432" marB="27432" anchor="ctr">
                    <a:solidFill>
                      <a:srgbClr val="FFFFFF"/>
                    </a:solidFill>
                  </a:tcPr>
                </a:tc>
                <a:tc>
                  <a:txBody>
                    <a:bodyPr/>
                    <a:lstStyle/>
                    <a:p>
                      <a:pPr algn="r"/>
                      <a:r>
                        <a:rPr sz="1050" b="0">
                          <a:solidFill>
                            <a:srgbClr val="1F2A44"/>
                          </a:solidFill>
                          <a:latin typeface="Calibri"/>
                        </a:rPr>
                        <a:t>$750</a:t>
                      </a:r>
                    </a:p>
                  </a:txBody>
                  <a:tcPr marL="54864" marR="54864" marT="27432" marB="27432" anchor="ctr">
                    <a:solidFill>
                      <a:srgbClr val="FFFFFF"/>
                    </a:solidFill>
                  </a:tcPr>
                </a:tc>
                <a:tc>
                  <a:txBody>
                    <a:bodyPr/>
                    <a:lstStyle/>
                    <a:p>
                      <a:pPr algn="r"/>
                      <a:r>
                        <a:rPr sz="1050" b="0">
                          <a:solidFill>
                            <a:srgbClr val="1F2A44"/>
                          </a:solidFill>
                          <a:latin typeface="Calibri"/>
                        </a:rPr>
                        <a:t>57%</a:t>
                      </a:r>
                    </a:p>
                  </a:txBody>
                  <a:tcPr marL="54864" marR="54864" marT="27432" marB="27432" anchor="ctr">
                    <a:solidFill>
                      <a:srgbClr val="FFFFFF"/>
                    </a:solidFill>
                  </a:tcPr>
                </a:tc>
                <a:tc>
                  <a:txBody>
                    <a:bodyPr/>
                    <a:lstStyle/>
                    <a:p>
                      <a:pPr algn="r"/>
                      <a:r>
                        <a:rPr sz="1050" b="0">
                          <a:solidFill>
                            <a:srgbClr val="1F2A44"/>
                          </a:solidFill>
                          <a:latin typeface="Calibri"/>
                        </a:rPr>
                        <a:t>77%</a:t>
                      </a:r>
                    </a:p>
                  </a:txBody>
                  <a:tcPr marL="54864" marR="54864" marT="27432" marB="27432" anchor="ctr">
                    <a:solidFill>
                      <a:srgbClr val="FFFFFF"/>
                    </a:solidFill>
                  </a:tcPr>
                </a:tc>
                <a:tc>
                  <a:txBody>
                    <a:bodyPr/>
                    <a:lstStyle/>
                    <a:p>
                      <a:pPr algn="r"/>
                      <a:r>
                        <a:rPr sz="1050" b="0">
                          <a:solidFill>
                            <a:srgbClr val="1F2A44"/>
                          </a:solidFill>
                          <a:latin typeface="Calibri"/>
                        </a:rPr>
                        <a:t>$1,235</a:t>
                      </a:r>
                    </a:p>
                  </a:txBody>
                  <a:tcPr marL="54864" marR="54864" marT="27432" marB="27432" anchor="ctr">
                    <a:solidFill>
                      <a:srgbClr val="FFFFFF"/>
                    </a:solidFill>
                  </a:tcPr>
                </a:tc>
                <a:tc>
                  <a:txBody>
                    <a:bodyPr/>
                    <a:lstStyle/>
                    <a:p>
                      <a:pPr algn="r"/>
                      <a:r>
                        <a:rPr sz="1050" b="0">
                          <a:solidFill>
                            <a:srgbClr val="1F2A44"/>
                          </a:solidFill>
                          <a:latin typeface="Calibri"/>
                        </a:rPr>
                        <a:t>68%</a:t>
                      </a:r>
                    </a:p>
                  </a:txBody>
                  <a:tcPr marL="54864" marR="54864" marT="27432" marB="27432" anchor="ctr">
                    <a:solidFill>
                      <a:srgbClr val="FFFFFF"/>
                    </a:solidFill>
                  </a:tcPr>
                </a:tc>
                <a:tc>
                  <a:txBody>
                    <a:bodyPr/>
                    <a:lstStyle/>
                    <a:p>
                      <a:pPr algn="r"/>
                      <a:r>
                        <a:rPr sz="1050" b="0">
                          <a:solidFill>
                            <a:srgbClr val="1F2A44"/>
                          </a:solidFill>
                          <a:latin typeface="Calibri"/>
                        </a:rPr>
                        <a:t>n/a</a:t>
                      </a:r>
                    </a:p>
                  </a:txBody>
                  <a:tcPr marL="54864" marR="54864" marT="27432" marB="27432" anchor="ctr">
                    <a:solidFill>
                      <a:srgbClr val="FFFFFF"/>
                    </a:solidFill>
                  </a:tcPr>
                </a:tc>
              </a:tr>
              <a:tr h="377190">
                <a:tc>
                  <a:txBody>
                    <a:bodyPr/>
                    <a:lstStyle/>
                    <a:p>
                      <a:r>
                        <a:rPr sz="1050" b="0">
                          <a:solidFill>
                            <a:srgbClr val="1F2A44"/>
                          </a:solidFill>
                          <a:latin typeface="Calibri"/>
                        </a:rPr>
                        <a:t>EIA / LBNL installed all-in</a:t>
                      </a:r>
                    </a:p>
                  </a:txBody>
                  <a:tcPr marL="54864" marR="54864" marT="27432" marB="27432" anchor="ctr">
                    <a:solidFill>
                      <a:srgbClr val="F2F4F8"/>
                    </a:solidFill>
                  </a:tcPr>
                </a:tc>
                <a:tc>
                  <a:txBody>
                    <a:bodyPr/>
                    <a:lstStyle/>
                    <a:p>
                      <a:pPr algn="r"/>
                      <a:r>
                        <a:rPr sz="1050" b="0">
                          <a:solidFill>
                            <a:srgbClr val="1F2A44"/>
                          </a:solidFill>
                          <a:latin typeface="Calibri"/>
                        </a:rPr>
                        <a:t>$742</a:t>
                      </a:r>
                    </a:p>
                  </a:txBody>
                  <a:tcPr marL="54864" marR="54864" marT="27432" marB="27432" anchor="ctr">
                    <a:solidFill>
                      <a:srgbClr val="F2F4F8"/>
                    </a:solidFill>
                  </a:tcPr>
                </a:tc>
                <a:tc>
                  <a:txBody>
                    <a:bodyPr/>
                    <a:lstStyle/>
                    <a:p>
                      <a:pPr algn="r"/>
                      <a:r>
                        <a:rPr sz="1050" b="0">
                          <a:solidFill>
                            <a:srgbClr val="1F2A44"/>
                          </a:solidFill>
                          <a:latin typeface="Calibri"/>
                        </a:rPr>
                        <a:t>57%</a:t>
                      </a:r>
                    </a:p>
                  </a:txBody>
                  <a:tcPr marL="54864" marR="54864" marT="27432" marB="27432" anchor="ctr">
                    <a:solidFill>
                      <a:srgbClr val="F2F4F8"/>
                    </a:solidFill>
                  </a:tcPr>
                </a:tc>
                <a:tc>
                  <a:txBody>
                    <a:bodyPr/>
                    <a:lstStyle/>
                    <a:p>
                      <a:pPr algn="r"/>
                      <a:r>
                        <a:rPr sz="1050" b="0">
                          <a:solidFill>
                            <a:srgbClr val="1F2A44"/>
                          </a:solidFill>
                          <a:latin typeface="Calibri"/>
                        </a:rPr>
                        <a:t>77%</a:t>
                      </a:r>
                    </a:p>
                  </a:txBody>
                  <a:tcPr marL="54864" marR="54864" marT="27432" marB="27432" anchor="ctr">
                    <a:solidFill>
                      <a:srgbClr val="F2F4F8"/>
                    </a:solidFill>
                  </a:tcPr>
                </a:tc>
                <a:tc>
                  <a:txBody>
                    <a:bodyPr/>
                    <a:lstStyle/>
                    <a:p>
                      <a:pPr algn="r"/>
                      <a:r>
                        <a:rPr sz="1050" b="0">
                          <a:solidFill>
                            <a:srgbClr val="1F2A44"/>
                          </a:solidFill>
                          <a:latin typeface="Calibri"/>
                        </a:rPr>
                        <a:t>$851</a:t>
                      </a:r>
                    </a:p>
                  </a:txBody>
                  <a:tcPr marL="54864" marR="54864" marT="27432" marB="27432" anchor="ctr">
                    <a:solidFill>
                      <a:srgbClr val="F2F4F8"/>
                    </a:solidFill>
                  </a:tcPr>
                </a:tc>
                <a:tc>
                  <a:txBody>
                    <a:bodyPr/>
                    <a:lstStyle/>
                    <a:p>
                      <a:pPr algn="r"/>
                      <a:r>
                        <a:rPr sz="1050" b="0">
                          <a:solidFill>
                            <a:srgbClr val="1F2A44"/>
                          </a:solidFill>
                          <a:latin typeface="Calibri"/>
                        </a:rPr>
                        <a:t>68%</a:t>
                      </a:r>
                    </a:p>
                  </a:txBody>
                  <a:tcPr marL="54864" marR="54864" marT="27432" marB="27432" anchor="ctr">
                    <a:solidFill>
                      <a:srgbClr val="F2F4F8"/>
                    </a:solidFill>
                  </a:tcPr>
                </a:tc>
                <a:tc>
                  <a:txBody>
                    <a:bodyPr/>
                    <a:lstStyle/>
                    <a:p>
                      <a:pPr algn="r"/>
                      <a:r>
                        <a:rPr sz="1050" b="0">
                          <a:solidFill>
                            <a:srgbClr val="1F2A44"/>
                          </a:solidFill>
                          <a:latin typeface="Calibri"/>
                        </a:rPr>
                        <a:t>$549 / 86%</a:t>
                      </a:r>
                    </a:p>
                  </a:txBody>
                  <a:tcPr marL="54864" marR="54864" marT="27432" marB="27432" anchor="ctr">
                    <a:solidFill>
                      <a:srgbClr val="F2F4F8"/>
                    </a:solidFill>
                  </a:tcPr>
                </a:tc>
              </a:tr>
              <a:tr h="377190">
                <a:tc>
                  <a:txBody>
                    <a:bodyPr/>
                    <a:lstStyle/>
                    <a:p>
                      <a:r>
                        <a:rPr sz="1050" b="0">
                          <a:solidFill>
                            <a:srgbClr val="1F2A44"/>
                          </a:solidFill>
                          <a:latin typeface="Calibri"/>
                        </a:rPr>
                        <a:t>BNEF pack price</a:t>
                      </a:r>
                    </a:p>
                  </a:txBody>
                  <a:tcPr marL="54864" marR="54864" marT="27432" marB="27432" anchor="ctr">
                    <a:solidFill>
                      <a:srgbClr val="FFFFFF"/>
                    </a:solidFill>
                  </a:tcPr>
                </a:tc>
                <a:tc>
                  <a:txBody>
                    <a:bodyPr/>
                    <a:lstStyle/>
                    <a:p>
                      <a:pPr algn="r"/>
                      <a:r>
                        <a:rPr sz="1050" b="0">
                          <a:solidFill>
                            <a:srgbClr val="1F2A44"/>
                          </a:solidFill>
                          <a:latin typeface="Calibri"/>
                        </a:rPr>
                        <a:t>$743</a:t>
                      </a:r>
                    </a:p>
                  </a:txBody>
                  <a:tcPr marL="54864" marR="54864" marT="27432" marB="27432" anchor="ctr">
                    <a:solidFill>
                      <a:srgbClr val="FFFFFF"/>
                    </a:solidFill>
                  </a:tcPr>
                </a:tc>
                <a:tc>
                  <a:txBody>
                    <a:bodyPr/>
                    <a:lstStyle/>
                    <a:p>
                      <a:pPr algn="r"/>
                      <a:r>
                        <a:rPr sz="1050" b="0">
                          <a:solidFill>
                            <a:srgbClr val="1F2A44"/>
                          </a:solidFill>
                          <a:latin typeface="Calibri"/>
                        </a:rPr>
                        <a:t>60%</a:t>
                      </a:r>
                    </a:p>
                  </a:txBody>
                  <a:tcPr marL="54864" marR="54864" marT="27432" marB="27432" anchor="ctr">
                    <a:solidFill>
                      <a:srgbClr val="FFFFFF"/>
                    </a:solidFill>
                  </a:tcPr>
                </a:tc>
                <a:tc>
                  <a:txBody>
                    <a:bodyPr/>
                    <a:lstStyle/>
                    <a:p>
                      <a:pPr algn="r"/>
                      <a:r>
                        <a:rPr sz="1050" b="0">
                          <a:solidFill>
                            <a:srgbClr val="1F2A44"/>
                          </a:solidFill>
                          <a:latin typeface="Calibri"/>
                        </a:rPr>
                        <a:t>83%</a:t>
                      </a:r>
                    </a:p>
                  </a:txBody>
                  <a:tcPr marL="54864" marR="54864" marT="27432" marB="27432" anchor="ctr">
                    <a:solidFill>
                      <a:srgbClr val="FFFFFF"/>
                    </a:solidFill>
                  </a:tcPr>
                </a:tc>
                <a:tc>
                  <a:txBody>
                    <a:bodyPr/>
                    <a:lstStyle/>
                    <a:p>
                      <a:pPr algn="r"/>
                      <a:r>
                        <a:rPr sz="1050" b="0">
                          <a:solidFill>
                            <a:srgbClr val="1F2A44"/>
                          </a:solidFill>
                          <a:latin typeface="Calibri"/>
                        </a:rPr>
                        <a:t>$929</a:t>
                      </a:r>
                    </a:p>
                  </a:txBody>
                  <a:tcPr marL="54864" marR="54864" marT="27432" marB="27432" anchor="ctr">
                    <a:solidFill>
                      <a:srgbClr val="FFFFFF"/>
                    </a:solidFill>
                  </a:tcPr>
                </a:tc>
                <a:tc>
                  <a:txBody>
                    <a:bodyPr/>
                    <a:lstStyle/>
                    <a:p>
                      <a:pPr algn="r"/>
                      <a:r>
                        <a:rPr sz="1050" b="0">
                          <a:solidFill>
                            <a:srgbClr val="1F2A44"/>
                          </a:solidFill>
                          <a:latin typeface="Calibri"/>
                        </a:rPr>
                        <a:t>76%</a:t>
                      </a:r>
                    </a:p>
                  </a:txBody>
                  <a:tcPr marL="54864" marR="54864" marT="27432" marB="27432" anchor="ctr">
                    <a:solidFill>
                      <a:srgbClr val="FFFFFF"/>
                    </a:solidFill>
                  </a:tcPr>
                </a:tc>
                <a:tc>
                  <a:txBody>
                    <a:bodyPr/>
                    <a:lstStyle/>
                    <a:p>
                      <a:pPr algn="r"/>
                      <a:r>
                        <a:rPr sz="1050" b="0">
                          <a:solidFill>
                            <a:srgbClr val="1F2A44"/>
                          </a:solidFill>
                          <a:latin typeface="Calibri"/>
                        </a:rPr>
                        <a:t>$517 / 94%</a:t>
                      </a:r>
                    </a:p>
                  </a:txBody>
                  <a:tcPr marL="54864" marR="54864" marT="27432" marB="27432" anchor="ctr">
                    <a:solidFill>
                      <a:srgbClr val="FFFFFF"/>
                    </a:solidFill>
                  </a:tcPr>
                </a:tc>
              </a:tr>
              <a:tr h="377190">
                <a:tc>
                  <a:txBody>
                    <a:bodyPr/>
                    <a:lstStyle/>
                    <a:p>
                      <a:r>
                        <a:rPr sz="1050" b="0">
                          <a:solidFill>
                            <a:srgbClr val="1F2A44"/>
                          </a:solidFill>
                          <a:latin typeface="Calibri"/>
                        </a:rPr>
                        <a:t>BNEF turnkey system</a:t>
                      </a:r>
                    </a:p>
                  </a:txBody>
                  <a:tcPr marL="54864" marR="54864" marT="27432" marB="27432" anchor="ctr">
                    <a:solidFill>
                      <a:srgbClr val="F2F4F8"/>
                    </a:solidFill>
                  </a:tcPr>
                </a:tc>
                <a:tc>
                  <a:txBody>
                    <a:bodyPr/>
                    <a:lstStyle/>
                    <a:p>
                      <a:pPr algn="r"/>
                      <a:r>
                        <a:rPr sz="1050" b="0">
                          <a:solidFill>
                            <a:srgbClr val="1F2A44"/>
                          </a:solidFill>
                          <a:latin typeface="Calibri"/>
                        </a:rPr>
                        <a:t>$686</a:t>
                      </a:r>
                    </a:p>
                  </a:txBody>
                  <a:tcPr marL="54864" marR="54864" marT="27432" marB="27432" anchor="ctr">
                    <a:solidFill>
                      <a:srgbClr val="F2F4F8"/>
                    </a:solidFill>
                  </a:tcPr>
                </a:tc>
                <a:tc>
                  <a:txBody>
                    <a:bodyPr/>
                    <a:lstStyle/>
                    <a:p>
                      <a:pPr algn="r"/>
                      <a:r>
                        <a:rPr sz="1050" b="0">
                          <a:solidFill>
                            <a:srgbClr val="1F2A44"/>
                          </a:solidFill>
                          <a:latin typeface="Calibri"/>
                        </a:rPr>
                        <a:t>57%</a:t>
                      </a:r>
                    </a:p>
                  </a:txBody>
                  <a:tcPr marL="54864" marR="54864" marT="27432" marB="27432" anchor="ctr">
                    <a:solidFill>
                      <a:srgbClr val="F2F4F8"/>
                    </a:solidFill>
                  </a:tcPr>
                </a:tc>
                <a:tc>
                  <a:txBody>
                    <a:bodyPr/>
                    <a:lstStyle/>
                    <a:p>
                      <a:pPr algn="r"/>
                      <a:r>
                        <a:rPr sz="1050" b="0">
                          <a:solidFill>
                            <a:srgbClr val="1F2A44"/>
                          </a:solidFill>
                          <a:latin typeface="Calibri"/>
                        </a:rPr>
                        <a:t>83%</a:t>
                      </a:r>
                    </a:p>
                  </a:txBody>
                  <a:tcPr marL="54864" marR="54864" marT="27432" marB="27432" anchor="ctr">
                    <a:solidFill>
                      <a:srgbClr val="F2F4F8"/>
                    </a:solidFill>
                  </a:tcPr>
                </a:tc>
                <a:tc>
                  <a:txBody>
                    <a:bodyPr/>
                    <a:lstStyle/>
                    <a:p>
                      <a:pPr algn="r"/>
                      <a:r>
                        <a:rPr sz="1050" b="0">
                          <a:solidFill>
                            <a:srgbClr val="1F2A44"/>
                          </a:solidFill>
                          <a:latin typeface="Calibri"/>
                        </a:rPr>
                        <a:t>$915</a:t>
                      </a:r>
                    </a:p>
                  </a:txBody>
                  <a:tcPr marL="54864" marR="54864" marT="27432" marB="27432" anchor="ctr">
                    <a:solidFill>
                      <a:srgbClr val="F2F4F8"/>
                    </a:solidFill>
                  </a:tcPr>
                </a:tc>
                <a:tc>
                  <a:txBody>
                    <a:bodyPr/>
                    <a:lstStyle/>
                    <a:p>
                      <a:pPr algn="r"/>
                      <a:r>
                        <a:rPr sz="1050" b="0">
                          <a:solidFill>
                            <a:srgbClr val="1F2A44"/>
                          </a:solidFill>
                          <a:latin typeface="Calibri"/>
                        </a:rPr>
                        <a:t>76%</a:t>
                      </a:r>
                    </a:p>
                  </a:txBody>
                  <a:tcPr marL="54864" marR="54864" marT="27432" marB="27432" anchor="ctr">
                    <a:solidFill>
                      <a:srgbClr val="F2F4F8"/>
                    </a:solidFill>
                  </a:tcPr>
                </a:tc>
                <a:tc>
                  <a:txBody>
                    <a:bodyPr/>
                    <a:lstStyle/>
                    <a:p>
                      <a:pPr algn="r"/>
                      <a:r>
                        <a:rPr sz="1050" b="0">
                          <a:solidFill>
                            <a:srgbClr val="1F2A44"/>
                          </a:solidFill>
                          <a:latin typeface="Calibri"/>
                        </a:rPr>
                        <a:t>$390 / 100%</a:t>
                      </a:r>
                    </a:p>
                  </a:txBody>
                  <a:tcPr marL="54864" marR="54864" marT="27432" marB="27432" anchor="ctr">
                    <a:solidFill>
                      <a:srgbClr val="F2F4F8"/>
                    </a:solidFill>
                  </a:tcPr>
                </a:tc>
              </a:tr>
              <a:tr h="377190">
                <a:tc>
                  <a:txBody>
                    <a:bodyPr/>
                    <a:lstStyle/>
                    <a:p>
                      <a:r>
                        <a:rPr sz="1050" b="0">
                          <a:solidFill>
                            <a:srgbClr val="1F2A44"/>
                          </a:solidFill>
                          <a:latin typeface="Calibri"/>
                        </a:rPr>
                        <a:t>NREL bottom-up base year</a:t>
                      </a:r>
                    </a:p>
                  </a:txBody>
                  <a:tcPr marL="54864" marR="54864" marT="27432" marB="27432" anchor="ctr">
                    <a:solidFill>
                      <a:srgbClr val="FFFFFF"/>
                    </a:solidFill>
                  </a:tcPr>
                </a:tc>
                <a:tc>
                  <a:txBody>
                    <a:bodyPr/>
                    <a:lstStyle/>
                    <a:p>
                      <a:pPr algn="r"/>
                      <a:r>
                        <a:rPr sz="1050" b="0">
                          <a:solidFill>
                            <a:srgbClr val="1F2A44"/>
                          </a:solidFill>
                          <a:latin typeface="Calibri"/>
                        </a:rPr>
                        <a:t>$742</a:t>
                      </a:r>
                    </a:p>
                  </a:txBody>
                  <a:tcPr marL="54864" marR="54864" marT="27432" marB="27432" anchor="ctr">
                    <a:solidFill>
                      <a:srgbClr val="FFFFFF"/>
                    </a:solidFill>
                  </a:tcPr>
                </a:tc>
                <a:tc>
                  <a:txBody>
                    <a:bodyPr/>
                    <a:lstStyle/>
                    <a:p>
                      <a:pPr algn="r"/>
                      <a:r>
                        <a:rPr sz="1050" b="0">
                          <a:solidFill>
                            <a:srgbClr val="1F2A44"/>
                          </a:solidFill>
                          <a:latin typeface="Calibri"/>
                        </a:rPr>
                        <a:t>54%</a:t>
                      </a:r>
                    </a:p>
                  </a:txBody>
                  <a:tcPr marL="54864" marR="54864" marT="27432" marB="27432" anchor="ctr">
                    <a:solidFill>
                      <a:srgbClr val="FFFFFF"/>
                    </a:solidFill>
                  </a:tcPr>
                </a:tc>
                <a:tc>
                  <a:txBody>
                    <a:bodyPr/>
                    <a:lstStyle/>
                    <a:p>
                      <a:pPr algn="r"/>
                      <a:r>
                        <a:rPr sz="1050" b="0">
                          <a:solidFill>
                            <a:srgbClr val="1F2A44"/>
                          </a:solidFill>
                          <a:latin typeface="Calibri"/>
                        </a:rPr>
                        <a:t>80%</a:t>
                      </a:r>
                    </a:p>
                  </a:txBody>
                  <a:tcPr marL="54864" marR="54864" marT="27432" marB="27432" anchor="ctr">
                    <a:solidFill>
                      <a:srgbClr val="FFFFFF"/>
                    </a:solidFill>
                  </a:tcPr>
                </a:tc>
                <a:tc>
                  <a:txBody>
                    <a:bodyPr/>
                    <a:lstStyle/>
                    <a:p>
                      <a:pPr algn="r"/>
                      <a:r>
                        <a:rPr sz="1050" b="0">
                          <a:solidFill>
                            <a:srgbClr val="1F2A44"/>
                          </a:solidFill>
                          <a:latin typeface="Calibri"/>
                        </a:rPr>
                        <a:t>$1,189</a:t>
                      </a:r>
                    </a:p>
                  </a:txBody>
                  <a:tcPr marL="54864" marR="54864" marT="27432" marB="27432" anchor="ctr">
                    <a:solidFill>
                      <a:srgbClr val="FFFFFF"/>
                    </a:solidFill>
                  </a:tcPr>
                </a:tc>
                <a:tc>
                  <a:txBody>
                    <a:bodyPr/>
                    <a:lstStyle/>
                    <a:p>
                      <a:pPr algn="r"/>
                      <a:r>
                        <a:rPr sz="1050" b="0">
                          <a:solidFill>
                            <a:srgbClr val="1F2A44"/>
                          </a:solidFill>
                          <a:latin typeface="Calibri"/>
                        </a:rPr>
                        <a:t>72%</a:t>
                      </a:r>
                    </a:p>
                  </a:txBody>
                  <a:tcPr marL="54864" marR="54864" marT="27432" marB="27432" anchor="ctr">
                    <a:solidFill>
                      <a:srgbClr val="FFFFFF"/>
                    </a:solidFill>
                  </a:tcPr>
                </a:tc>
                <a:tc>
                  <a:txBody>
                    <a:bodyPr/>
                    <a:lstStyle/>
                    <a:p>
                      <a:pPr algn="r"/>
                      <a:r>
                        <a:rPr sz="1050" b="0">
                          <a:solidFill>
                            <a:srgbClr val="1F2A44"/>
                          </a:solidFill>
                          <a:latin typeface="Calibri"/>
                        </a:rPr>
                        <a:t>$550 / 91%</a:t>
                      </a:r>
                    </a:p>
                  </a:txBody>
                  <a:tcPr marL="54864" marR="54864" marT="27432" marB="27432" anchor="ctr">
                    <a:solidFill>
                      <a:srgbClr val="FFFFFF"/>
                    </a:solidFill>
                  </a:tcPr>
                </a:tc>
              </a:tr>
              <a:tr h="377190">
                <a:tc>
                  <a:txBody>
                    <a:bodyPr/>
                    <a:lstStyle/>
                    <a:p>
                      <a:r>
                        <a:rPr sz="1050" b="0">
                          <a:solidFill>
                            <a:srgbClr val="1F2A44"/>
                          </a:solidFill>
                          <a:latin typeface="Calibri"/>
                        </a:rPr>
                        <a:t>Lazard LCOS midpoint</a:t>
                      </a:r>
                    </a:p>
                  </a:txBody>
                  <a:tcPr marL="54864" marR="54864" marT="27432" marB="27432" anchor="ctr">
                    <a:solidFill>
                      <a:srgbClr val="F2F4F8"/>
                    </a:solidFill>
                  </a:tcPr>
                </a:tc>
                <a:tc>
                  <a:txBody>
                    <a:bodyPr/>
                    <a:lstStyle/>
                    <a:p>
                      <a:pPr algn="r"/>
                      <a:r>
                        <a:rPr sz="1050" b="0">
                          <a:solidFill>
                            <a:srgbClr val="1F2A44"/>
                          </a:solidFill>
                          <a:latin typeface="Calibri"/>
                        </a:rPr>
                        <a:t>$892</a:t>
                      </a:r>
                    </a:p>
                  </a:txBody>
                  <a:tcPr marL="54864" marR="54864" marT="27432" marB="27432" anchor="ctr">
                    <a:solidFill>
                      <a:srgbClr val="F2F4F8"/>
                    </a:solidFill>
                  </a:tcPr>
                </a:tc>
                <a:tc>
                  <a:txBody>
                    <a:bodyPr/>
                    <a:lstStyle/>
                    <a:p>
                      <a:pPr algn="r"/>
                      <a:r>
                        <a:rPr sz="1050" b="0">
                          <a:solidFill>
                            <a:srgbClr val="1F2A44"/>
                          </a:solidFill>
                          <a:latin typeface="Calibri"/>
                        </a:rPr>
                        <a:t>40%</a:t>
                      </a:r>
                    </a:p>
                  </a:txBody>
                  <a:tcPr marL="54864" marR="54864" marT="27432" marB="27432" anchor="ctr">
                    <a:solidFill>
                      <a:srgbClr val="F2F4F8"/>
                    </a:solidFill>
                  </a:tcPr>
                </a:tc>
                <a:tc>
                  <a:txBody>
                    <a:bodyPr/>
                    <a:lstStyle/>
                    <a:p>
                      <a:pPr algn="r"/>
                      <a:r>
                        <a:rPr sz="1050" b="0">
                          <a:solidFill>
                            <a:srgbClr val="1F2A44"/>
                          </a:solidFill>
                          <a:latin typeface="Calibri"/>
                        </a:rPr>
                        <a:t>66%</a:t>
                      </a:r>
                    </a:p>
                  </a:txBody>
                  <a:tcPr marL="54864" marR="54864" marT="27432" marB="27432" anchor="ctr">
                    <a:solidFill>
                      <a:srgbClr val="F2F4F8"/>
                    </a:solidFill>
                  </a:tcPr>
                </a:tc>
                <a:tc>
                  <a:txBody>
                    <a:bodyPr/>
                    <a:lstStyle/>
                    <a:p>
                      <a:pPr algn="r"/>
                      <a:r>
                        <a:rPr sz="1050" b="0">
                          <a:solidFill>
                            <a:srgbClr val="1F2A44"/>
                          </a:solidFill>
                          <a:latin typeface="Calibri"/>
                        </a:rPr>
                        <a:t>$1,339</a:t>
                      </a:r>
                    </a:p>
                  </a:txBody>
                  <a:tcPr marL="54864" marR="54864" marT="27432" marB="27432" anchor="ctr">
                    <a:solidFill>
                      <a:srgbClr val="F2F4F8"/>
                    </a:solidFill>
                  </a:tcPr>
                </a:tc>
                <a:tc>
                  <a:txBody>
                    <a:bodyPr/>
                    <a:lstStyle/>
                    <a:p>
                      <a:pPr algn="r"/>
                      <a:r>
                        <a:rPr sz="1050" b="0">
                          <a:solidFill>
                            <a:srgbClr val="1F2A44"/>
                          </a:solidFill>
                          <a:latin typeface="Calibri"/>
                        </a:rPr>
                        <a:t>52%</a:t>
                      </a:r>
                    </a:p>
                  </a:txBody>
                  <a:tcPr marL="54864" marR="54864" marT="27432" marB="27432" anchor="ctr">
                    <a:solidFill>
                      <a:srgbClr val="F2F4F8"/>
                    </a:solidFill>
                  </a:tcPr>
                </a:tc>
                <a:tc>
                  <a:txBody>
                    <a:bodyPr/>
                    <a:lstStyle/>
                    <a:p>
                      <a:pPr algn="r"/>
                      <a:r>
                        <a:rPr sz="1050" b="0">
                          <a:solidFill>
                            <a:srgbClr val="1F2A44"/>
                          </a:solidFill>
                          <a:latin typeface="Calibri"/>
                        </a:rPr>
                        <a:t>$875 / 74%</a:t>
                      </a:r>
                    </a:p>
                  </a:txBody>
                  <a:tcPr marL="54864" marR="54864" marT="27432" marB="27432" anchor="ctr">
                    <a:solidFill>
                      <a:srgbClr val="F2F4F8"/>
                    </a:solidFill>
                  </a:tcPr>
                </a:tc>
              </a:tr>
              <a:tr h="377190">
                <a:tc>
                  <a:txBody>
                    <a:bodyPr/>
                    <a:lstStyle/>
                    <a:p>
                      <a:r>
                        <a:rPr sz="1050" b="0">
                          <a:solidFill>
                            <a:srgbClr val="1F2A44"/>
                          </a:solidFill>
                          <a:latin typeface="Calibri"/>
                        </a:rPr>
                        <a:t>Construction index only</a:t>
                      </a:r>
                    </a:p>
                  </a:txBody>
                  <a:tcPr marL="54864" marR="54864" marT="27432" marB="27432" anchor="ctr">
                    <a:solidFill>
                      <a:srgbClr val="FFFFFF"/>
                    </a:solidFill>
                  </a:tcPr>
                </a:tc>
                <a:tc>
                  <a:txBody>
                    <a:bodyPr/>
                    <a:lstStyle/>
                    <a:p>
                      <a:pPr algn="r"/>
                      <a:r>
                        <a:rPr sz="1050" b="0">
                          <a:solidFill>
                            <a:srgbClr val="1F2A44"/>
                          </a:solidFill>
                          <a:latin typeface="Calibri"/>
                        </a:rPr>
                        <a:t>$1,052</a:t>
                      </a:r>
                    </a:p>
                  </a:txBody>
                  <a:tcPr marL="54864" marR="54864" marT="27432" marB="27432" anchor="ctr">
                    <a:solidFill>
                      <a:srgbClr val="FFFFFF"/>
                    </a:solidFill>
                  </a:tcPr>
                </a:tc>
                <a:tc>
                  <a:txBody>
                    <a:bodyPr/>
                    <a:lstStyle/>
                    <a:p>
                      <a:pPr algn="r"/>
                      <a:r>
                        <a:rPr sz="1050" b="0">
                          <a:solidFill>
                            <a:srgbClr val="1F2A44"/>
                          </a:solidFill>
                          <a:latin typeface="Calibri"/>
                        </a:rPr>
                        <a:t>40%</a:t>
                      </a:r>
                    </a:p>
                  </a:txBody>
                  <a:tcPr marL="54864" marR="54864" marT="27432" marB="27432" anchor="ctr">
                    <a:solidFill>
                      <a:srgbClr val="FFFFFF"/>
                    </a:solidFill>
                  </a:tcPr>
                </a:tc>
                <a:tc>
                  <a:txBody>
                    <a:bodyPr/>
                    <a:lstStyle/>
                    <a:p>
                      <a:pPr algn="r"/>
                      <a:r>
                        <a:rPr sz="1050" b="0">
                          <a:solidFill>
                            <a:srgbClr val="1F2A44"/>
                          </a:solidFill>
                          <a:latin typeface="Calibri"/>
                        </a:rPr>
                        <a:t>63%</a:t>
                      </a:r>
                    </a:p>
                  </a:txBody>
                  <a:tcPr marL="54864" marR="54864" marT="27432" marB="27432" anchor="ctr">
                    <a:solidFill>
                      <a:srgbClr val="FFFFFF"/>
                    </a:solidFill>
                  </a:tcPr>
                </a:tc>
                <a:tc>
                  <a:txBody>
                    <a:bodyPr/>
                    <a:lstStyle/>
                    <a:p>
                      <a:pPr algn="r"/>
                      <a:r>
                        <a:rPr sz="1050" b="0">
                          <a:solidFill>
                            <a:srgbClr val="1F2A44"/>
                          </a:solidFill>
                          <a:latin typeface="Calibri"/>
                        </a:rPr>
                        <a:t>$1,493</a:t>
                      </a:r>
                    </a:p>
                  </a:txBody>
                  <a:tcPr marL="54864" marR="54864" marT="27432" marB="27432" anchor="ctr">
                    <a:solidFill>
                      <a:srgbClr val="FFFFFF"/>
                    </a:solidFill>
                  </a:tcPr>
                </a:tc>
                <a:tc>
                  <a:txBody>
                    <a:bodyPr/>
                    <a:lstStyle/>
                    <a:p>
                      <a:pPr algn="r"/>
                      <a:r>
                        <a:rPr sz="1050" b="0">
                          <a:solidFill>
                            <a:srgbClr val="1F2A44"/>
                          </a:solidFill>
                          <a:latin typeface="Calibri"/>
                        </a:rPr>
                        <a:t>48%</a:t>
                      </a:r>
                    </a:p>
                  </a:txBody>
                  <a:tcPr marL="54864" marR="54864" marT="27432" marB="27432" anchor="ctr">
                    <a:solidFill>
                      <a:srgbClr val="FFFFFF"/>
                    </a:solidFill>
                  </a:tcPr>
                </a:tc>
                <a:tc>
                  <a:txBody>
                    <a:bodyPr/>
                    <a:lstStyle/>
                    <a:p>
                      <a:pPr algn="r"/>
                      <a:r>
                        <a:rPr sz="1050" b="0">
                          <a:solidFill>
                            <a:srgbClr val="1F2A44"/>
                          </a:solidFill>
                          <a:latin typeface="Calibri"/>
                        </a:rPr>
                        <a:t>n/a</a:t>
                      </a:r>
                    </a:p>
                  </a:txBody>
                  <a:tcPr marL="54864" marR="54864" marT="27432" marB="27432" anchor="ctr">
                    <a:solidFill>
                      <a:srgbClr val="FFFFFF"/>
                    </a:solidFill>
                  </a:tcPr>
                </a:tc>
              </a:tr>
            </a:tbl>
          </a:graphicData>
        </a:graphic>
      </p:graphicFrame>
      <p:sp>
        <p:nvSpPr>
          <p:cNvPr id="8" name="TextBox 7"/>
          <p:cNvSpPr txBox="1"/>
          <p:nvPr/>
        </p:nvSpPr>
        <p:spPr>
          <a:xfrm>
            <a:off x="548640" y="4572000"/>
            <a:ext cx="11064240" cy="1737360"/>
          </a:xfrm>
          <a:prstGeom prst="rect">
            <a:avLst/>
          </a:prstGeom>
          <a:noFill/>
        </p:spPr>
        <p:txBody>
          <a:bodyPr wrap="square" lIns="45720">
            <a:spAutoFit/>
          </a:bodyPr>
          <a:lstStyle/>
          <a:p>
            <a:pPr>
              <a:lnSpc>
                <a:spcPct val="105000"/>
              </a:lnSpc>
              <a:spcAft>
                <a:spcPts val="500"/>
              </a:spcAft>
            </a:pPr>
            <a:r>
              <a:rPr sz="1150">
                <a:solidFill>
                  <a:srgbClr val="FFC72C"/>
                </a:solidFill>
                <a:latin typeface="Calibri"/>
              </a:rPr>
              <a:t>▪  </a:t>
            </a:r>
            <a:r>
              <a:rPr b="1" sz="1150">
                <a:solidFill>
                  <a:srgbClr val="1F2A44"/>
                </a:solidFill>
                <a:latin typeface="Calibri"/>
              </a:rPr>
              <a:t>Reading across: </a:t>
            </a:r>
            <a:r>
              <a:rPr sz="1150">
                <a:solidFill>
                  <a:srgbClr val="1F2A44"/>
                </a:solidFill>
                <a:latin typeface="Calibri"/>
              </a:rPr>
              <a:t>the four battery curves place the class median within $56/kWh of each other and Hyde Park's station cost between the 77% and 83% percentiles. LCOS and a construction-only index raise the class because they carry no battery deflation.</a:t>
            </a:r>
          </a:p>
          <a:p>
            <a:pPr>
              <a:lnSpc>
                <a:spcPct val="105000"/>
              </a:lnSpc>
              <a:spcAft>
                <a:spcPts val="500"/>
              </a:spcAft>
            </a:pPr>
            <a:r>
              <a:rPr sz="1150">
                <a:solidFill>
                  <a:srgbClr val="FFC72C"/>
                </a:solidFill>
                <a:latin typeface="Calibri"/>
              </a:rPr>
              <a:t>▪  </a:t>
            </a:r>
            <a:r>
              <a:rPr b="1" sz="1150">
                <a:solidFill>
                  <a:srgbClr val="1F2A44"/>
                </a:solidFill>
                <a:latin typeface="Calibri"/>
              </a:rPr>
              <a:t>The last column is the challenge as it was put to us: </a:t>
            </a:r>
            <a:r>
              <a:rPr sz="1150">
                <a:solidFill>
                  <a:srgbClr val="1F2A44"/>
                </a:solidFill>
                <a:latin typeface="Calibri"/>
              </a:rPr>
              <a:t>deflate every comparable at the battery rate. It moves the median to $390 to $550 and Hyde Park to the top of the class, by treating switchgear, civil works and interconnection as lithium. It is the vendor framing applied backward in time.</a:t>
            </a:r>
          </a:p>
          <a:p>
            <a:pPr>
              <a:lnSpc>
                <a:spcPct val="105000"/>
              </a:lnSpc>
              <a:spcAft>
                <a:spcPts val="500"/>
              </a:spcAft>
            </a:pPr>
            <a:r>
              <a:rPr sz="1150">
                <a:solidFill>
                  <a:srgbClr val="FFC72C"/>
                </a:solidFill>
                <a:latin typeface="Calibri"/>
              </a:rPr>
              <a:t>▪  </a:t>
            </a:r>
            <a:r>
              <a:rPr b="1" sz="1150">
                <a:solidFill>
                  <a:srgbClr val="1F2A44"/>
                </a:solidFill>
                <a:latin typeface="Calibri"/>
              </a:rPr>
              <a:t>Which to cite: </a:t>
            </a:r>
            <a:r>
              <a:rPr sz="1150">
                <a:solidFill>
                  <a:srgbClr val="1F2A44"/>
                </a:solidFill>
                <a:latin typeface="Calibri"/>
              </a:rPr>
              <a:t>the EIA / LBNL installed series to a regulator (reported costs of real installations); the BNEF pack series to a vendor (it is their number); neither LCOS nor a flat proxy to anyone for re-basing capital cost.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SCALING PUBLISHED COSTS TO 2026, STEP 1: THE RIGHT INDEX FOR EACH LAYER</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One escalator per layer, quantities fixed: a 2018 project like Hyde Park costs +4% in 2026 dollars, a 2016 one 32% less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17</a:t>
            </a:r>
          </a:p>
        </p:txBody>
      </p:sp>
      <p:graphicFrame>
        <p:nvGraphicFramePr>
          <p:cNvPr id="7" name="Table 6"/>
          <p:cNvGraphicFramePr>
            <a:graphicFrameLocks noGrp="1"/>
          </p:cNvGraphicFramePr>
          <p:nvPr/>
        </p:nvGraphicFramePr>
        <p:xfrm>
          <a:off x="548640" y="1371600"/>
          <a:ext cx="5760720" cy="3794760"/>
        </p:xfrm>
        <a:graphic>
          <a:graphicData uri="http://schemas.openxmlformats.org/drawingml/2006/table">
            <a:tbl>
              <a:tblPr firstRow="1" bandRow="1">
                <a:tableStyleId>{5C22544A-7EE6-4342-B048-85BDC9FD1C3A}</a:tableStyleId>
              </a:tblPr>
              <a:tblGrid>
                <a:gridCol w="2011680"/>
                <a:gridCol w="594360"/>
                <a:gridCol w="2377440"/>
                <a:gridCol w="777240"/>
              </a:tblGrid>
              <a:tr h="344978">
                <a:tc>
                  <a:txBody>
                    <a:bodyPr/>
                    <a:lstStyle/>
                    <a:p>
                      <a:r>
                        <a:rPr sz="950" b="1">
                          <a:solidFill>
                            <a:srgbClr val="FFFFFF"/>
                          </a:solidFill>
                          <a:latin typeface="Calibri"/>
                        </a:rPr>
                        <a:t>Layer (loaded share)</a:t>
                      </a:r>
                    </a:p>
                  </a:txBody>
                  <a:tcPr marL="54864" marR="54864" marT="27432" marB="27432">
                    <a:solidFill>
                      <a:srgbClr val="001E60"/>
                    </a:solidFill>
                  </a:tcPr>
                </a:tc>
                <a:tc>
                  <a:txBody>
                    <a:bodyPr/>
                    <a:lstStyle/>
                    <a:p>
                      <a:pPr algn="r"/>
                      <a:r>
                        <a:rPr sz="950" b="1">
                          <a:solidFill>
                            <a:srgbClr val="FFFFFF"/>
                          </a:solidFill>
                          <a:latin typeface="Calibri"/>
                        </a:rPr>
                        <a:t>Share</a:t>
                      </a:r>
                    </a:p>
                  </a:txBody>
                  <a:tcPr marL="54864" marR="54864" marT="27432" marB="27432">
                    <a:solidFill>
                      <a:srgbClr val="001E60"/>
                    </a:solidFill>
                  </a:tcPr>
                </a:tc>
                <a:tc>
                  <a:txBody>
                    <a:bodyPr/>
                    <a:lstStyle/>
                    <a:p>
                      <a:r>
                        <a:rPr sz="950" b="1">
                          <a:solidFill>
                            <a:srgbClr val="FFFFFF"/>
                          </a:solidFill>
                          <a:latin typeface="Calibri"/>
                        </a:rPr>
                        <a:t>Escalator</a:t>
                      </a:r>
                    </a:p>
                  </a:txBody>
                  <a:tcPr marL="54864" marR="54864" marT="27432" marB="27432">
                    <a:solidFill>
                      <a:srgbClr val="001E60"/>
                    </a:solidFill>
                  </a:tcPr>
                </a:tc>
                <a:tc>
                  <a:txBody>
                    <a:bodyPr/>
                    <a:lstStyle/>
                    <a:p>
                      <a:pPr algn="r"/>
                      <a:r>
                        <a:rPr sz="950" b="1">
                          <a:solidFill>
                            <a:srgbClr val="FFFFFF"/>
                          </a:solidFill>
                          <a:latin typeface="Calibri"/>
                        </a:rPr>
                        <a:t>2018 to 2026</a:t>
                      </a:r>
                    </a:p>
                  </a:txBody>
                  <a:tcPr marL="54864" marR="54864" marT="27432" marB="27432">
                    <a:solidFill>
                      <a:srgbClr val="001E60"/>
                    </a:solidFill>
                  </a:tcPr>
                </a:tc>
              </a:tr>
              <a:tr h="344978">
                <a:tc>
                  <a:txBody>
                    <a:bodyPr/>
                    <a:lstStyle/>
                    <a:p>
                      <a:r>
                        <a:rPr sz="950" b="0">
                          <a:solidFill>
                            <a:srgbClr val="1F2A44"/>
                          </a:solidFill>
                          <a:latin typeface="Calibri"/>
                        </a:rPr>
                        <a:t>A. Battery contract</a:t>
                      </a:r>
                    </a:p>
                  </a:txBody>
                  <a:tcPr marL="54864" marR="54864" marT="27432" marB="27432" anchor="ctr">
                    <a:solidFill>
                      <a:srgbClr val="FFFFFF"/>
                    </a:solidFill>
                  </a:tcPr>
                </a:tc>
                <a:tc>
                  <a:txBody>
                    <a:bodyPr/>
                    <a:lstStyle/>
                    <a:p>
                      <a:pPr algn="r"/>
                      <a:r>
                        <a:rPr sz="950" b="0">
                          <a:solidFill>
                            <a:srgbClr val="1F2A44"/>
                          </a:solidFill>
                          <a:latin typeface="Calibri"/>
                        </a:rPr>
                        <a:t>38%</a:t>
                      </a:r>
                    </a:p>
                  </a:txBody>
                  <a:tcPr marL="54864" marR="54864" marT="27432" marB="27432" anchor="ctr">
                    <a:solidFill>
                      <a:srgbClr val="FFFFFF"/>
                    </a:solidFill>
                  </a:tcPr>
                </a:tc>
                <a:tc>
                  <a:txBody>
                    <a:bodyPr/>
                    <a:lstStyle/>
                    <a:p>
                      <a:r>
                        <a:rPr sz="950" b="0">
                          <a:solidFill>
                            <a:srgbClr val="1F2A44"/>
                          </a:solidFill>
                          <a:latin typeface="Calibri"/>
                        </a:rPr>
                        <a:t>EIA / LBNL installed battery</a:t>
                      </a:r>
                    </a:p>
                  </a:txBody>
                  <a:tcPr marL="54864" marR="54864" marT="27432" marB="27432" anchor="ctr">
                    <a:solidFill>
                      <a:srgbClr val="FFFFFF"/>
                    </a:solidFill>
                  </a:tcPr>
                </a:tc>
                <a:tc>
                  <a:txBody>
                    <a:bodyPr/>
                    <a:lstStyle/>
                    <a:p>
                      <a:pPr algn="r"/>
                      <a:r>
                        <a:rPr sz="950" b="0">
                          <a:solidFill>
                            <a:srgbClr val="1F2A44"/>
                          </a:solidFill>
                          <a:latin typeface="Calibri"/>
                        </a:rPr>
                        <a:t>0.73x</a:t>
                      </a:r>
                    </a:p>
                  </a:txBody>
                  <a:tcPr marL="54864" marR="54864" marT="27432" marB="27432" anchor="ctr">
                    <a:solidFill>
                      <a:srgbClr val="FFFFFF"/>
                    </a:solidFill>
                  </a:tcPr>
                </a:tc>
              </a:tr>
              <a:tr h="344978">
                <a:tc>
                  <a:txBody>
                    <a:bodyPr/>
                    <a:lstStyle/>
                    <a:p>
                      <a:r>
                        <a:rPr sz="950" b="0">
                          <a:solidFill>
                            <a:srgbClr val="1F2A44"/>
                          </a:solidFill>
                          <a:latin typeface="Calibri"/>
                        </a:rPr>
                        <a:t>B. Battery install</a:t>
                      </a:r>
                    </a:p>
                  </a:txBody>
                  <a:tcPr marL="54864" marR="54864" marT="27432" marB="27432" anchor="ctr">
                    <a:solidFill>
                      <a:srgbClr val="F2F4F8"/>
                    </a:solidFill>
                  </a:tcPr>
                </a:tc>
                <a:tc>
                  <a:txBody>
                    <a:bodyPr/>
                    <a:lstStyle/>
                    <a:p>
                      <a:pPr algn="r"/>
                      <a:r>
                        <a:rPr sz="950" b="0">
                          <a:solidFill>
                            <a:srgbClr val="1F2A44"/>
                          </a:solidFill>
                          <a:latin typeface="Calibri"/>
                        </a:rPr>
                        <a:t>5%</a:t>
                      </a:r>
                    </a:p>
                  </a:txBody>
                  <a:tcPr marL="54864" marR="54864" marT="27432" marB="27432" anchor="ctr">
                    <a:solidFill>
                      <a:srgbClr val="F2F4F8"/>
                    </a:solidFill>
                  </a:tcPr>
                </a:tc>
                <a:tc>
                  <a:txBody>
                    <a:bodyPr/>
                    <a:lstStyle/>
                    <a:p>
                      <a:r>
                        <a:rPr sz="950" b="0">
                          <a:solidFill>
                            <a:srgbClr val="1F2A44"/>
                          </a:solidFill>
                          <a:latin typeface="Calibri"/>
                        </a:rPr>
                        <a:t>IBEW 103 journeyman rate</a:t>
                      </a:r>
                    </a:p>
                  </a:txBody>
                  <a:tcPr marL="54864" marR="54864" marT="27432" marB="27432" anchor="ctr">
                    <a:solidFill>
                      <a:srgbClr val="F2F4F8"/>
                    </a:solidFill>
                  </a:tcPr>
                </a:tc>
                <a:tc>
                  <a:txBody>
                    <a:bodyPr/>
                    <a:lstStyle/>
                    <a:p>
                      <a:pPr algn="r"/>
                      <a:r>
                        <a:rPr sz="950" b="0">
                          <a:solidFill>
                            <a:srgbClr val="1F2A44"/>
                          </a:solidFill>
                          <a:latin typeface="Calibri"/>
                        </a:rPr>
                        <a:t>1.30x</a:t>
                      </a:r>
                    </a:p>
                  </a:txBody>
                  <a:tcPr marL="54864" marR="54864" marT="27432" marB="27432" anchor="ctr">
                    <a:solidFill>
                      <a:srgbClr val="F2F4F8"/>
                    </a:solidFill>
                  </a:tcPr>
                </a:tc>
              </a:tr>
              <a:tr h="344978">
                <a:tc>
                  <a:txBody>
                    <a:bodyPr/>
                    <a:lstStyle/>
                    <a:p>
                      <a:r>
                        <a:rPr sz="950" b="0">
                          <a:solidFill>
                            <a:srgbClr val="1F2A44"/>
                          </a:solidFill>
                          <a:latin typeface="Calibri"/>
                        </a:rPr>
                        <a:t>C. GSUs, aux power</a:t>
                      </a:r>
                    </a:p>
                  </a:txBody>
                  <a:tcPr marL="54864" marR="54864" marT="27432" marB="27432" anchor="ctr">
                    <a:solidFill>
                      <a:srgbClr val="FFFFFF"/>
                    </a:solidFill>
                  </a:tcPr>
                </a:tc>
                <a:tc>
                  <a:txBody>
                    <a:bodyPr/>
                    <a:lstStyle/>
                    <a:p>
                      <a:pPr algn="r"/>
                      <a:r>
                        <a:rPr sz="950" b="0">
                          <a:solidFill>
                            <a:srgbClr val="1F2A44"/>
                          </a:solidFill>
                          <a:latin typeface="Calibri"/>
                        </a:rPr>
                        <a:t>6%</a:t>
                      </a:r>
                    </a:p>
                  </a:txBody>
                  <a:tcPr marL="54864" marR="54864" marT="27432" marB="27432" anchor="ctr">
                    <a:solidFill>
                      <a:srgbClr val="FFFFFF"/>
                    </a:solidFill>
                  </a:tcPr>
                </a:tc>
                <a:tc>
                  <a:txBody>
                    <a:bodyPr/>
                    <a:lstStyle/>
                    <a:p>
                      <a:r>
                        <a:rPr sz="950" b="0">
                          <a:solidFill>
                            <a:srgbClr val="1F2A44"/>
                          </a:solidFill>
                          <a:latin typeface="Calibri"/>
                        </a:rPr>
                        <a:t>PPI transformers</a:t>
                      </a:r>
                    </a:p>
                  </a:txBody>
                  <a:tcPr marL="54864" marR="54864" marT="27432" marB="27432" anchor="ctr">
                    <a:solidFill>
                      <a:srgbClr val="FFFFFF"/>
                    </a:solidFill>
                  </a:tcPr>
                </a:tc>
                <a:tc>
                  <a:txBody>
                    <a:bodyPr/>
                    <a:lstStyle/>
                    <a:p>
                      <a:pPr algn="r"/>
                      <a:r>
                        <a:rPr sz="950" b="0">
                          <a:solidFill>
                            <a:srgbClr val="1F2A44"/>
                          </a:solidFill>
                          <a:latin typeface="Calibri"/>
                        </a:rPr>
                        <a:t>1.91x</a:t>
                      </a:r>
                    </a:p>
                  </a:txBody>
                  <a:tcPr marL="54864" marR="54864" marT="27432" marB="27432" anchor="ctr">
                    <a:solidFill>
                      <a:srgbClr val="FFFFFF"/>
                    </a:solidFill>
                  </a:tcPr>
                </a:tc>
              </a:tr>
              <a:tr h="344978">
                <a:tc>
                  <a:txBody>
                    <a:bodyPr/>
                    <a:lstStyle/>
                    <a:p>
                      <a:r>
                        <a:rPr sz="950" b="0">
                          <a:solidFill>
                            <a:srgbClr val="1F2A44"/>
                          </a:solidFill>
                          <a:latin typeface="Calibri"/>
                        </a:rPr>
                        <a:t>D. Switching station</a:t>
                      </a:r>
                    </a:p>
                  </a:txBody>
                  <a:tcPr marL="54864" marR="54864" marT="27432" marB="27432" anchor="ctr">
                    <a:solidFill>
                      <a:srgbClr val="F2F4F8"/>
                    </a:solidFill>
                  </a:tcPr>
                </a:tc>
                <a:tc>
                  <a:txBody>
                    <a:bodyPr/>
                    <a:lstStyle/>
                    <a:p>
                      <a:pPr algn="r"/>
                      <a:r>
                        <a:rPr sz="950" b="0">
                          <a:solidFill>
                            <a:srgbClr val="1F2A44"/>
                          </a:solidFill>
                          <a:latin typeface="Calibri"/>
                        </a:rPr>
                        <a:t>11%</a:t>
                      </a:r>
                    </a:p>
                  </a:txBody>
                  <a:tcPr marL="54864" marR="54864" marT="27432" marB="27432" anchor="ctr">
                    <a:solidFill>
                      <a:srgbClr val="F2F4F8"/>
                    </a:solidFill>
                  </a:tcPr>
                </a:tc>
                <a:tc>
                  <a:txBody>
                    <a:bodyPr/>
                    <a:lstStyle/>
                    <a:p>
                      <a:r>
                        <a:rPr sz="950" b="0">
                          <a:solidFill>
                            <a:srgbClr val="1F2A44"/>
                          </a:solidFill>
                          <a:latin typeface="Calibri"/>
                        </a:rPr>
                        <a:t>PPI switchgear</a:t>
                      </a:r>
                    </a:p>
                  </a:txBody>
                  <a:tcPr marL="54864" marR="54864" marT="27432" marB="27432" anchor="ctr">
                    <a:solidFill>
                      <a:srgbClr val="F2F4F8"/>
                    </a:solidFill>
                  </a:tcPr>
                </a:tc>
                <a:tc>
                  <a:txBody>
                    <a:bodyPr/>
                    <a:lstStyle/>
                    <a:p>
                      <a:pPr algn="r"/>
                      <a:r>
                        <a:rPr sz="950" b="0">
                          <a:solidFill>
                            <a:srgbClr val="1F2A44"/>
                          </a:solidFill>
                          <a:latin typeface="Calibri"/>
                        </a:rPr>
                        <a:t>1.82x</a:t>
                      </a:r>
                    </a:p>
                  </a:txBody>
                  <a:tcPr marL="54864" marR="54864" marT="27432" marB="27432" anchor="ctr">
                    <a:solidFill>
                      <a:srgbClr val="F2F4F8"/>
                    </a:solidFill>
                  </a:tcPr>
                </a:tc>
              </a:tr>
              <a:tr h="344978">
                <a:tc>
                  <a:txBody>
                    <a:bodyPr/>
                    <a:lstStyle/>
                    <a:p>
                      <a:r>
                        <a:rPr sz="950" b="0">
                          <a:solidFill>
                            <a:srgbClr val="1F2A44"/>
                          </a:solidFill>
                          <a:latin typeface="Calibri"/>
                        </a:rPr>
                        <a:t>E. Site and civil</a:t>
                      </a:r>
                    </a:p>
                  </a:txBody>
                  <a:tcPr marL="54864" marR="54864" marT="27432" marB="27432" anchor="ctr">
                    <a:solidFill>
                      <a:srgbClr val="FFFFFF"/>
                    </a:solidFill>
                  </a:tcPr>
                </a:tc>
                <a:tc>
                  <a:txBody>
                    <a:bodyPr/>
                    <a:lstStyle/>
                    <a:p>
                      <a:pPr algn="r"/>
                      <a:r>
                        <a:rPr sz="950" b="0">
                          <a:solidFill>
                            <a:srgbClr val="1F2A44"/>
                          </a:solidFill>
                          <a:latin typeface="Calibri"/>
                        </a:rPr>
                        <a:t>8%</a:t>
                      </a:r>
                    </a:p>
                  </a:txBody>
                  <a:tcPr marL="54864" marR="54864" marT="27432" marB="27432" anchor="ctr">
                    <a:solidFill>
                      <a:srgbClr val="FFFFFF"/>
                    </a:solidFill>
                  </a:tcPr>
                </a:tc>
                <a:tc>
                  <a:txBody>
                    <a:bodyPr/>
                    <a:lstStyle/>
                    <a:p>
                      <a:r>
                        <a:rPr sz="950" b="0">
                          <a:solidFill>
                            <a:srgbClr val="1F2A44"/>
                          </a:solidFill>
                          <a:latin typeface="Calibri"/>
                        </a:rPr>
                        <a:t>ENR construction cost</a:t>
                      </a:r>
                    </a:p>
                  </a:txBody>
                  <a:tcPr marL="54864" marR="54864" marT="27432" marB="27432" anchor="ctr">
                    <a:solidFill>
                      <a:srgbClr val="FFFFFF"/>
                    </a:solidFill>
                  </a:tcPr>
                </a:tc>
                <a:tc>
                  <a:txBody>
                    <a:bodyPr/>
                    <a:lstStyle/>
                    <a:p>
                      <a:pPr algn="r"/>
                      <a:r>
                        <a:rPr sz="950" b="0">
                          <a:solidFill>
                            <a:srgbClr val="1F2A44"/>
                          </a:solidFill>
                          <a:latin typeface="Calibri"/>
                        </a:rPr>
                        <a:t>1.26x</a:t>
                      </a:r>
                    </a:p>
                  </a:txBody>
                  <a:tcPr marL="54864" marR="54864" marT="27432" marB="27432" anchor="ctr">
                    <a:solidFill>
                      <a:srgbClr val="FFFFFF"/>
                    </a:solidFill>
                  </a:tcPr>
                </a:tc>
              </a:tr>
              <a:tr h="344978">
                <a:tc>
                  <a:txBody>
                    <a:bodyPr/>
                    <a:lstStyle/>
                    <a:p>
                      <a:r>
                        <a:rPr sz="950" b="0">
                          <a:solidFill>
                            <a:srgbClr val="1F2A44"/>
                          </a:solidFill>
                          <a:latin typeface="Calibri"/>
                        </a:rPr>
                        <a:t>F. Feeder protection (496)</a:t>
                      </a:r>
                    </a:p>
                  </a:txBody>
                  <a:tcPr marL="54864" marR="54864" marT="27432" marB="27432" anchor="ctr">
                    <a:solidFill>
                      <a:srgbClr val="F2F4F8"/>
                    </a:solidFill>
                  </a:tcPr>
                </a:tc>
                <a:tc>
                  <a:txBody>
                    <a:bodyPr/>
                    <a:lstStyle/>
                    <a:p>
                      <a:pPr algn="r"/>
                      <a:r>
                        <a:rPr sz="950" b="0">
                          <a:solidFill>
                            <a:srgbClr val="1F2A44"/>
                          </a:solidFill>
                          <a:latin typeface="Calibri"/>
                        </a:rPr>
                        <a:t>13%</a:t>
                      </a:r>
                    </a:p>
                  </a:txBody>
                  <a:tcPr marL="54864" marR="54864" marT="27432" marB="27432" anchor="ctr">
                    <a:solidFill>
                      <a:srgbClr val="F2F4F8"/>
                    </a:solidFill>
                  </a:tcPr>
                </a:tc>
                <a:tc>
                  <a:txBody>
                    <a:bodyPr/>
                    <a:lstStyle/>
                    <a:p>
                      <a:r>
                        <a:rPr sz="950" b="0">
                          <a:solidFill>
                            <a:srgbClr val="1F2A44"/>
                          </a:solidFill>
                          <a:latin typeface="Calibri"/>
                        </a:rPr>
                        <a:t>IBEW 103 journeyman rate</a:t>
                      </a:r>
                    </a:p>
                  </a:txBody>
                  <a:tcPr marL="54864" marR="54864" marT="27432" marB="27432" anchor="ctr">
                    <a:solidFill>
                      <a:srgbClr val="F2F4F8"/>
                    </a:solidFill>
                  </a:tcPr>
                </a:tc>
                <a:tc>
                  <a:txBody>
                    <a:bodyPr/>
                    <a:lstStyle/>
                    <a:p>
                      <a:pPr algn="r"/>
                      <a:r>
                        <a:rPr sz="950" b="0">
                          <a:solidFill>
                            <a:srgbClr val="1F2A44"/>
                          </a:solidFill>
                          <a:latin typeface="Calibri"/>
                        </a:rPr>
                        <a:t>1.30x</a:t>
                      </a:r>
                    </a:p>
                  </a:txBody>
                  <a:tcPr marL="54864" marR="54864" marT="27432" marB="27432" anchor="ctr">
                    <a:solidFill>
                      <a:srgbClr val="F2F4F8"/>
                    </a:solidFill>
                  </a:tcPr>
                </a:tc>
              </a:tr>
              <a:tr h="344978">
                <a:tc>
                  <a:txBody>
                    <a:bodyPr/>
                    <a:lstStyle/>
                    <a:p>
                      <a:r>
                        <a:rPr sz="950" b="0">
                          <a:solidFill>
                            <a:srgbClr val="1F2A44"/>
                          </a:solidFill>
                          <a:latin typeface="Calibri"/>
                        </a:rPr>
                        <a:t>G. Test and commission</a:t>
                      </a:r>
                    </a:p>
                  </a:txBody>
                  <a:tcPr marL="54864" marR="54864" marT="27432" marB="27432" anchor="ctr">
                    <a:solidFill>
                      <a:srgbClr val="FFFFFF"/>
                    </a:solidFill>
                  </a:tcPr>
                </a:tc>
                <a:tc>
                  <a:txBody>
                    <a:bodyPr/>
                    <a:lstStyle/>
                    <a:p>
                      <a:pPr algn="r"/>
                      <a:r>
                        <a:rPr sz="950" b="0">
                          <a:solidFill>
                            <a:srgbClr val="1F2A44"/>
                          </a:solidFill>
                          <a:latin typeface="Calibri"/>
                        </a:rPr>
                        <a:t>4%</a:t>
                      </a:r>
                    </a:p>
                  </a:txBody>
                  <a:tcPr marL="54864" marR="54864" marT="27432" marB="27432" anchor="ctr">
                    <a:solidFill>
                      <a:srgbClr val="FFFFFF"/>
                    </a:solidFill>
                  </a:tcPr>
                </a:tc>
                <a:tc>
                  <a:txBody>
                    <a:bodyPr/>
                    <a:lstStyle/>
                    <a:p>
                      <a:r>
                        <a:rPr sz="950" b="0">
                          <a:solidFill>
                            <a:srgbClr val="1F2A44"/>
                          </a:solidFill>
                          <a:latin typeface="Calibri"/>
                        </a:rPr>
                        <a:t>IBEW 103 journeyman rate</a:t>
                      </a:r>
                    </a:p>
                  </a:txBody>
                  <a:tcPr marL="54864" marR="54864" marT="27432" marB="27432" anchor="ctr">
                    <a:solidFill>
                      <a:srgbClr val="FFFFFF"/>
                    </a:solidFill>
                  </a:tcPr>
                </a:tc>
                <a:tc>
                  <a:txBody>
                    <a:bodyPr/>
                    <a:lstStyle/>
                    <a:p>
                      <a:pPr algn="r"/>
                      <a:r>
                        <a:rPr sz="950" b="0">
                          <a:solidFill>
                            <a:srgbClr val="1F2A44"/>
                          </a:solidFill>
                          <a:latin typeface="Calibri"/>
                        </a:rPr>
                        <a:t>1.30x</a:t>
                      </a:r>
                    </a:p>
                  </a:txBody>
                  <a:tcPr marL="54864" marR="54864" marT="27432" marB="27432" anchor="ctr">
                    <a:solidFill>
                      <a:srgbClr val="FFFFFF"/>
                    </a:solidFill>
                  </a:tcPr>
                </a:tc>
              </a:tr>
              <a:tr h="344978">
                <a:tc>
                  <a:txBody>
                    <a:bodyPr/>
                    <a:lstStyle/>
                    <a:p>
                      <a:r>
                        <a:rPr sz="950" b="0">
                          <a:solidFill>
                            <a:srgbClr val="1F2A44"/>
                          </a:solidFill>
                          <a:latin typeface="Calibri"/>
                        </a:rPr>
                        <a:t>H. Owner soft costs</a:t>
                      </a:r>
                    </a:p>
                  </a:txBody>
                  <a:tcPr marL="54864" marR="54864" marT="27432" marB="27432" anchor="ctr">
                    <a:solidFill>
                      <a:srgbClr val="F2F4F8"/>
                    </a:solidFill>
                  </a:tcPr>
                </a:tc>
                <a:tc>
                  <a:txBody>
                    <a:bodyPr/>
                    <a:lstStyle/>
                    <a:p>
                      <a:pPr algn="r"/>
                      <a:r>
                        <a:rPr sz="950" b="0">
                          <a:solidFill>
                            <a:srgbClr val="1F2A44"/>
                          </a:solidFill>
                          <a:latin typeface="Calibri"/>
                        </a:rPr>
                        <a:t>13%</a:t>
                      </a:r>
                    </a:p>
                  </a:txBody>
                  <a:tcPr marL="54864" marR="54864" marT="27432" marB="27432" anchor="ctr">
                    <a:solidFill>
                      <a:srgbClr val="F2F4F8"/>
                    </a:solidFill>
                  </a:tcPr>
                </a:tc>
                <a:tc>
                  <a:txBody>
                    <a:bodyPr/>
                    <a:lstStyle/>
                    <a:p>
                      <a:r>
                        <a:rPr sz="950" b="0">
                          <a:solidFill>
                            <a:srgbClr val="1F2A44"/>
                          </a:solidFill>
                          <a:latin typeface="Calibri"/>
                        </a:rPr>
                        <a:t>PPI engineering services</a:t>
                      </a:r>
                    </a:p>
                  </a:txBody>
                  <a:tcPr marL="54864" marR="54864" marT="27432" marB="27432" anchor="ctr">
                    <a:solidFill>
                      <a:srgbClr val="F2F4F8"/>
                    </a:solidFill>
                  </a:tcPr>
                </a:tc>
                <a:tc>
                  <a:txBody>
                    <a:bodyPr/>
                    <a:lstStyle/>
                    <a:p>
                      <a:pPr algn="r"/>
                      <a:r>
                        <a:rPr sz="950" b="0">
                          <a:solidFill>
                            <a:srgbClr val="1F2A44"/>
                          </a:solidFill>
                          <a:latin typeface="Calibri"/>
                        </a:rPr>
                        <a:t>1.25x</a:t>
                      </a:r>
                    </a:p>
                  </a:txBody>
                  <a:tcPr marL="54864" marR="54864" marT="27432" marB="27432" anchor="ctr">
                    <a:solidFill>
                      <a:srgbClr val="F2F4F8"/>
                    </a:solidFill>
                  </a:tcPr>
                </a:tc>
              </a:tr>
              <a:tr h="344978">
                <a:tc>
                  <a:txBody>
                    <a:bodyPr/>
                    <a:lstStyle/>
                    <a:p>
                      <a:r>
                        <a:rPr sz="950" b="0">
                          <a:solidFill>
                            <a:srgbClr val="1F2A44"/>
                          </a:solidFill>
                          <a:latin typeface="Calibri"/>
                        </a:rPr>
                        <a:t>I. Taxes, insurance</a:t>
                      </a:r>
                    </a:p>
                  </a:txBody>
                  <a:tcPr marL="54864" marR="54864" marT="27432" marB="27432" anchor="ctr">
                    <a:solidFill>
                      <a:srgbClr val="FFFFFF"/>
                    </a:solidFill>
                  </a:tcPr>
                </a:tc>
                <a:tc>
                  <a:txBody>
                    <a:bodyPr/>
                    <a:lstStyle/>
                    <a:p>
                      <a:pPr algn="r"/>
                      <a:r>
                        <a:rPr sz="950" b="0">
                          <a:solidFill>
                            <a:srgbClr val="1F2A44"/>
                          </a:solidFill>
                          <a:latin typeface="Calibri"/>
                        </a:rPr>
                        <a:t>2%</a:t>
                      </a:r>
                    </a:p>
                  </a:txBody>
                  <a:tcPr marL="54864" marR="54864" marT="27432" marB="27432" anchor="ctr">
                    <a:solidFill>
                      <a:srgbClr val="FFFFFF"/>
                    </a:solidFill>
                  </a:tcPr>
                </a:tc>
                <a:tc>
                  <a:txBody>
                    <a:bodyPr/>
                    <a:lstStyle/>
                    <a:p>
                      <a:r>
                        <a:rPr sz="950" b="0">
                          <a:solidFill>
                            <a:srgbClr val="1F2A44"/>
                          </a:solidFill>
                          <a:latin typeface="Calibri"/>
                        </a:rPr>
                        <a:t>Handy-Whitman</a:t>
                      </a:r>
                    </a:p>
                  </a:txBody>
                  <a:tcPr marL="54864" marR="54864" marT="27432" marB="27432" anchor="ctr">
                    <a:solidFill>
                      <a:srgbClr val="FFFFFF"/>
                    </a:solidFill>
                  </a:tcPr>
                </a:tc>
                <a:tc>
                  <a:txBody>
                    <a:bodyPr/>
                    <a:lstStyle/>
                    <a:p>
                      <a:pPr algn="r"/>
                      <a:r>
                        <a:rPr sz="950" b="0">
                          <a:solidFill>
                            <a:srgbClr val="1F2A44"/>
                          </a:solidFill>
                          <a:latin typeface="Calibri"/>
                        </a:rPr>
                        <a:t>1.49x</a:t>
                      </a:r>
                    </a:p>
                  </a:txBody>
                  <a:tcPr marL="54864" marR="54864" marT="27432" marB="27432" anchor="ctr">
                    <a:solidFill>
                      <a:srgbClr val="FFFFFF"/>
                    </a:solidFill>
                  </a:tcPr>
                </a:tc>
              </a:tr>
              <a:tr h="344980">
                <a:tc>
                  <a:txBody>
                    <a:bodyPr/>
                    <a:lstStyle/>
                    <a:p>
                      <a:r>
                        <a:rPr sz="950" b="1">
                          <a:solidFill>
                            <a:srgbClr val="1F2A44"/>
                          </a:solidFill>
                          <a:latin typeface="Calibri"/>
                        </a:rPr>
                        <a:t>Composite, Hyde Park scope</a:t>
                      </a:r>
                    </a:p>
                  </a:txBody>
                  <a:tcPr marL="54864" marR="54864" marT="27432" marB="27432" anchor="ctr">
                    <a:solidFill>
                      <a:srgbClr val="F2F4F8"/>
                    </a:solidFill>
                  </a:tcPr>
                </a:tc>
                <a:tc>
                  <a:txBody>
                    <a:bodyPr/>
                    <a:lstStyle/>
                    <a:p>
                      <a:pPr algn="r"/>
                      <a:r>
                        <a:rPr sz="950" b="1">
                          <a:solidFill>
                            <a:srgbClr val="1F2A44"/>
                          </a:solidFill>
                          <a:latin typeface="Calibri"/>
                        </a:rPr>
                        <a:t>100%</a:t>
                      </a:r>
                    </a:p>
                  </a:txBody>
                  <a:tcPr marL="54864" marR="54864" marT="27432" marB="27432" anchor="ctr">
                    <a:solidFill>
                      <a:srgbClr val="F2F4F8"/>
                    </a:solidFill>
                  </a:tcPr>
                </a:tc>
                <a:tc>
                  <a:txBody>
                    <a:bodyPr/>
                    <a:lstStyle/>
                    <a:p>
                      <a:r>
                        <a:rPr sz="950" b="1">
                          <a:solidFill>
                            <a:srgbClr val="1F2A44"/>
                          </a:solidFill>
                          <a:latin typeface="Calibri"/>
                        </a:rPr>
                        <a:t>fixed quantities (1 / weighted sum of inverse ratios)</a:t>
                      </a:r>
                    </a:p>
                  </a:txBody>
                  <a:tcPr marL="54864" marR="54864" marT="27432" marB="27432" anchor="ctr">
                    <a:solidFill>
                      <a:srgbClr val="F2F4F8"/>
                    </a:solidFill>
                  </a:tcPr>
                </a:tc>
                <a:tc>
                  <a:txBody>
                    <a:bodyPr/>
                    <a:lstStyle/>
                    <a:p>
                      <a:pPr algn="r"/>
                      <a:r>
                        <a:rPr sz="950" b="1">
                          <a:solidFill>
                            <a:srgbClr val="1F2A44"/>
                          </a:solidFill>
                          <a:latin typeface="Calibri"/>
                        </a:rPr>
                        <a:t>1.04x</a:t>
                      </a:r>
                    </a:p>
                  </a:txBody>
                  <a:tcPr marL="54864" marR="54864" marT="27432" marB="27432" anchor="ctr">
                    <a:solidFill>
                      <a:srgbClr val="F2F4F8"/>
                    </a:solidFill>
                  </a:tcPr>
                </a:tc>
              </a:tr>
            </a:tbl>
          </a:graphicData>
        </a:graphic>
      </p:graphicFrame>
      <p:graphicFrame>
        <p:nvGraphicFramePr>
          <p:cNvPr id="8" name="Chart 7"/>
          <p:cNvGraphicFramePr>
            <a:graphicFrameLocks noGrp="1"/>
          </p:cNvGraphicFramePr>
          <p:nvPr/>
        </p:nvGraphicFramePr>
        <p:xfrm>
          <a:off x="6492240" y="1325880"/>
          <a:ext cx="5257800" cy="3383280"/>
        </p:xfrm>
        <a:graphic>
          <a:graphicData uri="http://schemas.openxmlformats.org/drawingml/2006/chart">
            <c:chart xmlns:c="http://schemas.openxmlformats.org/drawingml/2006/chart" r:id="rId2"/>
          </a:graphicData>
        </a:graphic>
      </p:graphicFrame>
      <p:sp>
        <p:nvSpPr>
          <p:cNvPr id="9" name="TextBox 8"/>
          <p:cNvSpPr txBox="1"/>
          <p:nvPr/>
        </p:nvSpPr>
        <p:spPr>
          <a:xfrm>
            <a:off x="6492240" y="4709160"/>
            <a:ext cx="5257800" cy="274320"/>
          </a:xfrm>
          <a:prstGeom prst="rect">
            <a:avLst/>
          </a:prstGeom>
          <a:noFill/>
        </p:spPr>
        <p:txBody>
          <a:bodyPr wrap="square" lIns="45720" rIns="45720" tIns="27432" bIns="27432" anchor="t">
            <a:spAutoFit/>
          </a:bodyPr>
          <a:lstStyle/>
          <a:p>
            <a:pPr algn="l">
              <a:lnSpc>
                <a:spcPct val="105000"/>
              </a:lnSpc>
              <a:spcAft>
                <a:spcPts val="400"/>
              </a:spcAft>
            </a:pPr>
            <a:r>
              <a:rPr sz="850" b="0" i="0">
                <a:solidFill>
                  <a:srgbClr val="6B7280"/>
                </a:solidFill>
                <a:latin typeface="Calibri"/>
              </a:rPr>
              <a:t>Each series divided by its 2018 value. BLS PPI series are exact to 2023 (FRED mirror), excerpt anchors after; ENR and IBEW from published tables.</a:t>
            </a:r>
          </a:p>
        </p:txBody>
      </p:sp>
      <p:sp>
        <p:nvSpPr>
          <p:cNvPr id="10" name="TextBox 9"/>
          <p:cNvSpPr txBox="1"/>
          <p:nvPr/>
        </p:nvSpPr>
        <p:spPr>
          <a:xfrm>
            <a:off x="548640" y="5257800"/>
            <a:ext cx="11155680" cy="1097280"/>
          </a:xfrm>
          <a:prstGeom prst="rect">
            <a:avLst/>
          </a:prstGeom>
          <a:noFill/>
        </p:spPr>
        <p:txBody>
          <a:bodyPr wrap="square" lIns="45720">
            <a:spAutoFit/>
          </a:bodyPr>
          <a:lstStyle/>
          <a:p>
            <a:pPr>
              <a:lnSpc>
                <a:spcPct val="105000"/>
              </a:lnSpc>
              <a:spcAft>
                <a:spcPts val="400"/>
              </a:spcAft>
            </a:pPr>
            <a:r>
              <a:rPr sz="1100">
                <a:solidFill>
                  <a:srgbClr val="FFC72C"/>
                </a:solidFill>
                <a:latin typeface="Calibri"/>
              </a:rPr>
              <a:t>▪  </a:t>
            </a:r>
            <a:r>
              <a:rPr b="1" sz="1100">
                <a:solidFill>
                  <a:srgbClr val="1F2A44"/>
                </a:solidFill>
                <a:latin typeface="Calibri"/>
              </a:rPr>
              <a:t>Five non-battery escalators sit between 1.25x and 1.91x since 2018; the battery sits at 0.73x. </a:t>
            </a:r>
            <a:r>
              <a:rPr sz="1100">
                <a:solidFill>
                  <a:srgbClr val="1F2A44"/>
                </a:solidFill>
                <a:latin typeface="Calibri"/>
              </a:rPr>
              <a:t>With Hyde Park's physical scope held fixed, a 2018 build comes to 2026 at 1.04x (two-index model 1.06x) and a 2016 build at 0.68x, because the battery was 72% of such a project in 2016 and is 38% now. Transformers (1.91x) and switchgear (1.82x) are the fastest risers.</a:t>
            </a:r>
          </a:p>
          <a:p>
            <a:pPr>
              <a:lnSpc>
                <a:spcPct val="105000"/>
              </a:lnSpc>
              <a:spcAft>
                <a:spcPts val="400"/>
              </a:spcAft>
            </a:pPr>
            <a:r>
              <a:rPr sz="1100">
                <a:solidFill>
                  <a:srgbClr val="FFC72C"/>
                </a:solidFill>
                <a:latin typeface="Calibri"/>
              </a:rPr>
              <a:t>▪  </a:t>
            </a:r>
            <a:r>
              <a:rPr b="1" sz="1100">
                <a:solidFill>
                  <a:srgbClr val="1F2A44"/>
                </a:solidFill>
                <a:latin typeface="Calibri"/>
              </a:rPr>
              <a:t>The review challenge was right about 2015 to 2017, and the earlier version of this slide was wrong. </a:t>
            </a:r>
            <a:r>
              <a:rPr sz="1100">
                <a:solidFill>
                  <a:srgbClr val="1F2A44"/>
                </a:solidFill>
                <a:latin typeface="Calibri"/>
              </a:rPr>
              <a:t>Holding today's 38% battery share fixed made a 2016 project 1.08x; letting the share be what it was then makes it 0.68x. From 2018 on the battery decline and the construction rise roughly cancel. Deflating a whole project at the pack rate is still wrong: it gives 0.36x for 2016.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SCALING PUBLISHED COSTS TO 2026, STEP 2: THREE METHODS ON THE SAME 35 BUILT PROJECTS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Three defensible methods, one answer: class median $742 to $746, Hyde Park's station cost at the 77% percentile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18</a:t>
            </a:r>
          </a:p>
        </p:txBody>
      </p:sp>
      <p:graphicFrame>
        <p:nvGraphicFramePr>
          <p:cNvPr id="7" name="Table 6"/>
          <p:cNvGraphicFramePr>
            <a:graphicFrameLocks noGrp="1"/>
          </p:cNvGraphicFramePr>
          <p:nvPr/>
        </p:nvGraphicFramePr>
        <p:xfrm>
          <a:off x="548640" y="1371600"/>
          <a:ext cx="11064240" cy="3246120"/>
        </p:xfrm>
        <a:graphic>
          <a:graphicData uri="http://schemas.openxmlformats.org/drawingml/2006/table">
            <a:tbl>
              <a:tblPr firstRow="1" bandRow="1">
                <a:tableStyleId>{5C22544A-7EE6-4342-B048-85BDC9FD1C3A}</a:tableStyleId>
              </a:tblPr>
              <a:tblGrid>
                <a:gridCol w="2743200"/>
                <a:gridCol w="2377440"/>
                <a:gridCol w="1097280"/>
                <a:gridCol w="1188720"/>
                <a:gridCol w="1188720"/>
                <a:gridCol w="1188720"/>
                <a:gridCol w="1280160"/>
              </a:tblGrid>
              <a:tr h="360680">
                <a:tc>
                  <a:txBody>
                    <a:bodyPr/>
                    <a:lstStyle/>
                    <a:p>
                      <a:r>
                        <a:rPr sz="1000" b="1">
                          <a:solidFill>
                            <a:srgbClr val="FFFFFF"/>
                          </a:solidFill>
                          <a:latin typeface="Calibri"/>
                        </a:rPr>
                        <a:t>Method</a:t>
                      </a:r>
                    </a:p>
                  </a:txBody>
                  <a:tcPr marL="54864" marR="54864" marT="27432" marB="27432">
                    <a:solidFill>
                      <a:srgbClr val="001E60"/>
                    </a:solidFill>
                  </a:tcPr>
                </a:tc>
                <a:tc>
                  <a:txBody>
                    <a:bodyPr/>
                    <a:lstStyle/>
                    <a:p>
                      <a:r>
                        <a:rPr sz="1000" b="1">
                          <a:solidFill>
                            <a:srgbClr val="FFFFFF"/>
                          </a:solidFill>
                          <a:latin typeface="Calibri"/>
                        </a:rPr>
                        <a:t>What it does</a:t>
                      </a:r>
                    </a:p>
                  </a:txBody>
                  <a:tcPr marL="54864" marR="54864" marT="27432" marB="27432">
                    <a:solidFill>
                      <a:srgbClr val="001E60"/>
                    </a:solidFill>
                  </a:tcPr>
                </a:tc>
                <a:tc>
                  <a:txBody>
                    <a:bodyPr/>
                    <a:lstStyle/>
                    <a:p>
                      <a:pPr algn="r"/>
                      <a:r>
                        <a:rPr sz="1000" b="1">
                          <a:solidFill>
                            <a:srgbClr val="FFFFFF"/>
                          </a:solidFill>
                          <a:latin typeface="Calibri"/>
                        </a:rPr>
                        <a:t>Class median</a:t>
                      </a:r>
                    </a:p>
                  </a:txBody>
                  <a:tcPr marL="54864" marR="54864" marT="27432" marB="27432">
                    <a:solidFill>
                      <a:srgbClr val="001E60"/>
                    </a:solidFill>
                  </a:tcPr>
                </a:tc>
                <a:tc>
                  <a:txBody>
                    <a:bodyPr/>
                    <a:lstStyle/>
                    <a:p>
                      <a:pPr algn="r"/>
                      <a:r>
                        <a:rPr sz="1000" b="1">
                          <a:solidFill>
                            <a:srgbClr val="FFFFFF"/>
                          </a:solidFill>
                          <a:latin typeface="Calibri"/>
                        </a:rPr>
                        <a:t>HP installed pct</a:t>
                      </a:r>
                    </a:p>
                  </a:txBody>
                  <a:tcPr marL="54864" marR="54864" marT="27432" marB="27432">
                    <a:solidFill>
                      <a:srgbClr val="001E60"/>
                    </a:solidFill>
                  </a:tcPr>
                </a:tc>
                <a:tc>
                  <a:txBody>
                    <a:bodyPr/>
                    <a:lstStyle/>
                    <a:p>
                      <a:pPr algn="r"/>
                      <a:r>
                        <a:rPr sz="1000" b="1">
                          <a:solidFill>
                            <a:srgbClr val="FFFFFF"/>
                          </a:solidFill>
                          <a:latin typeface="Calibri"/>
                        </a:rPr>
                        <a:t>HP station pct</a:t>
                      </a:r>
                    </a:p>
                  </a:txBody>
                  <a:tcPr marL="54864" marR="54864" marT="27432" marB="27432">
                    <a:solidFill>
                      <a:srgbClr val="001E60"/>
                    </a:solidFill>
                  </a:tcPr>
                </a:tc>
                <a:tc>
                  <a:txBody>
                    <a:bodyPr/>
                    <a:lstStyle/>
                    <a:p>
                      <a:pPr algn="r"/>
                      <a:r>
                        <a:rPr sz="1000" b="1">
                          <a:solidFill>
                            <a:srgbClr val="FFFFFF"/>
                          </a:solidFill>
                          <a:latin typeface="Calibri"/>
                        </a:rPr>
                        <a:t>Utility median</a:t>
                      </a:r>
                    </a:p>
                  </a:txBody>
                  <a:tcPr marL="54864" marR="54864" marT="27432" marB="27432">
                    <a:solidFill>
                      <a:srgbClr val="001E60"/>
                    </a:solidFill>
                  </a:tcPr>
                </a:tc>
                <a:tc>
                  <a:txBody>
                    <a:bodyPr/>
                    <a:lstStyle/>
                    <a:p>
                      <a:pPr algn="r"/>
                      <a:r>
                        <a:rPr sz="1000" b="1">
                          <a:solidFill>
                            <a:srgbClr val="FFFFFF"/>
                          </a:solidFill>
                          <a:latin typeface="Calibri"/>
                        </a:rPr>
                        <a:t>HP station pct (utility)</a:t>
                      </a:r>
                    </a:p>
                  </a:txBody>
                  <a:tcPr marL="54864" marR="54864" marT="27432" marB="27432">
                    <a:solidFill>
                      <a:srgbClr val="001E60"/>
                    </a:solidFill>
                  </a:tcPr>
                </a:tc>
              </a:tr>
              <a:tr h="360680">
                <a:tc>
                  <a:txBody>
                    <a:bodyPr/>
                    <a:lstStyle/>
                    <a:p>
                      <a:r>
                        <a:rPr sz="1000" b="0">
                          <a:solidFill>
                            <a:srgbClr val="1F2A44"/>
                          </a:solidFill>
                          <a:latin typeface="Calibri"/>
                        </a:rPr>
                        <a:t>As published</a:t>
                      </a:r>
                    </a:p>
                  </a:txBody>
                  <a:tcPr marL="54864" marR="54864" marT="27432" marB="27432" anchor="ctr">
                    <a:solidFill>
                      <a:srgbClr val="FFFFFF"/>
                    </a:solidFill>
                  </a:tcPr>
                </a:tc>
                <a:tc>
                  <a:txBody>
                    <a:bodyPr/>
                    <a:lstStyle/>
                    <a:p>
                      <a:r>
                        <a:rPr sz="1000" b="0">
                          <a:solidFill>
                            <a:srgbClr val="1F2A44"/>
                          </a:solidFill>
                          <a:latin typeface="Calibri"/>
                        </a:rPr>
                        <a:t>no adjustment</a:t>
                      </a:r>
                    </a:p>
                  </a:txBody>
                  <a:tcPr marL="54864" marR="54864" marT="27432" marB="27432" anchor="ctr">
                    <a:solidFill>
                      <a:srgbClr val="FFFFFF"/>
                    </a:solidFill>
                  </a:tcPr>
                </a:tc>
                <a:tc>
                  <a:txBody>
                    <a:bodyPr/>
                    <a:lstStyle/>
                    <a:p>
                      <a:pPr algn="r"/>
                      <a:r>
                        <a:rPr sz="1000" b="0">
                          <a:solidFill>
                            <a:srgbClr val="1F2A44"/>
                          </a:solidFill>
                          <a:latin typeface="Calibri"/>
                        </a:rPr>
                        <a:t>$750</a:t>
                      </a:r>
                    </a:p>
                  </a:txBody>
                  <a:tcPr marL="54864" marR="54864" marT="27432" marB="27432" anchor="ctr">
                    <a:solidFill>
                      <a:srgbClr val="FFFFFF"/>
                    </a:solidFill>
                  </a:tcPr>
                </a:tc>
                <a:tc>
                  <a:txBody>
                    <a:bodyPr/>
                    <a:lstStyle/>
                    <a:p>
                      <a:pPr algn="r"/>
                      <a:r>
                        <a:rPr sz="1000" b="0">
                          <a:solidFill>
                            <a:srgbClr val="1F2A44"/>
                          </a:solidFill>
                          <a:latin typeface="Calibri"/>
                        </a:rPr>
                        <a:t>57%</a:t>
                      </a:r>
                    </a:p>
                  </a:txBody>
                  <a:tcPr marL="54864" marR="54864" marT="27432" marB="27432" anchor="ctr">
                    <a:solidFill>
                      <a:srgbClr val="FFFFFF"/>
                    </a:solidFill>
                  </a:tcPr>
                </a:tc>
                <a:tc>
                  <a:txBody>
                    <a:bodyPr/>
                    <a:lstStyle/>
                    <a:p>
                      <a:pPr algn="r"/>
                      <a:r>
                        <a:rPr sz="1000" b="0">
                          <a:solidFill>
                            <a:srgbClr val="1F2A44"/>
                          </a:solidFill>
                          <a:latin typeface="Calibri"/>
                        </a:rPr>
                        <a:t>77%</a:t>
                      </a:r>
                    </a:p>
                  </a:txBody>
                  <a:tcPr marL="54864" marR="54864" marT="27432" marB="27432" anchor="ctr">
                    <a:solidFill>
                      <a:srgbClr val="FFFFFF"/>
                    </a:solidFill>
                  </a:tcPr>
                </a:tc>
                <a:tc>
                  <a:txBody>
                    <a:bodyPr/>
                    <a:lstStyle/>
                    <a:p>
                      <a:pPr algn="r"/>
                      <a:r>
                        <a:rPr sz="1000" b="0">
                          <a:solidFill>
                            <a:srgbClr val="1F2A44"/>
                          </a:solidFill>
                          <a:latin typeface="Calibri"/>
                        </a:rPr>
                        <a:t>$1,235</a:t>
                      </a:r>
                    </a:p>
                  </a:txBody>
                  <a:tcPr marL="54864" marR="54864" marT="27432" marB="27432" anchor="ctr">
                    <a:solidFill>
                      <a:srgbClr val="FFFFFF"/>
                    </a:solidFill>
                  </a:tcPr>
                </a:tc>
                <a:tc>
                  <a:txBody>
                    <a:bodyPr/>
                    <a:lstStyle/>
                    <a:p>
                      <a:pPr algn="r"/>
                      <a:r>
                        <a:rPr sz="1000" b="0">
                          <a:solidFill>
                            <a:srgbClr val="1F2A44"/>
                          </a:solidFill>
                          <a:latin typeface="Calibri"/>
                        </a:rPr>
                        <a:t>68%</a:t>
                      </a:r>
                    </a:p>
                  </a:txBody>
                  <a:tcPr marL="54864" marR="54864" marT="27432" marB="27432" anchor="ctr">
                    <a:solidFill>
                      <a:srgbClr val="FFFFFF"/>
                    </a:solidFill>
                  </a:tcPr>
                </a:tc>
              </a:tr>
              <a:tr h="360680">
                <a:tc>
                  <a:txBody>
                    <a:bodyPr/>
                    <a:lstStyle/>
                    <a:p>
                      <a:r>
                        <a:rPr sz="1000" b="0">
                          <a:solidFill>
                            <a:srgbClr val="1F2A44"/>
                          </a:solidFill>
                          <a:latin typeface="Calibri"/>
                        </a:rPr>
                        <a:t>Whole cost at the battery rate</a:t>
                      </a:r>
                    </a:p>
                  </a:txBody>
                  <a:tcPr marL="54864" marR="54864" marT="27432" marB="27432" anchor="ctr">
                    <a:solidFill>
                      <a:srgbClr val="F2F4F8"/>
                    </a:solidFill>
                  </a:tcPr>
                </a:tc>
                <a:tc>
                  <a:txBody>
                    <a:bodyPr/>
                    <a:lstStyle/>
                    <a:p>
                      <a:r>
                        <a:rPr sz="1000" b="0">
                          <a:solidFill>
                            <a:srgbClr val="1F2A44"/>
                          </a:solidFill>
                          <a:latin typeface="Calibri"/>
                        </a:rPr>
                        <a:t>vendor framing applied backward</a:t>
                      </a:r>
                    </a:p>
                  </a:txBody>
                  <a:tcPr marL="54864" marR="54864" marT="27432" marB="27432" anchor="ctr">
                    <a:solidFill>
                      <a:srgbClr val="F2F4F8"/>
                    </a:solidFill>
                  </a:tcPr>
                </a:tc>
                <a:tc>
                  <a:txBody>
                    <a:bodyPr/>
                    <a:lstStyle/>
                    <a:p>
                      <a:pPr algn="r"/>
                      <a:r>
                        <a:rPr sz="1000" b="0">
                          <a:solidFill>
                            <a:srgbClr val="1F2A44"/>
                          </a:solidFill>
                          <a:latin typeface="Calibri"/>
                        </a:rPr>
                        <a:t>$549</a:t>
                      </a:r>
                    </a:p>
                  </a:txBody>
                  <a:tcPr marL="54864" marR="54864" marT="27432" marB="27432" anchor="ctr">
                    <a:solidFill>
                      <a:srgbClr val="F2F4F8"/>
                    </a:solidFill>
                  </a:tcPr>
                </a:tc>
                <a:tc>
                  <a:txBody>
                    <a:bodyPr/>
                    <a:lstStyle/>
                    <a:p>
                      <a:pPr algn="r"/>
                      <a:r>
                        <a:rPr sz="1000" b="0">
                          <a:solidFill>
                            <a:srgbClr val="1F2A44"/>
                          </a:solidFill>
                          <a:latin typeface="Calibri"/>
                        </a:rPr>
                        <a:t>69%</a:t>
                      </a:r>
                    </a:p>
                  </a:txBody>
                  <a:tcPr marL="54864" marR="54864" marT="27432" marB="27432" anchor="ctr">
                    <a:solidFill>
                      <a:srgbClr val="F2F4F8"/>
                    </a:solidFill>
                  </a:tcPr>
                </a:tc>
                <a:tc>
                  <a:txBody>
                    <a:bodyPr/>
                    <a:lstStyle/>
                    <a:p>
                      <a:pPr algn="r"/>
                      <a:r>
                        <a:rPr sz="1000" b="0">
                          <a:solidFill>
                            <a:srgbClr val="1F2A44"/>
                          </a:solidFill>
                          <a:latin typeface="Calibri"/>
                        </a:rPr>
                        <a:t>86%</a:t>
                      </a:r>
                    </a:p>
                  </a:txBody>
                  <a:tcPr marL="54864" marR="54864" marT="27432" marB="27432" anchor="ctr">
                    <a:solidFill>
                      <a:srgbClr val="F2F4F8"/>
                    </a:solidFill>
                  </a:tcPr>
                </a:tc>
                <a:tc>
                  <a:txBody>
                    <a:bodyPr/>
                    <a:lstStyle/>
                    <a:p>
                      <a:pPr algn="r"/>
                      <a:r>
                        <a:rPr sz="1000" b="0">
                          <a:solidFill>
                            <a:srgbClr val="1F2A44"/>
                          </a:solidFill>
                          <a:latin typeface="Calibri"/>
                        </a:rPr>
                        <a:t>$685</a:t>
                      </a:r>
                    </a:p>
                  </a:txBody>
                  <a:tcPr marL="54864" marR="54864" marT="27432" marB="27432" anchor="ctr">
                    <a:solidFill>
                      <a:srgbClr val="F2F4F8"/>
                    </a:solidFill>
                  </a:tcPr>
                </a:tc>
                <a:tc>
                  <a:txBody>
                    <a:bodyPr/>
                    <a:lstStyle/>
                    <a:p>
                      <a:pPr algn="r"/>
                      <a:r>
                        <a:rPr sz="1000" b="0">
                          <a:solidFill>
                            <a:srgbClr val="1F2A44"/>
                          </a:solidFill>
                          <a:latin typeface="Calibri"/>
                        </a:rPr>
                        <a:t>80%</a:t>
                      </a:r>
                    </a:p>
                  </a:txBody>
                  <a:tcPr marL="54864" marR="54864" marT="27432" marB="27432" anchor="ctr">
                    <a:solidFill>
                      <a:srgbClr val="F2F4F8"/>
                    </a:solidFill>
                  </a:tcPr>
                </a:tc>
              </a:tr>
              <a:tr h="360680">
                <a:tc>
                  <a:txBody>
                    <a:bodyPr/>
                    <a:lstStyle/>
                    <a:p>
                      <a:r>
                        <a:rPr sz="1000" b="0">
                          <a:solidFill>
                            <a:srgbClr val="1F2A44"/>
                          </a:solidFill>
                          <a:latin typeface="Calibri"/>
                        </a:rPr>
                        <a:t>Two indices, own-year battery share</a:t>
                      </a:r>
                    </a:p>
                  </a:txBody>
                  <a:tcPr marL="54864" marR="54864" marT="27432" marB="27432" anchor="ctr">
                    <a:solidFill>
                      <a:srgbClr val="FFFFFF"/>
                    </a:solidFill>
                  </a:tcPr>
                </a:tc>
                <a:tc>
                  <a:txBody>
                    <a:bodyPr/>
                    <a:lstStyle/>
                    <a:p>
                      <a:r>
                        <a:rPr sz="1000" b="0">
                          <a:solidFill>
                            <a:srgbClr val="1F2A44"/>
                          </a:solidFill>
                          <a:latin typeface="Calibri"/>
                        </a:rPr>
                        <a:t>anchor 40% utility, 55% developer; slides 12 to 16</a:t>
                      </a:r>
                    </a:p>
                  </a:txBody>
                  <a:tcPr marL="54864" marR="54864" marT="27432" marB="27432" anchor="ctr">
                    <a:solidFill>
                      <a:srgbClr val="FFFFFF"/>
                    </a:solidFill>
                  </a:tcPr>
                </a:tc>
                <a:tc>
                  <a:txBody>
                    <a:bodyPr/>
                    <a:lstStyle/>
                    <a:p>
                      <a:pPr algn="r"/>
                      <a:r>
                        <a:rPr sz="1000" b="0">
                          <a:solidFill>
                            <a:srgbClr val="1F2A44"/>
                          </a:solidFill>
                          <a:latin typeface="Calibri"/>
                        </a:rPr>
                        <a:t>$742</a:t>
                      </a:r>
                    </a:p>
                  </a:txBody>
                  <a:tcPr marL="54864" marR="54864" marT="27432" marB="27432" anchor="ctr">
                    <a:solidFill>
                      <a:srgbClr val="FFFFFF"/>
                    </a:solidFill>
                  </a:tcPr>
                </a:tc>
                <a:tc>
                  <a:txBody>
                    <a:bodyPr/>
                    <a:lstStyle/>
                    <a:p>
                      <a:pPr algn="r"/>
                      <a:r>
                        <a:rPr sz="1000" b="0">
                          <a:solidFill>
                            <a:srgbClr val="1F2A44"/>
                          </a:solidFill>
                          <a:latin typeface="Calibri"/>
                        </a:rPr>
                        <a:t>57%</a:t>
                      </a:r>
                    </a:p>
                  </a:txBody>
                  <a:tcPr marL="54864" marR="54864" marT="27432" marB="27432" anchor="ctr">
                    <a:solidFill>
                      <a:srgbClr val="FFFFFF"/>
                    </a:solidFill>
                  </a:tcPr>
                </a:tc>
                <a:tc>
                  <a:txBody>
                    <a:bodyPr/>
                    <a:lstStyle/>
                    <a:p>
                      <a:pPr algn="r"/>
                      <a:r>
                        <a:rPr sz="1000" b="0">
                          <a:solidFill>
                            <a:srgbClr val="1F2A44"/>
                          </a:solidFill>
                          <a:latin typeface="Calibri"/>
                        </a:rPr>
                        <a:t>77%</a:t>
                      </a:r>
                    </a:p>
                  </a:txBody>
                  <a:tcPr marL="54864" marR="54864" marT="27432" marB="27432" anchor="ctr">
                    <a:solidFill>
                      <a:srgbClr val="FFFFFF"/>
                    </a:solidFill>
                  </a:tcPr>
                </a:tc>
                <a:tc>
                  <a:txBody>
                    <a:bodyPr/>
                    <a:lstStyle/>
                    <a:p>
                      <a:pPr algn="r"/>
                      <a:r>
                        <a:rPr sz="1000" b="0">
                          <a:solidFill>
                            <a:srgbClr val="1F2A44"/>
                          </a:solidFill>
                          <a:latin typeface="Calibri"/>
                        </a:rPr>
                        <a:t>$851</a:t>
                      </a:r>
                    </a:p>
                  </a:txBody>
                  <a:tcPr marL="54864" marR="54864" marT="27432" marB="27432" anchor="ctr">
                    <a:solidFill>
                      <a:srgbClr val="FFFFFF"/>
                    </a:solidFill>
                  </a:tcPr>
                </a:tc>
                <a:tc>
                  <a:txBody>
                    <a:bodyPr/>
                    <a:lstStyle/>
                    <a:p>
                      <a:pPr algn="r"/>
                      <a:r>
                        <a:rPr sz="1000" b="0">
                          <a:solidFill>
                            <a:srgbClr val="1F2A44"/>
                          </a:solidFill>
                          <a:latin typeface="Calibri"/>
                        </a:rPr>
                        <a:t>68%</a:t>
                      </a:r>
                    </a:p>
                  </a:txBody>
                  <a:tcPr marL="54864" marR="54864" marT="27432" marB="27432" anchor="ctr">
                    <a:solidFill>
                      <a:srgbClr val="FFFFFF"/>
                    </a:solidFill>
                  </a:tcPr>
                </a:tc>
              </a:tr>
              <a:tr h="360680">
                <a:tc>
                  <a:txBody>
                    <a:bodyPr/>
                    <a:lstStyle/>
                    <a:p>
                      <a:r>
                        <a:rPr sz="1000" b="0">
                          <a:solidFill>
                            <a:srgbClr val="1F2A44"/>
                          </a:solidFill>
                          <a:latin typeface="Calibri"/>
                        </a:rPr>
                        <a:t>One index per layer, developer weights</a:t>
                      </a:r>
                    </a:p>
                  </a:txBody>
                  <a:tcPr marL="54864" marR="54864" marT="27432" marB="27432" anchor="ctr">
                    <a:solidFill>
                      <a:srgbClr val="F2F4F8"/>
                    </a:solidFill>
                  </a:tcPr>
                </a:tc>
                <a:tc>
                  <a:txBody>
                    <a:bodyPr/>
                    <a:lstStyle/>
                    <a:p>
                      <a:r>
                        <a:rPr sz="1000" b="0">
                          <a:solidFill>
                            <a:srgbClr val="1F2A44"/>
                          </a:solidFill>
                          <a:latin typeface="Calibri"/>
                        </a:rPr>
                        <a:t>NREL/PNNL composition</a:t>
                      </a:r>
                    </a:p>
                  </a:txBody>
                  <a:tcPr marL="54864" marR="54864" marT="27432" marB="27432" anchor="ctr">
                    <a:solidFill>
                      <a:srgbClr val="F2F4F8"/>
                    </a:solidFill>
                  </a:tcPr>
                </a:tc>
                <a:tc>
                  <a:txBody>
                    <a:bodyPr/>
                    <a:lstStyle/>
                    <a:p>
                      <a:pPr algn="r"/>
                      <a:r>
                        <a:rPr sz="1000" b="0">
                          <a:solidFill>
                            <a:srgbClr val="1F2A44"/>
                          </a:solidFill>
                          <a:latin typeface="Calibri"/>
                        </a:rPr>
                        <a:t>$744</a:t>
                      </a:r>
                    </a:p>
                  </a:txBody>
                  <a:tcPr marL="54864" marR="54864" marT="27432" marB="27432" anchor="ctr">
                    <a:solidFill>
                      <a:srgbClr val="F2F4F8"/>
                    </a:solidFill>
                  </a:tcPr>
                </a:tc>
                <a:tc>
                  <a:txBody>
                    <a:bodyPr/>
                    <a:lstStyle/>
                    <a:p>
                      <a:pPr algn="r"/>
                      <a:r>
                        <a:rPr sz="1000" b="0">
                          <a:solidFill>
                            <a:srgbClr val="1F2A44"/>
                          </a:solidFill>
                          <a:latin typeface="Calibri"/>
                        </a:rPr>
                        <a:t>60%</a:t>
                      </a:r>
                    </a:p>
                  </a:txBody>
                  <a:tcPr marL="54864" marR="54864" marT="27432" marB="27432" anchor="ctr">
                    <a:solidFill>
                      <a:srgbClr val="F2F4F8"/>
                    </a:solidFill>
                  </a:tcPr>
                </a:tc>
                <a:tc>
                  <a:txBody>
                    <a:bodyPr/>
                    <a:lstStyle/>
                    <a:p>
                      <a:pPr algn="r"/>
                      <a:r>
                        <a:rPr sz="1000" b="0">
                          <a:solidFill>
                            <a:srgbClr val="1F2A44"/>
                          </a:solidFill>
                          <a:latin typeface="Calibri"/>
                        </a:rPr>
                        <a:t>77%</a:t>
                      </a:r>
                    </a:p>
                  </a:txBody>
                  <a:tcPr marL="54864" marR="54864" marT="27432" marB="27432" anchor="ctr">
                    <a:solidFill>
                      <a:srgbClr val="F2F4F8"/>
                    </a:solidFill>
                  </a:tcPr>
                </a:tc>
                <a:tc>
                  <a:txBody>
                    <a:bodyPr/>
                    <a:lstStyle/>
                    <a:p>
                      <a:pPr algn="r"/>
                      <a:r>
                        <a:rPr sz="1000" b="0">
                          <a:solidFill>
                            <a:srgbClr val="1F2A44"/>
                          </a:solidFill>
                          <a:latin typeface="Calibri"/>
                        </a:rPr>
                        <a:t>$854</a:t>
                      </a:r>
                    </a:p>
                  </a:txBody>
                  <a:tcPr marL="54864" marR="54864" marT="27432" marB="27432" anchor="ctr">
                    <a:solidFill>
                      <a:srgbClr val="F2F4F8"/>
                    </a:solidFill>
                  </a:tcPr>
                </a:tc>
                <a:tc>
                  <a:txBody>
                    <a:bodyPr/>
                    <a:lstStyle/>
                    <a:p>
                      <a:pPr algn="r"/>
                      <a:r>
                        <a:rPr sz="1000" b="0">
                          <a:solidFill>
                            <a:srgbClr val="1F2A44"/>
                          </a:solidFill>
                          <a:latin typeface="Calibri"/>
                        </a:rPr>
                        <a:t>68%</a:t>
                      </a:r>
                    </a:p>
                  </a:txBody>
                  <a:tcPr marL="54864" marR="54864" marT="27432" marB="27432" anchor="ctr">
                    <a:solidFill>
                      <a:srgbClr val="F2F4F8"/>
                    </a:solidFill>
                  </a:tcPr>
                </a:tc>
              </a:tr>
              <a:tr h="360680">
                <a:tc>
                  <a:txBody>
                    <a:bodyPr/>
                    <a:lstStyle/>
                    <a:p>
                      <a:r>
                        <a:rPr sz="1000" b="0">
                          <a:solidFill>
                            <a:srgbClr val="1F2A44"/>
                          </a:solidFill>
                          <a:latin typeface="Calibri"/>
                        </a:rPr>
                        <a:t>One index per layer, Hyde Park weights</a:t>
                      </a:r>
                    </a:p>
                  </a:txBody>
                  <a:tcPr marL="54864" marR="54864" marT="27432" marB="27432" anchor="ctr">
                    <a:solidFill>
                      <a:srgbClr val="FFFFFF"/>
                    </a:solidFill>
                  </a:tcPr>
                </a:tc>
                <a:tc>
                  <a:txBody>
                    <a:bodyPr/>
                    <a:lstStyle/>
                    <a:p>
                      <a:r>
                        <a:rPr sz="1000" b="0">
                          <a:solidFill>
                            <a:srgbClr val="1F2A44"/>
                          </a:solidFill>
                          <a:latin typeface="Calibri"/>
                        </a:rPr>
                        <a:t>Rev 3 loaded layers</a:t>
                      </a:r>
                    </a:p>
                  </a:txBody>
                  <a:tcPr marL="54864" marR="54864" marT="27432" marB="27432" anchor="ctr">
                    <a:solidFill>
                      <a:srgbClr val="FFFFFF"/>
                    </a:solidFill>
                  </a:tcPr>
                </a:tc>
                <a:tc>
                  <a:txBody>
                    <a:bodyPr/>
                    <a:lstStyle/>
                    <a:p>
                      <a:pPr algn="r"/>
                      <a:r>
                        <a:rPr sz="1000" b="0">
                          <a:solidFill>
                            <a:srgbClr val="1F2A44"/>
                          </a:solidFill>
                          <a:latin typeface="Calibri"/>
                        </a:rPr>
                        <a:t>$746</a:t>
                      </a:r>
                    </a:p>
                  </a:txBody>
                  <a:tcPr marL="54864" marR="54864" marT="27432" marB="27432" anchor="ctr">
                    <a:solidFill>
                      <a:srgbClr val="FFFFFF"/>
                    </a:solidFill>
                  </a:tcPr>
                </a:tc>
                <a:tc>
                  <a:txBody>
                    <a:bodyPr/>
                    <a:lstStyle/>
                    <a:p>
                      <a:pPr algn="r"/>
                      <a:r>
                        <a:rPr sz="1000" b="0">
                          <a:solidFill>
                            <a:srgbClr val="1F2A44"/>
                          </a:solidFill>
                          <a:latin typeface="Calibri"/>
                        </a:rPr>
                        <a:t>57%</a:t>
                      </a:r>
                    </a:p>
                  </a:txBody>
                  <a:tcPr marL="54864" marR="54864" marT="27432" marB="27432" anchor="ctr">
                    <a:solidFill>
                      <a:srgbClr val="FFFFFF"/>
                    </a:solidFill>
                  </a:tcPr>
                </a:tc>
                <a:tc>
                  <a:txBody>
                    <a:bodyPr/>
                    <a:lstStyle/>
                    <a:p>
                      <a:pPr algn="r"/>
                      <a:r>
                        <a:rPr sz="1000" b="0">
                          <a:solidFill>
                            <a:srgbClr val="1F2A44"/>
                          </a:solidFill>
                          <a:latin typeface="Calibri"/>
                        </a:rPr>
                        <a:t>77%</a:t>
                      </a:r>
                    </a:p>
                  </a:txBody>
                  <a:tcPr marL="54864" marR="54864" marT="27432" marB="27432" anchor="ctr">
                    <a:solidFill>
                      <a:srgbClr val="FFFFFF"/>
                    </a:solidFill>
                  </a:tcPr>
                </a:tc>
                <a:tc>
                  <a:txBody>
                    <a:bodyPr/>
                    <a:lstStyle/>
                    <a:p>
                      <a:pPr algn="r"/>
                      <a:r>
                        <a:rPr sz="1000" b="0">
                          <a:solidFill>
                            <a:srgbClr val="1F2A44"/>
                          </a:solidFill>
                          <a:latin typeface="Calibri"/>
                        </a:rPr>
                        <a:t>$853</a:t>
                      </a:r>
                    </a:p>
                  </a:txBody>
                  <a:tcPr marL="54864" marR="54864" marT="27432" marB="27432" anchor="ctr">
                    <a:solidFill>
                      <a:srgbClr val="FFFFFF"/>
                    </a:solidFill>
                  </a:tcPr>
                </a:tc>
                <a:tc>
                  <a:txBody>
                    <a:bodyPr/>
                    <a:lstStyle/>
                    <a:p>
                      <a:pPr algn="r"/>
                      <a:r>
                        <a:rPr sz="1000" b="0">
                          <a:solidFill>
                            <a:srgbClr val="1F2A44"/>
                          </a:solidFill>
                          <a:latin typeface="Calibri"/>
                        </a:rPr>
                        <a:t>68%</a:t>
                      </a:r>
                    </a:p>
                  </a:txBody>
                  <a:tcPr marL="54864" marR="54864" marT="27432" marB="27432" anchor="ctr">
                    <a:solidFill>
                      <a:srgbClr val="FFFFFF"/>
                    </a:solidFill>
                  </a:tcPr>
                </a:tc>
              </a:tr>
              <a:tr h="360680">
                <a:tc>
                  <a:txBody>
                    <a:bodyPr/>
                    <a:lstStyle/>
                    <a:p>
                      <a:r>
                        <a:rPr sz="1000" b="0">
                          <a:solidFill>
                            <a:srgbClr val="1F2A44"/>
                          </a:solidFill>
                          <a:latin typeface="Calibri"/>
                        </a:rPr>
                        <a:t>Layer method, BNEF pack for the battery</a:t>
                      </a:r>
                    </a:p>
                  </a:txBody>
                  <a:tcPr marL="54864" marR="54864" marT="27432" marB="27432" anchor="ctr">
                    <a:solidFill>
                      <a:srgbClr val="F2F4F8"/>
                    </a:solidFill>
                  </a:tcPr>
                </a:tc>
                <a:tc>
                  <a:txBody>
                    <a:bodyPr/>
                    <a:lstStyle/>
                    <a:p>
                      <a:r>
                        <a:rPr sz="1000" b="0">
                          <a:solidFill>
                            <a:srgbClr val="1F2A44"/>
                          </a:solidFill>
                          <a:latin typeface="Calibri"/>
                        </a:rPr>
                        <a:t>sensitivity</a:t>
                      </a:r>
                    </a:p>
                  </a:txBody>
                  <a:tcPr marL="54864" marR="54864" marT="27432" marB="27432" anchor="ctr">
                    <a:solidFill>
                      <a:srgbClr val="F2F4F8"/>
                    </a:solidFill>
                  </a:tcPr>
                </a:tc>
                <a:tc>
                  <a:txBody>
                    <a:bodyPr/>
                    <a:lstStyle/>
                    <a:p>
                      <a:pPr algn="r"/>
                      <a:r>
                        <a:rPr sz="1000" b="0">
                          <a:solidFill>
                            <a:srgbClr val="1F2A44"/>
                          </a:solidFill>
                          <a:latin typeface="Calibri"/>
                        </a:rPr>
                        <a:t>$680</a:t>
                      </a:r>
                    </a:p>
                  </a:txBody>
                  <a:tcPr marL="54864" marR="54864" marT="27432" marB="27432" anchor="ctr">
                    <a:solidFill>
                      <a:srgbClr val="F2F4F8"/>
                    </a:solidFill>
                  </a:tcPr>
                </a:tc>
                <a:tc>
                  <a:txBody>
                    <a:bodyPr/>
                    <a:lstStyle/>
                    <a:p>
                      <a:pPr algn="r"/>
                      <a:r>
                        <a:rPr sz="1000" b="0">
                          <a:solidFill>
                            <a:srgbClr val="1F2A44"/>
                          </a:solidFill>
                          <a:latin typeface="Calibri"/>
                        </a:rPr>
                        <a:t>63%</a:t>
                      </a:r>
                    </a:p>
                  </a:txBody>
                  <a:tcPr marL="54864" marR="54864" marT="27432" marB="27432" anchor="ctr">
                    <a:solidFill>
                      <a:srgbClr val="F2F4F8"/>
                    </a:solidFill>
                  </a:tcPr>
                </a:tc>
                <a:tc>
                  <a:txBody>
                    <a:bodyPr/>
                    <a:lstStyle/>
                    <a:p>
                      <a:pPr algn="r"/>
                      <a:r>
                        <a:rPr sz="1000" b="0">
                          <a:solidFill>
                            <a:srgbClr val="1F2A44"/>
                          </a:solidFill>
                          <a:latin typeface="Calibri"/>
                        </a:rPr>
                        <a:t>83%</a:t>
                      </a:r>
                    </a:p>
                  </a:txBody>
                  <a:tcPr marL="54864" marR="54864" marT="27432" marB="27432" anchor="ctr">
                    <a:solidFill>
                      <a:srgbClr val="F2F4F8"/>
                    </a:solidFill>
                  </a:tcPr>
                </a:tc>
                <a:tc>
                  <a:txBody>
                    <a:bodyPr/>
                    <a:lstStyle/>
                    <a:p>
                      <a:pPr algn="r"/>
                      <a:r>
                        <a:rPr sz="1000" b="0">
                          <a:solidFill>
                            <a:srgbClr val="1F2A44"/>
                          </a:solidFill>
                          <a:latin typeface="Calibri"/>
                        </a:rPr>
                        <a:t>$832</a:t>
                      </a:r>
                    </a:p>
                  </a:txBody>
                  <a:tcPr marL="54864" marR="54864" marT="27432" marB="27432" anchor="ctr">
                    <a:solidFill>
                      <a:srgbClr val="F2F4F8"/>
                    </a:solidFill>
                  </a:tcPr>
                </a:tc>
                <a:tc>
                  <a:txBody>
                    <a:bodyPr/>
                    <a:lstStyle/>
                    <a:p>
                      <a:pPr algn="r"/>
                      <a:r>
                        <a:rPr sz="1000" b="0">
                          <a:solidFill>
                            <a:srgbClr val="1F2A44"/>
                          </a:solidFill>
                          <a:latin typeface="Calibri"/>
                        </a:rPr>
                        <a:t>76%</a:t>
                      </a:r>
                    </a:p>
                  </a:txBody>
                  <a:tcPr marL="54864" marR="54864" marT="27432" marB="27432" anchor="ctr">
                    <a:solidFill>
                      <a:srgbClr val="F2F4F8"/>
                    </a:solidFill>
                  </a:tcPr>
                </a:tc>
              </a:tr>
              <a:tr h="360680">
                <a:tc>
                  <a:txBody>
                    <a:bodyPr/>
                    <a:lstStyle/>
                    <a:p>
                      <a:r>
                        <a:rPr sz="1000" b="0">
                          <a:solidFill>
                            <a:srgbClr val="1F2A44"/>
                          </a:solidFill>
                          <a:latin typeface="Calibri"/>
                        </a:rPr>
                        <a:t>Layer method, BNEF turnkey for the battery</a:t>
                      </a:r>
                    </a:p>
                  </a:txBody>
                  <a:tcPr marL="54864" marR="54864" marT="27432" marB="27432" anchor="ctr">
                    <a:solidFill>
                      <a:srgbClr val="FFFFFF"/>
                    </a:solidFill>
                  </a:tcPr>
                </a:tc>
                <a:tc>
                  <a:txBody>
                    <a:bodyPr/>
                    <a:lstStyle/>
                    <a:p>
                      <a:r>
                        <a:rPr sz="1000" b="0">
                          <a:solidFill>
                            <a:srgbClr val="1F2A44"/>
                          </a:solidFill>
                          <a:latin typeface="Calibri"/>
                        </a:rPr>
                        <a:t>sensitivity</a:t>
                      </a:r>
                    </a:p>
                  </a:txBody>
                  <a:tcPr marL="54864" marR="54864" marT="27432" marB="27432" anchor="ctr">
                    <a:solidFill>
                      <a:srgbClr val="FFFFFF"/>
                    </a:solidFill>
                  </a:tcPr>
                </a:tc>
                <a:tc>
                  <a:txBody>
                    <a:bodyPr/>
                    <a:lstStyle/>
                    <a:p>
                      <a:pPr algn="r"/>
                      <a:r>
                        <a:rPr sz="1000" b="0">
                          <a:solidFill>
                            <a:srgbClr val="1F2A44"/>
                          </a:solidFill>
                          <a:latin typeface="Calibri"/>
                        </a:rPr>
                        <a:t>$585</a:t>
                      </a:r>
                    </a:p>
                  </a:txBody>
                  <a:tcPr marL="54864" marR="54864" marT="27432" marB="27432" anchor="ctr">
                    <a:solidFill>
                      <a:srgbClr val="FFFFFF"/>
                    </a:solidFill>
                  </a:tcPr>
                </a:tc>
                <a:tc>
                  <a:txBody>
                    <a:bodyPr/>
                    <a:lstStyle/>
                    <a:p>
                      <a:pPr algn="r"/>
                      <a:r>
                        <a:rPr sz="1000" b="0">
                          <a:solidFill>
                            <a:srgbClr val="1F2A44"/>
                          </a:solidFill>
                          <a:latin typeface="Calibri"/>
                        </a:rPr>
                        <a:t>63%</a:t>
                      </a:r>
                    </a:p>
                  </a:txBody>
                  <a:tcPr marL="54864" marR="54864" marT="27432" marB="27432" anchor="ctr">
                    <a:solidFill>
                      <a:srgbClr val="FFFFFF"/>
                    </a:solidFill>
                  </a:tcPr>
                </a:tc>
                <a:tc>
                  <a:txBody>
                    <a:bodyPr/>
                    <a:lstStyle/>
                    <a:p>
                      <a:pPr algn="r"/>
                      <a:r>
                        <a:rPr sz="1000" b="0">
                          <a:solidFill>
                            <a:srgbClr val="1F2A44"/>
                          </a:solidFill>
                          <a:latin typeface="Calibri"/>
                        </a:rPr>
                        <a:t>89%</a:t>
                      </a:r>
                    </a:p>
                  </a:txBody>
                  <a:tcPr marL="54864" marR="54864" marT="27432" marB="27432" anchor="ctr">
                    <a:solidFill>
                      <a:srgbClr val="FFFFFF"/>
                    </a:solidFill>
                  </a:tcPr>
                </a:tc>
                <a:tc>
                  <a:txBody>
                    <a:bodyPr/>
                    <a:lstStyle/>
                    <a:p>
                      <a:pPr algn="r"/>
                      <a:r>
                        <a:rPr sz="1000" b="0">
                          <a:solidFill>
                            <a:srgbClr val="1F2A44"/>
                          </a:solidFill>
                          <a:latin typeface="Calibri"/>
                        </a:rPr>
                        <a:t>$770</a:t>
                      </a:r>
                    </a:p>
                  </a:txBody>
                  <a:tcPr marL="54864" marR="54864" marT="27432" marB="27432" anchor="ctr">
                    <a:solidFill>
                      <a:srgbClr val="FFFFFF"/>
                    </a:solidFill>
                  </a:tcPr>
                </a:tc>
                <a:tc>
                  <a:txBody>
                    <a:bodyPr/>
                    <a:lstStyle/>
                    <a:p>
                      <a:pPr algn="r"/>
                      <a:r>
                        <a:rPr sz="1000" b="0">
                          <a:solidFill>
                            <a:srgbClr val="1F2A44"/>
                          </a:solidFill>
                          <a:latin typeface="Calibri"/>
                        </a:rPr>
                        <a:t>84%</a:t>
                      </a:r>
                    </a:p>
                  </a:txBody>
                  <a:tcPr marL="54864" marR="54864" marT="27432" marB="27432" anchor="ctr">
                    <a:solidFill>
                      <a:srgbClr val="FFFFFF"/>
                    </a:solidFill>
                  </a:tcPr>
                </a:tc>
              </a:tr>
              <a:tr h="360680">
                <a:tc>
                  <a:txBody>
                    <a:bodyPr/>
                    <a:lstStyle/>
                    <a:p>
                      <a:r>
                        <a:rPr sz="1000" b="0">
                          <a:solidFill>
                            <a:srgbClr val="1F2A44"/>
                          </a:solidFill>
                          <a:latin typeface="Calibri"/>
                        </a:rPr>
                        <a:t>Earlier version: today's 40% share held fixed</a:t>
                      </a:r>
                    </a:p>
                  </a:txBody>
                  <a:tcPr marL="54864" marR="54864" marT="27432" marB="27432" anchor="ctr">
                    <a:solidFill>
                      <a:srgbClr val="F2F4F8"/>
                    </a:solidFill>
                  </a:tcPr>
                </a:tc>
                <a:tc>
                  <a:txBody>
                    <a:bodyPr/>
                    <a:lstStyle/>
                    <a:p>
                      <a:r>
                        <a:rPr sz="1000" b="0">
                          <a:solidFill>
                            <a:srgbClr val="1F2A44"/>
                          </a:solidFill>
                          <a:latin typeface="Calibri"/>
                        </a:rPr>
                        <a:t>superseded 5 Oct 2026</a:t>
                      </a:r>
                    </a:p>
                  </a:txBody>
                  <a:tcPr marL="54864" marR="54864" marT="27432" marB="27432" anchor="ctr">
                    <a:solidFill>
                      <a:srgbClr val="F2F4F8"/>
                    </a:solidFill>
                  </a:tcPr>
                </a:tc>
                <a:tc>
                  <a:txBody>
                    <a:bodyPr/>
                    <a:lstStyle/>
                    <a:p>
                      <a:pPr algn="r"/>
                      <a:r>
                        <a:rPr sz="1000" b="0">
                          <a:solidFill>
                            <a:srgbClr val="1F2A44"/>
                          </a:solidFill>
                          <a:latin typeface="Calibri"/>
                        </a:rPr>
                        <a:t>$838</a:t>
                      </a:r>
                    </a:p>
                  </a:txBody>
                  <a:tcPr marL="54864" marR="54864" marT="27432" marB="27432" anchor="ctr">
                    <a:solidFill>
                      <a:srgbClr val="F2F4F8"/>
                    </a:solidFill>
                  </a:tcPr>
                </a:tc>
                <a:tc>
                  <a:txBody>
                    <a:bodyPr/>
                    <a:lstStyle/>
                    <a:p>
                      <a:pPr algn="r"/>
                      <a:r>
                        <a:rPr sz="1000" b="0">
                          <a:solidFill>
                            <a:srgbClr val="1F2A44"/>
                          </a:solidFill>
                          <a:latin typeface="Calibri"/>
                        </a:rPr>
                        <a:t>49%</a:t>
                      </a:r>
                    </a:p>
                  </a:txBody>
                  <a:tcPr marL="54864" marR="54864" marT="27432" marB="27432" anchor="ctr">
                    <a:solidFill>
                      <a:srgbClr val="F2F4F8"/>
                    </a:solidFill>
                  </a:tcPr>
                </a:tc>
                <a:tc>
                  <a:txBody>
                    <a:bodyPr/>
                    <a:lstStyle/>
                    <a:p>
                      <a:pPr algn="r"/>
                      <a:r>
                        <a:rPr sz="1000" b="0">
                          <a:solidFill>
                            <a:srgbClr val="1F2A44"/>
                          </a:solidFill>
                          <a:latin typeface="Calibri"/>
                        </a:rPr>
                        <a:t>71%</a:t>
                      </a:r>
                    </a:p>
                  </a:txBody>
                  <a:tcPr marL="54864" marR="54864" marT="27432" marB="27432" anchor="ctr">
                    <a:solidFill>
                      <a:srgbClr val="F2F4F8"/>
                    </a:solidFill>
                  </a:tcPr>
                </a:tc>
                <a:tc>
                  <a:txBody>
                    <a:bodyPr/>
                    <a:lstStyle/>
                    <a:p>
                      <a:pPr algn="r"/>
                      <a:r>
                        <a:rPr sz="1000" b="0">
                          <a:solidFill>
                            <a:srgbClr val="1F2A44"/>
                          </a:solidFill>
                          <a:latin typeface="Calibri"/>
                        </a:rPr>
                        <a:t>$1,285</a:t>
                      </a:r>
                    </a:p>
                  </a:txBody>
                  <a:tcPr marL="54864" marR="54864" marT="27432" marB="27432" anchor="ctr">
                    <a:solidFill>
                      <a:srgbClr val="F2F4F8"/>
                    </a:solidFill>
                  </a:tcPr>
                </a:tc>
                <a:tc>
                  <a:txBody>
                    <a:bodyPr/>
                    <a:lstStyle/>
                    <a:p>
                      <a:pPr algn="r"/>
                      <a:r>
                        <a:rPr sz="1000" b="0">
                          <a:solidFill>
                            <a:srgbClr val="1F2A44"/>
                          </a:solidFill>
                          <a:latin typeface="Calibri"/>
                        </a:rPr>
                        <a:t>60%</a:t>
                      </a:r>
                    </a:p>
                  </a:txBody>
                  <a:tcPr marL="54864" marR="54864" marT="27432" marB="27432" anchor="ctr">
                    <a:solidFill>
                      <a:srgbClr val="F2F4F8"/>
                    </a:solidFill>
                  </a:tcPr>
                </a:tc>
              </a:tr>
            </a:tbl>
          </a:graphicData>
        </a:graphic>
      </p:graphicFrame>
      <p:sp>
        <p:nvSpPr>
          <p:cNvPr id="8" name="Rectangle 7"/>
          <p:cNvSpPr/>
          <p:nvPr/>
        </p:nvSpPr>
        <p:spPr>
          <a:xfrm>
            <a:off x="548640" y="4709160"/>
            <a:ext cx="6675120" cy="16916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727448"/>
            <a:ext cx="6400800" cy="274320"/>
          </a:xfrm>
          <a:prstGeom prst="rect">
            <a:avLst/>
          </a:prstGeom>
          <a:noFill/>
        </p:spPr>
        <p:txBody>
          <a:bodyPr wrap="square" lIns="45720" rIns="45720" tIns="27432" bIns="27432" anchor="t">
            <a:spAutoFit/>
          </a:bodyPr>
          <a:lstStyle/>
          <a:p>
            <a:pPr algn="l">
              <a:lnSpc>
                <a:spcPct val="105000"/>
              </a:lnSpc>
              <a:spcAft>
                <a:spcPts val="400"/>
              </a:spcAft>
            </a:pPr>
            <a:r>
              <a:rPr sz="1150" b="1" i="0">
                <a:solidFill>
                  <a:srgbClr val="001E60"/>
                </a:solidFill>
                <a:latin typeface="Calibri"/>
              </a:rPr>
              <a:t>How to scale any published BESS cost to 2026 (the workbook tab does it)</a:t>
            </a:r>
          </a:p>
        </p:txBody>
      </p:sp>
      <p:sp>
        <p:nvSpPr>
          <p:cNvPr id="10" name="TextBox 9"/>
          <p:cNvSpPr txBox="1"/>
          <p:nvPr/>
        </p:nvSpPr>
        <p:spPr>
          <a:xfrm>
            <a:off x="685800" y="4956048"/>
            <a:ext cx="6400800" cy="1417320"/>
          </a:xfrm>
          <a:prstGeom prst="rect">
            <a:avLst/>
          </a:prstGeom>
          <a:noFill/>
        </p:spPr>
        <p:txBody>
          <a:bodyPr wrap="square" lIns="45720">
            <a:spAutoFit/>
          </a:bodyPr>
          <a:lstStyle/>
          <a:p>
            <a:pPr>
              <a:lnSpc>
                <a:spcPct val="105000"/>
              </a:lnSpc>
              <a:spcAft>
                <a:spcPts val="200"/>
              </a:spcAft>
            </a:pPr>
            <a:r>
              <a:rPr sz="950">
                <a:solidFill>
                  <a:srgbClr val="FFC72C"/>
                </a:solidFill>
                <a:latin typeface="Calibri"/>
              </a:rPr>
              <a:t>▪  </a:t>
            </a:r>
            <a:r>
              <a:rPr b="1" sz="950">
                <a:solidFill>
                  <a:srgbClr val="1F2A44"/>
                </a:solidFill>
                <a:latin typeface="Calibri"/>
              </a:rPr>
              <a:t>1. Fix the dollar year and the scope boundary. </a:t>
            </a:r>
            <a:r>
              <a:rPr sz="950">
                <a:solidFill>
                  <a:srgbClr val="1F2A44"/>
                </a:solidFill>
                <a:latin typeface="Calibri"/>
              </a:rPr>
              <a:t>Contract, installed, station or all-in; real or nominal; which year's survey.</a:t>
            </a:r>
          </a:p>
          <a:p>
            <a:pPr>
              <a:lnSpc>
                <a:spcPct val="105000"/>
              </a:lnSpc>
              <a:spcAft>
                <a:spcPts val="200"/>
              </a:spcAft>
            </a:pPr>
            <a:r>
              <a:rPr sz="950">
                <a:solidFill>
                  <a:srgbClr val="FFC72C"/>
                </a:solidFill>
                <a:latin typeface="Calibri"/>
              </a:rPr>
              <a:t>▪  </a:t>
            </a:r>
            <a:r>
              <a:rPr b="1" sz="950">
                <a:solidFill>
                  <a:srgbClr val="1F2A44"/>
                </a:solidFill>
                <a:latin typeface="Calibri"/>
              </a:rPr>
              <a:t>2. Fix the battery share in today's prices, then back-cast it. </a:t>
            </a:r>
            <a:r>
              <a:rPr sz="950">
                <a:solidFill>
                  <a:srgbClr val="1F2A44"/>
                </a:solidFill>
                <a:latin typeface="Calibri"/>
              </a:rPr>
              <a:t>40% for an all-in utility project, 55% for a developer site; the two indices tell you what that share was in the project's year (about three quarters in 2016).</a:t>
            </a:r>
          </a:p>
          <a:p>
            <a:pPr>
              <a:lnSpc>
                <a:spcPct val="105000"/>
              </a:lnSpc>
              <a:spcAft>
                <a:spcPts val="200"/>
              </a:spcAft>
            </a:pPr>
            <a:r>
              <a:rPr sz="950">
                <a:solidFill>
                  <a:srgbClr val="FFC72C"/>
                </a:solidFill>
                <a:latin typeface="Calibri"/>
              </a:rPr>
              <a:t>▪  </a:t>
            </a:r>
            <a:r>
              <a:rPr b="1" sz="950">
                <a:solidFill>
                  <a:srgbClr val="1F2A44"/>
                </a:solidFill>
                <a:latin typeface="Calibri"/>
              </a:rPr>
              <a:t>3. Apply a battery index to the battery share and a construction or layer index to the rest, holding quantities fixed. </a:t>
            </a:r>
            <a:r>
              <a:rPr sz="950">
                <a:solidFill>
                  <a:srgbClr val="1F2A44"/>
                </a:solidFill>
                <a:latin typeface="Calibri"/>
              </a:rPr>
              <a:t>Never one index to the whole cost, and never today's shares on yesterday's prices.</a:t>
            </a:r>
          </a:p>
        </p:txBody>
      </p:sp>
      <p:sp>
        <p:nvSpPr>
          <p:cNvPr id="11" name="TextBox 10"/>
          <p:cNvSpPr txBox="1"/>
          <p:nvPr/>
        </p:nvSpPr>
        <p:spPr>
          <a:xfrm>
            <a:off x="7406640" y="4709160"/>
            <a:ext cx="4297680" cy="1691640"/>
          </a:xfrm>
          <a:prstGeom prst="rect">
            <a:avLst/>
          </a:prstGeom>
          <a:noFill/>
        </p:spPr>
        <p:txBody>
          <a:bodyPr wrap="square" lIns="45720">
            <a:spAutoFit/>
          </a:bodyPr>
          <a:lstStyle/>
          <a:p>
            <a:pPr>
              <a:lnSpc>
                <a:spcPct val="105000"/>
              </a:lnSpc>
              <a:spcAft>
                <a:spcPts val="400"/>
              </a:spcAft>
            </a:pPr>
            <a:r>
              <a:rPr sz="1050">
                <a:solidFill>
                  <a:srgbClr val="FFC72C"/>
                </a:solidFill>
                <a:latin typeface="Calibri"/>
              </a:rPr>
              <a:t>▪  </a:t>
            </a:r>
            <a:r>
              <a:rPr b="1" sz="1050">
                <a:solidFill>
                  <a:srgbClr val="1F2A44"/>
                </a:solidFill>
                <a:latin typeface="Calibri"/>
              </a:rPr>
              <a:t>Method spread: </a:t>
            </a:r>
            <a:r>
              <a:rPr sz="1050">
                <a:solidFill>
                  <a:srgbClr val="1F2A44"/>
                </a:solidFill>
                <a:latin typeface="Calibri"/>
              </a:rPr>
              <a:t>$742 to $746 across the three defensible methods; $549 for the naive one.</a:t>
            </a:r>
          </a:p>
          <a:p>
            <a:pPr>
              <a:lnSpc>
                <a:spcPct val="105000"/>
              </a:lnSpc>
              <a:spcAft>
                <a:spcPts val="400"/>
              </a:spcAft>
            </a:pPr>
            <a:r>
              <a:rPr sz="1050">
                <a:solidFill>
                  <a:srgbClr val="FFC72C"/>
                </a:solidFill>
                <a:latin typeface="Calibri"/>
              </a:rPr>
              <a:t>▪  </a:t>
            </a:r>
            <a:r>
              <a:rPr b="1" sz="1050">
                <a:solidFill>
                  <a:srgbClr val="1F2A44"/>
                </a:solidFill>
                <a:latin typeface="Calibri"/>
              </a:rPr>
              <a:t>Hyde Park: </a:t>
            </a:r>
            <a:r>
              <a:rPr sz="1050">
                <a:solidFill>
                  <a:srgbClr val="1F2A44"/>
                </a:solidFill>
                <a:latin typeface="Calibri"/>
              </a:rPr>
              <a:t>installed 57% to 60% percentile, station 77% to 77%, under every defensible method.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WHY A SMALL URBAN UTILITY-OWNED PROJECT SITS ABOVE THE INDEX</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Six things about Hyde Park that a 100 MW greenfield benchmark never has to pay for</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19</a:t>
            </a:r>
          </a:p>
        </p:txBody>
      </p:sp>
      <p:sp>
        <p:nvSpPr>
          <p:cNvPr id="7" name="Rectangle 6"/>
          <p:cNvSpPr/>
          <p:nvPr/>
        </p:nvSpPr>
        <p:spPr>
          <a:xfrm>
            <a:off x="548640" y="1417320"/>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417320"/>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08760"/>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Size. </a:t>
            </a:r>
            <a:r>
              <a:rPr sz="1350" b="0" i="0">
                <a:solidFill>
                  <a:srgbClr val="1F2A44"/>
                </a:solidFill>
                <a:latin typeface="Calibri"/>
              </a:rPr>
              <a:t>10 MW / 20 MWh. A switching station, a siting case and a commissioning team cost about the same at 10 MW as at 100 MW; per kWh they are ten times heavier.</a:t>
            </a:r>
          </a:p>
        </p:txBody>
      </p:sp>
      <p:sp>
        <p:nvSpPr>
          <p:cNvPr id="10" name="Rectangle 9"/>
          <p:cNvSpPr/>
          <p:nvPr/>
        </p:nvSpPr>
        <p:spPr>
          <a:xfrm>
            <a:off x="6217920" y="1417320"/>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417320"/>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508760"/>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Duration. </a:t>
            </a:r>
            <a:r>
              <a:rPr sz="1350" b="0" i="0">
                <a:solidFill>
                  <a:srgbClr val="1F2A44"/>
                </a:solidFill>
                <a:latin typeface="Calibri"/>
              </a:rPr>
              <a:t>Two hours. Fixed $/kW items (PCS, breakers, GSUs, interconnection) are spread over half the MWh of a four-hour benchmark.</a:t>
            </a:r>
          </a:p>
        </p:txBody>
      </p:sp>
      <p:sp>
        <p:nvSpPr>
          <p:cNvPr id="13" name="Rectangle 12"/>
          <p:cNvSpPr/>
          <p:nvPr/>
        </p:nvSpPr>
        <p:spPr>
          <a:xfrm>
            <a:off x="548640" y="2990088"/>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990088"/>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081528"/>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Site. </a:t>
            </a:r>
            <a:r>
              <a:rPr sz="1350" b="0" i="0">
                <a:solidFill>
                  <a:srgbClr val="1F2A44"/>
                </a:solidFill>
                <a:latin typeface="Calibri"/>
              </a:rPr>
              <a:t>A closed construction-debris landfill in Boston: DEP post-closure use permit, cap protection, 36 borings, imported platform fill, 14 ft retaining wall, unknown obstructions ($450K risk).</a:t>
            </a:r>
          </a:p>
        </p:txBody>
      </p:sp>
      <p:sp>
        <p:nvSpPr>
          <p:cNvPr id="16" name="Rectangle 15"/>
          <p:cNvSpPr/>
          <p:nvPr/>
        </p:nvSpPr>
        <p:spPr>
          <a:xfrm>
            <a:off x="6217920" y="2990088"/>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2990088"/>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3081528"/>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Interconnection. </a:t>
            </a:r>
            <a:r>
              <a:rPr sz="1350" b="0" i="0">
                <a:solidFill>
                  <a:srgbClr val="1F2A44"/>
                </a:solidFill>
                <a:latin typeface="Calibri"/>
              </a:rPr>
              <a:t>Four feeder tie-ins at 13.8 kV, each with its own breaker skid, plus relay replacement and transfer trip at Station 496 ($7.3M) and a 5,465 ft circuit extension (24211).</a:t>
            </a:r>
          </a:p>
        </p:txBody>
      </p:sp>
      <p:sp>
        <p:nvSpPr>
          <p:cNvPr id="19" name="Rectangle 18"/>
          <p:cNvSpPr/>
          <p:nvPr/>
        </p:nvSpPr>
        <p:spPr>
          <a:xfrm>
            <a:off x="548640" y="4562856"/>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4562856"/>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654296"/>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Siting and outreach. </a:t>
            </a:r>
            <a:r>
              <a:rPr sz="1350" b="0" i="0">
                <a:solidFill>
                  <a:srgbClr val="1F2A44"/>
                </a:solidFill>
                <a:latin typeface="Calibri"/>
              </a:rPr>
              <a:t>Article 80 Small Project Review, Zoning Board of Appeal, outside counsel, an EJ community, a neighborhood concerned about open land and views: $1.5M plus $0.5M in the risk register.</a:t>
            </a:r>
          </a:p>
        </p:txBody>
      </p:sp>
      <p:sp>
        <p:nvSpPr>
          <p:cNvPr id="22" name="Rectangle 21"/>
          <p:cNvSpPr/>
          <p:nvPr/>
        </p:nvSpPr>
        <p:spPr>
          <a:xfrm>
            <a:off x="6217920" y="4562856"/>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17920" y="4562856"/>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4654296"/>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Utility accounting. </a:t>
            </a:r>
            <a:r>
              <a:rPr sz="1350" b="0" i="0">
                <a:solidFill>
                  <a:srgbClr val="1F2A44"/>
                </a:solidFill>
                <a:latin typeface="Calibri"/>
              </a:rPr>
              <a:t>Corporate indirects ($10.0M) and AFUDC over a seven-year development window ($5.0M) are real costs to customers that a developer's turnkey price never shows.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COST HISTORY, 2021 TO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Five years, five in-service dates, and an estimate that moved from $44M to $57M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20</a:t>
            </a:r>
          </a:p>
        </p:txBody>
      </p:sp>
      <p:graphicFrame>
        <p:nvGraphicFramePr>
          <p:cNvPr id="7" name="Chart 6"/>
          <p:cNvGraphicFramePr>
            <a:graphicFrameLocks noGrp="1"/>
          </p:cNvGraphicFramePr>
          <p:nvPr/>
        </p:nvGraphicFramePr>
        <p:xfrm>
          <a:off x="457200" y="1371600"/>
          <a:ext cx="7589520" cy="4846320"/>
        </p:xfrm>
        <a:graphic>
          <a:graphicData uri="http://schemas.openxmlformats.org/drawingml/2006/chart">
            <c:chart xmlns:c="http://schemas.openxmlformats.org/drawingml/2006/chart" r:id="rId2"/>
          </a:graphicData>
        </a:graphic>
      </p:graphicFrame>
      <p:sp>
        <p:nvSpPr>
          <p:cNvPr id="8" name="TextBox 7"/>
          <p:cNvSpPr txBox="1"/>
          <p:nvPr/>
        </p:nvSpPr>
        <p:spPr>
          <a:xfrm>
            <a:off x="8229600" y="1417320"/>
            <a:ext cx="347472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In-service date drift</a:t>
            </a:r>
          </a:p>
        </p:txBody>
      </p:sp>
      <p:graphicFrame>
        <p:nvGraphicFramePr>
          <p:cNvPr id="9" name="Table 8"/>
          <p:cNvGraphicFramePr>
            <a:graphicFrameLocks noGrp="1"/>
          </p:cNvGraphicFramePr>
          <p:nvPr/>
        </p:nvGraphicFramePr>
        <p:xfrm>
          <a:off x="8229600" y="1783080"/>
          <a:ext cx="3474720" cy="2103120"/>
        </p:xfrm>
        <a:graphic>
          <a:graphicData uri="http://schemas.openxmlformats.org/drawingml/2006/table">
            <a:tbl>
              <a:tblPr firstRow="1" bandRow="1">
                <a:tableStyleId>{5C22544A-7EE6-4342-B048-85BDC9FD1C3A}</a:tableStyleId>
              </a:tblPr>
              <a:tblGrid>
                <a:gridCol w="1554480"/>
                <a:gridCol w="1920240"/>
              </a:tblGrid>
              <a:tr h="350520">
                <a:tc>
                  <a:txBody>
                    <a:bodyPr/>
                    <a:lstStyle/>
                    <a:p>
                      <a:r>
                        <a:rPr sz="1200" b="1">
                          <a:solidFill>
                            <a:srgbClr val="FFFFFF"/>
                          </a:solidFill>
                          <a:latin typeface="Calibri"/>
                        </a:rPr>
                        <a:t>As of</a:t>
                      </a:r>
                    </a:p>
                  </a:txBody>
                  <a:tcPr marL="54864" marR="54864" marT="27432" marB="27432">
                    <a:solidFill>
                      <a:srgbClr val="001E60"/>
                    </a:solidFill>
                  </a:tcPr>
                </a:tc>
                <a:tc>
                  <a:txBody>
                    <a:bodyPr/>
                    <a:lstStyle/>
                    <a:p>
                      <a:r>
                        <a:rPr sz="1200" b="1">
                          <a:solidFill>
                            <a:srgbClr val="FFFFFF"/>
                          </a:solidFill>
                          <a:latin typeface="Calibri"/>
                        </a:rPr>
                        <a:t>Planned ISD</a:t>
                      </a:r>
                    </a:p>
                  </a:txBody>
                  <a:tcPr marL="54864" marR="54864" marT="27432" marB="27432">
                    <a:solidFill>
                      <a:srgbClr val="001E60"/>
                    </a:solidFill>
                  </a:tcPr>
                </a:tc>
              </a:tr>
              <a:tr h="350520">
                <a:tc>
                  <a:txBody>
                    <a:bodyPr/>
                    <a:lstStyle/>
                    <a:p>
                      <a:r>
                        <a:rPr sz="1200" b="0">
                          <a:solidFill>
                            <a:srgbClr val="1F2A44"/>
                          </a:solidFill>
                          <a:latin typeface="Calibri"/>
                        </a:rPr>
                        <a:t>Jun 2021</a:t>
                      </a:r>
                    </a:p>
                  </a:txBody>
                  <a:tcPr marL="54864" marR="54864" marT="27432" marB="27432" anchor="ctr">
                    <a:solidFill>
                      <a:srgbClr val="FFFFFF"/>
                    </a:solidFill>
                  </a:tcPr>
                </a:tc>
                <a:tc>
                  <a:txBody>
                    <a:bodyPr/>
                    <a:lstStyle/>
                    <a:p>
                      <a:r>
                        <a:rPr sz="1200" b="0">
                          <a:solidFill>
                            <a:srgbClr val="1F2A44"/>
                          </a:solidFill>
                          <a:latin typeface="Calibri"/>
                        </a:rPr>
                        <a:t>Q3 2025</a:t>
                      </a:r>
                    </a:p>
                  </a:txBody>
                  <a:tcPr marL="54864" marR="54864" marT="27432" marB="27432" anchor="ctr">
                    <a:solidFill>
                      <a:srgbClr val="FFFFFF"/>
                    </a:solidFill>
                  </a:tcPr>
                </a:tc>
              </a:tr>
              <a:tr h="350520">
                <a:tc>
                  <a:txBody>
                    <a:bodyPr/>
                    <a:lstStyle/>
                    <a:p>
                      <a:r>
                        <a:rPr sz="1200" b="0">
                          <a:solidFill>
                            <a:srgbClr val="1F2A44"/>
                          </a:solidFill>
                          <a:latin typeface="Calibri"/>
                        </a:rPr>
                        <a:t>Dec 2023</a:t>
                      </a:r>
                    </a:p>
                  </a:txBody>
                  <a:tcPr marL="54864" marR="54864" marT="27432" marB="27432" anchor="ctr">
                    <a:solidFill>
                      <a:srgbClr val="F2F4F8"/>
                    </a:solidFill>
                  </a:tcPr>
                </a:tc>
                <a:tc>
                  <a:txBody>
                    <a:bodyPr/>
                    <a:lstStyle/>
                    <a:p>
                      <a:r>
                        <a:rPr sz="1200" b="0">
                          <a:solidFill>
                            <a:srgbClr val="1F2A44"/>
                          </a:solidFill>
                          <a:latin typeface="Calibri"/>
                        </a:rPr>
                        <a:t>Apr 2027</a:t>
                      </a:r>
                    </a:p>
                  </a:txBody>
                  <a:tcPr marL="54864" marR="54864" marT="27432" marB="27432" anchor="ctr">
                    <a:solidFill>
                      <a:srgbClr val="F2F4F8"/>
                    </a:solidFill>
                  </a:tcPr>
                </a:tc>
              </a:tr>
              <a:tr h="350520">
                <a:tc>
                  <a:txBody>
                    <a:bodyPr/>
                    <a:lstStyle/>
                    <a:p>
                      <a:r>
                        <a:rPr sz="1200" b="0">
                          <a:solidFill>
                            <a:srgbClr val="1F2A44"/>
                          </a:solidFill>
                          <a:latin typeface="Calibri"/>
                        </a:rPr>
                        <a:t>Feb 2024</a:t>
                      </a:r>
                    </a:p>
                  </a:txBody>
                  <a:tcPr marL="54864" marR="54864" marT="27432" marB="27432" anchor="ctr">
                    <a:solidFill>
                      <a:srgbClr val="FFFFFF"/>
                    </a:solidFill>
                  </a:tcPr>
                </a:tc>
                <a:tc>
                  <a:txBody>
                    <a:bodyPr/>
                    <a:lstStyle/>
                    <a:p>
                      <a:r>
                        <a:rPr sz="1200" b="0">
                          <a:solidFill>
                            <a:srgbClr val="1F2A44"/>
                          </a:solidFill>
                          <a:latin typeface="Calibri"/>
                        </a:rPr>
                        <a:t>Sep 2027</a:t>
                      </a:r>
                    </a:p>
                  </a:txBody>
                  <a:tcPr marL="54864" marR="54864" marT="27432" marB="27432" anchor="ctr">
                    <a:solidFill>
                      <a:srgbClr val="FFFFFF"/>
                    </a:solidFill>
                  </a:tcPr>
                </a:tc>
              </a:tr>
              <a:tr h="350520">
                <a:tc>
                  <a:txBody>
                    <a:bodyPr/>
                    <a:lstStyle/>
                    <a:p>
                      <a:r>
                        <a:rPr sz="1200" b="0">
                          <a:solidFill>
                            <a:srgbClr val="1F2A44"/>
                          </a:solidFill>
                          <a:latin typeface="Calibri"/>
                        </a:rPr>
                        <a:t>Jan 2026</a:t>
                      </a:r>
                    </a:p>
                  </a:txBody>
                  <a:tcPr marL="54864" marR="54864" marT="27432" marB="27432" anchor="ctr">
                    <a:solidFill>
                      <a:srgbClr val="F2F4F8"/>
                    </a:solidFill>
                  </a:tcPr>
                </a:tc>
                <a:tc>
                  <a:txBody>
                    <a:bodyPr/>
                    <a:lstStyle/>
                    <a:p>
                      <a:r>
                        <a:rPr sz="1200" b="0">
                          <a:solidFill>
                            <a:srgbClr val="1F2A44"/>
                          </a:solidFill>
                          <a:latin typeface="Calibri"/>
                        </a:rPr>
                        <a:t>Aug 2028</a:t>
                      </a:r>
                    </a:p>
                  </a:txBody>
                  <a:tcPr marL="54864" marR="54864" marT="27432" marB="27432" anchor="ctr">
                    <a:solidFill>
                      <a:srgbClr val="F2F4F8"/>
                    </a:solidFill>
                  </a:tcPr>
                </a:tc>
              </a:tr>
              <a:tr h="350520">
                <a:tc>
                  <a:txBody>
                    <a:bodyPr/>
                    <a:lstStyle/>
                    <a:p>
                      <a:r>
                        <a:rPr sz="1200" b="0">
                          <a:solidFill>
                            <a:srgbClr val="1F2A44"/>
                          </a:solidFill>
                          <a:latin typeface="Calibri"/>
                        </a:rPr>
                        <a:t>Jun 2026</a:t>
                      </a:r>
                    </a:p>
                  </a:txBody>
                  <a:tcPr marL="54864" marR="54864" marT="27432" marB="27432" anchor="ctr">
                    <a:solidFill>
                      <a:srgbClr val="FFFFFF"/>
                    </a:solidFill>
                  </a:tcPr>
                </a:tc>
                <a:tc>
                  <a:txBody>
                    <a:bodyPr/>
                    <a:lstStyle/>
                    <a:p>
                      <a:r>
                        <a:rPr sz="1200" b="0">
                          <a:solidFill>
                            <a:srgbClr val="1F2A44"/>
                          </a:solidFill>
                          <a:latin typeface="Calibri"/>
                        </a:rPr>
                        <a:t>Dec 2028</a:t>
                      </a:r>
                    </a:p>
                  </a:txBody>
                  <a:tcPr marL="54864" marR="54864" marT="27432" marB="27432" anchor="ctr">
                    <a:solidFill>
                      <a:srgbClr val="FFFFFF"/>
                    </a:solidFill>
                  </a:tcPr>
                </a:tc>
              </a:tr>
            </a:tbl>
          </a:graphicData>
        </a:graphic>
      </p:graphicFrame>
      <p:sp>
        <p:nvSpPr>
          <p:cNvPr id="10" name="TextBox 9"/>
          <p:cNvSpPr txBox="1"/>
          <p:nvPr/>
        </p:nvSpPr>
        <p:spPr>
          <a:xfrm>
            <a:off x="8229600" y="4069080"/>
            <a:ext cx="3474720" cy="219456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6B7280"/>
                </a:solidFill>
                <a:latin typeface="Calibri"/>
              </a:rPr>
              <a:t>Gold bars are vendor prices for the battery scope only. Navy bars are full project estimates. The battery price fell from $18.2M turnkey-indicative (2023, incl. civil) to $12.1M contracted (2026); the project rose $13.3M in the same window. The 2023 conceptual carried a placeholder that was never re-based until August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PAF CATEGORY COMPARISON, PROJECT 21334 ($M)</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changed between the December 2023 conceptual and Rev 3: $43.9M to $57.2M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21</a:t>
            </a:r>
          </a:p>
        </p:txBody>
      </p:sp>
      <p:graphicFrame>
        <p:nvGraphicFramePr>
          <p:cNvPr id="7" name="Chart 6"/>
          <p:cNvGraphicFramePr>
            <a:graphicFrameLocks noGrp="1"/>
          </p:cNvGraphicFramePr>
          <p:nvPr/>
        </p:nvGraphicFramePr>
        <p:xfrm>
          <a:off x="457200" y="1371600"/>
          <a:ext cx="7680960" cy="4846320"/>
        </p:xfrm>
        <a:graphic>
          <a:graphicData uri="http://schemas.openxmlformats.org/drawingml/2006/chart">
            <c:chart xmlns:c="http://schemas.openxmlformats.org/drawingml/2006/chart" r:id="rId2"/>
          </a:graphicData>
        </a:graphic>
      </p:graphicFrame>
      <p:sp>
        <p:nvSpPr>
          <p:cNvPr id="8" name="TextBox 7"/>
          <p:cNvSpPr txBox="1"/>
          <p:nvPr/>
        </p:nvSpPr>
        <p:spPr>
          <a:xfrm>
            <a:off x="8321040" y="1417320"/>
            <a:ext cx="338328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Largest movements</a:t>
            </a:r>
          </a:p>
        </p:txBody>
      </p:sp>
      <p:graphicFrame>
        <p:nvGraphicFramePr>
          <p:cNvPr id="9" name="Table 8"/>
          <p:cNvGraphicFramePr>
            <a:graphicFrameLocks noGrp="1"/>
          </p:cNvGraphicFramePr>
          <p:nvPr/>
        </p:nvGraphicFramePr>
        <p:xfrm>
          <a:off x="8321040" y="1783080"/>
          <a:ext cx="3383280" cy="3108960"/>
        </p:xfrm>
        <a:graphic>
          <a:graphicData uri="http://schemas.openxmlformats.org/drawingml/2006/table">
            <a:tbl>
              <a:tblPr firstRow="1" bandRow="1">
                <a:tableStyleId>{5C22544A-7EE6-4342-B048-85BDC9FD1C3A}</a:tableStyleId>
              </a:tblPr>
              <a:tblGrid>
                <a:gridCol w="2103120"/>
                <a:gridCol w="1280160"/>
              </a:tblGrid>
              <a:tr h="388620">
                <a:tc>
                  <a:txBody>
                    <a:bodyPr/>
                    <a:lstStyle/>
                    <a:p>
                      <a:r>
                        <a:rPr sz="1200" b="1">
                          <a:solidFill>
                            <a:srgbClr val="FFFFFF"/>
                          </a:solidFill>
                          <a:latin typeface="Calibri"/>
                        </a:rPr>
                        <a:t>Category</a:t>
                      </a:r>
                    </a:p>
                  </a:txBody>
                  <a:tcPr marL="54864" marR="54864" marT="27432" marB="27432">
                    <a:solidFill>
                      <a:srgbClr val="001E60"/>
                    </a:solidFill>
                  </a:tcPr>
                </a:tc>
                <a:tc>
                  <a:txBody>
                    <a:bodyPr/>
                    <a:lstStyle/>
                    <a:p>
                      <a:pPr algn="r"/>
                      <a:r>
                        <a:rPr sz="1200" b="1">
                          <a:solidFill>
                            <a:srgbClr val="FFFFFF"/>
                          </a:solidFill>
                          <a:latin typeface="Calibri"/>
                        </a:rPr>
                        <a:t>Delta</a:t>
                      </a:r>
                    </a:p>
                  </a:txBody>
                  <a:tcPr marL="54864" marR="54864" marT="27432" marB="27432">
                    <a:solidFill>
                      <a:srgbClr val="001E60"/>
                    </a:solidFill>
                  </a:tcPr>
                </a:tc>
              </a:tr>
              <a:tr h="388620">
                <a:tc>
                  <a:txBody>
                    <a:bodyPr/>
                    <a:lstStyle/>
                    <a:p>
                      <a:r>
                        <a:rPr sz="1200" b="0">
                          <a:solidFill>
                            <a:srgbClr val="1F2A44"/>
                          </a:solidFill>
                          <a:latin typeface="Calibri"/>
                        </a:rPr>
                        <a:t>Materials</a:t>
                      </a:r>
                    </a:p>
                  </a:txBody>
                  <a:tcPr marL="54864" marR="54864" marT="27432" marB="27432" anchor="ctr">
                    <a:solidFill>
                      <a:srgbClr val="FFFFFF"/>
                    </a:solidFill>
                  </a:tcPr>
                </a:tc>
                <a:tc>
                  <a:txBody>
                    <a:bodyPr/>
                    <a:lstStyle/>
                    <a:p>
                      <a:pPr algn="r"/>
                      <a:r>
                        <a:rPr sz="1200" b="0">
                          <a:solidFill>
                            <a:srgbClr val="1F2A44"/>
                          </a:solidFill>
                          <a:latin typeface="Calibri"/>
                        </a:rPr>
                        <a:t>+$2.9M</a:t>
                      </a:r>
                    </a:p>
                  </a:txBody>
                  <a:tcPr marL="54864" marR="54864" marT="27432" marB="27432" anchor="ctr">
                    <a:solidFill>
                      <a:srgbClr val="FFFFFF"/>
                    </a:solidFill>
                  </a:tcPr>
                </a:tc>
              </a:tr>
              <a:tr h="388620">
                <a:tc>
                  <a:txBody>
                    <a:bodyPr/>
                    <a:lstStyle/>
                    <a:p>
                      <a:r>
                        <a:rPr sz="1200" b="0">
                          <a:solidFill>
                            <a:srgbClr val="1F2A44"/>
                          </a:solidFill>
                          <a:latin typeface="Calibri"/>
                        </a:rPr>
                        <a:t>Risks</a:t>
                      </a:r>
                    </a:p>
                  </a:txBody>
                  <a:tcPr marL="54864" marR="54864" marT="27432" marB="27432" anchor="ctr">
                    <a:solidFill>
                      <a:srgbClr val="F2F4F8"/>
                    </a:solidFill>
                  </a:tcPr>
                </a:tc>
                <a:tc>
                  <a:txBody>
                    <a:bodyPr/>
                    <a:lstStyle/>
                    <a:p>
                      <a:pPr algn="r"/>
                      <a:r>
                        <a:rPr sz="1200" b="0">
                          <a:solidFill>
                            <a:srgbClr val="1F2A44"/>
                          </a:solidFill>
                          <a:latin typeface="Calibri"/>
                        </a:rPr>
                        <a:t>+$2.1M</a:t>
                      </a:r>
                    </a:p>
                  </a:txBody>
                  <a:tcPr marL="54864" marR="54864" marT="27432" marB="27432" anchor="ctr">
                    <a:solidFill>
                      <a:srgbClr val="F2F4F8"/>
                    </a:solidFill>
                  </a:tcPr>
                </a:tc>
              </a:tr>
              <a:tr h="388620">
                <a:tc>
                  <a:txBody>
                    <a:bodyPr/>
                    <a:lstStyle/>
                    <a:p>
                      <a:r>
                        <a:rPr sz="1200" b="0">
                          <a:solidFill>
                            <a:srgbClr val="1F2A44"/>
                          </a:solidFill>
                          <a:latin typeface="Calibri"/>
                        </a:rPr>
                        <a:t>Testing</a:t>
                      </a:r>
                    </a:p>
                  </a:txBody>
                  <a:tcPr marL="54864" marR="54864" marT="27432" marB="27432" anchor="ctr">
                    <a:solidFill>
                      <a:srgbClr val="FFFFFF"/>
                    </a:solidFill>
                  </a:tcPr>
                </a:tc>
                <a:tc>
                  <a:txBody>
                    <a:bodyPr/>
                    <a:lstStyle/>
                    <a:p>
                      <a:pPr algn="r"/>
                      <a:r>
                        <a:rPr sz="1200" b="0">
                          <a:solidFill>
                            <a:srgbClr val="1F2A44"/>
                          </a:solidFill>
                          <a:latin typeface="Calibri"/>
                        </a:rPr>
                        <a:t>+$2.0M</a:t>
                      </a:r>
                    </a:p>
                  </a:txBody>
                  <a:tcPr marL="54864" marR="54864" marT="27432" marB="27432" anchor="ctr">
                    <a:solidFill>
                      <a:srgbClr val="FFFFFF"/>
                    </a:solidFill>
                  </a:tcPr>
                </a:tc>
              </a:tr>
              <a:tr h="388620">
                <a:tc>
                  <a:txBody>
                    <a:bodyPr/>
                    <a:lstStyle/>
                    <a:p>
                      <a:r>
                        <a:rPr sz="1200" b="0">
                          <a:solidFill>
                            <a:srgbClr val="1F2A44"/>
                          </a:solidFill>
                          <a:latin typeface="Calibri"/>
                        </a:rPr>
                        <a:t>AFUDC</a:t>
                      </a:r>
                    </a:p>
                  </a:txBody>
                  <a:tcPr marL="54864" marR="54864" marT="27432" marB="27432" anchor="ctr">
                    <a:solidFill>
                      <a:srgbClr val="F2F4F8"/>
                    </a:solidFill>
                  </a:tcPr>
                </a:tc>
                <a:tc>
                  <a:txBody>
                    <a:bodyPr/>
                    <a:lstStyle/>
                    <a:p>
                      <a:pPr algn="r"/>
                      <a:r>
                        <a:rPr sz="1200" b="0">
                          <a:solidFill>
                            <a:srgbClr val="1F2A44"/>
                          </a:solidFill>
                          <a:latin typeface="Calibri"/>
                        </a:rPr>
                        <a:t>+$1.7M</a:t>
                      </a:r>
                    </a:p>
                  </a:txBody>
                  <a:tcPr marL="54864" marR="54864" marT="27432" marB="27432" anchor="ctr">
                    <a:solidFill>
                      <a:srgbClr val="F2F4F8"/>
                    </a:solidFill>
                  </a:tcPr>
                </a:tc>
              </a:tr>
              <a:tr h="388620">
                <a:tc>
                  <a:txBody>
                    <a:bodyPr/>
                    <a:lstStyle/>
                    <a:p>
                      <a:r>
                        <a:rPr sz="1200" b="0">
                          <a:solidFill>
                            <a:srgbClr val="1F2A44"/>
                          </a:solidFill>
                          <a:latin typeface="Calibri"/>
                        </a:rPr>
                        <a:t>Construction</a:t>
                      </a:r>
                    </a:p>
                  </a:txBody>
                  <a:tcPr marL="54864" marR="54864" marT="27432" marB="27432" anchor="ctr">
                    <a:solidFill>
                      <a:srgbClr val="FFFFFF"/>
                    </a:solidFill>
                  </a:tcPr>
                </a:tc>
                <a:tc>
                  <a:txBody>
                    <a:bodyPr/>
                    <a:lstStyle/>
                    <a:p>
                      <a:pPr algn="r"/>
                      <a:r>
                        <a:rPr sz="1200" b="0">
                          <a:solidFill>
                            <a:srgbClr val="1F2A44"/>
                          </a:solidFill>
                          <a:latin typeface="Calibri"/>
                        </a:rPr>
                        <a:t>+$1.1M</a:t>
                      </a:r>
                    </a:p>
                  </a:txBody>
                  <a:tcPr marL="54864" marR="54864" marT="27432" marB="27432" anchor="ctr">
                    <a:solidFill>
                      <a:srgbClr val="FFFFFF"/>
                    </a:solidFill>
                  </a:tcPr>
                </a:tc>
              </a:tr>
              <a:tr h="388620">
                <a:tc>
                  <a:txBody>
                    <a:bodyPr/>
                    <a:lstStyle/>
                    <a:p>
                      <a:r>
                        <a:rPr sz="1200" b="0">
                          <a:solidFill>
                            <a:srgbClr val="1F2A44"/>
                          </a:solidFill>
                          <a:latin typeface="Calibri"/>
                        </a:rPr>
                        <a:t>Siting + Env + Outreach</a:t>
                      </a:r>
                    </a:p>
                  </a:txBody>
                  <a:tcPr marL="54864" marR="54864" marT="27432" marB="27432" anchor="ctr">
                    <a:solidFill>
                      <a:srgbClr val="F2F4F8"/>
                    </a:solidFill>
                  </a:tcPr>
                </a:tc>
                <a:tc>
                  <a:txBody>
                    <a:bodyPr/>
                    <a:lstStyle/>
                    <a:p>
                      <a:pPr algn="r"/>
                      <a:r>
                        <a:rPr sz="1200" b="0">
                          <a:solidFill>
                            <a:srgbClr val="1F2A44"/>
                          </a:solidFill>
                          <a:latin typeface="Calibri"/>
                        </a:rPr>
                        <a:t>+$1.1M</a:t>
                      </a:r>
                    </a:p>
                  </a:txBody>
                  <a:tcPr marL="54864" marR="54864" marT="27432" marB="27432" anchor="ctr">
                    <a:solidFill>
                      <a:srgbClr val="F2F4F8"/>
                    </a:solidFill>
                  </a:tcPr>
                </a:tc>
              </a:tr>
              <a:tr h="388620">
                <a:tc>
                  <a:txBody>
                    <a:bodyPr/>
                    <a:lstStyle/>
                    <a:p>
                      <a:r>
                        <a:rPr sz="1200" b="0">
                          <a:solidFill>
                            <a:srgbClr val="1F2A44"/>
                          </a:solidFill>
                          <a:latin typeface="Calibri"/>
                        </a:rPr>
                        <a:t>PMT</a:t>
                      </a:r>
                    </a:p>
                  </a:txBody>
                  <a:tcPr marL="54864" marR="54864" marT="27432" marB="27432" anchor="ctr">
                    <a:solidFill>
                      <a:srgbClr val="FFFFFF"/>
                    </a:solidFill>
                  </a:tcPr>
                </a:tc>
                <a:tc>
                  <a:txBody>
                    <a:bodyPr/>
                    <a:lstStyle/>
                    <a:p>
                      <a:pPr algn="r"/>
                      <a:r>
                        <a:rPr sz="1200" b="0">
                          <a:solidFill>
                            <a:srgbClr val="1F2A44"/>
                          </a:solidFill>
                          <a:latin typeface="Calibri"/>
                        </a:rPr>
                        <a:t>+$0.9M</a:t>
                      </a:r>
                    </a:p>
                  </a:txBody>
                  <a:tcPr marL="54864" marR="54864" marT="27432" marB="27432" anchor="ctr">
                    <a:solidFill>
                      <a:srgbClr val="FFFFFF"/>
                    </a:solidFill>
                  </a:tcPr>
                </a:tc>
              </a:tr>
            </a:tbl>
          </a:graphicData>
        </a:graphic>
      </p:graphicFrame>
      <p:sp>
        <p:nvSpPr>
          <p:cNvPr id="10" name="TextBox 9"/>
          <p:cNvSpPr txBox="1"/>
          <p:nvPr/>
        </p:nvSpPr>
        <p:spPr>
          <a:xfrm>
            <a:off x="8321040" y="5029200"/>
            <a:ext cx="3383280" cy="1280160"/>
          </a:xfrm>
          <a:prstGeom prst="rect">
            <a:avLst/>
          </a:prstGeom>
          <a:noFill/>
        </p:spPr>
        <p:txBody>
          <a:bodyPr wrap="square" lIns="45720" rIns="45720" tIns="27432" bIns="27432" anchor="t">
            <a:spAutoFit/>
          </a:bodyPr>
          <a:lstStyle/>
          <a:p>
            <a:pPr algn="l">
              <a:lnSpc>
                <a:spcPct val="105000"/>
              </a:lnSpc>
              <a:spcAft>
                <a:spcPts val="400"/>
              </a:spcAft>
            </a:pPr>
            <a:r>
              <a:rPr sz="1200" b="0" i="0">
                <a:solidFill>
                  <a:srgbClr val="6B7280"/>
                </a:solidFill>
                <a:latin typeface="Calibri"/>
              </a:rPr>
              <a:t>Materials: contracted battery replaces 2023 indicative pricing, plus breaker skids and GSUs. Testing and siting: Station 496 scope and Article 80 were not in E-23-373. AFUDC: a 20-month later ISD on a larger base.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REVISION WALK, 26 AUG TO 24 SEP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Four revisions in five weeks: how the September estimate settled at $57.2M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22</a:t>
            </a:r>
          </a:p>
        </p:txBody>
      </p:sp>
      <p:graphicFrame>
        <p:nvGraphicFramePr>
          <p:cNvPr id="7" name="Chart 6"/>
          <p:cNvGraphicFramePr>
            <a:graphicFrameLocks noGrp="1"/>
          </p:cNvGraphicFramePr>
          <p:nvPr/>
        </p:nvGraphicFramePr>
        <p:xfrm>
          <a:off x="457200" y="1371600"/>
          <a:ext cx="6949440" cy="4846320"/>
        </p:xfrm>
        <a:graphic>
          <a:graphicData uri="http://schemas.openxmlformats.org/drawingml/2006/chart">
            <c:chart xmlns:c="http://schemas.openxmlformats.org/drawingml/2006/chart" r:id="rId2"/>
          </a:graphicData>
        </a:graphic>
      </p:graphicFrame>
      <p:sp>
        <p:nvSpPr>
          <p:cNvPr id="8" name="TextBox 7"/>
          <p:cNvSpPr txBox="1"/>
          <p:nvPr/>
        </p:nvSpPr>
        <p:spPr>
          <a:xfrm>
            <a:off x="7589520" y="1417320"/>
            <a:ext cx="4114800" cy="4846320"/>
          </a:xfrm>
          <a:prstGeom prst="rect">
            <a:avLst/>
          </a:prstGeom>
          <a:noFill/>
        </p:spPr>
        <p:txBody>
          <a:bodyPr wrap="square" lIns="45720">
            <a:spAutoFit/>
          </a:bodyPr>
          <a:lstStyle/>
          <a:p>
            <a:pPr>
              <a:lnSpc>
                <a:spcPct val="105000"/>
              </a:lnSpc>
              <a:spcAft>
                <a:spcPts val="700"/>
              </a:spcAft>
            </a:pPr>
            <a:r>
              <a:rPr sz="1350">
                <a:solidFill>
                  <a:srgbClr val="FFC72C"/>
                </a:solidFill>
                <a:latin typeface="Calibri"/>
              </a:rPr>
              <a:t>▪  </a:t>
            </a:r>
            <a:r>
              <a:rPr b="1" sz="1350">
                <a:solidFill>
                  <a:srgbClr val="1F2A44"/>
                </a:solidFill>
                <a:latin typeface="Calibri"/>
              </a:rPr>
              <a:t>Rev 0 carried the battery at about $6M </a:t>
            </a:r>
            <a:r>
              <a:rPr sz="1350">
                <a:solidFill>
                  <a:srgbClr val="1F2A44"/>
                </a:solidFill>
                <a:latin typeface="Calibri"/>
              </a:rPr>
              <a:t>from the 2023 indicative sheet. The PM: 'we know the BESS system itself is 12.'</a:t>
            </a:r>
          </a:p>
          <a:p>
            <a:pPr>
              <a:lnSpc>
                <a:spcPct val="105000"/>
              </a:lnSpc>
              <a:spcAft>
                <a:spcPts val="700"/>
              </a:spcAft>
            </a:pPr>
            <a:r>
              <a:rPr sz="1350">
                <a:solidFill>
                  <a:srgbClr val="FFC72C"/>
                </a:solidFill>
                <a:latin typeface="Calibri"/>
              </a:rPr>
              <a:t>▪  </a:t>
            </a:r>
            <a:r>
              <a:rPr b="1" sz="1350">
                <a:solidFill>
                  <a:srgbClr val="1F2A44"/>
                </a:solidFill>
                <a:latin typeface="Calibri"/>
              </a:rPr>
              <a:t>Rev 2 reset it to the cover agreement, escalated to $13.1M, </a:t>
            </a:r>
            <a:r>
              <a:rPr sz="1350">
                <a:solidFill>
                  <a:srgbClr val="1F2A44"/>
                </a:solidFill>
                <a:latin typeface="Calibri"/>
              </a:rPr>
              <a:t>and carried $1.5M of 'relays for batteries' from a 2023 bidder that priced its own switchgear.</a:t>
            </a:r>
          </a:p>
          <a:p>
            <a:pPr>
              <a:lnSpc>
                <a:spcPct val="105000"/>
              </a:lnSpc>
              <a:spcAft>
                <a:spcPts val="700"/>
              </a:spcAft>
            </a:pPr>
            <a:r>
              <a:rPr sz="1350">
                <a:solidFill>
                  <a:srgbClr val="FFC72C"/>
                </a:solidFill>
                <a:latin typeface="Calibri"/>
              </a:rPr>
              <a:t>▪  </a:t>
            </a:r>
            <a:r>
              <a:rPr b="1" sz="1350">
                <a:solidFill>
                  <a:srgbClr val="1F2A44"/>
                </a:solidFill>
                <a:latin typeface="Calibri"/>
              </a:rPr>
              <a:t>Rev 3 removed the relays </a:t>
            </a:r>
            <a:r>
              <a:rPr sz="1350">
                <a:solidFill>
                  <a:srgbClr val="1F2A44"/>
                </a:solidFill>
                <a:latin typeface="Calibri"/>
              </a:rPr>
              <a:t>(P&amp;C Engineering: included in the $300K Siemens skid), cut three SSVTs to one, and re-based engineering to $501K to go plus actuals.</a:t>
            </a:r>
          </a:p>
          <a:p>
            <a:pPr>
              <a:lnSpc>
                <a:spcPct val="105000"/>
              </a:lnSpc>
              <a:spcAft>
                <a:spcPts val="700"/>
              </a:spcAft>
            </a:pPr>
            <a:r>
              <a:rPr sz="1350">
                <a:solidFill>
                  <a:srgbClr val="FFC72C"/>
                </a:solidFill>
                <a:latin typeface="Calibri"/>
              </a:rPr>
              <a:t>▪  </a:t>
            </a:r>
            <a:r>
              <a:rPr b="1" sz="1350">
                <a:solidFill>
                  <a:srgbClr val="1F2A44"/>
                </a:solidFill>
                <a:latin typeface="Calibri"/>
              </a:rPr>
              <a:t>Net: </a:t>
            </a:r>
            <a:r>
              <a:rPr sz="1350">
                <a:solidFill>
                  <a:srgbClr val="1F2A44"/>
                </a:solidFill>
                <a:latin typeface="Calibri"/>
              </a:rPr>
              <a:t>+$10.0M from Rev 0, of which $7.0M is the battery line catching up to the contract.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BATTERY SCOPE PRICE POINTS ($/KWH AT 20 MWH)</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battery: a $9.6M to $18.2M spread in 2023, a $12.1M fixed price in 2026</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23</a:t>
            </a:r>
          </a:p>
        </p:txBody>
      </p:sp>
      <p:graphicFrame>
        <p:nvGraphicFramePr>
          <p:cNvPr id="7" name="Chart 6"/>
          <p:cNvGraphicFramePr>
            <a:graphicFrameLocks noGrp="1"/>
          </p:cNvGraphicFramePr>
          <p:nvPr/>
        </p:nvGraphicFramePr>
        <p:xfrm>
          <a:off x="457200" y="1371600"/>
          <a:ext cx="6949440" cy="4846320"/>
        </p:xfrm>
        <a:graphic>
          <a:graphicData uri="http://schemas.openxmlformats.org/drawingml/2006/chart">
            <c:chart xmlns:c="http://schemas.openxmlformats.org/drawingml/2006/chart" r:id="rId2"/>
          </a:graphicData>
        </a:graphic>
      </p:graphicFrame>
      <p:sp>
        <p:nvSpPr>
          <p:cNvPr id="8" name="TextBox 7"/>
          <p:cNvSpPr txBox="1"/>
          <p:nvPr/>
        </p:nvSpPr>
        <p:spPr>
          <a:xfrm>
            <a:off x="7589520" y="1417320"/>
            <a:ext cx="4114800" cy="4846320"/>
          </a:xfrm>
          <a:prstGeom prst="rect">
            <a:avLst/>
          </a:prstGeom>
          <a:noFill/>
        </p:spPr>
        <p:txBody>
          <a:bodyPr wrap="square" lIns="45720">
            <a:spAutoFit/>
          </a:bodyPr>
          <a:lstStyle/>
          <a:p>
            <a:pPr>
              <a:lnSpc>
                <a:spcPct val="105000"/>
              </a:lnSpc>
              <a:spcAft>
                <a:spcPts val="600"/>
              </a:spcAft>
            </a:pPr>
            <a:r>
              <a:rPr sz="1300">
                <a:solidFill>
                  <a:srgbClr val="FFC72C"/>
                </a:solidFill>
                <a:latin typeface="Calibri"/>
              </a:rPr>
              <a:t>▪  </a:t>
            </a:r>
            <a:r>
              <a:rPr b="1" sz="1300">
                <a:solidFill>
                  <a:srgbClr val="1F2A44"/>
                </a:solidFill>
                <a:latin typeface="Calibri"/>
              </a:rPr>
              <a:t>July 2023, five bidders, 10 MW / 20 MWh: </a:t>
            </a:r>
            <a:r>
              <a:rPr sz="1300">
                <a:solidFill>
                  <a:srgbClr val="1F2A44"/>
                </a:solidFill>
                <a:latin typeface="Calibri"/>
              </a:rPr>
              <a:t>$9.6M to $18.2M. Every bidder excluded interconnection, permits beyond local, below-grade risk, sound walls or spares.</a:t>
            </a:r>
          </a:p>
          <a:p>
            <a:pPr>
              <a:lnSpc>
                <a:spcPct val="105000"/>
              </a:lnSpc>
              <a:spcAft>
                <a:spcPts val="600"/>
              </a:spcAft>
            </a:pPr>
            <a:r>
              <a:rPr sz="1300">
                <a:solidFill>
                  <a:srgbClr val="FFC72C"/>
                </a:solidFill>
                <a:latin typeface="Calibri"/>
              </a:rPr>
              <a:t>▪  </a:t>
            </a:r>
            <a:r>
              <a:rPr b="1" sz="1300">
                <a:solidFill>
                  <a:srgbClr val="1F2A44"/>
                </a:solidFill>
                <a:latin typeface="Calibri"/>
              </a:rPr>
              <a:t>Company 3 ($18.2M, burgundy) </a:t>
            </a:r>
            <a:r>
              <a:rPr sz="1300">
                <a:solidFill>
                  <a:srgbClr val="1F2A44"/>
                </a:solidFill>
                <a:latin typeface="Calibri"/>
              </a:rPr>
              <a:t>became the E-23-373 basis because it alone priced turnkey civil ($4.56M) and installation.</a:t>
            </a:r>
          </a:p>
          <a:p>
            <a:pPr>
              <a:lnSpc>
                <a:spcPct val="105000"/>
              </a:lnSpc>
              <a:spcAft>
                <a:spcPts val="600"/>
              </a:spcAft>
            </a:pPr>
            <a:r>
              <a:rPr sz="1300">
                <a:solidFill>
                  <a:srgbClr val="FFC72C"/>
                </a:solidFill>
                <a:latin typeface="Calibri"/>
              </a:rPr>
              <a:t>▪  </a:t>
            </a:r>
            <a:r>
              <a:rPr b="1" sz="1300">
                <a:solidFill>
                  <a:srgbClr val="1F2A44"/>
                </a:solidFill>
                <a:latin typeface="Calibri"/>
              </a:rPr>
              <a:t>March 2026 contract, $12.1M (gold): </a:t>
            </a:r>
            <a:r>
              <a:rPr sz="1300">
                <a:solidFill>
                  <a:srgbClr val="1F2A44"/>
                </a:solidFill>
                <a:latin typeface="Calibri"/>
              </a:rPr>
              <a:t>supply only, with supervision. Civil, install, GSUs, station and interconnection moved to Eversource scope.</a:t>
            </a:r>
          </a:p>
          <a:p>
            <a:pPr>
              <a:lnSpc>
                <a:spcPct val="105000"/>
              </a:lnSpc>
              <a:spcAft>
                <a:spcPts val="600"/>
              </a:spcAft>
            </a:pPr>
            <a:r>
              <a:rPr sz="1300">
                <a:solidFill>
                  <a:srgbClr val="FFC72C"/>
                </a:solidFill>
                <a:latin typeface="Calibri"/>
              </a:rPr>
              <a:t>▪  </a:t>
            </a:r>
            <a:r>
              <a:rPr b="1" sz="1300">
                <a:solidFill>
                  <a:srgbClr val="1F2A44"/>
                </a:solidFill>
                <a:latin typeface="Calibri"/>
              </a:rPr>
              <a:t>Equipment-only inside the contract: </a:t>
            </a:r>
            <a:r>
              <a:rPr sz="1300">
                <a:solidFill>
                  <a:srgbClr val="1F2A44"/>
                </a:solidFill>
                <a:latin typeface="Calibri"/>
              </a:rPr>
              <a:t>$10.64M, $532/kWh, in line with published 2025-26 turnkey system indices (slides 9-10).</a:t>
            </a:r>
          </a:p>
          <a:p>
            <a:pPr>
              <a:lnSpc>
                <a:spcPct val="105000"/>
              </a:lnSpc>
              <a:spcAft>
                <a:spcPts val="600"/>
              </a:spcAft>
            </a:pPr>
            <a:r>
              <a:rPr sz="1300">
                <a:solidFill>
                  <a:srgbClr val="FFC72C"/>
                </a:solidFill>
                <a:latin typeface="Calibri"/>
              </a:rPr>
              <a:t>▪  </a:t>
            </a:r>
            <a:r>
              <a:rPr b="1" sz="1300">
                <a:solidFill>
                  <a:srgbClr val="1F2A44"/>
                </a:solidFill>
                <a:latin typeface="Calibri"/>
              </a:rPr>
              <a:t>Rev 3 adds $1.13M of escalation </a:t>
            </a:r>
            <a:r>
              <a:rPr sz="1300">
                <a:solidFill>
                  <a:srgbClr val="1F2A44"/>
                </a:solidFill>
                <a:latin typeface="Calibri"/>
              </a:rPr>
              <a:t>to a price the contract fixes until Final Acceptance.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INDEPENDENT CHALLENGE, 29 SEP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Three assumptions that, if wrong, move the number more than the reserve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24</a:t>
            </a:r>
          </a:p>
        </p:txBody>
      </p:sp>
      <p:sp>
        <p:nvSpPr>
          <p:cNvPr id="7" name="Rectangle 6"/>
          <p:cNvSpPr/>
          <p:nvPr/>
        </p:nvSpPr>
        <p:spPr>
          <a:xfrm>
            <a:off x="548640" y="1417320"/>
            <a:ext cx="1106424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417320"/>
            <a:ext cx="82296" cy="1463040"/>
          </a:xfrm>
          <a:prstGeom prst="rect">
            <a:avLst/>
          </a:prstGeom>
          <a:solidFill>
            <a:srgbClr val="6E1F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490472"/>
            <a:ext cx="3657600" cy="132588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6E1F2E"/>
                </a:solidFill>
                <a:latin typeface="Georgia"/>
              </a:rPr>
              <a:t>1. Construction may be low, not high.</a:t>
            </a:r>
          </a:p>
        </p:txBody>
      </p:sp>
      <p:sp>
        <p:nvSpPr>
          <p:cNvPr id="10" name="TextBox 9"/>
          <p:cNvSpPr txBox="1"/>
          <p:nvPr/>
        </p:nvSpPr>
        <p:spPr>
          <a:xfrm>
            <a:off x="4480560" y="1490472"/>
            <a:ext cx="4754880" cy="132588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1F2A44"/>
                </a:solidFill>
                <a:latin typeface="Calibri"/>
              </a:rPr>
              <a:t>Rev 3 layers B+D+E are $8.3M direct. Haugland's Class 3 base for overlapping scope is $19.2M with a $2.9M deduct ceiling. Nobody has mapped one to the other.</a:t>
            </a:r>
          </a:p>
        </p:txBody>
      </p:sp>
      <p:sp>
        <p:nvSpPr>
          <p:cNvPr id="11" name="TextBox 10"/>
          <p:cNvSpPr txBox="1"/>
          <p:nvPr/>
        </p:nvSpPr>
        <p:spPr>
          <a:xfrm>
            <a:off x="9326880" y="1490472"/>
            <a:ext cx="2240280" cy="1325880"/>
          </a:xfrm>
          <a:prstGeom prst="rect">
            <a:avLst/>
          </a:prstGeom>
          <a:noFill/>
        </p:spPr>
        <p:txBody>
          <a:bodyPr wrap="square" lIns="45720" rIns="45720" tIns="27432" bIns="27432" anchor="t">
            <a:spAutoFit/>
          </a:bodyPr>
          <a:lstStyle/>
          <a:p>
            <a:pPr algn="l">
              <a:lnSpc>
                <a:spcPct val="105000"/>
              </a:lnSpc>
              <a:spcAft>
                <a:spcPts val="400"/>
              </a:spcAft>
            </a:pPr>
            <a:r>
              <a:rPr sz="1150" b="0" i="1">
                <a:solidFill>
                  <a:srgbClr val="001E60"/>
                </a:solidFill>
                <a:latin typeface="Calibri"/>
              </a:rPr>
              <a:t>Settles it: a signed HEG-to-Rev 3 scope map before the PAF is drafted.</a:t>
            </a:r>
          </a:p>
        </p:txBody>
      </p:sp>
      <p:sp>
        <p:nvSpPr>
          <p:cNvPr id="12" name="Rectangle 11"/>
          <p:cNvSpPr/>
          <p:nvPr/>
        </p:nvSpPr>
        <p:spPr>
          <a:xfrm>
            <a:off x="548640" y="2990088"/>
            <a:ext cx="1106424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990088"/>
            <a:ext cx="82296" cy="1463040"/>
          </a:xfrm>
          <a:prstGeom prst="rect">
            <a:avLst/>
          </a:prstGeom>
          <a:solidFill>
            <a:srgbClr val="6E1F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063240"/>
            <a:ext cx="3657600" cy="132588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6E1F2E"/>
                </a:solidFill>
                <a:latin typeface="Georgia"/>
              </a:rPr>
              <a:t>2. Siting is binary and carries no float.</a:t>
            </a:r>
          </a:p>
        </p:txBody>
      </p:sp>
      <p:sp>
        <p:nvSpPr>
          <p:cNvPr id="15" name="TextBox 14"/>
          <p:cNvSpPr txBox="1"/>
          <p:nvPr/>
        </p:nvSpPr>
        <p:spPr>
          <a:xfrm>
            <a:off x="4480560" y="3063240"/>
            <a:ext cx="4754880" cy="132588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1F2A44"/>
                </a:solidFill>
                <a:latin typeface="Calibri"/>
              </a:rPr>
              <a:t>ZBA determination, construction start and container delivery all land in Q1 2028 for a Dec 2028 ISD. Denial means an EFSB exemption at 18-24 months. The estimate carries $250K for siting delay.</a:t>
            </a:r>
          </a:p>
        </p:txBody>
      </p:sp>
      <p:sp>
        <p:nvSpPr>
          <p:cNvPr id="16" name="TextBox 15"/>
          <p:cNvSpPr txBox="1"/>
          <p:nvPr/>
        </p:nvSpPr>
        <p:spPr>
          <a:xfrm>
            <a:off x="9326880" y="3063240"/>
            <a:ext cx="2240280" cy="1325880"/>
          </a:xfrm>
          <a:prstGeom prst="rect">
            <a:avLst/>
          </a:prstGeom>
          <a:noFill/>
        </p:spPr>
        <p:txBody>
          <a:bodyPr wrap="square" lIns="45720" rIns="45720" tIns="27432" bIns="27432" anchor="t">
            <a:spAutoFit/>
          </a:bodyPr>
          <a:lstStyle/>
          <a:p>
            <a:pPr algn="l">
              <a:lnSpc>
                <a:spcPct val="105000"/>
              </a:lnSpc>
              <a:spcAft>
                <a:spcPts val="400"/>
              </a:spcAft>
            </a:pPr>
            <a:r>
              <a:rPr sz="1150" b="0" i="1">
                <a:solidFill>
                  <a:srgbClr val="001E60"/>
                </a:solidFill>
                <a:latin typeface="Calibri"/>
              </a:rPr>
              <a:t>Settles it: Article 80 filing date, ZBA calendar, P6 float on the siting chain.</a:t>
            </a:r>
          </a:p>
        </p:txBody>
      </p:sp>
      <p:sp>
        <p:nvSpPr>
          <p:cNvPr id="17" name="Rectangle 16"/>
          <p:cNvSpPr/>
          <p:nvPr/>
        </p:nvSpPr>
        <p:spPr>
          <a:xfrm>
            <a:off x="548640" y="4562856"/>
            <a:ext cx="1106424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562856"/>
            <a:ext cx="82296" cy="1463040"/>
          </a:xfrm>
          <a:prstGeom prst="rect">
            <a:avLst/>
          </a:prstGeom>
          <a:solidFill>
            <a:srgbClr val="6E1F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636008"/>
            <a:ext cx="3657600" cy="132588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6E1F2E"/>
                </a:solidFill>
                <a:latin typeface="Georgia"/>
              </a:rPr>
              <a:t>3. The number is Class 4 wearing Class 3 clothes.</a:t>
            </a:r>
          </a:p>
        </p:txBody>
      </p:sp>
      <p:sp>
        <p:nvSpPr>
          <p:cNvPr id="20" name="TextBox 19"/>
          <p:cNvSpPr txBox="1"/>
          <p:nvPr/>
        </p:nvSpPr>
        <p:spPr>
          <a:xfrm>
            <a:off x="4480560" y="4636008"/>
            <a:ext cx="4754880" cy="132588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1F2A44"/>
                </a:solidFill>
                <a:latin typeface="Calibri"/>
              </a:rPr>
              <a:t>30% engineering, unit-library construction with no bid, install labor as a percentage of a 2023 total, a 2.5 ft platform placeholder. EPAC will hear $57.2M as a planning number.</a:t>
            </a:r>
          </a:p>
        </p:txBody>
      </p:sp>
      <p:sp>
        <p:nvSpPr>
          <p:cNvPr id="21" name="TextBox 20"/>
          <p:cNvSpPr txBox="1"/>
          <p:nvPr/>
        </p:nvSpPr>
        <p:spPr>
          <a:xfrm>
            <a:off x="9326880" y="4636008"/>
            <a:ext cx="2240280" cy="1325880"/>
          </a:xfrm>
          <a:prstGeom prst="rect">
            <a:avLst/>
          </a:prstGeom>
          <a:noFill/>
        </p:spPr>
        <p:txBody>
          <a:bodyPr wrap="square" lIns="45720" rIns="45720" tIns="27432" bIns="27432" anchor="t">
            <a:spAutoFit/>
          </a:bodyPr>
          <a:lstStyle/>
          <a:p>
            <a:pPr algn="l">
              <a:lnSpc>
                <a:spcPct val="105000"/>
              </a:lnSpc>
              <a:spcAft>
                <a:spcPts val="400"/>
              </a:spcAft>
            </a:pPr>
            <a:r>
              <a:rPr sz="1150" b="0" i="1">
                <a:solidFill>
                  <a:srgbClr val="001E60"/>
                </a:solidFill>
                <a:latin typeface="Calibri"/>
              </a:rPr>
              <a:t>Settles it: geotech, HMA, HEG map, crew build-up; then reclassify with a -15/+25% range.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RED TEAM: QUANTIFIED DOWNSIDE, LOADED AT 1.685</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Stress tests on our own numbers, and what history says about small utility batteries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25</a:t>
            </a:r>
          </a:p>
        </p:txBody>
      </p:sp>
      <p:graphicFrame>
        <p:nvGraphicFramePr>
          <p:cNvPr id="7" name="Table 6"/>
          <p:cNvGraphicFramePr>
            <a:graphicFrameLocks noGrp="1"/>
          </p:cNvGraphicFramePr>
          <p:nvPr/>
        </p:nvGraphicFramePr>
        <p:xfrm>
          <a:off x="548640" y="1371600"/>
          <a:ext cx="6949440" cy="3840480"/>
        </p:xfrm>
        <a:graphic>
          <a:graphicData uri="http://schemas.openxmlformats.org/drawingml/2006/table">
            <a:tbl>
              <a:tblPr firstRow="1" bandRow="1">
                <a:tableStyleId>{5C22544A-7EE6-4342-B048-85BDC9FD1C3A}</a:tableStyleId>
              </a:tblPr>
              <a:tblGrid>
                <a:gridCol w="3291840"/>
                <a:gridCol w="1371600"/>
                <a:gridCol w="914400"/>
                <a:gridCol w="1371600"/>
              </a:tblGrid>
              <a:tr h="480060">
                <a:tc>
                  <a:txBody>
                    <a:bodyPr/>
                    <a:lstStyle/>
                    <a:p>
                      <a:r>
                        <a:rPr sz="1100" b="1">
                          <a:solidFill>
                            <a:srgbClr val="FFFFFF"/>
                          </a:solidFill>
                          <a:latin typeface="Calibri"/>
                        </a:rPr>
                        <a:t>Scenario</a:t>
                      </a:r>
                    </a:p>
                  </a:txBody>
                  <a:tcPr marL="54864" marR="54864" marT="27432" marB="27432">
                    <a:solidFill>
                      <a:srgbClr val="001E60"/>
                    </a:solidFill>
                  </a:tcPr>
                </a:tc>
                <a:tc>
                  <a:txBody>
                    <a:bodyPr/>
                    <a:lstStyle/>
                    <a:p>
                      <a:r>
                        <a:rPr sz="1100" b="1">
                          <a:solidFill>
                            <a:srgbClr val="FFFFFF"/>
                          </a:solidFill>
                          <a:latin typeface="Calibri"/>
                        </a:rPr>
                        <a:t>Loaded cost</a:t>
                      </a:r>
                    </a:p>
                  </a:txBody>
                  <a:tcPr marL="54864" marR="54864" marT="27432" marB="27432">
                    <a:solidFill>
                      <a:srgbClr val="001E60"/>
                    </a:solidFill>
                  </a:tcPr>
                </a:tc>
                <a:tc>
                  <a:txBody>
                    <a:bodyPr/>
                    <a:lstStyle/>
                    <a:p>
                      <a:r>
                        <a:rPr sz="1100" b="1">
                          <a:solidFill>
                            <a:srgbClr val="FFFFFF"/>
                          </a:solidFill>
                          <a:latin typeface="Calibri"/>
                        </a:rPr>
                        <a:t>Date</a:t>
                      </a:r>
                    </a:p>
                  </a:txBody>
                  <a:tcPr marL="54864" marR="54864" marT="27432" marB="27432">
                    <a:solidFill>
                      <a:srgbClr val="001E60"/>
                    </a:solidFill>
                  </a:tcPr>
                </a:tc>
                <a:tc>
                  <a:txBody>
                    <a:bodyPr/>
                    <a:lstStyle/>
                    <a:p>
                      <a:r>
                        <a:rPr sz="1100" b="1">
                          <a:solidFill>
                            <a:srgbClr val="FFFFFF"/>
                          </a:solidFill>
                          <a:latin typeface="Calibri"/>
                        </a:rPr>
                        <a:t>Covered by $7.6M reserve?</a:t>
                      </a:r>
                    </a:p>
                  </a:txBody>
                  <a:tcPr marL="54864" marR="54864" marT="27432" marB="27432">
                    <a:solidFill>
                      <a:srgbClr val="001E60"/>
                    </a:solidFill>
                  </a:tcPr>
                </a:tc>
              </a:tr>
              <a:tr h="480060">
                <a:tc>
                  <a:txBody>
                    <a:bodyPr/>
                    <a:lstStyle/>
                    <a:p>
                      <a:r>
                        <a:rPr sz="1100" b="0">
                          <a:solidFill>
                            <a:srgbClr val="1F2A44"/>
                          </a:solidFill>
                          <a:latin typeface="Calibri"/>
                        </a:rPr>
                        <a:t>Construction unit costs +25% on B+D+E+G</a:t>
                      </a:r>
                    </a:p>
                  </a:txBody>
                  <a:tcPr marL="54864" marR="54864" marT="27432" marB="27432" anchor="ctr">
                    <a:solidFill>
                      <a:srgbClr val="FFFFFF"/>
                    </a:solidFill>
                  </a:tcPr>
                </a:tc>
                <a:tc>
                  <a:txBody>
                    <a:bodyPr/>
                    <a:lstStyle/>
                    <a:p>
                      <a:r>
                        <a:rPr sz="1100" b="0">
                          <a:solidFill>
                            <a:srgbClr val="1F2A44"/>
                          </a:solidFill>
                          <a:latin typeface="Calibri"/>
                        </a:rPr>
                        <a:t>+$4.0M</a:t>
                      </a:r>
                    </a:p>
                  </a:txBody>
                  <a:tcPr marL="54864" marR="54864" marT="27432" marB="27432" anchor="ctr">
                    <a:solidFill>
                      <a:srgbClr val="FFFFFF"/>
                    </a:solidFill>
                  </a:tcPr>
                </a:tc>
                <a:tc>
                  <a:txBody>
                    <a:bodyPr/>
                    <a:lstStyle/>
                    <a:p>
                      <a:r>
                        <a:rPr sz="1100" b="0">
                          <a:solidFill>
                            <a:srgbClr val="1F2A44"/>
                          </a:solidFill>
                          <a:latin typeface="Calibri"/>
                        </a:rPr>
                        <a:t>0</a:t>
                      </a:r>
                    </a:p>
                  </a:txBody>
                  <a:tcPr marL="54864" marR="54864" marT="27432" marB="27432" anchor="ctr">
                    <a:solidFill>
                      <a:srgbClr val="FFFFFF"/>
                    </a:solidFill>
                  </a:tcPr>
                </a:tc>
                <a:tc>
                  <a:txBody>
                    <a:bodyPr/>
                    <a:lstStyle/>
                    <a:p>
                      <a:r>
                        <a:rPr sz="1100" b="0">
                          <a:solidFill>
                            <a:srgbClr val="1F2A44"/>
                          </a:solidFill>
                          <a:latin typeface="Calibri"/>
                        </a:rPr>
                        <a:t>Yes, alone</a:t>
                      </a:r>
                    </a:p>
                  </a:txBody>
                  <a:tcPr marL="54864" marR="54864" marT="27432" marB="27432" anchor="ctr">
                    <a:solidFill>
                      <a:srgbClr val="FFFFFF"/>
                    </a:solidFill>
                  </a:tcPr>
                </a:tc>
              </a:tr>
              <a:tr h="480060">
                <a:tc>
                  <a:txBody>
                    <a:bodyPr/>
                    <a:lstStyle/>
                    <a:p>
                      <a:r>
                        <a:rPr sz="1100" b="0">
                          <a:solidFill>
                            <a:srgbClr val="1F2A44"/>
                          </a:solidFill>
                          <a:latin typeface="Calibri"/>
                        </a:rPr>
                        <a:t>HEG reconciliation at midpoint of the gap (+$5M direct)</a:t>
                      </a:r>
                    </a:p>
                  </a:txBody>
                  <a:tcPr marL="54864" marR="54864" marT="27432" marB="27432" anchor="ctr">
                    <a:solidFill>
                      <a:srgbClr val="F2F4F8"/>
                    </a:solidFill>
                  </a:tcPr>
                </a:tc>
                <a:tc>
                  <a:txBody>
                    <a:bodyPr/>
                    <a:lstStyle/>
                    <a:p>
                      <a:r>
                        <a:rPr sz="1100" b="0">
                          <a:solidFill>
                            <a:srgbClr val="1F2A44"/>
                          </a:solidFill>
                          <a:latin typeface="Calibri"/>
                        </a:rPr>
                        <a:t>+$8.4M</a:t>
                      </a:r>
                    </a:p>
                  </a:txBody>
                  <a:tcPr marL="54864" marR="54864" marT="27432" marB="27432" anchor="ctr">
                    <a:solidFill>
                      <a:srgbClr val="F2F4F8"/>
                    </a:solidFill>
                  </a:tcPr>
                </a:tc>
                <a:tc>
                  <a:txBody>
                    <a:bodyPr/>
                    <a:lstStyle/>
                    <a:p>
                      <a:r>
                        <a:rPr sz="1100" b="0">
                          <a:solidFill>
                            <a:srgbClr val="1F2A44"/>
                          </a:solidFill>
                          <a:latin typeface="Calibri"/>
                        </a:rPr>
                        <a:t>0</a:t>
                      </a:r>
                    </a:p>
                  </a:txBody>
                  <a:tcPr marL="54864" marR="54864" marT="27432" marB="27432" anchor="ctr">
                    <a:solidFill>
                      <a:srgbClr val="F2F4F8"/>
                    </a:solidFill>
                  </a:tcPr>
                </a:tc>
                <a:tc>
                  <a:txBody>
                    <a:bodyPr/>
                    <a:lstStyle/>
                    <a:p>
                      <a:r>
                        <a:rPr sz="1100" b="0">
                          <a:solidFill>
                            <a:srgbClr val="1F2A44"/>
                          </a:solidFill>
                          <a:latin typeface="Calibri"/>
                        </a:rPr>
                        <a:t>No</a:t>
                      </a:r>
                    </a:p>
                  </a:txBody>
                  <a:tcPr marL="54864" marR="54864" marT="27432" marB="27432" anchor="ctr">
                    <a:solidFill>
                      <a:srgbClr val="F2F4F8"/>
                    </a:solidFill>
                  </a:tcPr>
                </a:tc>
              </a:tr>
              <a:tr h="480060">
                <a:tc>
                  <a:txBody>
                    <a:bodyPr/>
                    <a:lstStyle/>
                    <a:p>
                      <a:r>
                        <a:rPr sz="1100" b="0">
                          <a:solidFill>
                            <a:srgbClr val="1F2A44"/>
                          </a:solidFill>
                          <a:latin typeface="Calibri"/>
                        </a:rPr>
                        <a:t>Schedule +12 months (siting or long-lead)</a:t>
                      </a:r>
                    </a:p>
                  </a:txBody>
                  <a:tcPr marL="54864" marR="54864" marT="27432" marB="27432" anchor="ctr">
                    <a:solidFill>
                      <a:srgbClr val="FFFFFF"/>
                    </a:solidFill>
                  </a:tcPr>
                </a:tc>
                <a:tc>
                  <a:txBody>
                    <a:bodyPr/>
                    <a:lstStyle/>
                    <a:p>
                      <a:r>
                        <a:rPr sz="1100" b="0">
                          <a:solidFill>
                            <a:srgbClr val="1F2A44"/>
                          </a:solidFill>
                          <a:latin typeface="Calibri"/>
                        </a:rPr>
                        <a:t>~+$5M</a:t>
                      </a:r>
                    </a:p>
                  </a:txBody>
                  <a:tcPr marL="54864" marR="54864" marT="27432" marB="27432" anchor="ctr">
                    <a:solidFill>
                      <a:srgbClr val="FFFFFF"/>
                    </a:solidFill>
                  </a:tcPr>
                </a:tc>
                <a:tc>
                  <a:txBody>
                    <a:bodyPr/>
                    <a:lstStyle/>
                    <a:p>
                      <a:r>
                        <a:rPr sz="1100" b="0">
                          <a:solidFill>
                            <a:srgbClr val="1F2A44"/>
                          </a:solidFill>
                          <a:latin typeface="Calibri"/>
                        </a:rPr>
                        <a:t>+12 mo</a:t>
                      </a:r>
                    </a:p>
                  </a:txBody>
                  <a:tcPr marL="54864" marR="54864" marT="27432" marB="27432" anchor="ctr">
                    <a:solidFill>
                      <a:srgbClr val="FFFFFF"/>
                    </a:solidFill>
                  </a:tcPr>
                </a:tc>
                <a:tc>
                  <a:txBody>
                    <a:bodyPr/>
                    <a:lstStyle/>
                    <a:p>
                      <a:r>
                        <a:rPr sz="1100" b="0">
                          <a:solidFill>
                            <a:srgbClr val="1F2A44"/>
                          </a:solidFill>
                          <a:latin typeface="Calibri"/>
                        </a:rPr>
                        <a:t>Partly</a:t>
                      </a:r>
                    </a:p>
                  </a:txBody>
                  <a:tcPr marL="54864" marR="54864" marT="27432" marB="27432" anchor="ctr">
                    <a:solidFill>
                      <a:srgbClr val="FFFFFF"/>
                    </a:solidFill>
                  </a:tcPr>
                </a:tc>
              </a:tr>
              <a:tr h="480060">
                <a:tc>
                  <a:txBody>
                    <a:bodyPr/>
                    <a:lstStyle/>
                    <a:p>
                      <a:r>
                        <a:rPr sz="1100" b="0">
                          <a:solidFill>
                            <a:srgbClr val="1F2A44"/>
                          </a:solidFill>
                          <a:latin typeface="Calibri"/>
                        </a:rPr>
                        <a:t>EFSB zoning exemption path</a:t>
                      </a:r>
                    </a:p>
                  </a:txBody>
                  <a:tcPr marL="54864" marR="54864" marT="27432" marB="27432" anchor="ctr">
                    <a:solidFill>
                      <a:srgbClr val="F2F4F8"/>
                    </a:solidFill>
                  </a:tcPr>
                </a:tc>
                <a:tc>
                  <a:txBody>
                    <a:bodyPr/>
                    <a:lstStyle/>
                    <a:p>
                      <a:r>
                        <a:rPr sz="1100" b="0">
                          <a:solidFill>
                            <a:srgbClr val="1F2A44"/>
                          </a:solidFill>
                          <a:latin typeface="Calibri"/>
                        </a:rPr>
                        <a:t>~+$8M to +$10M</a:t>
                      </a:r>
                    </a:p>
                  </a:txBody>
                  <a:tcPr marL="54864" marR="54864" marT="27432" marB="27432" anchor="ctr">
                    <a:solidFill>
                      <a:srgbClr val="F2F4F8"/>
                    </a:solidFill>
                  </a:tcPr>
                </a:tc>
                <a:tc>
                  <a:txBody>
                    <a:bodyPr/>
                    <a:lstStyle/>
                    <a:p>
                      <a:r>
                        <a:rPr sz="1100" b="0">
                          <a:solidFill>
                            <a:srgbClr val="1F2A44"/>
                          </a:solidFill>
                          <a:latin typeface="Calibri"/>
                        </a:rPr>
                        <a:t>+18-24 mo</a:t>
                      </a:r>
                    </a:p>
                  </a:txBody>
                  <a:tcPr marL="54864" marR="54864" marT="27432" marB="27432" anchor="ctr">
                    <a:solidFill>
                      <a:srgbClr val="F2F4F8"/>
                    </a:solidFill>
                  </a:tcPr>
                </a:tc>
                <a:tc>
                  <a:txBody>
                    <a:bodyPr/>
                    <a:lstStyle/>
                    <a:p>
                      <a:r>
                        <a:rPr sz="1100" b="0">
                          <a:solidFill>
                            <a:srgbClr val="1F2A44"/>
                          </a:solidFill>
                          <a:latin typeface="Calibri"/>
                        </a:rPr>
                        <a:t>No</a:t>
                      </a:r>
                    </a:p>
                  </a:txBody>
                  <a:tcPr marL="54864" marR="54864" marT="27432" marB="27432" anchor="ctr">
                    <a:solidFill>
                      <a:srgbClr val="F2F4F8"/>
                    </a:solidFill>
                  </a:tcPr>
                </a:tc>
              </a:tr>
              <a:tr h="480060">
                <a:tc>
                  <a:txBody>
                    <a:bodyPr/>
                    <a:lstStyle/>
                    <a:p>
                      <a:r>
                        <a:rPr sz="1100" b="0">
                          <a:solidFill>
                            <a:srgbClr val="1F2A44"/>
                          </a:solidFill>
                          <a:latin typeface="Calibri"/>
                        </a:rPr>
                        <a:t>Contractor bids +20% over estimate labor</a:t>
                      </a:r>
                    </a:p>
                  </a:txBody>
                  <a:tcPr marL="54864" marR="54864" marT="27432" marB="27432" anchor="ctr">
                    <a:solidFill>
                      <a:srgbClr val="FFFFFF"/>
                    </a:solidFill>
                  </a:tcPr>
                </a:tc>
                <a:tc>
                  <a:txBody>
                    <a:bodyPr/>
                    <a:lstStyle/>
                    <a:p>
                      <a:r>
                        <a:rPr sz="1100" b="0">
                          <a:solidFill>
                            <a:srgbClr val="1F2A44"/>
                          </a:solidFill>
                          <a:latin typeface="Calibri"/>
                        </a:rPr>
                        <a:t>+$2.1M</a:t>
                      </a:r>
                    </a:p>
                  </a:txBody>
                  <a:tcPr marL="54864" marR="54864" marT="27432" marB="27432" anchor="ctr">
                    <a:solidFill>
                      <a:srgbClr val="FFFFFF"/>
                    </a:solidFill>
                  </a:tcPr>
                </a:tc>
                <a:tc>
                  <a:txBody>
                    <a:bodyPr/>
                    <a:lstStyle/>
                    <a:p>
                      <a:r>
                        <a:rPr sz="1100" b="0">
                          <a:solidFill>
                            <a:srgbClr val="1F2A44"/>
                          </a:solidFill>
                          <a:latin typeface="Calibri"/>
                        </a:rPr>
                        <a:t>0</a:t>
                      </a:r>
                    </a:p>
                  </a:txBody>
                  <a:tcPr marL="54864" marR="54864" marT="27432" marB="27432" anchor="ctr">
                    <a:solidFill>
                      <a:srgbClr val="FFFFFF"/>
                    </a:solidFill>
                  </a:tcPr>
                </a:tc>
                <a:tc>
                  <a:txBody>
                    <a:bodyPr/>
                    <a:lstStyle/>
                    <a:p>
                      <a:r>
                        <a:rPr sz="1100" b="0">
                          <a:solidFill>
                            <a:srgbClr val="1F2A44"/>
                          </a:solidFill>
                          <a:latin typeface="Calibri"/>
                        </a:rPr>
                        <a:t>Yes, alone</a:t>
                      </a:r>
                    </a:p>
                  </a:txBody>
                  <a:tcPr marL="54864" marR="54864" marT="27432" marB="27432" anchor="ctr">
                    <a:solidFill>
                      <a:srgbClr val="FFFFFF"/>
                    </a:solidFill>
                  </a:tcPr>
                </a:tc>
              </a:tr>
              <a:tr h="480060">
                <a:tc>
                  <a:txBody>
                    <a:bodyPr/>
                    <a:lstStyle/>
                    <a:p>
                      <a:r>
                        <a:rPr sz="1100" b="0">
                          <a:solidFill>
                            <a:srgbClr val="1F2A44"/>
                          </a:solidFill>
                          <a:latin typeface="Calibri"/>
                        </a:rPr>
                        <a:t>Combination: HEG midpoint + 12-month slip</a:t>
                      </a:r>
                    </a:p>
                  </a:txBody>
                  <a:tcPr marL="54864" marR="54864" marT="27432" marB="27432" anchor="ctr">
                    <a:solidFill>
                      <a:srgbClr val="F2F4F8"/>
                    </a:solidFill>
                  </a:tcPr>
                </a:tc>
                <a:tc>
                  <a:txBody>
                    <a:bodyPr/>
                    <a:lstStyle/>
                    <a:p>
                      <a:r>
                        <a:rPr sz="1100" b="0">
                          <a:solidFill>
                            <a:srgbClr val="1F2A44"/>
                          </a:solidFill>
                          <a:latin typeface="Calibri"/>
                        </a:rPr>
                        <a:t>~+$13M (to ~$70M)</a:t>
                      </a:r>
                    </a:p>
                  </a:txBody>
                  <a:tcPr marL="54864" marR="54864" marT="27432" marB="27432" anchor="ctr">
                    <a:solidFill>
                      <a:srgbClr val="F2F4F8"/>
                    </a:solidFill>
                  </a:tcPr>
                </a:tc>
                <a:tc>
                  <a:txBody>
                    <a:bodyPr/>
                    <a:lstStyle/>
                    <a:p>
                      <a:r>
                        <a:rPr sz="1100" b="0">
                          <a:solidFill>
                            <a:srgbClr val="1F2A44"/>
                          </a:solidFill>
                          <a:latin typeface="Calibri"/>
                        </a:rPr>
                        <a:t>+12 mo</a:t>
                      </a:r>
                    </a:p>
                  </a:txBody>
                  <a:tcPr marL="54864" marR="54864" marT="27432" marB="27432" anchor="ctr">
                    <a:solidFill>
                      <a:srgbClr val="F2F4F8"/>
                    </a:solidFill>
                  </a:tcPr>
                </a:tc>
                <a:tc>
                  <a:txBody>
                    <a:bodyPr/>
                    <a:lstStyle/>
                    <a:p>
                      <a:r>
                        <a:rPr sz="1100" b="0">
                          <a:solidFill>
                            <a:srgbClr val="1F2A44"/>
                          </a:solidFill>
                          <a:latin typeface="Calibri"/>
                        </a:rPr>
                        <a:t>No</a:t>
                      </a:r>
                    </a:p>
                  </a:txBody>
                  <a:tcPr marL="54864" marR="54864" marT="27432" marB="27432" anchor="ctr">
                    <a:solidFill>
                      <a:srgbClr val="F2F4F8"/>
                    </a:solidFill>
                  </a:tcPr>
                </a:tc>
              </a:tr>
              <a:tr h="480060">
                <a:tc>
                  <a:txBody>
                    <a:bodyPr/>
                    <a:lstStyle/>
                    <a:p>
                      <a:r>
                        <a:rPr sz="1100" b="0">
                          <a:solidFill>
                            <a:srgbClr val="1F2A44"/>
                          </a:solidFill>
                          <a:latin typeface="Calibri"/>
                        </a:rPr>
                        <a:t>Battery change orders at the LD cap (10%)</a:t>
                      </a:r>
                    </a:p>
                  </a:txBody>
                  <a:tcPr marL="54864" marR="54864" marT="27432" marB="27432" anchor="ctr">
                    <a:solidFill>
                      <a:srgbClr val="FFFFFF"/>
                    </a:solidFill>
                  </a:tcPr>
                </a:tc>
                <a:tc>
                  <a:txBody>
                    <a:bodyPr/>
                    <a:lstStyle/>
                    <a:p>
                      <a:r>
                        <a:rPr sz="1100" b="0">
                          <a:solidFill>
                            <a:srgbClr val="1F2A44"/>
                          </a:solidFill>
                          <a:latin typeface="Calibri"/>
                        </a:rPr>
                        <a:t>+$1.2M</a:t>
                      </a:r>
                    </a:p>
                  </a:txBody>
                  <a:tcPr marL="54864" marR="54864" marT="27432" marB="27432" anchor="ctr">
                    <a:solidFill>
                      <a:srgbClr val="FFFFFF"/>
                    </a:solidFill>
                  </a:tcPr>
                </a:tc>
                <a:tc>
                  <a:txBody>
                    <a:bodyPr/>
                    <a:lstStyle/>
                    <a:p>
                      <a:r>
                        <a:rPr sz="1100" b="0">
                          <a:solidFill>
                            <a:srgbClr val="1F2A44"/>
                          </a:solidFill>
                          <a:latin typeface="Calibri"/>
                        </a:rPr>
                        <a:t>0</a:t>
                      </a:r>
                    </a:p>
                  </a:txBody>
                  <a:tcPr marL="54864" marR="54864" marT="27432" marB="27432" anchor="ctr">
                    <a:solidFill>
                      <a:srgbClr val="FFFFFF"/>
                    </a:solidFill>
                  </a:tcPr>
                </a:tc>
                <a:tc>
                  <a:txBody>
                    <a:bodyPr/>
                    <a:lstStyle/>
                    <a:p>
                      <a:r>
                        <a:rPr sz="1100" b="0">
                          <a:solidFill>
                            <a:srgbClr val="1F2A44"/>
                          </a:solidFill>
                          <a:latin typeface="Calibri"/>
                        </a:rPr>
                        <a:t>Yes</a:t>
                      </a:r>
                    </a:p>
                  </a:txBody>
                  <a:tcPr marL="54864" marR="54864" marT="27432" marB="27432" anchor="ctr">
                    <a:solidFill>
                      <a:srgbClr val="FFFFFF"/>
                    </a:solidFill>
                  </a:tcPr>
                </a:tc>
              </a:tr>
            </a:tbl>
          </a:graphicData>
        </a:graphic>
      </p:graphicFrame>
      <p:sp>
        <p:nvSpPr>
          <p:cNvPr id="8" name="TextBox 7"/>
          <p:cNvSpPr txBox="1"/>
          <p:nvPr/>
        </p:nvSpPr>
        <p:spPr>
          <a:xfrm>
            <a:off x="548640" y="5303520"/>
            <a:ext cx="6949440" cy="914400"/>
          </a:xfrm>
          <a:prstGeom prst="rect">
            <a:avLst/>
          </a:prstGeom>
          <a:noFill/>
        </p:spPr>
        <p:txBody>
          <a:bodyPr wrap="square" lIns="45720" rIns="45720" tIns="27432" bIns="27432" anchor="t">
            <a:spAutoFit/>
          </a:bodyPr>
          <a:lstStyle/>
          <a:p>
            <a:pPr algn="l">
              <a:lnSpc>
                <a:spcPct val="105000"/>
              </a:lnSpc>
              <a:spcAft>
                <a:spcPts val="400"/>
              </a:spcAft>
            </a:pPr>
            <a:r>
              <a:rPr sz="1050" b="0" i="0">
                <a:solidFill>
                  <a:srgbClr val="6B7280"/>
                </a:solidFill>
                <a:latin typeface="Calibri"/>
              </a:rPr>
              <a:t>Untestable from the package: tariff or change-in-law pass-through on the Nomad price (Exhibit C terms), the AFUDC rate (assumed ~7% on CWIP), Station 496 outage premium (1.35 to 1.70 factor on affected hours), FEOC / ITC effect on net cost.</a:t>
            </a:r>
          </a:p>
        </p:txBody>
      </p:sp>
      <p:sp>
        <p:nvSpPr>
          <p:cNvPr id="9" name="TextBox 8"/>
          <p:cNvSpPr txBox="1"/>
          <p:nvPr/>
        </p:nvSpPr>
        <p:spPr>
          <a:xfrm>
            <a:off x="7772400" y="1371600"/>
            <a:ext cx="393192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Base rate: approved to actual</a:t>
            </a:r>
          </a:p>
        </p:txBody>
      </p:sp>
      <p:graphicFrame>
        <p:nvGraphicFramePr>
          <p:cNvPr id="10" name="Table 9"/>
          <p:cNvGraphicFramePr>
            <a:graphicFrameLocks noGrp="1"/>
          </p:cNvGraphicFramePr>
          <p:nvPr/>
        </p:nvGraphicFramePr>
        <p:xfrm>
          <a:off x="7772400" y="1783080"/>
          <a:ext cx="3931920" cy="2286000"/>
        </p:xfrm>
        <a:graphic>
          <a:graphicData uri="http://schemas.openxmlformats.org/drawingml/2006/table">
            <a:tbl>
              <a:tblPr firstRow="1" bandRow="1">
                <a:tableStyleId>{5C22544A-7EE6-4342-B048-85BDC9FD1C3A}</a:tableStyleId>
              </a:tblPr>
              <a:tblGrid>
                <a:gridCol w="2743200"/>
                <a:gridCol w="1188720"/>
              </a:tblGrid>
              <a:tr h="326571">
                <a:tc>
                  <a:txBody>
                    <a:bodyPr/>
                    <a:lstStyle/>
                    <a:p>
                      <a:r>
                        <a:rPr sz="1100" b="1">
                          <a:solidFill>
                            <a:srgbClr val="FFFFFF"/>
                          </a:solidFill>
                          <a:latin typeface="Calibri"/>
                        </a:rPr>
                        <a:t>Project</a:t>
                      </a:r>
                    </a:p>
                  </a:txBody>
                  <a:tcPr marL="54864" marR="54864" marT="27432" marB="27432">
                    <a:solidFill>
                      <a:srgbClr val="001E60"/>
                    </a:solidFill>
                  </a:tcPr>
                </a:tc>
                <a:tc>
                  <a:txBody>
                    <a:bodyPr/>
                    <a:lstStyle/>
                    <a:p>
                      <a:pPr algn="r"/>
                      <a:r>
                        <a:rPr sz="1100" b="1">
                          <a:solidFill>
                            <a:srgbClr val="FFFFFF"/>
                          </a:solidFill>
                          <a:latin typeface="Calibri"/>
                        </a:rPr>
                        <a:t>Uplift</a:t>
                      </a:r>
                    </a:p>
                  </a:txBody>
                  <a:tcPr marL="54864" marR="54864" marT="27432" marB="27432">
                    <a:solidFill>
                      <a:srgbClr val="001E60"/>
                    </a:solidFill>
                  </a:tcPr>
                </a:tc>
              </a:tr>
              <a:tr h="326571">
                <a:tc>
                  <a:txBody>
                    <a:bodyPr/>
                    <a:lstStyle/>
                    <a:p>
                      <a:r>
                        <a:rPr sz="1100" b="0">
                          <a:solidFill>
                            <a:srgbClr val="1F2A44"/>
                          </a:solidFill>
                          <a:latin typeface="Calibri"/>
                        </a:rPr>
                        <a:t>BGE Fairhaven 2.5 MW/9.7 MWh</a:t>
                      </a:r>
                    </a:p>
                  </a:txBody>
                  <a:tcPr marL="54864" marR="54864" marT="27432" marB="27432" anchor="ctr">
                    <a:solidFill>
                      <a:srgbClr val="FFFFFF"/>
                    </a:solidFill>
                  </a:tcPr>
                </a:tc>
                <a:tc>
                  <a:txBody>
                    <a:bodyPr/>
                    <a:lstStyle/>
                    <a:p>
                      <a:pPr algn="r"/>
                      <a:r>
                        <a:rPr sz="1100" b="0">
                          <a:solidFill>
                            <a:srgbClr val="1F2A44"/>
                          </a:solidFill>
                          <a:latin typeface="Calibri"/>
                        </a:rPr>
                        <a:t>+64%</a:t>
                      </a:r>
                    </a:p>
                  </a:txBody>
                  <a:tcPr marL="54864" marR="54864" marT="27432" marB="27432" anchor="ctr">
                    <a:solidFill>
                      <a:srgbClr val="FFFFFF"/>
                    </a:solidFill>
                  </a:tcPr>
                </a:tc>
              </a:tr>
              <a:tr h="326571">
                <a:tc>
                  <a:txBody>
                    <a:bodyPr/>
                    <a:lstStyle/>
                    <a:p>
                      <a:r>
                        <a:rPr sz="1100" b="0">
                          <a:solidFill>
                            <a:srgbClr val="1F2A44"/>
                          </a:solidFill>
                          <a:latin typeface="Calibri"/>
                        </a:rPr>
                        <a:t>HECO Waena 40 MW/160 MWh</a:t>
                      </a:r>
                    </a:p>
                  </a:txBody>
                  <a:tcPr marL="54864" marR="54864" marT="27432" marB="27432" anchor="ctr">
                    <a:solidFill>
                      <a:srgbClr val="F2F4F8"/>
                    </a:solidFill>
                  </a:tcPr>
                </a:tc>
                <a:tc>
                  <a:txBody>
                    <a:bodyPr/>
                    <a:lstStyle/>
                    <a:p>
                      <a:pPr algn="r"/>
                      <a:r>
                        <a:rPr sz="1100" b="0">
                          <a:solidFill>
                            <a:srgbClr val="1F2A44"/>
                          </a:solidFill>
                          <a:latin typeface="Calibri"/>
                        </a:rPr>
                        <a:t>+37%</a:t>
                      </a:r>
                    </a:p>
                  </a:txBody>
                  <a:tcPr marL="54864" marR="54864" marT="27432" marB="27432" anchor="ctr">
                    <a:solidFill>
                      <a:srgbClr val="F2F4F8"/>
                    </a:solidFill>
                  </a:tcPr>
                </a:tc>
              </a:tr>
              <a:tr h="326571">
                <a:tc>
                  <a:txBody>
                    <a:bodyPr/>
                    <a:lstStyle/>
                    <a:p>
                      <a:r>
                        <a:rPr sz="1100" b="0">
                          <a:solidFill>
                            <a:srgbClr val="1F2A44"/>
                          </a:solidFill>
                          <a:latin typeface="Calibri"/>
                        </a:rPr>
                        <a:t>SaskPower Regina 20 MW</a:t>
                      </a:r>
                    </a:p>
                  </a:txBody>
                  <a:tcPr marL="54864" marR="54864" marT="27432" marB="27432" anchor="ctr">
                    <a:solidFill>
                      <a:srgbClr val="FFFFFF"/>
                    </a:solidFill>
                  </a:tcPr>
                </a:tc>
                <a:tc>
                  <a:txBody>
                    <a:bodyPr/>
                    <a:lstStyle/>
                    <a:p>
                      <a:pPr algn="r"/>
                      <a:r>
                        <a:rPr sz="1100" b="0">
                          <a:solidFill>
                            <a:srgbClr val="1F2A44"/>
                          </a:solidFill>
                          <a:latin typeface="Calibri"/>
                        </a:rPr>
                        <a:t>+31%</a:t>
                      </a:r>
                    </a:p>
                  </a:txBody>
                  <a:tcPr marL="54864" marR="54864" marT="27432" marB="27432" anchor="ctr">
                    <a:solidFill>
                      <a:srgbClr val="FFFFFF"/>
                    </a:solidFill>
                  </a:tcPr>
                </a:tc>
              </a:tr>
              <a:tr h="326571">
                <a:tc>
                  <a:txBody>
                    <a:bodyPr/>
                    <a:lstStyle/>
                    <a:p>
                      <a:r>
                        <a:rPr sz="1100" b="0">
                          <a:solidFill>
                            <a:srgbClr val="1F2A44"/>
                          </a:solidFill>
                          <a:latin typeface="Calibri"/>
                        </a:rPr>
                        <a:t>Eversource Provincetown</a:t>
                      </a:r>
                    </a:p>
                  </a:txBody>
                  <a:tcPr marL="54864" marR="54864" marT="27432" marB="27432" anchor="ctr">
                    <a:solidFill>
                      <a:srgbClr val="F2F4F8"/>
                    </a:solidFill>
                  </a:tcPr>
                </a:tc>
                <a:tc>
                  <a:txBody>
                    <a:bodyPr/>
                    <a:lstStyle/>
                    <a:p>
                      <a:pPr algn="r"/>
                      <a:r>
                        <a:rPr sz="1100" b="0">
                          <a:solidFill>
                            <a:srgbClr val="1F2A44"/>
                          </a:solidFill>
                          <a:latin typeface="Calibri"/>
                        </a:rPr>
                        <a:t>+9% to +40%</a:t>
                      </a:r>
                    </a:p>
                  </a:txBody>
                  <a:tcPr marL="54864" marR="54864" marT="27432" marB="27432" anchor="ctr">
                    <a:solidFill>
                      <a:srgbClr val="F2F4F8"/>
                    </a:solidFill>
                  </a:tcPr>
                </a:tc>
              </a:tr>
              <a:tr h="326571">
                <a:tc>
                  <a:txBody>
                    <a:bodyPr/>
                    <a:lstStyle/>
                    <a:p>
                      <a:r>
                        <a:rPr sz="1100" b="0">
                          <a:solidFill>
                            <a:srgbClr val="1F2A44"/>
                          </a:solidFill>
                          <a:latin typeface="Calibri"/>
                        </a:rPr>
                        <a:t>Hyde Park, Dec 2023 to Sep 2026</a:t>
                      </a:r>
                    </a:p>
                  </a:txBody>
                  <a:tcPr marL="54864" marR="54864" marT="27432" marB="27432" anchor="ctr">
                    <a:solidFill>
                      <a:srgbClr val="FFFFFF"/>
                    </a:solidFill>
                  </a:tcPr>
                </a:tc>
                <a:tc>
                  <a:txBody>
                    <a:bodyPr/>
                    <a:lstStyle/>
                    <a:p>
                      <a:pPr algn="r"/>
                      <a:r>
                        <a:rPr sz="1100" b="0">
                          <a:solidFill>
                            <a:srgbClr val="1F2A44"/>
                          </a:solidFill>
                          <a:latin typeface="Calibri"/>
                        </a:rPr>
                        <a:t>+30%</a:t>
                      </a:r>
                    </a:p>
                  </a:txBody>
                  <a:tcPr marL="54864" marR="54864" marT="27432" marB="27432" anchor="ctr">
                    <a:solidFill>
                      <a:srgbClr val="FFFFFF"/>
                    </a:solidFill>
                  </a:tcPr>
                </a:tc>
              </a:tr>
              <a:tr h="326574">
                <a:tc>
                  <a:txBody>
                    <a:bodyPr/>
                    <a:lstStyle/>
                    <a:p>
                      <a:r>
                        <a:rPr sz="1100" b="0">
                          <a:solidFill>
                            <a:srgbClr val="1F2A44"/>
                          </a:solidFill>
                          <a:latin typeface="Calibri"/>
                        </a:rPr>
                        <a:t>Hyde Park, Rev 0 to Rev 3 (5 wks)</a:t>
                      </a:r>
                    </a:p>
                  </a:txBody>
                  <a:tcPr marL="54864" marR="54864" marT="27432" marB="27432" anchor="ctr">
                    <a:solidFill>
                      <a:srgbClr val="F2F4F8"/>
                    </a:solidFill>
                  </a:tcPr>
                </a:tc>
                <a:tc>
                  <a:txBody>
                    <a:bodyPr/>
                    <a:lstStyle/>
                    <a:p>
                      <a:pPr algn="r"/>
                      <a:r>
                        <a:rPr sz="1100" b="0">
                          <a:solidFill>
                            <a:srgbClr val="1F2A44"/>
                          </a:solidFill>
                          <a:latin typeface="Calibri"/>
                        </a:rPr>
                        <a:t>+21%</a:t>
                      </a:r>
                    </a:p>
                  </a:txBody>
                  <a:tcPr marL="54864" marR="54864" marT="27432" marB="27432" anchor="ctr">
                    <a:solidFill>
                      <a:srgbClr val="F2F4F8"/>
                    </a:solidFill>
                  </a:tcPr>
                </a:tc>
              </a:tr>
            </a:tbl>
          </a:graphicData>
        </a:graphic>
      </p:graphicFrame>
      <p:sp>
        <p:nvSpPr>
          <p:cNvPr id="11" name="TextBox 10"/>
          <p:cNvSpPr txBox="1"/>
          <p:nvPr/>
        </p:nvSpPr>
        <p:spPr>
          <a:xfrm>
            <a:off x="7772400" y="4206240"/>
            <a:ext cx="3931920" cy="2103120"/>
          </a:xfrm>
          <a:prstGeom prst="rect">
            <a:avLst/>
          </a:prstGeom>
          <a:noFill/>
        </p:spPr>
        <p:txBody>
          <a:bodyPr wrap="square" lIns="45720" rIns="45720" tIns="27432" bIns="27432" anchor="t">
            <a:spAutoFit/>
          </a:bodyPr>
          <a:lstStyle/>
          <a:p>
            <a:pPr algn="l">
              <a:lnSpc>
                <a:spcPct val="105000"/>
              </a:lnSpc>
              <a:spcAft>
                <a:spcPts val="400"/>
              </a:spcAft>
            </a:pPr>
            <a:r>
              <a:rPr sz="1150" b="0" i="0">
                <a:solidFill>
                  <a:srgbClr val="1F2A44"/>
                </a:solidFill>
                <a:latin typeface="Calibri"/>
              </a:rPr>
              <a:t>Rev 3 carries 17.9% risk plus contingency. The exception case for beating the base rate rests on three anchors: a fixed battery price, a Siemens price on the skids, and Haugland engaged pre-construction. Together they cover about a third of the cost. The other two thirds have no such anchor.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RED TEAM: FAILURE NARRATIVE AND EARLY-WARNING INDICATORS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Pre-mortem: June 2031, $74M, fifteen months late. What happened?</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26</a:t>
            </a:r>
          </a:p>
        </p:txBody>
      </p:sp>
      <p:sp>
        <p:nvSpPr>
          <p:cNvPr id="7" name="Rectangle 6"/>
          <p:cNvSpPr/>
          <p:nvPr/>
        </p:nvSpPr>
        <p:spPr>
          <a:xfrm>
            <a:off x="548640" y="1371600"/>
            <a:ext cx="5760720" cy="484632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54480"/>
            <a:ext cx="5394960" cy="4572000"/>
          </a:xfrm>
          <a:prstGeom prst="rect">
            <a:avLst/>
          </a:prstGeom>
          <a:noFill/>
        </p:spPr>
        <p:txBody>
          <a:bodyPr wrap="square" lIns="45720" rIns="45720" tIns="27432" bIns="27432" anchor="t">
            <a:spAutoFit/>
          </a:bodyPr>
          <a:lstStyle/>
          <a:p>
            <a:pPr algn="l">
              <a:lnSpc>
                <a:spcPct val="105000"/>
              </a:lnSpc>
              <a:spcAft>
                <a:spcPts val="400"/>
              </a:spcAft>
            </a:pPr>
            <a:r>
              <a:rPr sz="1250" b="0" i="1">
                <a:solidFill>
                  <a:srgbClr val="1F2A44"/>
                </a:solidFill>
                <a:latin typeface="Calibri"/>
              </a:rPr>
              <a:t>The ZBA conditioned approval on a smaller footprint and new screening; the civil package went back through Haugland in the winter of 2028. Spring 2027 borings found debris deeper than the 2014 closure set showed; the platform went from 2.5 ft of fill to piles, and the reconciliation that had never been done was done as a change order. Nomad's twelve containers arrived on time in January 2028 and sat in a rented yard for nine months. Station 496 cutovers needed night outages priced at straight time. AFUDC alone added $4M. The PAF had said Conceptual, -25/+50%. Everyone remembered $57M.</a:t>
            </a:r>
          </a:p>
        </p:txBody>
      </p:sp>
      <p:sp>
        <p:nvSpPr>
          <p:cNvPr id="9" name="TextBox 8"/>
          <p:cNvSpPr txBox="1"/>
          <p:nvPr/>
        </p:nvSpPr>
        <p:spPr>
          <a:xfrm>
            <a:off x="6583680" y="1371600"/>
            <a:ext cx="512064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Early-warning indicators</a:t>
            </a:r>
          </a:p>
        </p:txBody>
      </p:sp>
      <p:graphicFrame>
        <p:nvGraphicFramePr>
          <p:cNvPr id="10" name="Table 9"/>
          <p:cNvGraphicFramePr>
            <a:graphicFrameLocks noGrp="1"/>
          </p:cNvGraphicFramePr>
          <p:nvPr/>
        </p:nvGraphicFramePr>
        <p:xfrm>
          <a:off x="6583680" y="1783080"/>
          <a:ext cx="5120640" cy="4480560"/>
        </p:xfrm>
        <a:graphic>
          <a:graphicData uri="http://schemas.openxmlformats.org/drawingml/2006/table">
            <a:tbl>
              <a:tblPr firstRow="1" bandRow="1">
                <a:tableStyleId>{5C22544A-7EE6-4342-B048-85BDC9FD1C3A}</a:tableStyleId>
              </a:tblPr>
              <a:tblGrid>
                <a:gridCol w="3108960"/>
                <a:gridCol w="2011680"/>
              </a:tblGrid>
              <a:tr h="746760">
                <a:tc>
                  <a:txBody>
                    <a:bodyPr/>
                    <a:lstStyle/>
                    <a:p>
                      <a:r>
                        <a:rPr sz="1100" b="1">
                          <a:solidFill>
                            <a:srgbClr val="FFFFFF"/>
                          </a:solidFill>
                          <a:latin typeface="Calibri"/>
                        </a:rPr>
                        <a:t>Indicator</a:t>
                      </a:r>
                    </a:p>
                  </a:txBody>
                  <a:tcPr marL="54864" marR="54864" marT="27432" marB="27432">
                    <a:solidFill>
                      <a:srgbClr val="001E60"/>
                    </a:solidFill>
                  </a:tcPr>
                </a:tc>
                <a:tc>
                  <a:txBody>
                    <a:bodyPr/>
                    <a:lstStyle/>
                    <a:p>
                      <a:r>
                        <a:rPr sz="1100" b="1">
                          <a:solidFill>
                            <a:srgbClr val="FFFFFF"/>
                          </a:solidFill>
                          <a:latin typeface="Calibri"/>
                        </a:rPr>
                        <a:t>Caught today?</a:t>
                      </a:r>
                    </a:p>
                  </a:txBody>
                  <a:tcPr marL="54864" marR="54864" marT="27432" marB="27432">
                    <a:solidFill>
                      <a:srgbClr val="001E60"/>
                    </a:solidFill>
                  </a:tcPr>
                </a:tc>
              </a:tr>
              <a:tr h="746760">
                <a:tc>
                  <a:txBody>
                    <a:bodyPr/>
                    <a:lstStyle/>
                    <a:p>
                      <a:r>
                        <a:rPr sz="1100" b="0">
                          <a:solidFill>
                            <a:srgbClr val="1F2A44"/>
                          </a:solidFill>
                          <a:latin typeface="Calibri"/>
                        </a:rPr>
                        <a:t>Geotech report not issued by IFC-civil design freeze (mid-2027)</a:t>
                      </a:r>
                    </a:p>
                  </a:txBody>
                  <a:tcPr marL="54864" marR="54864" marT="27432" marB="27432" anchor="ctr">
                    <a:solidFill>
                      <a:srgbClr val="FFFFFF"/>
                    </a:solidFill>
                  </a:tcPr>
                </a:tc>
                <a:tc>
                  <a:txBody>
                    <a:bodyPr/>
                    <a:lstStyle/>
                    <a:p>
                      <a:r>
                        <a:rPr sz="1100" b="0">
                          <a:solidFill>
                            <a:srgbClr val="1F2A44"/>
                          </a:solidFill>
                          <a:latin typeface="Calibri"/>
                        </a:rPr>
                        <a:t>No: no P6 gate ties IFC to it</a:t>
                      </a:r>
                    </a:p>
                  </a:txBody>
                  <a:tcPr marL="54864" marR="54864" marT="27432" marB="27432" anchor="ctr">
                    <a:solidFill>
                      <a:srgbClr val="FFFFFF"/>
                    </a:solidFill>
                  </a:tcPr>
                </a:tc>
              </a:tr>
              <a:tr h="746760">
                <a:tc>
                  <a:txBody>
                    <a:bodyPr/>
                    <a:lstStyle/>
                    <a:p>
                      <a:r>
                        <a:rPr sz="1100" b="0">
                          <a:solidFill>
                            <a:srgbClr val="1F2A44"/>
                          </a:solidFill>
                          <a:latin typeface="Calibri"/>
                        </a:rPr>
                        <a:t>ZBA hearing date not set within 90 days of Article 80 filing</a:t>
                      </a:r>
                    </a:p>
                  </a:txBody>
                  <a:tcPr marL="54864" marR="54864" marT="27432" marB="27432" anchor="ctr">
                    <a:solidFill>
                      <a:srgbClr val="F2F4F8"/>
                    </a:solidFill>
                  </a:tcPr>
                </a:tc>
                <a:tc>
                  <a:txBody>
                    <a:bodyPr/>
                    <a:lstStyle/>
                    <a:p>
                      <a:r>
                        <a:rPr sz="1100" b="0">
                          <a:solidFill>
                            <a:srgbClr val="1F2A44"/>
                          </a:solidFill>
                          <a:latin typeface="Calibri"/>
                        </a:rPr>
                        <a:t>No: siting carries hours, not milestones</a:t>
                      </a:r>
                    </a:p>
                  </a:txBody>
                  <a:tcPr marL="54864" marR="54864" marT="27432" marB="27432" anchor="ctr">
                    <a:solidFill>
                      <a:srgbClr val="F2F4F8"/>
                    </a:solidFill>
                  </a:tcPr>
                </a:tc>
              </a:tr>
              <a:tr h="746760">
                <a:tc>
                  <a:txBody>
                    <a:bodyPr/>
                    <a:lstStyle/>
                    <a:p>
                      <a:r>
                        <a:rPr sz="1100" b="0">
                          <a:solidFill>
                            <a:srgbClr val="1F2A44"/>
                          </a:solidFill>
                          <a:latin typeface="Calibri"/>
                        </a:rPr>
                        <a:t>HEG reconciliation not closed before the PAF is drafted (Nov 2026)</a:t>
                      </a:r>
                    </a:p>
                  </a:txBody>
                  <a:tcPr marL="54864" marR="54864" marT="27432" marB="27432" anchor="ctr">
                    <a:solidFill>
                      <a:srgbClr val="FFFFFF"/>
                    </a:solidFill>
                  </a:tcPr>
                </a:tc>
                <a:tc>
                  <a:txBody>
                    <a:bodyPr/>
                    <a:lstStyle/>
                    <a:p>
                      <a:r>
                        <a:rPr sz="1100" b="0">
                          <a:solidFill>
                            <a:srgbClr val="1F2A44"/>
                          </a:solidFill>
                          <a:latin typeface="Calibri"/>
                        </a:rPr>
                        <a:t>Only if the CoE makes it a precondition</a:t>
                      </a:r>
                    </a:p>
                  </a:txBody>
                  <a:tcPr marL="54864" marR="54864" marT="27432" marB="27432" anchor="ctr">
                    <a:solidFill>
                      <a:srgbClr val="FFFFFF"/>
                    </a:solidFill>
                  </a:tcPr>
                </a:tc>
              </a:tr>
              <a:tr h="746760">
                <a:tc>
                  <a:txBody>
                    <a:bodyPr/>
                    <a:lstStyle/>
                    <a:p>
                      <a:r>
                        <a:rPr sz="1100" b="0">
                          <a:solidFill>
                            <a:srgbClr val="1F2A44"/>
                          </a:solidFill>
                          <a:latin typeface="Calibri"/>
                        </a:rPr>
                        <a:t>Nomad final-drawings milestone (13 Jul 2026) slipped</a:t>
                      </a:r>
                    </a:p>
                  </a:txBody>
                  <a:tcPr marL="54864" marR="54864" marT="27432" marB="27432" anchor="ctr">
                    <a:solidFill>
                      <a:srgbClr val="F2F4F8"/>
                    </a:solidFill>
                  </a:tcPr>
                </a:tc>
                <a:tc>
                  <a:txBody>
                    <a:bodyPr/>
                    <a:lstStyle/>
                    <a:p>
                      <a:r>
                        <a:rPr sz="1100" b="0">
                          <a:solidFill>
                            <a:srgbClr val="1F2A44"/>
                          </a:solidFill>
                          <a:latin typeface="Calibri"/>
                        </a:rPr>
                        <a:t>Partly: payments tracked, not downstream effect on GSU spec and civil</a:t>
                      </a:r>
                    </a:p>
                  </a:txBody>
                  <a:tcPr marL="54864" marR="54864" marT="27432" marB="27432" anchor="ctr">
                    <a:solidFill>
                      <a:srgbClr val="F2F4F8"/>
                    </a:solidFill>
                  </a:tcPr>
                </a:tc>
              </a:tr>
              <a:tr h="746760">
                <a:tc>
                  <a:txBody>
                    <a:bodyPr/>
                    <a:lstStyle/>
                    <a:p>
                      <a:r>
                        <a:rPr sz="1100" b="0">
                          <a:solidFill>
                            <a:srgbClr val="1F2A44"/>
                          </a:solidFill>
                          <a:latin typeface="Calibri"/>
                        </a:rPr>
                        <a:t>Station 496 outage plan not issued before construction pricing</a:t>
                      </a:r>
                    </a:p>
                  </a:txBody>
                  <a:tcPr marL="54864" marR="54864" marT="27432" marB="27432" anchor="ctr">
                    <a:solidFill>
                      <a:srgbClr val="FFFFFF"/>
                    </a:solidFill>
                  </a:tcPr>
                </a:tc>
                <a:tc>
                  <a:txBody>
                    <a:bodyPr/>
                    <a:lstStyle/>
                    <a:p>
                      <a:r>
                        <a:rPr sz="1100" b="0">
                          <a:solidFill>
                            <a:srgbClr val="1F2A44"/>
                          </a:solidFill>
                          <a:latin typeface="Calibri"/>
                        </a:rPr>
                        <a:t>No</a:t>
                      </a:r>
                    </a:p>
                  </a:txBody>
                  <a:tcPr marL="54864" marR="54864" marT="27432" marB="27432" anchor="ctr">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COST-SAVING OPPORTUNITIES ON HYDE PARK, SIZED FROM THE REV 3 ROWS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16 levers in three tiers: $5.0 to 7.1M in the estimate, $4.9 to 7.5M in scope decisions, and a tax credit larger than both</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27</a:t>
            </a:r>
          </a:p>
        </p:txBody>
      </p:sp>
      <p:graphicFrame>
        <p:nvGraphicFramePr>
          <p:cNvPr id="7" name="Table 6"/>
          <p:cNvGraphicFramePr>
            <a:graphicFrameLocks noGrp="1"/>
          </p:cNvGraphicFramePr>
          <p:nvPr/>
        </p:nvGraphicFramePr>
        <p:xfrm>
          <a:off x="548640" y="1280160"/>
          <a:ext cx="11064240" cy="4572000"/>
        </p:xfrm>
        <a:graphic>
          <a:graphicData uri="http://schemas.openxmlformats.org/drawingml/2006/table">
            <a:tbl>
              <a:tblPr firstRow="1" bandRow="1">
                <a:tableStyleId>{5C22544A-7EE6-4342-B048-85BDC9FD1C3A}</a:tableStyleId>
              </a:tblPr>
              <a:tblGrid>
                <a:gridCol w="320040"/>
                <a:gridCol w="3931920"/>
                <a:gridCol w="502920"/>
                <a:gridCol w="960120"/>
                <a:gridCol w="1005840"/>
                <a:gridCol w="548640"/>
                <a:gridCol w="3794760"/>
              </a:tblGrid>
              <a:tr h="268941">
                <a:tc>
                  <a:txBody>
                    <a:bodyPr/>
                    <a:lstStyle/>
                    <a:p>
                      <a:r>
                        <a:rPr sz="700" b="1">
                          <a:solidFill>
                            <a:srgbClr val="FFFFFF"/>
                          </a:solidFill>
                          <a:latin typeface="Calibri"/>
                        </a:rPr>
                        <a:t>#</a:t>
                      </a:r>
                    </a:p>
                  </a:txBody>
                  <a:tcPr marL="54864" marR="54864" marT="27432" marB="27432">
                    <a:solidFill>
                      <a:srgbClr val="001E60"/>
                    </a:solidFill>
                  </a:tcPr>
                </a:tc>
                <a:tc>
                  <a:txBody>
                    <a:bodyPr/>
                    <a:lstStyle/>
                    <a:p>
                      <a:r>
                        <a:rPr sz="700" b="1">
                          <a:solidFill>
                            <a:srgbClr val="FFFFFF"/>
                          </a:solidFill>
                          <a:latin typeface="Calibri"/>
                        </a:rPr>
                        <a:t>Lever</a:t>
                      </a:r>
                    </a:p>
                  </a:txBody>
                  <a:tcPr marL="54864" marR="54864" marT="27432" marB="27432">
                    <a:solidFill>
                      <a:srgbClr val="001E60"/>
                    </a:solidFill>
                  </a:tcPr>
                </a:tc>
                <a:tc>
                  <a:txBody>
                    <a:bodyPr/>
                    <a:lstStyle/>
                    <a:p>
                      <a:r>
                        <a:rPr sz="700" b="1">
                          <a:solidFill>
                            <a:srgbClr val="FFFFFF"/>
                          </a:solidFill>
                          <a:latin typeface="Calibri"/>
                        </a:rPr>
                        <a:t>Layer</a:t>
                      </a:r>
                    </a:p>
                  </a:txBody>
                  <a:tcPr marL="54864" marR="54864" marT="27432" marB="27432">
                    <a:solidFill>
                      <a:srgbClr val="001E60"/>
                    </a:solidFill>
                  </a:tcPr>
                </a:tc>
                <a:tc>
                  <a:txBody>
                    <a:bodyPr/>
                    <a:lstStyle/>
                    <a:p>
                      <a:pPr algn="r"/>
                      <a:r>
                        <a:rPr sz="700" b="1">
                          <a:solidFill>
                            <a:srgbClr val="FFFFFF"/>
                          </a:solidFill>
                          <a:latin typeface="Calibri"/>
                        </a:rPr>
                        <a:t>Direct</a:t>
                      </a:r>
                    </a:p>
                  </a:txBody>
                  <a:tcPr marL="54864" marR="54864" marT="27432" marB="27432">
                    <a:solidFill>
                      <a:srgbClr val="001E60"/>
                    </a:solidFill>
                  </a:tcPr>
                </a:tc>
                <a:tc>
                  <a:txBody>
                    <a:bodyPr/>
                    <a:lstStyle/>
                    <a:p>
                      <a:pPr algn="r"/>
                      <a:r>
                        <a:rPr sz="700" b="1">
                          <a:solidFill>
                            <a:srgbClr val="FFFFFF"/>
                          </a:solidFill>
                          <a:latin typeface="Calibri"/>
                        </a:rPr>
                        <a:t>Loaded*</a:t>
                      </a:r>
                    </a:p>
                  </a:txBody>
                  <a:tcPr marL="54864" marR="54864" marT="27432" marB="27432">
                    <a:solidFill>
                      <a:srgbClr val="001E60"/>
                    </a:solidFill>
                  </a:tcPr>
                </a:tc>
                <a:tc>
                  <a:txBody>
                    <a:bodyPr/>
                    <a:lstStyle/>
                    <a:p>
                      <a:r>
                        <a:rPr sz="700" b="1">
                          <a:solidFill>
                            <a:srgbClr val="FFFFFF"/>
                          </a:solidFill>
                          <a:latin typeface="Calibri"/>
                        </a:rPr>
                        <a:t>Conf.</a:t>
                      </a:r>
                    </a:p>
                  </a:txBody>
                  <a:tcPr marL="54864" marR="54864" marT="27432" marB="27432">
                    <a:solidFill>
                      <a:srgbClr val="001E60"/>
                    </a:solidFill>
                  </a:tcPr>
                </a:tc>
                <a:tc>
                  <a:txBody>
                    <a:bodyPr/>
                    <a:lstStyle/>
                    <a:p>
                      <a:r>
                        <a:rPr sz="700" b="1">
                          <a:solidFill>
                            <a:srgbClr val="FFFFFF"/>
                          </a:solidFill>
                          <a:latin typeface="Calibri"/>
                        </a:rPr>
                        <a:t>What must close</a:t>
                      </a:r>
                    </a:p>
                  </a:txBody>
                  <a:tcPr marL="54864" marR="54864" marT="27432" marB="27432">
                    <a:solidFill>
                      <a:srgbClr val="001E60"/>
                    </a:solidFill>
                  </a:tcPr>
                </a:tc>
              </a:tr>
              <a:tr h="268941">
                <a:tc>
                  <a:txBody>
                    <a:bodyPr/>
                    <a:lstStyle/>
                    <a:p>
                      <a:r>
                        <a:rPr sz="700" b="1">
                          <a:solidFill>
                            <a:srgbClr val="FFFFFF"/>
                          </a:solidFill>
                          <a:latin typeface="Calibri"/>
                        </a:rPr>
                        <a:t>A1</a:t>
                      </a:r>
                    </a:p>
                  </a:txBody>
                  <a:tcPr marL="54864" marR="54864" marT="27432" marB="27432" anchor="ctr">
                    <a:solidFill>
                      <a:srgbClr val="2A8A8C"/>
                    </a:solidFill>
                  </a:tcPr>
                </a:tc>
                <a:tc>
                  <a:txBody>
                    <a:bodyPr/>
                    <a:lstStyle/>
                    <a:p>
                      <a:r>
                        <a:rPr sz="700" b="0">
                          <a:solidFill>
                            <a:srgbClr val="1F2A44"/>
                          </a:solidFill>
                          <a:latin typeface="Calibri"/>
                        </a:rPr>
                        <a:t>Remove escalation carried on the fixed-price Nomad balance</a:t>
                      </a:r>
                    </a:p>
                  </a:txBody>
                  <a:tcPr marL="54864" marR="54864" marT="27432" marB="27432" anchor="ctr">
                    <a:solidFill>
                      <a:srgbClr val="FFFFFF"/>
                    </a:solidFill>
                  </a:tcPr>
                </a:tc>
                <a:tc>
                  <a:txBody>
                    <a:bodyPr/>
                    <a:lstStyle/>
                    <a:p>
                      <a:r>
                        <a:rPr sz="700" b="0">
                          <a:solidFill>
                            <a:srgbClr val="1F2A44"/>
                          </a:solidFill>
                          <a:latin typeface="Calibri"/>
                        </a:rPr>
                        <a:t>A</a:t>
                      </a:r>
                    </a:p>
                  </a:txBody>
                  <a:tcPr marL="54864" marR="54864" marT="27432" marB="27432" anchor="ctr">
                    <a:solidFill>
                      <a:srgbClr val="FFFFFF"/>
                    </a:solidFill>
                  </a:tcPr>
                </a:tc>
                <a:tc>
                  <a:txBody>
                    <a:bodyPr/>
                    <a:lstStyle/>
                    <a:p>
                      <a:pPr algn="r"/>
                      <a:r>
                        <a:rPr sz="700" b="0">
                          <a:solidFill>
                            <a:srgbClr val="1F2A44"/>
                          </a:solidFill>
                          <a:latin typeface="Calibri"/>
                        </a:rPr>
                        <a:t>$1.1M</a:t>
                      </a:r>
                    </a:p>
                  </a:txBody>
                  <a:tcPr marL="54864" marR="54864" marT="27432" marB="27432" anchor="ctr">
                    <a:solidFill>
                      <a:srgbClr val="FFFFFF"/>
                    </a:solidFill>
                  </a:tcPr>
                </a:tc>
                <a:tc>
                  <a:txBody>
                    <a:bodyPr/>
                    <a:lstStyle/>
                    <a:p>
                      <a:pPr algn="r"/>
                      <a:r>
                        <a:rPr sz="700" b="0">
                          <a:solidFill>
                            <a:srgbClr val="1F2A44"/>
                          </a:solidFill>
                          <a:latin typeface="Calibri"/>
                        </a:rPr>
                        <a:t>$1.6M</a:t>
                      </a:r>
                    </a:p>
                  </a:txBody>
                  <a:tcPr marL="54864" marR="54864" marT="27432" marB="27432" anchor="ctr">
                    <a:solidFill>
                      <a:srgbClr val="FFFFFF"/>
                    </a:solidFill>
                  </a:tcPr>
                </a:tc>
                <a:tc>
                  <a:txBody>
                    <a:bodyPr/>
                    <a:lstStyle/>
                    <a:p>
                      <a:r>
                        <a:rPr sz="700" b="0">
                          <a:solidFill>
                            <a:srgbClr val="1F2A44"/>
                          </a:solidFill>
                          <a:latin typeface="Calibri"/>
                        </a:rPr>
                        <a:t>High</a:t>
                      </a:r>
                    </a:p>
                  </a:txBody>
                  <a:tcPr marL="54864" marR="54864" marT="27432" marB="27432" anchor="ctr">
                    <a:solidFill>
                      <a:srgbClr val="FFFFFF"/>
                    </a:solidFill>
                  </a:tcPr>
                </a:tc>
                <a:tc>
                  <a:txBody>
                    <a:bodyPr/>
                    <a:lstStyle/>
                    <a:p>
                      <a:r>
                        <a:rPr sz="700" b="0">
                          <a:solidFill>
                            <a:srgbClr val="1F2A44"/>
                          </a:solidFill>
                          <a:latin typeface="Calibri"/>
                        </a:rPr>
                        <a:t>Exhibit C read for tariff and change-in-law pass-through; decision minuted</a:t>
                      </a:r>
                    </a:p>
                  </a:txBody>
                  <a:tcPr marL="54864" marR="54864" marT="27432" marB="27432" anchor="ctr">
                    <a:solidFill>
                      <a:srgbClr val="FFFFFF"/>
                    </a:solidFill>
                  </a:tcPr>
                </a:tc>
              </a:tr>
              <a:tr h="268941">
                <a:tc>
                  <a:txBody>
                    <a:bodyPr/>
                    <a:lstStyle/>
                    <a:p>
                      <a:r>
                        <a:rPr sz="700" b="1">
                          <a:solidFill>
                            <a:srgbClr val="FFFFFF"/>
                          </a:solidFill>
                          <a:latin typeface="Calibri"/>
                        </a:rPr>
                        <a:t>A2</a:t>
                      </a:r>
                    </a:p>
                  </a:txBody>
                  <a:tcPr marL="54864" marR="54864" marT="27432" marB="27432" anchor="ctr">
                    <a:solidFill>
                      <a:srgbClr val="2A8A8C"/>
                    </a:solidFill>
                  </a:tcPr>
                </a:tc>
                <a:tc>
                  <a:txBody>
                    <a:bodyPr/>
                    <a:lstStyle/>
                    <a:p>
                      <a:r>
                        <a:rPr sz="700" b="0">
                          <a:solidFill>
                            <a:srgbClr val="1F2A44"/>
                          </a:solidFill>
                          <a:latin typeface="Calibri"/>
                        </a:rPr>
                        <a:t>Risk register: labor-cost and material-cost lines overlap the escalation already in the directs</a:t>
                      </a:r>
                    </a:p>
                  </a:txBody>
                  <a:tcPr marL="54864" marR="54864" marT="27432" marB="27432" anchor="ctr">
                    <a:solidFill>
                      <a:srgbClr val="F2F4F8"/>
                    </a:solidFill>
                  </a:tcPr>
                </a:tc>
                <a:tc>
                  <a:txBody>
                    <a:bodyPr/>
                    <a:lstStyle/>
                    <a:p>
                      <a:r>
                        <a:rPr sz="700" b="0">
                          <a:solidFill>
                            <a:srgbClr val="1F2A44"/>
                          </a:solidFill>
                          <a:latin typeface="Calibri"/>
                        </a:rPr>
                        <a:t>J</a:t>
                      </a:r>
                    </a:p>
                  </a:txBody>
                  <a:tcPr marL="54864" marR="54864" marT="27432" marB="27432" anchor="ctr">
                    <a:solidFill>
                      <a:srgbClr val="F2F4F8"/>
                    </a:solidFill>
                  </a:tcPr>
                </a:tc>
                <a:tc>
                  <a:txBody>
                    <a:bodyPr/>
                    <a:lstStyle/>
                    <a:p>
                      <a:pPr algn="r"/>
                      <a:r>
                        <a:rPr sz="700" b="0">
                          <a:solidFill>
                            <a:srgbClr val="1F2A44"/>
                          </a:solidFill>
                          <a:latin typeface="Calibri"/>
                        </a:rPr>
                        <a:t>$1.3 to 1.8M</a:t>
                      </a:r>
                    </a:p>
                  </a:txBody>
                  <a:tcPr marL="54864" marR="54864" marT="27432" marB="27432" anchor="ctr">
                    <a:solidFill>
                      <a:srgbClr val="F2F4F8"/>
                    </a:solidFill>
                  </a:tcPr>
                </a:tc>
                <a:tc>
                  <a:txBody>
                    <a:bodyPr/>
                    <a:lstStyle/>
                    <a:p>
                      <a:pPr algn="r"/>
                      <a:r>
                        <a:rPr sz="700" b="0">
                          <a:solidFill>
                            <a:srgbClr val="1F2A44"/>
                          </a:solidFill>
                          <a:latin typeface="Calibri"/>
                        </a:rPr>
                        <a:t>$1.3 to 1.8M</a:t>
                      </a:r>
                    </a:p>
                  </a:txBody>
                  <a:tcPr marL="54864" marR="54864" marT="27432" marB="27432" anchor="ctr">
                    <a:solidFill>
                      <a:srgbClr val="F2F4F8"/>
                    </a:solidFill>
                  </a:tcPr>
                </a:tc>
                <a:tc>
                  <a:txBody>
                    <a:bodyPr/>
                    <a:lstStyle/>
                    <a:p>
                      <a:r>
                        <a:rPr sz="700" b="0">
                          <a:solidFill>
                            <a:srgbClr val="1F2A44"/>
                          </a:solidFill>
                          <a:latin typeface="Calibri"/>
                        </a:rPr>
                        <a:t>Medium</a:t>
                      </a:r>
                    </a:p>
                  </a:txBody>
                  <a:tcPr marL="54864" marR="54864" marT="27432" marB="27432" anchor="ctr">
                    <a:solidFill>
                      <a:srgbClr val="F2F4F8"/>
                    </a:solidFill>
                  </a:tcPr>
                </a:tc>
                <a:tc>
                  <a:txBody>
                    <a:bodyPr/>
                    <a:lstStyle/>
                    <a:p>
                      <a:r>
                        <a:rPr sz="700" b="0">
                          <a:solidFill>
                            <a:srgbClr val="1F2A44"/>
                          </a:solidFill>
                          <a:latin typeface="Calibri"/>
                        </a:rPr>
                        <a:t>Re-word the two lines as labor-shortage and tariff risks and size them on exposure, not on the whole material and labor base</a:t>
                      </a:r>
                    </a:p>
                  </a:txBody>
                  <a:tcPr marL="54864" marR="54864" marT="27432" marB="27432" anchor="ctr">
                    <a:solidFill>
                      <a:srgbClr val="F2F4F8"/>
                    </a:solidFill>
                  </a:tcPr>
                </a:tc>
              </a:tr>
              <a:tr h="268941">
                <a:tc>
                  <a:txBody>
                    <a:bodyPr/>
                    <a:lstStyle/>
                    <a:p>
                      <a:r>
                        <a:rPr sz="700" b="1">
                          <a:solidFill>
                            <a:srgbClr val="FFFFFF"/>
                          </a:solidFill>
                          <a:latin typeface="Calibri"/>
                        </a:rPr>
                        <a:t>A3</a:t>
                      </a:r>
                    </a:p>
                  </a:txBody>
                  <a:tcPr marL="54864" marR="54864" marT="27432" marB="27432" anchor="ctr">
                    <a:solidFill>
                      <a:srgbClr val="2A8A8C"/>
                    </a:solidFill>
                  </a:tcPr>
                </a:tc>
                <a:tc>
                  <a:txBody>
                    <a:bodyPr/>
                    <a:lstStyle/>
                    <a:p>
                      <a:r>
                        <a:rPr sz="700" b="0">
                          <a:solidFill>
                            <a:srgbClr val="1F2A44"/>
                          </a:solidFill>
                          <a:latin typeface="Calibri"/>
                        </a:rPr>
                        <a:t>Confirm the four written design-basis items Haugland priced as deducts</a:t>
                      </a:r>
                    </a:p>
                  </a:txBody>
                  <a:tcPr marL="54864" marR="54864" marT="27432" marB="27432" anchor="ctr">
                    <a:solidFill>
                      <a:srgbClr val="FFFFFF"/>
                    </a:solidFill>
                  </a:tcPr>
                </a:tc>
                <a:tc>
                  <a:txBody>
                    <a:bodyPr/>
                    <a:lstStyle/>
                    <a:p>
                      <a:r>
                        <a:rPr sz="700" b="0">
                          <a:solidFill>
                            <a:srgbClr val="1F2A44"/>
                          </a:solidFill>
                          <a:latin typeface="Calibri"/>
                        </a:rPr>
                        <a:t>D/E</a:t>
                      </a:r>
                    </a:p>
                  </a:txBody>
                  <a:tcPr marL="54864" marR="54864" marT="27432" marB="27432" anchor="ctr">
                    <a:solidFill>
                      <a:srgbClr val="FFFFFF"/>
                    </a:solidFill>
                  </a:tcPr>
                </a:tc>
                <a:tc>
                  <a:txBody>
                    <a:bodyPr/>
                    <a:lstStyle/>
                    <a:p>
                      <a:pPr algn="r"/>
                      <a:r>
                        <a:rPr sz="700" b="0">
                          <a:solidFill>
                            <a:srgbClr val="1F2A44"/>
                          </a:solidFill>
                          <a:latin typeface="Calibri"/>
                        </a:rPr>
                        <a:t>$0.6 to 0.8M</a:t>
                      </a:r>
                    </a:p>
                  </a:txBody>
                  <a:tcPr marL="54864" marR="54864" marT="27432" marB="27432" anchor="ctr">
                    <a:solidFill>
                      <a:srgbClr val="FFFFFF"/>
                    </a:solidFill>
                  </a:tcPr>
                </a:tc>
                <a:tc>
                  <a:txBody>
                    <a:bodyPr/>
                    <a:lstStyle/>
                    <a:p>
                      <a:pPr algn="r"/>
                      <a:r>
                        <a:rPr sz="700" b="0">
                          <a:solidFill>
                            <a:srgbClr val="1F2A44"/>
                          </a:solidFill>
                          <a:latin typeface="Calibri"/>
                        </a:rPr>
                        <a:t>$0.9 to 1.2M</a:t>
                      </a:r>
                    </a:p>
                  </a:txBody>
                  <a:tcPr marL="54864" marR="54864" marT="27432" marB="27432" anchor="ctr">
                    <a:solidFill>
                      <a:srgbClr val="FFFFFF"/>
                    </a:solidFill>
                  </a:tcPr>
                </a:tc>
                <a:tc>
                  <a:txBody>
                    <a:bodyPr/>
                    <a:lstStyle/>
                    <a:p>
                      <a:r>
                        <a:rPr sz="700" b="0">
                          <a:solidFill>
                            <a:srgbClr val="1F2A44"/>
                          </a:solidFill>
                          <a:latin typeface="Calibri"/>
                        </a:rPr>
                        <a:t>Medium</a:t>
                      </a:r>
                    </a:p>
                  </a:txBody>
                  <a:tcPr marL="54864" marR="54864" marT="27432" marB="27432" anchor="ctr">
                    <a:solidFill>
                      <a:srgbClr val="FFFFFF"/>
                    </a:solidFill>
                  </a:tcPr>
                </a:tc>
                <a:tc>
                  <a:txBody>
                    <a:bodyPr/>
                    <a:lstStyle/>
                    <a:p>
                      <a:r>
                        <a:rPr sz="700" b="0">
                          <a:solidFill>
                            <a:srgbClr val="1F2A44"/>
                          </a:solidFill>
                          <a:latin typeface="Calibri"/>
                        </a:rPr>
                        <a:t>Retaining wall, basin, duct bank and GSU count confirmed in writing; HEG map signed first</a:t>
                      </a:r>
                    </a:p>
                  </a:txBody>
                  <a:tcPr marL="54864" marR="54864" marT="27432" marB="27432" anchor="ctr">
                    <a:solidFill>
                      <a:srgbClr val="FFFFFF"/>
                    </a:solidFill>
                  </a:tcPr>
                </a:tc>
              </a:tr>
              <a:tr h="268941">
                <a:tc>
                  <a:txBody>
                    <a:bodyPr/>
                    <a:lstStyle/>
                    <a:p>
                      <a:r>
                        <a:rPr sz="700" b="1">
                          <a:solidFill>
                            <a:srgbClr val="FFFFFF"/>
                          </a:solidFill>
                          <a:latin typeface="Calibri"/>
                        </a:rPr>
                        <a:t>A4</a:t>
                      </a:r>
                    </a:p>
                  </a:txBody>
                  <a:tcPr marL="54864" marR="54864" marT="27432" marB="27432" anchor="ctr">
                    <a:solidFill>
                      <a:srgbClr val="2A8A8C"/>
                    </a:solidFill>
                  </a:tcPr>
                </a:tc>
                <a:tc>
                  <a:txBody>
                    <a:bodyPr/>
                    <a:lstStyle/>
                    <a:p>
                      <a:r>
                        <a:rPr sz="700" b="0">
                          <a:solidFill>
                            <a:srgbClr val="1F2A44"/>
                          </a:solidFill>
                          <a:latin typeface="Calibri"/>
                        </a:rPr>
                        <a:t>Engineering &amp; supervision overhead basis applied to the vendor turnkey contract</a:t>
                      </a:r>
                    </a:p>
                  </a:txBody>
                  <a:tcPr marL="54864" marR="54864" marT="27432" marB="27432" anchor="ctr">
                    <a:solidFill>
                      <a:srgbClr val="F2F4F8"/>
                    </a:solidFill>
                  </a:tcPr>
                </a:tc>
                <a:tc>
                  <a:txBody>
                    <a:bodyPr/>
                    <a:lstStyle/>
                    <a:p>
                      <a:r>
                        <a:rPr sz="700" b="0">
                          <a:solidFill>
                            <a:srgbClr val="1F2A44"/>
                          </a:solidFill>
                          <a:latin typeface="Calibri"/>
                        </a:rPr>
                        <a:t>L</a:t>
                      </a:r>
                    </a:p>
                  </a:txBody>
                  <a:tcPr marL="54864" marR="54864" marT="27432" marB="27432" anchor="ctr">
                    <a:solidFill>
                      <a:srgbClr val="F2F4F8"/>
                    </a:solidFill>
                  </a:tcPr>
                </a:tc>
                <a:tc>
                  <a:txBody>
                    <a:bodyPr/>
                    <a:lstStyle/>
                    <a:p>
                      <a:pPr algn="r"/>
                      <a:r>
                        <a:rPr sz="700" b="0">
                          <a:solidFill>
                            <a:srgbClr val="1F2A44"/>
                          </a:solidFill>
                          <a:latin typeface="Calibri"/>
                        </a:rPr>
                        <a:t>$1.0 to 2.1M</a:t>
                      </a:r>
                    </a:p>
                  </a:txBody>
                  <a:tcPr marL="54864" marR="54864" marT="27432" marB="27432" anchor="ctr">
                    <a:solidFill>
                      <a:srgbClr val="F2F4F8"/>
                    </a:solidFill>
                  </a:tcPr>
                </a:tc>
                <a:tc>
                  <a:txBody>
                    <a:bodyPr/>
                    <a:lstStyle/>
                    <a:p>
                      <a:pPr algn="r"/>
                      <a:r>
                        <a:rPr sz="700" b="0">
                          <a:solidFill>
                            <a:srgbClr val="1F2A44"/>
                          </a:solidFill>
                          <a:latin typeface="Calibri"/>
                        </a:rPr>
                        <a:t>$1.0 to 2.1M</a:t>
                      </a:r>
                    </a:p>
                  </a:txBody>
                  <a:tcPr marL="54864" marR="54864" marT="27432" marB="27432" anchor="ctr">
                    <a:solidFill>
                      <a:srgbClr val="F2F4F8"/>
                    </a:solidFill>
                  </a:tcPr>
                </a:tc>
                <a:tc>
                  <a:txBody>
                    <a:bodyPr/>
                    <a:lstStyle/>
                    <a:p>
                      <a:r>
                        <a:rPr sz="700" b="0">
                          <a:solidFill>
                            <a:srgbClr val="1F2A44"/>
                          </a:solidFill>
                          <a:latin typeface="Calibri"/>
                        </a:rPr>
                        <a:t>Low</a:t>
                      </a:r>
                    </a:p>
                  </a:txBody>
                  <a:tcPr marL="54864" marR="54864" marT="27432" marB="27432" anchor="ctr">
                    <a:solidFill>
                      <a:srgbClr val="F2F4F8"/>
                    </a:solidFill>
                  </a:tcPr>
                </a:tc>
                <a:tc>
                  <a:txBody>
                    <a:bodyPr/>
                    <a:lstStyle/>
                    <a:p>
                      <a:r>
                        <a:rPr sz="700" b="0">
                          <a:solidFill>
                            <a:srgbClr val="1F2A44"/>
                          </a:solidFill>
                          <a:latin typeface="Calibri"/>
                        </a:rPr>
                        <a:t>Ruling on whether the E&amp;S station basis applies to vendor-furnished, vendor-commissioned equipment</a:t>
                      </a:r>
                    </a:p>
                  </a:txBody>
                  <a:tcPr marL="54864" marR="54864" marT="27432" marB="27432" anchor="ctr">
                    <a:solidFill>
                      <a:srgbClr val="F2F4F8"/>
                    </a:solidFill>
                  </a:tcPr>
                </a:tc>
              </a:tr>
              <a:tr h="268941">
                <a:tc>
                  <a:txBody>
                    <a:bodyPr/>
                    <a:lstStyle/>
                    <a:p>
                      <a:r>
                        <a:rPr sz="700" b="1">
                          <a:solidFill>
                            <a:srgbClr val="FFFFFF"/>
                          </a:solidFill>
                          <a:latin typeface="Calibri"/>
                        </a:rPr>
                        <a:t>A5</a:t>
                      </a:r>
                    </a:p>
                  </a:txBody>
                  <a:tcPr marL="54864" marR="54864" marT="27432" marB="27432" anchor="ctr">
                    <a:solidFill>
                      <a:srgbClr val="2A8A8C"/>
                    </a:solidFill>
                  </a:tcPr>
                </a:tc>
                <a:tc>
                  <a:txBody>
                    <a:bodyPr/>
                    <a:lstStyle/>
                    <a:p>
                      <a:r>
                        <a:rPr sz="700" b="0">
                          <a:solidFill>
                            <a:srgbClr val="1F2A44"/>
                          </a:solidFill>
                          <a:latin typeface="Calibri"/>
                        </a:rPr>
                        <a:t>Commissioning hours carried from E-23-373 overlap Nomad's commissioning support</a:t>
                      </a:r>
                    </a:p>
                  </a:txBody>
                  <a:tcPr marL="54864" marR="54864" marT="27432" marB="27432" anchor="ctr">
                    <a:solidFill>
                      <a:srgbClr val="FFFFFF"/>
                    </a:solidFill>
                  </a:tcPr>
                </a:tc>
                <a:tc>
                  <a:txBody>
                    <a:bodyPr/>
                    <a:lstStyle/>
                    <a:p>
                      <a:r>
                        <a:rPr sz="700" b="0">
                          <a:solidFill>
                            <a:srgbClr val="1F2A44"/>
                          </a:solidFill>
                          <a:latin typeface="Calibri"/>
                        </a:rPr>
                        <a:t>G</a:t>
                      </a:r>
                    </a:p>
                  </a:txBody>
                  <a:tcPr marL="54864" marR="54864" marT="27432" marB="27432" anchor="ctr">
                    <a:solidFill>
                      <a:srgbClr val="FFFFFF"/>
                    </a:solidFill>
                  </a:tcPr>
                </a:tc>
                <a:tc>
                  <a:txBody>
                    <a:bodyPr/>
                    <a:lstStyle/>
                    <a:p>
                      <a:pPr algn="r"/>
                      <a:r>
                        <a:rPr sz="700" b="0">
                          <a:solidFill>
                            <a:srgbClr val="1F2A44"/>
                          </a:solidFill>
                          <a:latin typeface="Calibri"/>
                        </a:rPr>
                        <a:t>$0.1 to 0.3M</a:t>
                      </a:r>
                    </a:p>
                  </a:txBody>
                  <a:tcPr marL="54864" marR="54864" marT="27432" marB="27432" anchor="ctr">
                    <a:solidFill>
                      <a:srgbClr val="FFFFFF"/>
                    </a:solidFill>
                  </a:tcPr>
                </a:tc>
                <a:tc>
                  <a:txBody>
                    <a:bodyPr/>
                    <a:lstStyle/>
                    <a:p>
                      <a:pPr algn="r"/>
                      <a:r>
                        <a:rPr sz="700" b="0">
                          <a:solidFill>
                            <a:srgbClr val="1F2A44"/>
                          </a:solidFill>
                          <a:latin typeface="Calibri"/>
                        </a:rPr>
                        <a:t>$0.2 to 0.5M</a:t>
                      </a:r>
                    </a:p>
                  </a:txBody>
                  <a:tcPr marL="54864" marR="54864" marT="27432" marB="27432" anchor="ctr">
                    <a:solidFill>
                      <a:srgbClr val="FFFFFF"/>
                    </a:solidFill>
                  </a:tcPr>
                </a:tc>
                <a:tc>
                  <a:txBody>
                    <a:bodyPr/>
                    <a:lstStyle/>
                    <a:p>
                      <a:r>
                        <a:rPr sz="700" b="0">
                          <a:solidFill>
                            <a:srgbClr val="1F2A44"/>
                          </a:solidFill>
                          <a:latin typeface="Calibri"/>
                        </a:rPr>
                        <a:t>Low</a:t>
                      </a:r>
                    </a:p>
                  </a:txBody>
                  <a:tcPr marL="54864" marR="54864" marT="27432" marB="27432" anchor="ctr">
                    <a:solidFill>
                      <a:srgbClr val="FFFFFF"/>
                    </a:solidFill>
                  </a:tcPr>
                </a:tc>
                <a:tc>
                  <a:txBody>
                    <a:bodyPr/>
                    <a:lstStyle/>
                    <a:p>
                      <a:r>
                        <a:rPr sz="700" b="0">
                          <a:solidFill>
                            <a:srgbClr val="1F2A44"/>
                          </a:solidFill>
                          <a:latin typeface="Calibri"/>
                        </a:rPr>
                        <a:t>Commissioning split (Nomad vs owner) written into the test plan</a:t>
                      </a:r>
                    </a:p>
                  </a:txBody>
                  <a:tcPr marL="54864" marR="54864" marT="27432" marB="27432" anchor="ctr">
                    <a:solidFill>
                      <a:srgbClr val="FFFFFF"/>
                    </a:solidFill>
                  </a:tcPr>
                </a:tc>
              </a:tr>
              <a:tr h="268941">
                <a:tc>
                  <a:txBody>
                    <a:bodyPr/>
                    <a:lstStyle/>
                    <a:p>
                      <a:r>
                        <a:rPr sz="700" b="1">
                          <a:solidFill>
                            <a:srgbClr val="FFFFFF"/>
                          </a:solidFill>
                          <a:latin typeface="Calibri"/>
                        </a:rPr>
                        <a:t>B1</a:t>
                      </a:r>
                    </a:p>
                  </a:txBody>
                  <a:tcPr marL="54864" marR="54864" marT="27432" marB="27432" anchor="ctr">
                    <a:solidFill>
                      <a:srgbClr val="001E60"/>
                    </a:solidFill>
                  </a:tcPr>
                </a:tc>
                <a:tc>
                  <a:txBody>
                    <a:bodyPr/>
                    <a:lstStyle/>
                    <a:p>
                      <a:r>
                        <a:rPr sz="700" b="0">
                          <a:solidFill>
                            <a:srgbClr val="1F2A44"/>
                          </a:solidFill>
                          <a:latin typeface="Calibri"/>
                        </a:rPr>
                        <a:t>Station 496 relay program: 710 man-hours per relay</a:t>
                      </a:r>
                    </a:p>
                  </a:txBody>
                  <a:tcPr marL="54864" marR="54864" marT="27432" marB="27432" anchor="ctr">
                    <a:solidFill>
                      <a:srgbClr val="F2F4F8"/>
                    </a:solidFill>
                  </a:tcPr>
                </a:tc>
                <a:tc>
                  <a:txBody>
                    <a:bodyPr/>
                    <a:lstStyle/>
                    <a:p>
                      <a:r>
                        <a:rPr sz="700" b="0">
                          <a:solidFill>
                            <a:srgbClr val="1F2A44"/>
                          </a:solidFill>
                          <a:latin typeface="Calibri"/>
                        </a:rPr>
                        <a:t>F</a:t>
                      </a:r>
                    </a:p>
                  </a:txBody>
                  <a:tcPr marL="54864" marR="54864" marT="27432" marB="27432" anchor="ctr">
                    <a:solidFill>
                      <a:srgbClr val="F2F4F8"/>
                    </a:solidFill>
                  </a:tcPr>
                </a:tc>
                <a:tc>
                  <a:txBody>
                    <a:bodyPr/>
                    <a:lstStyle/>
                    <a:p>
                      <a:pPr algn="r"/>
                      <a:r>
                        <a:rPr sz="700" b="0">
                          <a:solidFill>
                            <a:srgbClr val="1F2A44"/>
                          </a:solidFill>
                          <a:latin typeface="Calibri"/>
                        </a:rPr>
                        <a:t>$1.1 to 1.5M</a:t>
                      </a:r>
                    </a:p>
                  </a:txBody>
                  <a:tcPr marL="54864" marR="54864" marT="27432" marB="27432" anchor="ctr">
                    <a:solidFill>
                      <a:srgbClr val="F2F4F8"/>
                    </a:solidFill>
                  </a:tcPr>
                </a:tc>
                <a:tc>
                  <a:txBody>
                    <a:bodyPr/>
                    <a:lstStyle/>
                    <a:p>
                      <a:pPr algn="r"/>
                      <a:r>
                        <a:rPr sz="700" b="0">
                          <a:solidFill>
                            <a:srgbClr val="1F2A44"/>
                          </a:solidFill>
                          <a:latin typeface="Calibri"/>
                        </a:rPr>
                        <a:t>$1.1 to 1.5M</a:t>
                      </a:r>
                    </a:p>
                  </a:txBody>
                  <a:tcPr marL="54864" marR="54864" marT="27432" marB="27432" anchor="ctr">
                    <a:solidFill>
                      <a:srgbClr val="F2F4F8"/>
                    </a:solidFill>
                  </a:tcPr>
                </a:tc>
                <a:tc>
                  <a:txBody>
                    <a:bodyPr/>
                    <a:lstStyle/>
                    <a:p>
                      <a:r>
                        <a:rPr sz="700" b="0">
                          <a:solidFill>
                            <a:srgbClr val="1F2A44"/>
                          </a:solidFill>
                          <a:latin typeface="Calibri"/>
                        </a:rPr>
                        <a:t>Medium</a:t>
                      </a:r>
                    </a:p>
                  </a:txBody>
                  <a:tcPr marL="54864" marR="54864" marT="27432" marB="27432" anchor="ctr">
                    <a:solidFill>
                      <a:srgbClr val="F2F4F8"/>
                    </a:solidFill>
                  </a:tcPr>
                </a:tc>
                <a:tc>
                  <a:txBody>
                    <a:bodyPr/>
                    <a:lstStyle/>
                    <a:p>
                      <a:r>
                        <a:rPr sz="700" b="0">
                          <a:solidFill>
                            <a:srgbClr val="1F2A44"/>
                          </a:solidFill>
                          <a:latin typeface="Calibri"/>
                        </a:rPr>
                        <a:t>Two recent relay-replacement actuals; confirm the four SEL-735 are protection, not metering; outage windows priced</a:t>
                      </a:r>
                    </a:p>
                  </a:txBody>
                  <a:tcPr marL="54864" marR="54864" marT="27432" marB="27432" anchor="ctr">
                    <a:solidFill>
                      <a:srgbClr val="F2F4F8"/>
                    </a:solidFill>
                  </a:tcPr>
                </a:tc>
              </a:tr>
              <a:tr h="268941">
                <a:tc>
                  <a:txBody>
                    <a:bodyPr/>
                    <a:lstStyle/>
                    <a:p>
                      <a:r>
                        <a:rPr sz="700" b="1">
                          <a:solidFill>
                            <a:srgbClr val="FFFFFF"/>
                          </a:solidFill>
                          <a:latin typeface="Calibri"/>
                        </a:rPr>
                        <a:t>B2</a:t>
                      </a:r>
                    </a:p>
                  </a:txBody>
                  <a:tcPr marL="54864" marR="54864" marT="27432" marB="27432" anchor="ctr">
                    <a:solidFill>
                      <a:srgbClr val="001E60"/>
                    </a:solidFill>
                  </a:tcPr>
                </a:tc>
                <a:tc>
                  <a:txBody>
                    <a:bodyPr/>
                    <a:lstStyle/>
                    <a:p>
                      <a:r>
                        <a:rPr sz="700" b="0">
                          <a:solidFill>
                            <a:srgbClr val="1F2A44"/>
                          </a:solidFill>
                          <a:latin typeface="Calibri"/>
                        </a:rPr>
                        <a:t>Interconnection topology: five feeder cabinets, four GSUs, four breakers, four metering sets for 10 MW</a:t>
                      </a:r>
                    </a:p>
                  </a:txBody>
                  <a:tcPr marL="54864" marR="54864" marT="27432" marB="27432" anchor="ctr">
                    <a:solidFill>
                      <a:srgbClr val="FFFFFF"/>
                    </a:solidFill>
                  </a:tcPr>
                </a:tc>
                <a:tc>
                  <a:txBody>
                    <a:bodyPr/>
                    <a:lstStyle/>
                    <a:p>
                      <a:r>
                        <a:rPr sz="700" b="0">
                          <a:solidFill>
                            <a:srgbClr val="1F2A44"/>
                          </a:solidFill>
                          <a:latin typeface="Calibri"/>
                        </a:rPr>
                        <a:t>C/D</a:t>
                      </a:r>
                    </a:p>
                  </a:txBody>
                  <a:tcPr marL="54864" marR="54864" marT="27432" marB="27432" anchor="ctr">
                    <a:solidFill>
                      <a:srgbClr val="FFFFFF"/>
                    </a:solidFill>
                  </a:tcPr>
                </a:tc>
                <a:tc>
                  <a:txBody>
                    <a:bodyPr/>
                    <a:lstStyle/>
                    <a:p>
                      <a:pPr algn="r"/>
                      <a:r>
                        <a:rPr sz="700" b="0">
                          <a:solidFill>
                            <a:srgbClr val="1F2A44"/>
                          </a:solidFill>
                          <a:latin typeface="Calibri"/>
                        </a:rPr>
                        <a:t>$0.9 to 1.4M</a:t>
                      </a:r>
                    </a:p>
                  </a:txBody>
                  <a:tcPr marL="54864" marR="54864" marT="27432" marB="27432" anchor="ctr">
                    <a:solidFill>
                      <a:srgbClr val="FFFFFF"/>
                    </a:solidFill>
                  </a:tcPr>
                </a:tc>
                <a:tc>
                  <a:txBody>
                    <a:bodyPr/>
                    <a:lstStyle/>
                    <a:p>
                      <a:pPr algn="r"/>
                      <a:r>
                        <a:rPr sz="700" b="0">
                          <a:solidFill>
                            <a:srgbClr val="1F2A44"/>
                          </a:solidFill>
                          <a:latin typeface="Calibri"/>
                        </a:rPr>
                        <a:t>$1.4 to 1.9M</a:t>
                      </a:r>
                    </a:p>
                  </a:txBody>
                  <a:tcPr marL="54864" marR="54864" marT="27432" marB="27432" anchor="ctr">
                    <a:solidFill>
                      <a:srgbClr val="FFFFFF"/>
                    </a:solidFill>
                  </a:tcPr>
                </a:tc>
                <a:tc>
                  <a:txBody>
                    <a:bodyPr/>
                    <a:lstStyle/>
                    <a:p>
                      <a:r>
                        <a:rPr sz="700" b="0">
                          <a:solidFill>
                            <a:srgbClr val="1F2A44"/>
                          </a:solidFill>
                          <a:latin typeface="Calibri"/>
                        </a:rPr>
                        <a:t>Low</a:t>
                      </a:r>
                    </a:p>
                  </a:txBody>
                  <a:tcPr marL="54864" marR="54864" marT="27432" marB="27432" anchor="ctr">
                    <a:solidFill>
                      <a:srgbClr val="FFFFFF"/>
                    </a:solidFill>
                  </a:tcPr>
                </a:tc>
                <a:tc>
                  <a:txBody>
                    <a:bodyPr/>
                    <a:lstStyle/>
                    <a:p>
                      <a:r>
                        <a:rPr sz="700" b="0">
                          <a:solidFill>
                            <a:srgbClr val="1F2A44"/>
                          </a:solidFill>
                          <a:latin typeface="Calibri"/>
                        </a:rPr>
                        <a:t>Hosting-capacity study: can two feeders take 5 MW each? If not, the item is zero</a:t>
                      </a:r>
                    </a:p>
                  </a:txBody>
                  <a:tcPr marL="54864" marR="54864" marT="27432" marB="27432" anchor="ctr">
                    <a:solidFill>
                      <a:srgbClr val="FFFFFF"/>
                    </a:solidFill>
                  </a:tcPr>
                </a:tc>
              </a:tr>
              <a:tr h="268941">
                <a:tc>
                  <a:txBody>
                    <a:bodyPr/>
                    <a:lstStyle/>
                    <a:p>
                      <a:r>
                        <a:rPr sz="700" b="1">
                          <a:solidFill>
                            <a:srgbClr val="FFFFFF"/>
                          </a:solidFill>
                          <a:latin typeface="Calibri"/>
                        </a:rPr>
                        <a:t>B3</a:t>
                      </a:r>
                    </a:p>
                  </a:txBody>
                  <a:tcPr marL="54864" marR="54864" marT="27432" marB="27432" anchor="ctr">
                    <a:solidFill>
                      <a:srgbClr val="001E60"/>
                    </a:solidFill>
                  </a:tcPr>
                </a:tc>
                <a:tc>
                  <a:txBody>
                    <a:bodyPr/>
                    <a:lstStyle/>
                    <a:p>
                      <a:r>
                        <a:rPr sz="700" b="0">
                          <a:solidFill>
                            <a:srgbClr val="1F2A44"/>
                          </a:solidFill>
                          <a:latin typeface="Calibri"/>
                        </a:rPr>
                        <a:t>Platform and retaining wall sized after geotech, not before</a:t>
                      </a:r>
                    </a:p>
                  </a:txBody>
                  <a:tcPr marL="54864" marR="54864" marT="27432" marB="27432" anchor="ctr">
                    <a:solidFill>
                      <a:srgbClr val="F2F4F8"/>
                    </a:solidFill>
                  </a:tcPr>
                </a:tc>
                <a:tc>
                  <a:txBody>
                    <a:bodyPr/>
                    <a:lstStyle/>
                    <a:p>
                      <a:r>
                        <a:rPr sz="700" b="0">
                          <a:solidFill>
                            <a:srgbClr val="1F2A44"/>
                          </a:solidFill>
                          <a:latin typeface="Calibri"/>
                        </a:rPr>
                        <a:t>E</a:t>
                      </a:r>
                    </a:p>
                  </a:txBody>
                  <a:tcPr marL="54864" marR="54864" marT="27432" marB="27432" anchor="ctr">
                    <a:solidFill>
                      <a:srgbClr val="F2F4F8"/>
                    </a:solidFill>
                  </a:tcPr>
                </a:tc>
                <a:tc>
                  <a:txBody>
                    <a:bodyPr/>
                    <a:lstStyle/>
                    <a:p>
                      <a:pPr algn="r"/>
                      <a:r>
                        <a:rPr sz="700" b="0">
                          <a:solidFill>
                            <a:srgbClr val="1F2A44"/>
                          </a:solidFill>
                          <a:latin typeface="Calibri"/>
                        </a:rPr>
                        <a:t>$0.3 to 0.8M</a:t>
                      </a:r>
                    </a:p>
                  </a:txBody>
                  <a:tcPr marL="54864" marR="54864" marT="27432" marB="27432" anchor="ctr">
                    <a:solidFill>
                      <a:srgbClr val="F2F4F8"/>
                    </a:solidFill>
                  </a:tcPr>
                </a:tc>
                <a:tc>
                  <a:txBody>
                    <a:bodyPr/>
                    <a:lstStyle/>
                    <a:p>
                      <a:pPr algn="r"/>
                      <a:r>
                        <a:rPr sz="700" b="0">
                          <a:solidFill>
                            <a:srgbClr val="1F2A44"/>
                          </a:solidFill>
                          <a:latin typeface="Calibri"/>
                        </a:rPr>
                        <a:t>$0.4 to 1.2M</a:t>
                      </a:r>
                    </a:p>
                  </a:txBody>
                  <a:tcPr marL="54864" marR="54864" marT="27432" marB="27432" anchor="ctr">
                    <a:solidFill>
                      <a:srgbClr val="F2F4F8"/>
                    </a:solidFill>
                  </a:tcPr>
                </a:tc>
                <a:tc>
                  <a:txBody>
                    <a:bodyPr/>
                    <a:lstStyle/>
                    <a:p>
                      <a:r>
                        <a:rPr sz="700" b="0">
                          <a:solidFill>
                            <a:srgbClr val="1F2A44"/>
                          </a:solidFill>
                          <a:latin typeface="Calibri"/>
                        </a:rPr>
                        <a:t>Low</a:t>
                      </a:r>
                    </a:p>
                  </a:txBody>
                  <a:tcPr marL="54864" marR="54864" marT="27432" marB="27432" anchor="ctr">
                    <a:solidFill>
                      <a:srgbClr val="F2F4F8"/>
                    </a:solidFill>
                  </a:tcPr>
                </a:tc>
                <a:tc>
                  <a:txBody>
                    <a:bodyPr/>
                    <a:lstStyle/>
                    <a:p>
                      <a:r>
                        <a:rPr sz="700" b="0">
                          <a:solidFill>
                            <a:srgbClr val="1F2A44"/>
                          </a:solidFill>
                          <a:latin typeface="Calibri"/>
                        </a:rPr>
                        <a:t>Geotech report; MassDEP SW45 post-closure permit conditions; NFPA 855 spacing</a:t>
                      </a:r>
                    </a:p>
                  </a:txBody>
                  <a:tcPr marL="54864" marR="54864" marT="27432" marB="27432" anchor="ctr">
                    <a:solidFill>
                      <a:srgbClr val="F2F4F8"/>
                    </a:solidFill>
                  </a:tcPr>
                </a:tc>
              </a:tr>
              <a:tr h="268941">
                <a:tc>
                  <a:txBody>
                    <a:bodyPr/>
                    <a:lstStyle/>
                    <a:p>
                      <a:r>
                        <a:rPr sz="700" b="1">
                          <a:solidFill>
                            <a:srgbClr val="FFFFFF"/>
                          </a:solidFill>
                          <a:latin typeface="Calibri"/>
                        </a:rPr>
                        <a:t>B4</a:t>
                      </a:r>
                    </a:p>
                  </a:txBody>
                  <a:tcPr marL="54864" marR="54864" marT="27432" marB="27432" anchor="ctr">
                    <a:solidFill>
                      <a:srgbClr val="001E60"/>
                    </a:solidFill>
                  </a:tcPr>
                </a:tc>
                <a:tc>
                  <a:txBody>
                    <a:bodyPr/>
                    <a:lstStyle/>
                    <a:p>
                      <a:r>
                        <a:rPr sz="700" b="0">
                          <a:solidFill>
                            <a:srgbClr val="1F2A44"/>
                          </a:solidFill>
                          <a:latin typeface="Calibri"/>
                        </a:rPr>
                        <a:t>Battery installation labor from a crew build-up instead of 25% of a 2023 total; fire suppression bought twice?</a:t>
                      </a:r>
                    </a:p>
                  </a:txBody>
                  <a:tcPr marL="54864" marR="54864" marT="27432" marB="27432" anchor="ctr">
                    <a:solidFill>
                      <a:srgbClr val="FFFFFF"/>
                    </a:solidFill>
                  </a:tcPr>
                </a:tc>
                <a:tc>
                  <a:txBody>
                    <a:bodyPr/>
                    <a:lstStyle/>
                    <a:p>
                      <a:r>
                        <a:rPr sz="700" b="0">
                          <a:solidFill>
                            <a:srgbClr val="1F2A44"/>
                          </a:solidFill>
                          <a:latin typeface="Calibri"/>
                        </a:rPr>
                        <a:t>B</a:t>
                      </a:r>
                    </a:p>
                  </a:txBody>
                  <a:tcPr marL="54864" marR="54864" marT="27432" marB="27432" anchor="ctr">
                    <a:solidFill>
                      <a:srgbClr val="FFFFFF"/>
                    </a:solidFill>
                  </a:tcPr>
                </a:tc>
                <a:tc>
                  <a:txBody>
                    <a:bodyPr/>
                    <a:lstStyle/>
                    <a:p>
                      <a:pPr algn="r"/>
                      <a:r>
                        <a:rPr sz="700" b="0">
                          <a:solidFill>
                            <a:srgbClr val="1F2A44"/>
                          </a:solidFill>
                          <a:latin typeface="Calibri"/>
                        </a:rPr>
                        <a:t>$0.5 to 0.7M</a:t>
                      </a:r>
                    </a:p>
                  </a:txBody>
                  <a:tcPr marL="54864" marR="54864" marT="27432" marB="27432" anchor="ctr">
                    <a:solidFill>
                      <a:srgbClr val="FFFFFF"/>
                    </a:solidFill>
                  </a:tcPr>
                </a:tc>
                <a:tc>
                  <a:txBody>
                    <a:bodyPr/>
                    <a:lstStyle/>
                    <a:p>
                      <a:pPr algn="r"/>
                      <a:r>
                        <a:rPr sz="700" b="0">
                          <a:solidFill>
                            <a:srgbClr val="1F2A44"/>
                          </a:solidFill>
                          <a:latin typeface="Calibri"/>
                        </a:rPr>
                        <a:t>$0.7 to 1.1M</a:t>
                      </a:r>
                    </a:p>
                  </a:txBody>
                  <a:tcPr marL="54864" marR="54864" marT="27432" marB="27432" anchor="ctr">
                    <a:solidFill>
                      <a:srgbClr val="FFFFFF"/>
                    </a:solidFill>
                  </a:tcPr>
                </a:tc>
                <a:tc>
                  <a:txBody>
                    <a:bodyPr/>
                    <a:lstStyle/>
                    <a:p>
                      <a:r>
                        <a:rPr sz="700" b="0">
                          <a:solidFill>
                            <a:srgbClr val="1F2A44"/>
                          </a:solidFill>
                          <a:latin typeface="Calibri"/>
                        </a:rPr>
                        <a:t>Medium</a:t>
                      </a:r>
                    </a:p>
                  </a:txBody>
                  <a:tcPr marL="54864" marR="54864" marT="27432" marB="27432" anchor="ctr">
                    <a:solidFill>
                      <a:srgbClr val="FFFFFF"/>
                    </a:solidFill>
                  </a:tcPr>
                </a:tc>
                <a:tc>
                  <a:txBody>
                    <a:bodyPr/>
                    <a:lstStyle/>
                    <a:p>
                      <a:r>
                        <a:rPr sz="700" b="0">
                          <a:solidFill>
                            <a:srgbClr val="1F2A44"/>
                          </a:solidFill>
                          <a:latin typeface="Calibri"/>
                        </a:rPr>
                        <a:t>Crew build-up: crane set, anchoring, DC and AC terminations per Voyager unit; confirm whether the Voyager enclosure carries its own suppression ($132K carried)</a:t>
                      </a:r>
                    </a:p>
                  </a:txBody>
                  <a:tcPr marL="54864" marR="54864" marT="27432" marB="27432" anchor="ctr">
                    <a:solidFill>
                      <a:srgbClr val="FFFFFF"/>
                    </a:solidFill>
                  </a:tcPr>
                </a:tc>
              </a:tr>
              <a:tr h="268941">
                <a:tc>
                  <a:txBody>
                    <a:bodyPr/>
                    <a:lstStyle/>
                    <a:p>
                      <a:r>
                        <a:rPr sz="700" b="1">
                          <a:solidFill>
                            <a:srgbClr val="FFFFFF"/>
                          </a:solidFill>
                          <a:latin typeface="Calibri"/>
                        </a:rPr>
                        <a:t>B5</a:t>
                      </a:r>
                    </a:p>
                  </a:txBody>
                  <a:tcPr marL="54864" marR="54864" marT="27432" marB="27432" anchor="ctr">
                    <a:solidFill>
                      <a:srgbClr val="001E60"/>
                    </a:solidFill>
                  </a:tcPr>
                </a:tc>
                <a:tc>
                  <a:txBody>
                    <a:bodyPr/>
                    <a:lstStyle/>
                    <a:p>
                      <a:r>
                        <a:rPr sz="700" b="0">
                          <a:solidFill>
                            <a:srgbClr val="1F2A44"/>
                          </a:solidFill>
                          <a:latin typeface="Calibri"/>
                        </a:rPr>
                        <a:t>Disconnect switches and PT cutouts priced as separate lines although the Siemens skids carry them</a:t>
                      </a:r>
                    </a:p>
                  </a:txBody>
                  <a:tcPr marL="54864" marR="54864" marT="27432" marB="27432" anchor="ctr">
                    <a:solidFill>
                      <a:srgbClr val="F2F4F8"/>
                    </a:solidFill>
                  </a:tcPr>
                </a:tc>
                <a:tc>
                  <a:txBody>
                    <a:bodyPr/>
                    <a:lstStyle/>
                    <a:p>
                      <a:r>
                        <a:rPr sz="700" b="0">
                          <a:solidFill>
                            <a:srgbClr val="1F2A44"/>
                          </a:solidFill>
                          <a:latin typeface="Calibri"/>
                        </a:rPr>
                        <a:t>D</a:t>
                      </a:r>
                    </a:p>
                  </a:txBody>
                  <a:tcPr marL="54864" marR="54864" marT="27432" marB="27432" anchor="ctr">
                    <a:solidFill>
                      <a:srgbClr val="F2F4F8"/>
                    </a:solidFill>
                  </a:tcPr>
                </a:tc>
                <a:tc>
                  <a:txBody>
                    <a:bodyPr/>
                    <a:lstStyle/>
                    <a:p>
                      <a:pPr algn="r"/>
                      <a:r>
                        <a:rPr sz="700" b="0">
                          <a:solidFill>
                            <a:srgbClr val="1F2A44"/>
                          </a:solidFill>
                          <a:latin typeface="Calibri"/>
                        </a:rPr>
                        <a:t>$0.3M</a:t>
                      </a:r>
                    </a:p>
                  </a:txBody>
                  <a:tcPr marL="54864" marR="54864" marT="27432" marB="27432" anchor="ctr">
                    <a:solidFill>
                      <a:srgbClr val="F2F4F8"/>
                    </a:solidFill>
                  </a:tcPr>
                </a:tc>
                <a:tc>
                  <a:txBody>
                    <a:bodyPr/>
                    <a:lstStyle/>
                    <a:p>
                      <a:pPr algn="r"/>
                      <a:r>
                        <a:rPr sz="700" b="0">
                          <a:solidFill>
                            <a:srgbClr val="1F2A44"/>
                          </a:solidFill>
                          <a:latin typeface="Calibri"/>
                        </a:rPr>
                        <a:t>$0.4M</a:t>
                      </a:r>
                    </a:p>
                  </a:txBody>
                  <a:tcPr marL="54864" marR="54864" marT="27432" marB="27432" anchor="ctr">
                    <a:solidFill>
                      <a:srgbClr val="F2F4F8"/>
                    </a:solidFill>
                  </a:tcPr>
                </a:tc>
                <a:tc>
                  <a:txBody>
                    <a:bodyPr/>
                    <a:lstStyle/>
                    <a:p>
                      <a:r>
                        <a:rPr sz="700" b="0">
                          <a:solidFill>
                            <a:srgbClr val="1F2A44"/>
                          </a:solidFill>
                          <a:latin typeface="Calibri"/>
                        </a:rPr>
                        <a:t>High</a:t>
                      </a:r>
                    </a:p>
                  </a:txBody>
                  <a:tcPr marL="54864" marR="54864" marT="27432" marB="27432" anchor="ctr">
                    <a:solidFill>
                      <a:srgbClr val="F2F4F8"/>
                    </a:solidFill>
                  </a:tcPr>
                </a:tc>
                <a:tc>
                  <a:txBody>
                    <a:bodyPr/>
                    <a:lstStyle/>
                    <a:p>
                      <a:r>
                        <a:rPr sz="700" b="0">
                          <a:solidFill>
                            <a:srgbClr val="1F2A44"/>
                          </a:solidFill>
                          <a:latin typeface="Calibri"/>
                        </a:rPr>
                        <a:t>Strike lines 07.03.02.04, 06.02.09.00 and the PT cutouts once Siemens confirms the skid scope in writing</a:t>
                      </a:r>
                    </a:p>
                  </a:txBody>
                  <a:tcPr marL="54864" marR="54864" marT="27432" marB="27432" anchor="ctr">
                    <a:solidFill>
                      <a:srgbClr val="F2F4F8"/>
                    </a:solidFill>
                  </a:tcPr>
                </a:tc>
              </a:tr>
              <a:tr h="268941">
                <a:tc>
                  <a:txBody>
                    <a:bodyPr/>
                    <a:lstStyle/>
                    <a:p>
                      <a:r>
                        <a:rPr sz="700" b="1">
                          <a:solidFill>
                            <a:srgbClr val="FFFFFF"/>
                          </a:solidFill>
                          <a:latin typeface="Calibri"/>
                        </a:rPr>
                        <a:t>B6</a:t>
                      </a:r>
                    </a:p>
                  </a:txBody>
                  <a:tcPr marL="54864" marR="54864" marT="27432" marB="27432" anchor="ctr">
                    <a:solidFill>
                      <a:srgbClr val="001E60"/>
                    </a:solidFill>
                  </a:tcPr>
                </a:tc>
                <a:tc>
                  <a:txBody>
                    <a:bodyPr/>
                    <a:lstStyle/>
                    <a:p>
                      <a:r>
                        <a:rPr sz="700" b="0">
                          <a:solidFill>
                            <a:srgbClr val="1F2A44"/>
                          </a:solidFill>
                          <a:latin typeface="Calibri"/>
                        </a:rPr>
                        <a:t>GSU installation hours: 524 man-hours per pad-mount; count to be settled (four carried, twelve mentioned)</a:t>
                      </a:r>
                    </a:p>
                  </a:txBody>
                  <a:tcPr marL="54864" marR="54864" marT="27432" marB="27432" anchor="ctr">
                    <a:solidFill>
                      <a:srgbClr val="FFFFFF"/>
                    </a:solidFill>
                  </a:tcPr>
                </a:tc>
                <a:tc>
                  <a:txBody>
                    <a:bodyPr/>
                    <a:lstStyle/>
                    <a:p>
                      <a:r>
                        <a:rPr sz="700" b="0">
                          <a:solidFill>
                            <a:srgbClr val="1F2A44"/>
                          </a:solidFill>
                          <a:latin typeface="Calibri"/>
                        </a:rPr>
                        <a:t>C</a:t>
                      </a:r>
                    </a:p>
                  </a:txBody>
                  <a:tcPr marL="54864" marR="54864" marT="27432" marB="27432" anchor="ctr">
                    <a:solidFill>
                      <a:srgbClr val="FFFFFF"/>
                    </a:solidFill>
                  </a:tcPr>
                </a:tc>
                <a:tc>
                  <a:txBody>
                    <a:bodyPr/>
                    <a:lstStyle/>
                    <a:p>
                      <a:pPr algn="r"/>
                      <a:r>
                        <a:rPr sz="700" b="0">
                          <a:solidFill>
                            <a:srgbClr val="1F2A44"/>
                          </a:solidFill>
                          <a:latin typeface="Calibri"/>
                        </a:rPr>
                        <a:t>$0.2 to 0.2M</a:t>
                      </a:r>
                    </a:p>
                  </a:txBody>
                  <a:tcPr marL="54864" marR="54864" marT="27432" marB="27432" anchor="ctr">
                    <a:solidFill>
                      <a:srgbClr val="FFFFFF"/>
                    </a:solidFill>
                  </a:tcPr>
                </a:tc>
                <a:tc>
                  <a:txBody>
                    <a:bodyPr/>
                    <a:lstStyle/>
                    <a:p>
                      <a:pPr algn="r"/>
                      <a:r>
                        <a:rPr sz="700" b="0">
                          <a:solidFill>
                            <a:srgbClr val="1F2A44"/>
                          </a:solidFill>
                          <a:latin typeface="Calibri"/>
                        </a:rPr>
                        <a:t>$0.3 to 0.3M</a:t>
                      </a:r>
                    </a:p>
                  </a:txBody>
                  <a:tcPr marL="54864" marR="54864" marT="27432" marB="27432" anchor="ctr">
                    <a:solidFill>
                      <a:srgbClr val="FFFFFF"/>
                    </a:solidFill>
                  </a:tcPr>
                </a:tc>
                <a:tc>
                  <a:txBody>
                    <a:bodyPr/>
                    <a:lstStyle/>
                    <a:p>
                      <a:r>
                        <a:rPr sz="700" b="0">
                          <a:solidFill>
                            <a:srgbClr val="1F2A44"/>
                          </a:solidFill>
                          <a:latin typeface="Calibri"/>
                        </a:rPr>
                        <a:t>Medium</a:t>
                      </a:r>
                    </a:p>
                  </a:txBody>
                  <a:tcPr marL="54864" marR="54864" marT="27432" marB="27432" anchor="ctr">
                    <a:solidFill>
                      <a:srgbClr val="FFFFFF"/>
                    </a:solidFill>
                  </a:tcPr>
                </a:tc>
                <a:tc>
                  <a:txBody>
                    <a:bodyPr/>
                    <a:lstStyle/>
                    <a:p>
                      <a:r>
                        <a:rPr sz="700" b="0">
                          <a:solidFill>
                            <a:srgbClr val="1F2A44"/>
                          </a:solidFill>
                          <a:latin typeface="Calibri"/>
                        </a:rPr>
                        <a:t>Topology and GSU count in writing; crew build-up for a pad-mount set; 2026 transformer quote with the 29-70 week lead time in the schedule</a:t>
                      </a:r>
                    </a:p>
                  </a:txBody>
                  <a:tcPr marL="54864" marR="54864" marT="27432" marB="27432" anchor="ctr">
                    <a:solidFill>
                      <a:srgbClr val="FFFFFF"/>
                    </a:solidFill>
                  </a:tcPr>
                </a:tc>
              </a:tr>
              <a:tr h="268941">
                <a:tc>
                  <a:txBody>
                    <a:bodyPr/>
                    <a:lstStyle/>
                    <a:p>
                      <a:r>
                        <a:rPr sz="700" b="1">
                          <a:solidFill>
                            <a:srgbClr val="FFFFFF"/>
                          </a:solidFill>
                          <a:latin typeface="Calibri"/>
                        </a:rPr>
                        <a:t>B7</a:t>
                      </a:r>
                    </a:p>
                  </a:txBody>
                  <a:tcPr marL="54864" marR="54864" marT="27432" marB="27432" anchor="ctr">
                    <a:solidFill>
                      <a:srgbClr val="001E60"/>
                    </a:solidFill>
                  </a:tcPr>
                </a:tc>
                <a:tc>
                  <a:txBody>
                    <a:bodyPr/>
                    <a:lstStyle/>
                    <a:p>
                      <a:r>
                        <a:rPr sz="700" b="0">
                          <a:solidFill>
                            <a:srgbClr val="1F2A44"/>
                          </a:solidFill>
                          <a:latin typeface="Calibri"/>
                        </a:rPr>
                        <a:t>Switchyard lighting: 12 HPS luminaires and $200 a foot of hookup on an unmanned one-acre pad</a:t>
                      </a:r>
                    </a:p>
                  </a:txBody>
                  <a:tcPr marL="54864" marR="54864" marT="27432" marB="27432" anchor="ctr">
                    <a:solidFill>
                      <a:srgbClr val="F2F4F8"/>
                    </a:solidFill>
                  </a:tcPr>
                </a:tc>
                <a:tc>
                  <a:txBody>
                    <a:bodyPr/>
                    <a:lstStyle/>
                    <a:p>
                      <a:r>
                        <a:rPr sz="700" b="0">
                          <a:solidFill>
                            <a:srgbClr val="1F2A44"/>
                          </a:solidFill>
                          <a:latin typeface="Calibri"/>
                        </a:rPr>
                        <a:t>D</a:t>
                      </a:r>
                    </a:p>
                  </a:txBody>
                  <a:tcPr marL="54864" marR="54864" marT="27432" marB="27432" anchor="ctr">
                    <a:solidFill>
                      <a:srgbClr val="F2F4F8"/>
                    </a:solidFill>
                  </a:tcPr>
                </a:tc>
                <a:tc>
                  <a:txBody>
                    <a:bodyPr/>
                    <a:lstStyle/>
                    <a:p>
                      <a:pPr algn="r"/>
                      <a:r>
                        <a:rPr sz="700" b="0">
                          <a:solidFill>
                            <a:srgbClr val="1F2A44"/>
                          </a:solidFill>
                          <a:latin typeface="Calibri"/>
                        </a:rPr>
                        <a:t>$0.2M</a:t>
                      </a:r>
                    </a:p>
                  </a:txBody>
                  <a:tcPr marL="54864" marR="54864" marT="27432" marB="27432" anchor="ctr">
                    <a:solidFill>
                      <a:srgbClr val="F2F4F8"/>
                    </a:solidFill>
                  </a:tcPr>
                </a:tc>
                <a:tc>
                  <a:txBody>
                    <a:bodyPr/>
                    <a:lstStyle/>
                    <a:p>
                      <a:pPr algn="r"/>
                      <a:r>
                        <a:rPr sz="700" b="0">
                          <a:solidFill>
                            <a:srgbClr val="1F2A44"/>
                          </a:solidFill>
                          <a:latin typeface="Calibri"/>
                        </a:rPr>
                        <a:t>$0.2 to 0.3M</a:t>
                      </a:r>
                    </a:p>
                  </a:txBody>
                  <a:tcPr marL="54864" marR="54864" marT="27432" marB="27432" anchor="ctr">
                    <a:solidFill>
                      <a:srgbClr val="F2F4F8"/>
                    </a:solidFill>
                  </a:tcPr>
                </a:tc>
                <a:tc>
                  <a:txBody>
                    <a:bodyPr/>
                    <a:lstStyle/>
                    <a:p>
                      <a:r>
                        <a:rPr sz="700" b="0">
                          <a:solidFill>
                            <a:srgbClr val="1F2A44"/>
                          </a:solidFill>
                          <a:latin typeface="Calibri"/>
                        </a:rPr>
                        <a:t>Medium</a:t>
                      </a:r>
                    </a:p>
                  </a:txBody>
                  <a:tcPr marL="54864" marR="54864" marT="27432" marB="27432" anchor="ctr">
                    <a:solidFill>
                      <a:srgbClr val="F2F4F8"/>
                    </a:solidFill>
                  </a:tcPr>
                </a:tc>
                <a:tc>
                  <a:txBody>
                    <a:bodyPr/>
                    <a:lstStyle/>
                    <a:p>
                      <a:r>
                        <a:rPr sz="700" b="0">
                          <a:solidFill>
                            <a:srgbClr val="1F2A44"/>
                          </a:solidFill>
                          <a:latin typeface="Calibri"/>
                        </a:rPr>
                        <a:t>Lighting design to the security need (fence-line LED, motion); hookup length and rate from the layout</a:t>
                      </a:r>
                    </a:p>
                  </a:txBody>
                  <a:tcPr marL="54864" marR="54864" marT="27432" marB="27432" anchor="ctr">
                    <a:solidFill>
                      <a:srgbClr val="F2F4F8"/>
                    </a:solidFill>
                  </a:tcPr>
                </a:tc>
              </a:tr>
              <a:tr h="268941">
                <a:tc>
                  <a:txBody>
                    <a:bodyPr/>
                    <a:lstStyle/>
                    <a:p>
                      <a:r>
                        <a:rPr sz="700" b="1">
                          <a:solidFill>
                            <a:srgbClr val="FFFFFF"/>
                          </a:solidFill>
                          <a:latin typeface="Calibri"/>
                        </a:rPr>
                        <a:t>B8</a:t>
                      </a:r>
                    </a:p>
                  </a:txBody>
                  <a:tcPr marL="54864" marR="54864" marT="27432" marB="27432" anchor="ctr">
                    <a:solidFill>
                      <a:srgbClr val="001E60"/>
                    </a:solidFill>
                  </a:tcPr>
                </a:tc>
                <a:tc>
                  <a:txBody>
                    <a:bodyPr/>
                    <a:lstStyle/>
                    <a:p>
                      <a:r>
                        <a:rPr sz="700" b="0">
                          <a:solidFill>
                            <a:srgbClr val="1F2A44"/>
                          </a:solidFill>
                          <a:latin typeface="Calibri"/>
                        </a:rPr>
                        <a:t>Siting and project management: external siting at $1.05M and a $157K siting line inside Station 496</a:t>
                      </a:r>
                    </a:p>
                  </a:txBody>
                  <a:tcPr marL="54864" marR="54864" marT="27432" marB="27432" anchor="ctr">
                    <a:solidFill>
                      <a:srgbClr val="FFFFFF"/>
                    </a:solidFill>
                  </a:tcPr>
                </a:tc>
                <a:tc>
                  <a:txBody>
                    <a:bodyPr/>
                    <a:lstStyle/>
                    <a:p>
                      <a:r>
                        <a:rPr sz="700" b="0">
                          <a:solidFill>
                            <a:srgbClr val="1F2A44"/>
                          </a:solidFill>
                          <a:latin typeface="Calibri"/>
                        </a:rPr>
                        <a:t>H/F</a:t>
                      </a:r>
                    </a:p>
                  </a:txBody>
                  <a:tcPr marL="54864" marR="54864" marT="27432" marB="27432" anchor="ctr">
                    <a:solidFill>
                      <a:srgbClr val="FFFFFF"/>
                    </a:solidFill>
                  </a:tcPr>
                </a:tc>
                <a:tc>
                  <a:txBody>
                    <a:bodyPr/>
                    <a:lstStyle/>
                    <a:p>
                      <a:pPr algn="r"/>
                      <a:r>
                        <a:rPr sz="700" b="0">
                          <a:solidFill>
                            <a:srgbClr val="1F2A44"/>
                          </a:solidFill>
                          <a:latin typeface="Calibri"/>
                        </a:rPr>
                        <a:t>$0.4 to 0.6M</a:t>
                      </a:r>
                    </a:p>
                  </a:txBody>
                  <a:tcPr marL="54864" marR="54864" marT="27432" marB="27432" anchor="ctr">
                    <a:solidFill>
                      <a:srgbClr val="FFFFFF"/>
                    </a:solidFill>
                  </a:tcPr>
                </a:tc>
                <a:tc>
                  <a:txBody>
                    <a:bodyPr/>
                    <a:lstStyle/>
                    <a:p>
                      <a:pPr algn="r"/>
                      <a:r>
                        <a:rPr sz="700" b="0">
                          <a:solidFill>
                            <a:srgbClr val="1F2A44"/>
                          </a:solidFill>
                          <a:latin typeface="Calibri"/>
                        </a:rPr>
                        <a:t>$0.5 to 0.8M</a:t>
                      </a:r>
                    </a:p>
                  </a:txBody>
                  <a:tcPr marL="54864" marR="54864" marT="27432" marB="27432" anchor="ctr">
                    <a:solidFill>
                      <a:srgbClr val="FFFFFF"/>
                    </a:solidFill>
                  </a:tcPr>
                </a:tc>
                <a:tc>
                  <a:txBody>
                    <a:bodyPr/>
                    <a:lstStyle/>
                    <a:p>
                      <a:r>
                        <a:rPr sz="700" b="0">
                          <a:solidFill>
                            <a:srgbClr val="1F2A44"/>
                          </a:solidFill>
                          <a:latin typeface="Calibri"/>
                        </a:rPr>
                        <a:t>Low</a:t>
                      </a:r>
                    </a:p>
                  </a:txBody>
                  <a:tcPr marL="54864" marR="54864" marT="27432" marB="27432" anchor="ctr">
                    <a:solidFill>
                      <a:srgbClr val="FFFFFF"/>
                    </a:solidFill>
                  </a:tcPr>
                </a:tc>
                <a:tc>
                  <a:txBody>
                    <a:bodyPr/>
                    <a:lstStyle/>
                    <a:p>
                      <a:r>
                        <a:rPr sz="700" b="0">
                          <a:solidFill>
                            <a:srgbClr val="1F2A44"/>
                          </a:solidFill>
                          <a:latin typeface="Calibri"/>
                        </a:rPr>
                        <a:t>Task budget from outside counsel for Article 80 small-project review and the ZBA permit; confirm what the Station 496 siting application is for</a:t>
                      </a:r>
                    </a:p>
                  </a:txBody>
                  <a:tcPr marL="54864" marR="54864" marT="27432" marB="27432" anchor="ctr">
                    <a:solidFill>
                      <a:srgbClr val="FFFFFF"/>
                    </a:solidFill>
                  </a:tcPr>
                </a:tc>
              </a:tr>
              <a:tr h="268941">
                <a:tc>
                  <a:txBody>
                    <a:bodyPr/>
                    <a:lstStyle/>
                    <a:p>
                      <a:r>
                        <a:rPr sz="700" b="1">
                          <a:solidFill>
                            <a:srgbClr val="FFFFFF"/>
                          </a:solidFill>
                          <a:latin typeface="Calibri"/>
                        </a:rPr>
                        <a:t>C1</a:t>
                      </a:r>
                    </a:p>
                  </a:txBody>
                  <a:tcPr marL="54864" marR="54864" marT="27432" marB="27432" anchor="ctr">
                    <a:solidFill>
                      <a:srgbClr val="6E1F2E"/>
                    </a:solidFill>
                  </a:tcPr>
                </a:tc>
                <a:tc>
                  <a:txBody>
                    <a:bodyPr/>
                    <a:lstStyle/>
                    <a:p>
                      <a:r>
                        <a:rPr sz="700" b="0">
                          <a:solidFill>
                            <a:srgbClr val="1F2A44"/>
                          </a:solidFill>
                          <a:latin typeface="Calibri"/>
                        </a:rPr>
                        <a:t>Section 48E investment tax credit on the storage property</a:t>
                      </a:r>
                    </a:p>
                  </a:txBody>
                  <a:tcPr marL="54864" marR="54864" marT="27432" marB="27432" anchor="ctr">
                    <a:solidFill>
                      <a:srgbClr val="F2F4F8"/>
                    </a:solidFill>
                  </a:tcPr>
                </a:tc>
                <a:tc>
                  <a:txBody>
                    <a:bodyPr/>
                    <a:lstStyle/>
                    <a:p>
                      <a:r>
                        <a:rPr sz="700" b="0">
                          <a:solidFill>
                            <a:srgbClr val="1F2A44"/>
                          </a:solidFill>
                          <a:latin typeface="Calibri"/>
                        </a:rPr>
                        <a:t>rev. req.</a:t>
                      </a:r>
                    </a:p>
                  </a:txBody>
                  <a:tcPr marL="54864" marR="54864" marT="27432" marB="27432" anchor="ctr">
                    <a:solidFill>
                      <a:srgbClr val="F2F4F8"/>
                    </a:solidFill>
                  </a:tcPr>
                </a:tc>
                <a:tc>
                  <a:txBody>
                    <a:bodyPr/>
                    <a:lstStyle/>
                    <a:p>
                      <a:pPr algn="r"/>
                      <a:r>
                        <a:rPr sz="700" b="0">
                          <a:solidFill>
                            <a:srgbClr val="1F2A44"/>
                          </a:solidFill>
                          <a:latin typeface="Calibri"/>
                        </a:rPr>
                        <a:t>$8.4 to 12.4M</a:t>
                      </a:r>
                    </a:p>
                  </a:txBody>
                  <a:tcPr marL="54864" marR="54864" marT="27432" marB="27432" anchor="ctr">
                    <a:solidFill>
                      <a:srgbClr val="F2F4F8"/>
                    </a:solidFill>
                  </a:tcPr>
                </a:tc>
                <a:tc>
                  <a:txBody>
                    <a:bodyPr/>
                    <a:lstStyle/>
                    <a:p>
                      <a:pPr algn="r"/>
                      <a:r>
                        <a:rPr sz="700" b="0">
                          <a:solidFill>
                            <a:srgbClr val="1F2A44"/>
                          </a:solidFill>
                          <a:latin typeface="Calibri"/>
                        </a:rPr>
                        <a:t>$8.4 to 12.4M</a:t>
                      </a:r>
                    </a:p>
                  </a:txBody>
                  <a:tcPr marL="54864" marR="54864" marT="27432" marB="27432" anchor="ctr">
                    <a:solidFill>
                      <a:srgbClr val="F2F4F8"/>
                    </a:solidFill>
                  </a:tcPr>
                </a:tc>
                <a:tc>
                  <a:txBody>
                    <a:bodyPr/>
                    <a:lstStyle/>
                    <a:p>
                      <a:r>
                        <a:rPr sz="700" b="0">
                          <a:solidFill>
                            <a:srgbClr val="1F2A44"/>
                          </a:solidFill>
                          <a:latin typeface="Calibri"/>
                        </a:rPr>
                        <a:t>Medium</a:t>
                      </a:r>
                    </a:p>
                  </a:txBody>
                  <a:tcPr marL="54864" marR="54864" marT="27432" marB="27432" anchor="ctr">
                    <a:solidFill>
                      <a:srgbClr val="F2F4F8"/>
                    </a:solidFill>
                  </a:tcPr>
                </a:tc>
                <a:tc>
                  <a:txBody>
                    <a:bodyPr/>
                    <a:lstStyle/>
                    <a:p>
                      <a:r>
                        <a:rPr sz="700" b="0">
                          <a:solidFill>
                            <a:srgbClr val="1F2A44"/>
                          </a:solidFill>
                          <a:latin typeface="Calibri"/>
                        </a:rPr>
                        <a:t>Eligible-basis opinion; FEOC cost-ratio test (65% non-PFE for a 2028 construction start); normalization election; DPU treatment</a:t>
                      </a:r>
                    </a:p>
                  </a:txBody>
                  <a:tcPr marL="54864" marR="54864" marT="27432" marB="27432" anchor="ctr">
                    <a:solidFill>
                      <a:srgbClr val="F2F4F8"/>
                    </a:solidFill>
                  </a:tcPr>
                </a:tc>
              </a:tr>
              <a:tr h="268941">
                <a:tc>
                  <a:txBody>
                    <a:bodyPr/>
                    <a:lstStyle/>
                    <a:p>
                      <a:r>
                        <a:rPr sz="700" b="1">
                          <a:solidFill>
                            <a:srgbClr val="FFFFFF"/>
                          </a:solidFill>
                          <a:latin typeface="Calibri"/>
                        </a:rPr>
                        <a:t>C2</a:t>
                      </a:r>
                    </a:p>
                  </a:txBody>
                  <a:tcPr marL="54864" marR="54864" marT="27432" marB="27432" anchor="ctr">
                    <a:solidFill>
                      <a:srgbClr val="6E1F2E"/>
                    </a:solidFill>
                  </a:tcPr>
                </a:tc>
                <a:tc>
                  <a:txBody>
                    <a:bodyPr/>
                    <a:lstStyle/>
                    <a:p>
                      <a:r>
                        <a:rPr sz="700" b="0">
                          <a:solidFill>
                            <a:srgbClr val="1F2A44"/>
                          </a:solidFill>
                          <a:latin typeface="Calibri"/>
                        </a:rPr>
                        <a:t>Energy-community adder if the closed landfill qualifies as a brownfield</a:t>
                      </a:r>
                    </a:p>
                  </a:txBody>
                  <a:tcPr marL="54864" marR="54864" marT="27432" marB="27432" anchor="ctr">
                    <a:solidFill>
                      <a:srgbClr val="FFFFFF"/>
                    </a:solidFill>
                  </a:tcPr>
                </a:tc>
                <a:tc>
                  <a:txBody>
                    <a:bodyPr/>
                    <a:lstStyle/>
                    <a:p>
                      <a:r>
                        <a:rPr sz="700" b="0">
                          <a:solidFill>
                            <a:srgbClr val="1F2A44"/>
                          </a:solidFill>
                          <a:latin typeface="Calibri"/>
                        </a:rPr>
                        <a:t>rev. req.</a:t>
                      </a:r>
                    </a:p>
                  </a:txBody>
                  <a:tcPr marL="54864" marR="54864" marT="27432" marB="27432" anchor="ctr">
                    <a:solidFill>
                      <a:srgbClr val="FFFFFF"/>
                    </a:solidFill>
                  </a:tcPr>
                </a:tc>
                <a:tc>
                  <a:txBody>
                    <a:bodyPr/>
                    <a:lstStyle/>
                    <a:p>
                      <a:pPr algn="r"/>
                      <a:r>
                        <a:rPr sz="700" b="0">
                          <a:solidFill>
                            <a:srgbClr val="1F2A44"/>
                          </a:solidFill>
                          <a:latin typeface="Calibri"/>
                        </a:rPr>
                        <a:t>$2.8 to 4.1M</a:t>
                      </a:r>
                    </a:p>
                  </a:txBody>
                  <a:tcPr marL="54864" marR="54864" marT="27432" marB="27432" anchor="ctr">
                    <a:solidFill>
                      <a:srgbClr val="FFFFFF"/>
                    </a:solidFill>
                  </a:tcPr>
                </a:tc>
                <a:tc>
                  <a:txBody>
                    <a:bodyPr/>
                    <a:lstStyle/>
                    <a:p>
                      <a:pPr algn="r"/>
                      <a:r>
                        <a:rPr sz="700" b="0">
                          <a:solidFill>
                            <a:srgbClr val="1F2A44"/>
                          </a:solidFill>
                          <a:latin typeface="Calibri"/>
                        </a:rPr>
                        <a:t>$2.8 to 4.1M</a:t>
                      </a:r>
                    </a:p>
                  </a:txBody>
                  <a:tcPr marL="54864" marR="54864" marT="27432" marB="27432" anchor="ctr">
                    <a:solidFill>
                      <a:srgbClr val="FFFFFF"/>
                    </a:solidFill>
                  </a:tcPr>
                </a:tc>
                <a:tc>
                  <a:txBody>
                    <a:bodyPr/>
                    <a:lstStyle/>
                    <a:p>
                      <a:r>
                        <a:rPr sz="700" b="0">
                          <a:solidFill>
                            <a:srgbClr val="1F2A44"/>
                          </a:solidFill>
                          <a:latin typeface="Calibri"/>
                        </a:rPr>
                        <a:t>Low</a:t>
                      </a:r>
                    </a:p>
                  </a:txBody>
                  <a:tcPr marL="54864" marR="54864" marT="27432" marB="27432" anchor="ctr">
                    <a:solidFill>
                      <a:srgbClr val="FFFFFF"/>
                    </a:solidFill>
                  </a:tcPr>
                </a:tc>
                <a:tc>
                  <a:txBody>
                    <a:bodyPr/>
                    <a:lstStyle/>
                    <a:p>
                      <a:r>
                        <a:rPr sz="700" b="0">
                          <a:solidFill>
                            <a:srgbClr val="1F2A44"/>
                          </a:solidFill>
                          <a:latin typeface="Calibri"/>
                        </a:rPr>
                        <a:t>Phase II ESA or a prior brownfield-program assessment (the Phase I safe harbor stops at 5 MW)</a:t>
                      </a:r>
                    </a:p>
                  </a:txBody>
                  <a:tcPr marL="54864" marR="54864" marT="27432" marB="27432" anchor="ctr">
                    <a:solidFill>
                      <a:srgbClr val="FFFFFF"/>
                    </a:solidFill>
                  </a:tcPr>
                </a:tc>
              </a:tr>
              <a:tr h="268944">
                <a:tc>
                  <a:txBody>
                    <a:bodyPr/>
                    <a:lstStyle/>
                    <a:p>
                      <a:r>
                        <a:rPr sz="700" b="1">
                          <a:solidFill>
                            <a:srgbClr val="FFFFFF"/>
                          </a:solidFill>
                          <a:latin typeface="Calibri"/>
                        </a:rPr>
                        <a:t>C3</a:t>
                      </a:r>
                    </a:p>
                  </a:txBody>
                  <a:tcPr marL="54864" marR="54864" marT="27432" marB="27432" anchor="ctr">
                    <a:solidFill>
                      <a:srgbClr val="6E1F2E"/>
                    </a:solidFill>
                  </a:tcPr>
                </a:tc>
                <a:tc>
                  <a:txBody>
                    <a:bodyPr/>
                    <a:lstStyle/>
                    <a:p>
                      <a:r>
                        <a:rPr sz="700" b="0">
                          <a:solidFill>
                            <a:srgbClr val="1F2A44"/>
                          </a:solidFill>
                          <a:latin typeface="Calibri"/>
                        </a:rPr>
                        <a:t>AFUDC: pay the battery at delivery, not a year ahead; protect the siting float</a:t>
                      </a:r>
                    </a:p>
                  </a:txBody>
                  <a:tcPr marL="54864" marR="54864" marT="27432" marB="27432" anchor="ctr">
                    <a:solidFill>
                      <a:srgbClr val="F2F4F8"/>
                    </a:solidFill>
                  </a:tcPr>
                </a:tc>
                <a:tc>
                  <a:txBody>
                    <a:bodyPr/>
                    <a:lstStyle/>
                    <a:p>
                      <a:r>
                        <a:rPr sz="700" b="0">
                          <a:solidFill>
                            <a:srgbClr val="1F2A44"/>
                          </a:solidFill>
                          <a:latin typeface="Calibri"/>
                        </a:rPr>
                        <a:t>M</a:t>
                      </a:r>
                    </a:p>
                  </a:txBody>
                  <a:tcPr marL="54864" marR="54864" marT="27432" marB="27432" anchor="ctr">
                    <a:solidFill>
                      <a:srgbClr val="F2F4F8"/>
                    </a:solidFill>
                  </a:tcPr>
                </a:tc>
                <a:tc>
                  <a:txBody>
                    <a:bodyPr/>
                    <a:lstStyle/>
                    <a:p>
                      <a:pPr algn="r"/>
                      <a:r>
                        <a:rPr sz="700" b="0">
                          <a:solidFill>
                            <a:srgbClr val="1F2A44"/>
                          </a:solidFill>
                          <a:latin typeface="Calibri"/>
                        </a:rPr>
                        <a:t>$0.3 to 0.7M</a:t>
                      </a:r>
                    </a:p>
                  </a:txBody>
                  <a:tcPr marL="54864" marR="54864" marT="27432" marB="27432" anchor="ctr">
                    <a:solidFill>
                      <a:srgbClr val="F2F4F8"/>
                    </a:solidFill>
                  </a:tcPr>
                </a:tc>
                <a:tc>
                  <a:txBody>
                    <a:bodyPr/>
                    <a:lstStyle/>
                    <a:p>
                      <a:pPr algn="r"/>
                      <a:r>
                        <a:rPr sz="700" b="0">
                          <a:solidFill>
                            <a:srgbClr val="1F2A44"/>
                          </a:solidFill>
                          <a:latin typeface="Calibri"/>
                        </a:rPr>
                        <a:t>$0.3 to 0.7M</a:t>
                      </a:r>
                    </a:p>
                  </a:txBody>
                  <a:tcPr marL="54864" marR="54864" marT="27432" marB="27432" anchor="ctr">
                    <a:solidFill>
                      <a:srgbClr val="F2F4F8"/>
                    </a:solidFill>
                  </a:tcPr>
                </a:tc>
                <a:tc>
                  <a:txBody>
                    <a:bodyPr/>
                    <a:lstStyle/>
                    <a:p>
                      <a:r>
                        <a:rPr sz="700" b="0">
                          <a:solidFill>
                            <a:srgbClr val="1F2A44"/>
                          </a:solidFill>
                          <a:latin typeface="Calibri"/>
                        </a:rPr>
                        <a:t>Medium</a:t>
                      </a:r>
                    </a:p>
                  </a:txBody>
                  <a:tcPr marL="54864" marR="54864" marT="27432" marB="27432" anchor="ctr">
                    <a:solidFill>
                      <a:srgbClr val="F2F4F8"/>
                    </a:solidFill>
                  </a:tcPr>
                </a:tc>
                <a:tc>
                  <a:txBody>
                    <a:bodyPr/>
                    <a:lstStyle/>
                    <a:p>
                      <a:r>
                        <a:rPr sz="700" b="0">
                          <a:solidFill>
                            <a:srgbClr val="1F2A44"/>
                          </a:solidFill>
                          <a:latin typeface="Calibri"/>
                        </a:rPr>
                        <a:t>Milestone payment schedule in the Nomad SOV aligned to 2028 delivery; float target on the ZBA chain</a:t>
                      </a:r>
                    </a:p>
                  </a:txBody>
                  <a:tcPr marL="54864" marR="54864" marT="27432" marB="27432" anchor="ctr">
                    <a:solidFill>
                      <a:srgbClr val="F2F4F8"/>
                    </a:solidFill>
                  </a:tcPr>
                </a:tc>
              </a:tr>
            </a:tbl>
          </a:graphicData>
        </a:graphic>
      </p:graphicFrame>
      <p:sp>
        <p:nvSpPr>
          <p:cNvPr id="8" name="TextBox 7"/>
          <p:cNvSpPr txBox="1"/>
          <p:nvPr/>
        </p:nvSpPr>
        <p:spPr>
          <a:xfrm>
            <a:off x="548640" y="6144768"/>
            <a:ext cx="11064240" cy="365760"/>
          </a:xfrm>
          <a:prstGeom prst="rect">
            <a:avLst/>
          </a:prstGeom>
          <a:noFill/>
        </p:spPr>
        <p:txBody>
          <a:bodyPr wrap="square" lIns="45720" rIns="45720" tIns="27432" bIns="27432" anchor="t">
            <a:spAutoFit/>
          </a:bodyPr>
          <a:lstStyle/>
          <a:p>
            <a:pPr algn="l">
              <a:lnSpc>
                <a:spcPct val="105000"/>
              </a:lnSpc>
              <a:spcAft>
                <a:spcPts val="400"/>
              </a:spcAft>
            </a:pPr>
            <a:r>
              <a:rPr sz="850" b="0" i="0">
                <a:solidFill>
                  <a:srgbClr val="6B7280"/>
                </a:solidFill>
                <a:latin typeface="Calibri"/>
              </a:rPr>
              <a:t>*Loaded at the marginal loader of 1.44 (contingency, basis-driven indirects and AFUDC scale with directs; the risk register and booked actuals do not), not the 1.685 average used on slides 5 and 25. Tier C items reduce the revenue requirement, not the $57.2M. Tiers A and B are gross of the Haugland reconciliation (red team KS1, +$4M to +$8M direct), which must close first.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COST-SAVING OPPORTUNITIES: RANGES BY LEVER ($M, LOADED) AND THE NET PICTURE</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the levers are worth, loaded, and how much of it survives the red team's reconciliation</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28</a:t>
            </a:r>
          </a:p>
        </p:txBody>
      </p:sp>
      <p:graphicFrame>
        <p:nvGraphicFramePr>
          <p:cNvPr id="7" name="Chart 6"/>
          <p:cNvGraphicFramePr>
            <a:graphicFrameLocks noGrp="1"/>
          </p:cNvGraphicFramePr>
          <p:nvPr/>
        </p:nvGraphicFramePr>
        <p:xfrm>
          <a:off x="457200" y="1325880"/>
          <a:ext cx="7223760" cy="493776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863840" y="1371600"/>
          <a:ext cx="3840480" cy="1828800"/>
        </p:xfrm>
        <a:graphic>
          <a:graphicData uri="http://schemas.openxmlformats.org/drawingml/2006/table">
            <a:tbl>
              <a:tblPr firstRow="1" bandRow="1">
                <a:tableStyleId>{5C22544A-7EE6-4342-B048-85BDC9FD1C3A}</a:tableStyleId>
              </a:tblPr>
              <a:tblGrid>
                <a:gridCol w="1463040"/>
                <a:gridCol w="1280160"/>
                <a:gridCol w="1097280"/>
              </a:tblGrid>
              <a:tr h="304800">
                <a:tc>
                  <a:txBody>
                    <a:bodyPr/>
                    <a:lstStyle/>
                    <a:p>
                      <a:r>
                        <a:rPr sz="950" b="1">
                          <a:solidFill>
                            <a:srgbClr val="FFFFFF"/>
                          </a:solidFill>
                          <a:latin typeface="Calibri"/>
                        </a:rPr>
                        <a:t>Tier</a:t>
                      </a:r>
                    </a:p>
                  </a:txBody>
                  <a:tcPr marL="54864" marR="54864" marT="27432" marB="27432">
                    <a:solidFill>
                      <a:srgbClr val="001E60"/>
                    </a:solidFill>
                  </a:tcPr>
                </a:tc>
                <a:tc>
                  <a:txBody>
                    <a:bodyPr/>
                    <a:lstStyle/>
                    <a:p>
                      <a:pPr algn="r"/>
                      <a:r>
                        <a:rPr sz="950" b="1">
                          <a:solidFill>
                            <a:srgbClr val="FFFFFF"/>
                          </a:solidFill>
                          <a:latin typeface="Calibri"/>
                        </a:rPr>
                        <a:t>Loaded range</a:t>
                      </a:r>
                    </a:p>
                  </a:txBody>
                  <a:tcPr marL="54864" marR="54864" marT="27432" marB="27432">
                    <a:solidFill>
                      <a:srgbClr val="001E60"/>
                    </a:solidFill>
                  </a:tcPr>
                </a:tc>
                <a:tc>
                  <a:txBody>
                    <a:bodyPr/>
                    <a:lstStyle/>
                    <a:p>
                      <a:r>
                        <a:rPr sz="950" b="1">
                          <a:solidFill>
                            <a:srgbClr val="FFFFFF"/>
                          </a:solidFill>
                          <a:latin typeface="Calibri"/>
                        </a:rPr>
                        <a:t>Against</a:t>
                      </a:r>
                    </a:p>
                  </a:txBody>
                  <a:tcPr marL="54864" marR="54864" marT="27432" marB="27432">
                    <a:solidFill>
                      <a:srgbClr val="001E60"/>
                    </a:solidFill>
                  </a:tcPr>
                </a:tc>
              </a:tr>
              <a:tr h="304800">
                <a:tc>
                  <a:txBody>
                    <a:bodyPr/>
                    <a:lstStyle/>
                    <a:p>
                      <a:r>
                        <a:rPr sz="950" b="0">
                          <a:solidFill>
                            <a:srgbClr val="1F2A44"/>
                          </a:solidFill>
                          <a:latin typeface="Calibri"/>
                        </a:rPr>
                        <a:t>A. Estimate hygiene</a:t>
                      </a:r>
                    </a:p>
                  </a:txBody>
                  <a:tcPr marL="54864" marR="54864" marT="27432" marB="27432" anchor="ctr">
                    <a:solidFill>
                      <a:srgbClr val="FFFFFF"/>
                    </a:solidFill>
                  </a:tcPr>
                </a:tc>
                <a:tc>
                  <a:txBody>
                    <a:bodyPr/>
                    <a:lstStyle/>
                    <a:p>
                      <a:pPr algn="r"/>
                      <a:r>
                        <a:rPr sz="950" b="0">
                          <a:solidFill>
                            <a:srgbClr val="1F2A44"/>
                          </a:solidFill>
                          <a:latin typeface="Calibri"/>
                        </a:rPr>
                        <a:t>$5.0 to 7.1M</a:t>
                      </a:r>
                    </a:p>
                  </a:txBody>
                  <a:tcPr marL="54864" marR="54864" marT="27432" marB="27432" anchor="ctr">
                    <a:solidFill>
                      <a:srgbClr val="FFFFFF"/>
                    </a:solidFill>
                  </a:tcPr>
                </a:tc>
                <a:tc>
                  <a:txBody>
                    <a:bodyPr/>
                    <a:lstStyle/>
                    <a:p>
                      <a:r>
                        <a:rPr sz="950" b="0">
                          <a:solidFill>
                            <a:srgbClr val="1F2A44"/>
                          </a:solidFill>
                          <a:latin typeface="Calibri"/>
                        </a:rPr>
                        <a:t>the $57.2M</a:t>
                      </a:r>
                    </a:p>
                  </a:txBody>
                  <a:tcPr marL="54864" marR="54864" marT="27432" marB="27432" anchor="ctr">
                    <a:solidFill>
                      <a:srgbClr val="FFFFFF"/>
                    </a:solidFill>
                  </a:tcPr>
                </a:tc>
              </a:tr>
              <a:tr h="304800">
                <a:tc>
                  <a:txBody>
                    <a:bodyPr/>
                    <a:lstStyle/>
                    <a:p>
                      <a:r>
                        <a:rPr sz="950" b="0">
                          <a:solidFill>
                            <a:srgbClr val="1F2A44"/>
                          </a:solidFill>
                          <a:latin typeface="Calibri"/>
                        </a:rPr>
                        <a:t>B. Value engineering</a:t>
                      </a:r>
                    </a:p>
                  </a:txBody>
                  <a:tcPr marL="54864" marR="54864" marT="27432" marB="27432" anchor="ctr">
                    <a:solidFill>
                      <a:srgbClr val="F2F4F8"/>
                    </a:solidFill>
                  </a:tcPr>
                </a:tc>
                <a:tc>
                  <a:txBody>
                    <a:bodyPr/>
                    <a:lstStyle/>
                    <a:p>
                      <a:pPr algn="r"/>
                      <a:r>
                        <a:rPr sz="950" b="0">
                          <a:solidFill>
                            <a:srgbClr val="1F2A44"/>
                          </a:solidFill>
                          <a:latin typeface="Calibri"/>
                        </a:rPr>
                        <a:t>$4.9 to 7.5M</a:t>
                      </a:r>
                    </a:p>
                  </a:txBody>
                  <a:tcPr marL="54864" marR="54864" marT="27432" marB="27432" anchor="ctr">
                    <a:solidFill>
                      <a:srgbClr val="F2F4F8"/>
                    </a:solidFill>
                  </a:tcPr>
                </a:tc>
                <a:tc>
                  <a:txBody>
                    <a:bodyPr/>
                    <a:lstStyle/>
                    <a:p>
                      <a:r>
                        <a:rPr sz="950" b="0">
                          <a:solidFill>
                            <a:srgbClr val="1F2A44"/>
                          </a:solidFill>
                          <a:latin typeface="Calibri"/>
                        </a:rPr>
                        <a:t>the $57.2M</a:t>
                      </a:r>
                    </a:p>
                  </a:txBody>
                  <a:tcPr marL="54864" marR="54864" marT="27432" marB="27432" anchor="ctr">
                    <a:solidFill>
                      <a:srgbClr val="F2F4F8"/>
                    </a:solidFill>
                  </a:tcPr>
                </a:tc>
              </a:tr>
              <a:tr h="304800">
                <a:tc>
                  <a:txBody>
                    <a:bodyPr/>
                    <a:lstStyle/>
                    <a:p>
                      <a:r>
                        <a:rPr sz="950" b="0">
                          <a:solidFill>
                            <a:srgbClr val="1F2A44"/>
                          </a:solidFill>
                          <a:latin typeface="Calibri"/>
                        </a:rPr>
                        <a:t>A + B</a:t>
                      </a:r>
                    </a:p>
                  </a:txBody>
                  <a:tcPr marL="54864" marR="54864" marT="27432" marB="27432" anchor="ctr">
                    <a:solidFill>
                      <a:srgbClr val="FFFFFF"/>
                    </a:solidFill>
                  </a:tcPr>
                </a:tc>
                <a:tc>
                  <a:txBody>
                    <a:bodyPr/>
                    <a:lstStyle/>
                    <a:p>
                      <a:pPr algn="r"/>
                      <a:r>
                        <a:rPr sz="950" b="0">
                          <a:solidFill>
                            <a:srgbClr val="1F2A44"/>
                          </a:solidFill>
                          <a:latin typeface="Calibri"/>
                        </a:rPr>
                        <a:t>$10.0 to 14.6M</a:t>
                      </a:r>
                    </a:p>
                  </a:txBody>
                  <a:tcPr marL="54864" marR="54864" marT="27432" marB="27432" anchor="ctr">
                    <a:solidFill>
                      <a:srgbClr val="FFFFFF"/>
                    </a:solidFill>
                  </a:tcPr>
                </a:tc>
                <a:tc>
                  <a:txBody>
                    <a:bodyPr/>
                    <a:lstStyle/>
                    <a:p>
                      <a:r>
                        <a:rPr sz="950" b="0">
                          <a:solidFill>
                            <a:srgbClr val="1F2A44"/>
                          </a:solidFill>
                          <a:latin typeface="Calibri"/>
                        </a:rPr>
                        <a:t>the $57.2M</a:t>
                      </a:r>
                    </a:p>
                  </a:txBody>
                  <a:tcPr marL="54864" marR="54864" marT="27432" marB="27432" anchor="ctr">
                    <a:solidFill>
                      <a:srgbClr val="FFFFFF"/>
                    </a:solidFill>
                  </a:tcPr>
                </a:tc>
              </a:tr>
              <a:tr h="304800">
                <a:tc>
                  <a:txBody>
                    <a:bodyPr/>
                    <a:lstStyle/>
                    <a:p>
                      <a:r>
                        <a:rPr sz="950" b="0">
                          <a:solidFill>
                            <a:srgbClr val="1F2A44"/>
                          </a:solidFill>
                          <a:latin typeface="Calibri"/>
                        </a:rPr>
                        <a:t>Haugland gap (KS1)</a:t>
                      </a:r>
                    </a:p>
                  </a:txBody>
                  <a:tcPr marL="54864" marR="54864" marT="27432" marB="27432" anchor="ctr">
                    <a:solidFill>
                      <a:srgbClr val="F2F4F8"/>
                    </a:solidFill>
                  </a:tcPr>
                </a:tc>
                <a:tc>
                  <a:txBody>
                    <a:bodyPr/>
                    <a:lstStyle/>
                    <a:p>
                      <a:pPr algn="r"/>
                      <a:r>
                        <a:rPr sz="950" b="0">
                          <a:solidFill>
                            <a:srgbClr val="1F2A44"/>
                          </a:solidFill>
                          <a:latin typeface="Calibri"/>
                        </a:rPr>
                        <a:t>+$4 to 8M direct</a:t>
                      </a:r>
                    </a:p>
                  </a:txBody>
                  <a:tcPr marL="54864" marR="54864" marT="27432" marB="27432" anchor="ctr">
                    <a:solidFill>
                      <a:srgbClr val="F2F4F8"/>
                    </a:solidFill>
                  </a:tcPr>
                </a:tc>
                <a:tc>
                  <a:txBody>
                    <a:bodyPr/>
                    <a:lstStyle/>
                    <a:p>
                      <a:r>
                        <a:rPr sz="950" b="0">
                          <a:solidFill>
                            <a:srgbClr val="1F2A44"/>
                          </a:solidFill>
                          <a:latin typeface="Calibri"/>
                        </a:rPr>
                        <a:t>the $57.2M</a:t>
                      </a:r>
                    </a:p>
                  </a:txBody>
                  <a:tcPr marL="54864" marR="54864" marT="27432" marB="27432" anchor="ctr">
                    <a:solidFill>
                      <a:srgbClr val="F2F4F8"/>
                    </a:solidFill>
                  </a:tcPr>
                </a:tc>
              </a:tr>
              <a:tr h="304800">
                <a:tc>
                  <a:txBody>
                    <a:bodyPr/>
                    <a:lstStyle/>
                    <a:p>
                      <a:r>
                        <a:rPr sz="950" b="0">
                          <a:solidFill>
                            <a:srgbClr val="1F2A44"/>
                          </a:solidFill>
                          <a:latin typeface="Calibri"/>
                        </a:rPr>
                        <a:t>C. ITC, adder, AFUDC</a:t>
                      </a:r>
                    </a:p>
                  </a:txBody>
                  <a:tcPr marL="54864" marR="54864" marT="27432" marB="27432" anchor="ctr">
                    <a:solidFill>
                      <a:srgbClr val="FFFFFF"/>
                    </a:solidFill>
                  </a:tcPr>
                </a:tc>
                <a:tc>
                  <a:txBody>
                    <a:bodyPr/>
                    <a:lstStyle/>
                    <a:p>
                      <a:pPr algn="r"/>
                      <a:r>
                        <a:rPr sz="950" b="0">
                          <a:solidFill>
                            <a:srgbClr val="1F2A44"/>
                          </a:solidFill>
                          <a:latin typeface="Calibri"/>
                        </a:rPr>
                        <a:t>$11.6 to 17.2M</a:t>
                      </a:r>
                    </a:p>
                  </a:txBody>
                  <a:tcPr marL="54864" marR="54864" marT="27432" marB="27432" anchor="ctr">
                    <a:solidFill>
                      <a:srgbClr val="FFFFFF"/>
                    </a:solidFill>
                  </a:tcPr>
                </a:tc>
                <a:tc>
                  <a:txBody>
                    <a:bodyPr/>
                    <a:lstStyle/>
                    <a:p>
                      <a:r>
                        <a:rPr sz="950" b="0">
                          <a:solidFill>
                            <a:srgbClr val="1F2A44"/>
                          </a:solidFill>
                          <a:latin typeface="Calibri"/>
                        </a:rPr>
                        <a:t>revenue requirement</a:t>
                      </a:r>
                    </a:p>
                  </a:txBody>
                  <a:tcPr marL="54864" marR="54864" marT="27432" marB="27432" anchor="ctr">
                    <a:solidFill>
                      <a:srgbClr val="FFFFFF"/>
                    </a:solidFill>
                  </a:tcPr>
                </a:tc>
              </a:tr>
            </a:tbl>
          </a:graphicData>
        </a:graphic>
      </p:graphicFrame>
      <p:sp>
        <p:nvSpPr>
          <p:cNvPr id="9" name="TextBox 8"/>
          <p:cNvSpPr txBox="1"/>
          <p:nvPr/>
        </p:nvSpPr>
        <p:spPr>
          <a:xfrm>
            <a:off x="7863840" y="3337560"/>
            <a:ext cx="3840480" cy="3017520"/>
          </a:xfrm>
          <a:prstGeom prst="rect">
            <a:avLst/>
          </a:prstGeom>
          <a:noFill/>
        </p:spPr>
        <p:txBody>
          <a:bodyPr wrap="square" lIns="45720">
            <a:spAutoFit/>
          </a:bodyPr>
          <a:lstStyle/>
          <a:p>
            <a:pPr>
              <a:lnSpc>
                <a:spcPct val="105000"/>
              </a:lnSpc>
              <a:spcAft>
                <a:spcPts val="500"/>
              </a:spcAft>
            </a:pPr>
            <a:r>
              <a:rPr sz="1050">
                <a:solidFill>
                  <a:srgbClr val="FFC72C"/>
                </a:solidFill>
                <a:latin typeface="Calibri"/>
              </a:rPr>
              <a:t>▪  </a:t>
            </a:r>
            <a:r>
              <a:rPr b="1" sz="1050">
                <a:solidFill>
                  <a:srgbClr val="1F2A44"/>
                </a:solidFill>
                <a:latin typeface="Calibri"/>
              </a:rPr>
              <a:t>Net of the red team: </a:t>
            </a:r>
            <a:r>
              <a:rPr sz="1050">
                <a:solidFill>
                  <a:srgbClr val="1F2A44"/>
                </a:solidFill>
                <a:latin typeface="Calibri"/>
              </a:rPr>
              <a:t>Tiers A and B ($10.0 to 14.6M) and the Haugland gap (+$4 to 8M) are the same order of magnitude. The honest planning case is a $57M number that holds, not one that falls.</a:t>
            </a:r>
          </a:p>
          <a:p>
            <a:pPr>
              <a:lnSpc>
                <a:spcPct val="105000"/>
              </a:lnSpc>
              <a:spcAft>
                <a:spcPts val="500"/>
              </a:spcAft>
            </a:pPr>
            <a:r>
              <a:rPr sz="1050">
                <a:solidFill>
                  <a:srgbClr val="FFC72C"/>
                </a:solidFill>
                <a:latin typeface="Calibri"/>
              </a:rPr>
              <a:t>▪  </a:t>
            </a:r>
            <a:r>
              <a:rPr b="1" sz="1050">
                <a:solidFill>
                  <a:srgbClr val="1F2A44"/>
                </a:solidFill>
                <a:latin typeface="Calibri"/>
              </a:rPr>
              <a:t>The three to pursue now, in order: </a:t>
            </a:r>
            <a:r>
              <a:rPr sz="1050">
                <a:solidFill>
                  <a:srgbClr val="1F2A44"/>
                </a:solidFill>
                <a:latin typeface="Calibri"/>
              </a:rPr>
              <a:t>A1 and A2 (a decision and a re-wording, about $3M), B1 (two phone calls to EMA for relay actuals), and C1 (a memo to Tax). Everything else waits on geotech, the hosting-capacity study or the HEG map.</a:t>
            </a:r>
          </a:p>
          <a:p>
            <a:pPr>
              <a:lnSpc>
                <a:spcPct val="105000"/>
              </a:lnSpc>
              <a:spcAft>
                <a:spcPts val="500"/>
              </a:spcAft>
            </a:pPr>
            <a:r>
              <a:rPr sz="1050">
                <a:solidFill>
                  <a:srgbClr val="FFC72C"/>
                </a:solidFill>
                <a:latin typeface="Calibri"/>
              </a:rPr>
              <a:t>▪  </a:t>
            </a:r>
            <a:r>
              <a:rPr b="1" sz="1050">
                <a:solidFill>
                  <a:srgbClr val="1F2A44"/>
                </a:solidFill>
                <a:latin typeface="Calibri"/>
              </a:rPr>
              <a:t>What not to do: </a:t>
            </a:r>
            <a:r>
              <a:rPr sz="1050">
                <a:solidFill>
                  <a:srgbClr val="1F2A44"/>
                </a:solidFill>
                <a:latin typeface="Calibri"/>
              </a:rPr>
              <a:t>take Tier B into the PAF before the studies close. A VE deduct booked ahead of its study is how estimates go to $74M.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SECTION 48E ON A UTILITY-OWNED BATTERY, CONSTRUCTION START 2028</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investment tax credit is worth $8.4 to 12.4M to customers and nobody on the project owns it yet</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29</a:t>
            </a:r>
          </a:p>
        </p:txBody>
      </p:sp>
      <p:sp>
        <p:nvSpPr>
          <p:cNvPr id="7" name="Rectangle 6"/>
          <p:cNvSpPr/>
          <p:nvPr/>
        </p:nvSpPr>
        <p:spPr>
          <a:xfrm>
            <a:off x="548640" y="1371600"/>
            <a:ext cx="3566160" cy="17830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81328"/>
            <a:ext cx="3291840" cy="822960"/>
          </a:xfrm>
          <a:prstGeom prst="rect">
            <a:avLst/>
          </a:prstGeom>
          <a:noFill/>
        </p:spPr>
        <p:txBody>
          <a:bodyPr wrap="square" lIns="45720" rIns="45720" tIns="27432" bIns="27432" anchor="t">
            <a:spAutoFit/>
          </a:bodyPr>
          <a:lstStyle/>
          <a:p>
            <a:pPr algn="l">
              <a:lnSpc>
                <a:spcPct val="105000"/>
              </a:lnSpc>
              <a:spcAft>
                <a:spcPts val="400"/>
              </a:spcAft>
            </a:pPr>
            <a:r>
              <a:rPr sz="2200" b="1" i="0">
                <a:solidFill>
                  <a:srgbClr val="001E60"/>
                </a:solidFill>
                <a:latin typeface="Georgia"/>
              </a:rPr>
              <a:t>$8.4M to $12.4M</a:t>
            </a:r>
          </a:p>
        </p:txBody>
      </p:sp>
      <p:sp>
        <p:nvSpPr>
          <p:cNvPr id="9" name="TextBox 8"/>
          <p:cNvSpPr txBox="1"/>
          <p:nvPr/>
        </p:nvSpPr>
        <p:spPr>
          <a:xfrm>
            <a:off x="685800" y="185851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30% credit, eligible basis</a:t>
            </a:r>
          </a:p>
        </p:txBody>
      </p:sp>
      <p:sp>
        <p:nvSpPr>
          <p:cNvPr id="10" name="TextBox 9"/>
          <p:cNvSpPr txBox="1"/>
          <p:nvPr/>
        </p:nvSpPr>
        <p:spPr>
          <a:xfrm>
            <a:off x="685800" y="2242566"/>
            <a:ext cx="3291840" cy="86639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Basis $28M (battery, install, BOP, loaded) to $41M (plus station, site, testing).</a:t>
            </a:r>
          </a:p>
        </p:txBody>
      </p:sp>
      <p:sp>
        <p:nvSpPr>
          <p:cNvPr id="11" name="Rectangle 10"/>
          <p:cNvSpPr/>
          <p:nvPr/>
        </p:nvSpPr>
        <p:spPr>
          <a:xfrm>
            <a:off x="4297680" y="1371600"/>
            <a:ext cx="3566160" cy="17830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481328"/>
            <a:ext cx="3291840" cy="822960"/>
          </a:xfrm>
          <a:prstGeom prst="rect">
            <a:avLst/>
          </a:prstGeom>
          <a:noFill/>
        </p:spPr>
        <p:txBody>
          <a:bodyPr wrap="square" lIns="45720" rIns="45720" tIns="27432" bIns="27432" anchor="t">
            <a:spAutoFit/>
          </a:bodyPr>
          <a:lstStyle/>
          <a:p>
            <a:pPr algn="l">
              <a:lnSpc>
                <a:spcPct val="105000"/>
              </a:lnSpc>
              <a:spcAft>
                <a:spcPts val="400"/>
              </a:spcAft>
            </a:pPr>
            <a:r>
              <a:rPr sz="2200" b="1" i="0">
                <a:solidFill>
                  <a:srgbClr val="001E60"/>
                </a:solidFill>
                <a:latin typeface="Georgia"/>
              </a:rPr>
              <a:t>+$2.8M to $4.1M</a:t>
            </a:r>
          </a:p>
        </p:txBody>
      </p:sp>
      <p:sp>
        <p:nvSpPr>
          <p:cNvPr id="13" name="TextBox 12"/>
          <p:cNvSpPr txBox="1"/>
          <p:nvPr/>
        </p:nvSpPr>
        <p:spPr>
          <a:xfrm>
            <a:off x="4434840" y="185851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Energy-community adder</a:t>
            </a:r>
          </a:p>
        </p:txBody>
      </p:sp>
      <p:sp>
        <p:nvSpPr>
          <p:cNvPr id="14" name="TextBox 13"/>
          <p:cNvSpPr txBox="1"/>
          <p:nvPr/>
        </p:nvSpPr>
        <p:spPr>
          <a:xfrm>
            <a:off x="4434840" y="2242566"/>
            <a:ext cx="3291840" cy="86639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Only if the closed landfill qualifies as a brownfield. Not assumed.</a:t>
            </a:r>
          </a:p>
        </p:txBody>
      </p:sp>
      <p:sp>
        <p:nvSpPr>
          <p:cNvPr id="15" name="Rectangle 14"/>
          <p:cNvSpPr/>
          <p:nvPr/>
        </p:nvSpPr>
        <p:spPr>
          <a:xfrm>
            <a:off x="8046720" y="1371600"/>
            <a:ext cx="3657600" cy="17830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80" y="1481328"/>
            <a:ext cx="3383280" cy="822960"/>
          </a:xfrm>
          <a:prstGeom prst="rect">
            <a:avLst/>
          </a:prstGeom>
          <a:noFill/>
        </p:spPr>
        <p:txBody>
          <a:bodyPr wrap="square" lIns="45720" rIns="45720" tIns="27432" bIns="27432" anchor="t">
            <a:spAutoFit/>
          </a:bodyPr>
          <a:lstStyle/>
          <a:p>
            <a:pPr algn="l">
              <a:lnSpc>
                <a:spcPct val="105000"/>
              </a:lnSpc>
              <a:spcAft>
                <a:spcPts val="400"/>
              </a:spcAft>
            </a:pPr>
            <a:r>
              <a:rPr sz="2200" b="1" i="0">
                <a:solidFill>
                  <a:srgbClr val="001E60"/>
                </a:solidFill>
                <a:latin typeface="Georgia"/>
              </a:rPr>
              <a:t>65%</a:t>
            </a:r>
          </a:p>
        </p:txBody>
      </p:sp>
      <p:sp>
        <p:nvSpPr>
          <p:cNvPr id="17" name="TextBox 16"/>
          <p:cNvSpPr txBox="1"/>
          <p:nvPr/>
        </p:nvSpPr>
        <p:spPr>
          <a:xfrm>
            <a:off x="8183880" y="1858518"/>
            <a:ext cx="338328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Non-PFE cost ratio required</a:t>
            </a:r>
          </a:p>
        </p:txBody>
      </p:sp>
      <p:sp>
        <p:nvSpPr>
          <p:cNvPr id="18" name="TextBox 17"/>
          <p:cNvSpPr txBox="1"/>
          <p:nvPr/>
        </p:nvSpPr>
        <p:spPr>
          <a:xfrm>
            <a:off x="8183880" y="2242566"/>
            <a:ext cx="3383280" cy="86639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Storage is exempt from the 2027 wind and solar cliff. For a 2028 construction start, 65% of direct cost must come from outside prohibited foreign entities.</a:t>
            </a:r>
          </a:p>
        </p:txBody>
      </p:sp>
      <p:graphicFrame>
        <p:nvGraphicFramePr>
          <p:cNvPr id="19" name="Table 18"/>
          <p:cNvGraphicFramePr>
            <a:graphicFrameLocks noGrp="1"/>
          </p:cNvGraphicFramePr>
          <p:nvPr/>
        </p:nvGraphicFramePr>
        <p:xfrm>
          <a:off x="548640" y="3337560"/>
          <a:ext cx="6949440" cy="2926080"/>
        </p:xfrm>
        <a:graphic>
          <a:graphicData uri="http://schemas.openxmlformats.org/drawingml/2006/table">
            <a:tbl>
              <a:tblPr firstRow="1" bandRow="1">
                <a:tableStyleId>{5C22544A-7EE6-4342-B048-85BDC9FD1C3A}</a:tableStyleId>
              </a:tblPr>
              <a:tblGrid>
                <a:gridCol w="3931920"/>
                <a:gridCol w="1463040"/>
                <a:gridCol w="1554480"/>
              </a:tblGrid>
              <a:tr h="487680">
                <a:tc>
                  <a:txBody>
                    <a:bodyPr/>
                    <a:lstStyle/>
                    <a:p>
                      <a:r>
                        <a:rPr sz="950" b="1">
                          <a:solidFill>
                            <a:srgbClr val="FFFFFF"/>
                          </a:solidFill>
                          <a:latin typeface="Calibri"/>
                        </a:rPr>
                        <a:t>What must close</a:t>
                      </a:r>
                    </a:p>
                  </a:txBody>
                  <a:tcPr marL="54864" marR="54864" marT="27432" marB="27432">
                    <a:solidFill>
                      <a:srgbClr val="001E60"/>
                    </a:solidFill>
                  </a:tcPr>
                </a:tc>
                <a:tc>
                  <a:txBody>
                    <a:bodyPr/>
                    <a:lstStyle/>
                    <a:p>
                      <a:r>
                        <a:rPr sz="950" b="1">
                          <a:solidFill>
                            <a:srgbClr val="FFFFFF"/>
                          </a:solidFill>
                          <a:latin typeface="Calibri"/>
                        </a:rPr>
                        <a:t>Owner</a:t>
                      </a:r>
                    </a:p>
                  </a:txBody>
                  <a:tcPr marL="54864" marR="54864" marT="27432" marB="27432">
                    <a:solidFill>
                      <a:srgbClr val="001E60"/>
                    </a:solidFill>
                  </a:tcPr>
                </a:tc>
                <a:tc>
                  <a:txBody>
                    <a:bodyPr/>
                    <a:lstStyle/>
                    <a:p>
                      <a:r>
                        <a:rPr sz="950" b="1">
                          <a:solidFill>
                            <a:srgbClr val="FFFFFF"/>
                          </a:solidFill>
                          <a:latin typeface="Calibri"/>
                        </a:rPr>
                        <a:t>Why it matters</a:t>
                      </a:r>
                    </a:p>
                  </a:txBody>
                  <a:tcPr marL="54864" marR="54864" marT="27432" marB="27432">
                    <a:solidFill>
                      <a:srgbClr val="001E60"/>
                    </a:solidFill>
                  </a:tcPr>
                </a:tc>
              </a:tr>
              <a:tr h="487680">
                <a:tc>
                  <a:txBody>
                    <a:bodyPr/>
                    <a:lstStyle/>
                    <a:p>
                      <a:r>
                        <a:rPr sz="950" b="0">
                          <a:solidFill>
                            <a:srgbClr val="1F2A44"/>
                          </a:solidFill>
                          <a:latin typeface="Calibri"/>
                        </a:rPr>
                        <a:t>Eligible-basis opinion: which of layers A to G are energy storage property; interconnection property (Station 496) is outside the storage definition in 48E</a:t>
                      </a:r>
                    </a:p>
                  </a:txBody>
                  <a:tcPr marL="54864" marR="54864" marT="27432" marB="27432" anchor="ctr">
                    <a:solidFill>
                      <a:srgbClr val="FFFFFF"/>
                    </a:solidFill>
                  </a:tcPr>
                </a:tc>
                <a:tc>
                  <a:txBody>
                    <a:bodyPr/>
                    <a:lstStyle/>
                    <a:p>
                      <a:r>
                        <a:rPr sz="950" b="0">
                          <a:solidFill>
                            <a:srgbClr val="1F2A44"/>
                          </a:solidFill>
                          <a:latin typeface="Calibri"/>
                        </a:rPr>
                        <a:t>Tax</a:t>
                      </a:r>
                    </a:p>
                  </a:txBody>
                  <a:tcPr marL="54864" marR="54864" marT="27432" marB="27432" anchor="ctr">
                    <a:solidFill>
                      <a:srgbClr val="FFFFFF"/>
                    </a:solidFill>
                  </a:tcPr>
                </a:tc>
                <a:tc>
                  <a:txBody>
                    <a:bodyPr/>
                    <a:lstStyle/>
                    <a:p>
                      <a:r>
                        <a:rPr sz="950" b="0">
                          <a:solidFill>
                            <a:srgbClr val="1F2A44"/>
                          </a:solidFill>
                          <a:latin typeface="Calibri"/>
                        </a:rPr>
                        <a:t>Sets the $28M to $41M range</a:t>
                      </a:r>
                    </a:p>
                  </a:txBody>
                  <a:tcPr marL="54864" marR="54864" marT="27432" marB="27432" anchor="ctr">
                    <a:solidFill>
                      <a:srgbClr val="FFFFFF"/>
                    </a:solidFill>
                  </a:tcPr>
                </a:tc>
              </a:tr>
              <a:tr h="487680">
                <a:tc>
                  <a:txBody>
                    <a:bodyPr/>
                    <a:lstStyle/>
                    <a:p>
                      <a:r>
                        <a:rPr sz="950" b="0">
                          <a:solidFill>
                            <a:srgbClr val="1F2A44"/>
                          </a:solidFill>
                          <a:latin typeface="Calibri"/>
                        </a:rPr>
                        <a:t>FEOC cost-ratio test (Notice 2026-15): cells are 52% of equipment cost in the IRS table, so Chinese cells alone can fail a 65% threshold</a:t>
                      </a:r>
                    </a:p>
                  </a:txBody>
                  <a:tcPr marL="54864" marR="54864" marT="27432" marB="27432" anchor="ctr">
                    <a:solidFill>
                      <a:srgbClr val="F2F4F8"/>
                    </a:solidFill>
                  </a:tcPr>
                </a:tc>
                <a:tc>
                  <a:txBody>
                    <a:bodyPr/>
                    <a:lstStyle/>
                    <a:p>
                      <a:r>
                        <a:rPr sz="950" b="0">
                          <a:solidFill>
                            <a:srgbClr val="1F2A44"/>
                          </a:solidFill>
                          <a:latin typeface="Calibri"/>
                        </a:rPr>
                        <a:t>Tax + Sourcing + Nomad</a:t>
                      </a:r>
                    </a:p>
                  </a:txBody>
                  <a:tcPr marL="54864" marR="54864" marT="27432" marB="27432" anchor="ctr">
                    <a:solidFill>
                      <a:srgbClr val="F2F4F8"/>
                    </a:solidFill>
                  </a:tcPr>
                </a:tc>
                <a:tc>
                  <a:txBody>
                    <a:bodyPr/>
                    <a:lstStyle/>
                    <a:p>
                      <a:r>
                        <a:rPr sz="950" b="0">
                          <a:solidFill>
                            <a:srgbClr val="1F2A44"/>
                          </a:solidFill>
                          <a:latin typeface="Calibri"/>
                        </a:rPr>
                        <a:t>A failed test is a zero credit</a:t>
                      </a:r>
                    </a:p>
                  </a:txBody>
                  <a:tcPr marL="54864" marR="54864" marT="27432" marB="27432" anchor="ctr">
                    <a:solidFill>
                      <a:srgbClr val="F2F4F8"/>
                    </a:solidFill>
                  </a:tcPr>
                </a:tc>
              </a:tr>
              <a:tr h="487680">
                <a:tc>
                  <a:txBody>
                    <a:bodyPr/>
                    <a:lstStyle/>
                    <a:p>
                      <a:r>
                        <a:rPr sz="950" b="0">
                          <a:solidFill>
                            <a:srgbClr val="1F2A44"/>
                          </a:solidFill>
                          <a:latin typeface="Calibri"/>
                        </a:rPr>
                        <a:t>Normalization election for storage (IRA amendment to section 50(d)(2)) and the DPU's treatment of the credit; no Massachusetts precedent yet (Outer Cape and Nantucket pre-date storage eligibility)</a:t>
                      </a:r>
                    </a:p>
                  </a:txBody>
                  <a:tcPr marL="54864" marR="54864" marT="27432" marB="27432" anchor="ctr">
                    <a:solidFill>
                      <a:srgbClr val="FFFFFF"/>
                    </a:solidFill>
                  </a:tcPr>
                </a:tc>
                <a:tc>
                  <a:txBody>
                    <a:bodyPr/>
                    <a:lstStyle/>
                    <a:p>
                      <a:r>
                        <a:rPr sz="950" b="0">
                          <a:solidFill>
                            <a:srgbClr val="1F2A44"/>
                          </a:solidFill>
                          <a:latin typeface="Calibri"/>
                        </a:rPr>
                        <a:t>Regulatory</a:t>
                      </a:r>
                    </a:p>
                  </a:txBody>
                  <a:tcPr marL="54864" marR="54864" marT="27432" marB="27432" anchor="ctr">
                    <a:solidFill>
                      <a:srgbClr val="FFFFFF"/>
                    </a:solidFill>
                  </a:tcPr>
                </a:tc>
                <a:tc>
                  <a:txBody>
                    <a:bodyPr/>
                    <a:lstStyle/>
                    <a:p>
                      <a:r>
                        <a:rPr sz="950" b="0">
                          <a:solidFill>
                            <a:srgbClr val="1F2A44"/>
                          </a:solidFill>
                          <a:latin typeface="Calibri"/>
                        </a:rPr>
                        <a:t>Decides how fast customers see it</a:t>
                      </a:r>
                    </a:p>
                  </a:txBody>
                  <a:tcPr marL="54864" marR="54864" marT="27432" marB="27432" anchor="ctr">
                    <a:solidFill>
                      <a:srgbClr val="FFFFFF"/>
                    </a:solidFill>
                  </a:tcPr>
                </a:tc>
              </a:tr>
              <a:tr h="487680">
                <a:tc>
                  <a:txBody>
                    <a:bodyPr/>
                    <a:lstStyle/>
                    <a:p>
                      <a:r>
                        <a:rPr sz="950" b="0">
                          <a:solidFill>
                            <a:srgbClr val="1F2A44"/>
                          </a:solidFill>
                          <a:latin typeface="Calibri"/>
                        </a:rPr>
                        <a:t>Prevailing wage and apprenticeship written into the construction contracts</a:t>
                      </a:r>
                    </a:p>
                  </a:txBody>
                  <a:tcPr marL="54864" marR="54864" marT="27432" marB="27432" anchor="ctr">
                    <a:solidFill>
                      <a:srgbClr val="F2F4F8"/>
                    </a:solidFill>
                  </a:tcPr>
                </a:tc>
                <a:tc>
                  <a:txBody>
                    <a:bodyPr/>
                    <a:lstStyle/>
                    <a:p>
                      <a:r>
                        <a:rPr sz="950" b="0">
                          <a:solidFill>
                            <a:srgbClr val="1F2A44"/>
                          </a:solidFill>
                          <a:latin typeface="Calibri"/>
                        </a:rPr>
                        <a:t>Sourcing + Construction</a:t>
                      </a:r>
                    </a:p>
                  </a:txBody>
                  <a:tcPr marL="54864" marR="54864" marT="27432" marB="27432" anchor="ctr">
                    <a:solidFill>
                      <a:srgbClr val="F2F4F8"/>
                    </a:solidFill>
                  </a:tcPr>
                </a:tc>
                <a:tc>
                  <a:txBody>
                    <a:bodyPr/>
                    <a:lstStyle/>
                    <a:p>
                      <a:r>
                        <a:rPr sz="950" b="0">
                          <a:solidFill>
                            <a:srgbClr val="1F2A44"/>
                          </a:solidFill>
                          <a:latin typeface="Calibri"/>
                        </a:rPr>
                        <a:t>6% vs 30%</a:t>
                      </a:r>
                    </a:p>
                  </a:txBody>
                  <a:tcPr marL="54864" marR="54864" marT="27432" marB="27432" anchor="ctr">
                    <a:solidFill>
                      <a:srgbClr val="F2F4F8"/>
                    </a:solidFill>
                  </a:tcPr>
                </a:tc>
              </a:tr>
              <a:tr h="487680">
                <a:tc>
                  <a:txBody>
                    <a:bodyPr/>
                    <a:lstStyle/>
                    <a:p>
                      <a:r>
                        <a:rPr sz="950" b="0">
                          <a:solidFill>
                            <a:srgbClr val="1F2A44"/>
                          </a:solidFill>
                          <a:latin typeface="Calibri"/>
                        </a:rPr>
                        <a:t>Brownfield status: a closed municipal landfill is not excluded, but above 5 MW the Phase I safe harbor is unavailable; needs a Phase II ESA or a prior program assessment</a:t>
                      </a:r>
                    </a:p>
                  </a:txBody>
                  <a:tcPr marL="54864" marR="54864" marT="27432" marB="27432" anchor="ctr">
                    <a:solidFill>
                      <a:srgbClr val="FFFFFF"/>
                    </a:solidFill>
                  </a:tcPr>
                </a:tc>
                <a:tc>
                  <a:txBody>
                    <a:bodyPr/>
                    <a:lstStyle/>
                    <a:p>
                      <a:r>
                        <a:rPr sz="950" b="0">
                          <a:solidFill>
                            <a:srgbClr val="1F2A44"/>
                          </a:solidFill>
                          <a:latin typeface="Calibri"/>
                        </a:rPr>
                        <a:t>Environmental + Tax</a:t>
                      </a:r>
                    </a:p>
                  </a:txBody>
                  <a:tcPr marL="54864" marR="54864" marT="27432" marB="27432" anchor="ctr">
                    <a:solidFill>
                      <a:srgbClr val="FFFFFF"/>
                    </a:solidFill>
                  </a:tcPr>
                </a:tc>
                <a:tc>
                  <a:txBody>
                    <a:bodyPr/>
                    <a:lstStyle/>
                    <a:p>
                      <a:r>
                        <a:rPr sz="950" b="0">
                          <a:solidFill>
                            <a:srgbClr val="1F2A44"/>
                          </a:solidFill>
                          <a:latin typeface="Calibri"/>
                        </a:rPr>
                        <a:t>The 10-point adder</a:t>
                      </a:r>
                    </a:p>
                  </a:txBody>
                  <a:tcPr marL="54864" marR="54864" marT="27432" marB="27432" anchor="ctr">
                    <a:solidFill>
                      <a:srgbClr val="FFFFFF"/>
                    </a:solidFill>
                  </a:tcPr>
                </a:tc>
              </a:tr>
            </a:tbl>
          </a:graphicData>
        </a:graphic>
      </p:graphicFrame>
      <p:sp>
        <p:nvSpPr>
          <p:cNvPr id="20" name="TextBox 19"/>
          <p:cNvSpPr txBox="1"/>
          <p:nvPr/>
        </p:nvSpPr>
        <p:spPr>
          <a:xfrm>
            <a:off x="7680960" y="3337560"/>
            <a:ext cx="4023360" cy="2926080"/>
          </a:xfrm>
          <a:prstGeom prst="rect">
            <a:avLst/>
          </a:prstGeom>
          <a:noFill/>
        </p:spPr>
        <p:txBody>
          <a:bodyPr wrap="square" lIns="45720">
            <a:spAutoFit/>
          </a:bodyPr>
          <a:lstStyle/>
          <a:p>
            <a:pPr>
              <a:lnSpc>
                <a:spcPct val="105000"/>
              </a:lnSpc>
              <a:spcAft>
                <a:spcPts val="500"/>
              </a:spcAft>
            </a:pPr>
            <a:r>
              <a:rPr sz="1050">
                <a:solidFill>
                  <a:srgbClr val="FFC72C"/>
                </a:solidFill>
                <a:latin typeface="Calibri"/>
              </a:rPr>
              <a:t>▪  </a:t>
            </a:r>
            <a:r>
              <a:rPr b="1" sz="1050">
                <a:solidFill>
                  <a:srgbClr val="1F2A44"/>
                </a:solidFill>
                <a:latin typeface="Calibri"/>
              </a:rPr>
              <a:t>Not an estimate change. </a:t>
            </a:r>
            <a:r>
              <a:rPr sz="1050">
                <a:solidFill>
                  <a:srgbClr val="1F2A44"/>
                </a:solidFill>
                <a:latin typeface="Calibri"/>
              </a:rPr>
              <a:t>The $57.2M stays; the credit reduces the revenue requirement the customer pays over the asset's life. It belongs in the PAF narrative and the rate case, not in the ESF.</a:t>
            </a:r>
          </a:p>
          <a:p>
            <a:pPr>
              <a:lnSpc>
                <a:spcPct val="105000"/>
              </a:lnSpc>
              <a:spcAft>
                <a:spcPts val="500"/>
              </a:spcAft>
            </a:pPr>
            <a:r>
              <a:rPr sz="1050">
                <a:solidFill>
                  <a:srgbClr val="FFC72C"/>
                </a:solidFill>
                <a:latin typeface="Calibri"/>
              </a:rPr>
              <a:t>▪  </a:t>
            </a:r>
            <a:r>
              <a:rPr b="1" sz="1050">
                <a:solidFill>
                  <a:srgbClr val="1F2A44"/>
                </a:solidFill>
                <a:latin typeface="Calibri"/>
              </a:rPr>
              <a:t>Scale: </a:t>
            </a:r>
            <a:r>
              <a:rPr sz="1050">
                <a:solidFill>
                  <a:srgbClr val="1F2A44"/>
                </a:solidFill>
                <a:latin typeface="Calibri"/>
              </a:rPr>
              <a:t>the low end of the credit is larger than Tiers A and B combined, and larger than the Haugland gap.</a:t>
            </a:r>
          </a:p>
          <a:p>
            <a:pPr>
              <a:lnSpc>
                <a:spcPct val="105000"/>
              </a:lnSpc>
              <a:spcAft>
                <a:spcPts val="500"/>
              </a:spcAft>
            </a:pPr>
            <a:r>
              <a:rPr sz="1050">
                <a:solidFill>
                  <a:srgbClr val="FFC72C"/>
                </a:solidFill>
                <a:latin typeface="Calibri"/>
              </a:rPr>
              <a:t>▪  </a:t>
            </a:r>
            <a:r>
              <a:rPr b="1" sz="1050">
                <a:solidFill>
                  <a:srgbClr val="1F2A44"/>
                </a:solidFill>
                <a:latin typeface="Calibri"/>
              </a:rPr>
              <a:t>Risk: </a:t>
            </a:r>
            <a:r>
              <a:rPr sz="1050">
                <a:solidFill>
                  <a:srgbClr val="1F2A44"/>
                </a:solidFill>
                <a:latin typeface="Calibri"/>
              </a:rPr>
              <a:t>the FEOC rules are the single question that can take it to zero. Ask Nomad for the cell and module origin now, before the final-drawings milestone.</a:t>
            </a:r>
          </a:p>
          <a:p>
            <a:pPr>
              <a:lnSpc>
                <a:spcPct val="105000"/>
              </a:lnSpc>
              <a:spcAft>
                <a:spcPts val="500"/>
              </a:spcAft>
            </a:pPr>
            <a:r>
              <a:rPr sz="1050">
                <a:solidFill>
                  <a:srgbClr val="FFC72C"/>
                </a:solidFill>
                <a:latin typeface="Calibri"/>
              </a:rPr>
              <a:t>▪  </a:t>
            </a:r>
            <a:r>
              <a:rPr b="1" sz="1050">
                <a:solidFill>
                  <a:srgbClr val="1F2A44"/>
                </a:solidFill>
                <a:latin typeface="Calibri"/>
              </a:rPr>
              <a:t>Confidence: </a:t>
            </a:r>
            <a:r>
              <a:rPr sz="1050">
                <a:solidFill>
                  <a:srgbClr val="1F2A44"/>
                </a:solidFill>
                <a:latin typeface="Calibri"/>
              </a:rPr>
              <a:t>medium on the mechanism (law-firm summaries of the July 2025 law and Notice 2026-15; statute not read first-hand), low on the dollars until Tax opines.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WHAT THE FUNCTION REQUIRES AGAINST WHAT REV 3 CARRIES (1 OF 2), DIRECT DOLLARS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Scope challenge, layers A to E: a double count on the skids, a GSU count nobody has written down, and civil rates with no basis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30</a:t>
            </a:r>
          </a:p>
        </p:txBody>
      </p:sp>
      <p:graphicFrame>
        <p:nvGraphicFramePr>
          <p:cNvPr id="7" name="Table 6"/>
          <p:cNvGraphicFramePr>
            <a:graphicFrameLocks noGrp="1"/>
          </p:cNvGraphicFramePr>
          <p:nvPr/>
        </p:nvGraphicFramePr>
        <p:xfrm>
          <a:off x="548640" y="1325880"/>
          <a:ext cx="11064240" cy="4983480"/>
        </p:xfrm>
        <a:graphic>
          <a:graphicData uri="http://schemas.openxmlformats.org/drawingml/2006/table">
            <a:tbl>
              <a:tblPr firstRow="1" bandRow="1">
                <a:tableStyleId>{5C22544A-7EE6-4342-B048-85BDC9FD1C3A}</a:tableStyleId>
              </a:tblPr>
              <a:tblGrid>
                <a:gridCol w="1097280"/>
                <a:gridCol w="2834640"/>
                <a:gridCol w="2377440"/>
                <a:gridCol w="3840480"/>
                <a:gridCol w="914400"/>
              </a:tblGrid>
              <a:tr h="622935">
                <a:tc>
                  <a:txBody>
                    <a:bodyPr/>
                    <a:lstStyle/>
                    <a:p>
                      <a:r>
                        <a:rPr sz="750" b="1">
                          <a:solidFill>
                            <a:srgbClr val="FFFFFF"/>
                          </a:solidFill>
                          <a:latin typeface="Calibri"/>
                        </a:rPr>
                        <a:t>Layer</a:t>
                      </a:r>
                    </a:p>
                  </a:txBody>
                  <a:tcPr marL="54864" marR="54864" marT="27432" marB="27432">
                    <a:solidFill>
                      <a:srgbClr val="001E60"/>
                    </a:solidFill>
                  </a:tcPr>
                </a:tc>
                <a:tc>
                  <a:txBody>
                    <a:bodyPr/>
                    <a:lstStyle/>
                    <a:p>
                      <a:r>
                        <a:rPr sz="750" b="1">
                          <a:solidFill>
                            <a:srgbClr val="FFFFFF"/>
                          </a:solidFill>
                          <a:latin typeface="Calibri"/>
                        </a:rPr>
                        <a:t>Rev 3 carries</a:t>
                      </a:r>
                    </a:p>
                  </a:txBody>
                  <a:tcPr marL="54864" marR="54864" marT="27432" marB="27432">
                    <a:solidFill>
                      <a:srgbClr val="001E60"/>
                    </a:solidFill>
                  </a:tcPr>
                </a:tc>
                <a:tc>
                  <a:txBody>
                    <a:bodyPr/>
                    <a:lstStyle/>
                    <a:p>
                      <a:r>
                        <a:rPr sz="750" b="1">
                          <a:solidFill>
                            <a:srgbClr val="FFFFFF"/>
                          </a:solidFill>
                          <a:latin typeface="Calibri"/>
                        </a:rPr>
                        <a:t>The function requires</a:t>
                      </a:r>
                    </a:p>
                  </a:txBody>
                  <a:tcPr marL="54864" marR="54864" marT="27432" marB="27432">
                    <a:solidFill>
                      <a:srgbClr val="001E60"/>
                    </a:solidFill>
                  </a:tcPr>
                </a:tc>
                <a:tc>
                  <a:txBody>
                    <a:bodyPr/>
                    <a:lstStyle/>
                    <a:p>
                      <a:r>
                        <a:rPr sz="750" b="1">
                          <a:solidFill>
                            <a:srgbClr val="FFFFFF"/>
                          </a:solidFill>
                          <a:latin typeface="Calibri"/>
                        </a:rPr>
                        <a:t>Challenge</a:t>
                      </a:r>
                    </a:p>
                  </a:txBody>
                  <a:tcPr marL="54864" marR="54864" marT="27432" marB="27432">
                    <a:solidFill>
                      <a:srgbClr val="001E60"/>
                    </a:solidFill>
                  </a:tcPr>
                </a:tc>
                <a:tc>
                  <a:txBody>
                    <a:bodyPr/>
                    <a:lstStyle/>
                    <a:p>
                      <a:pPr algn="r"/>
                      <a:r>
                        <a:rPr sz="750" b="1">
                          <a:solidFill>
                            <a:srgbClr val="FFFFFF"/>
                          </a:solidFill>
                          <a:latin typeface="Calibri"/>
                        </a:rPr>
                        <a:t>Direct $</a:t>
                      </a:r>
                    </a:p>
                  </a:txBody>
                  <a:tcPr marL="54864" marR="54864" marT="27432" marB="27432">
                    <a:solidFill>
                      <a:srgbClr val="001E60"/>
                    </a:solidFill>
                  </a:tcPr>
                </a:tc>
              </a:tr>
              <a:tr h="622935">
                <a:tc>
                  <a:txBody>
                    <a:bodyPr/>
                    <a:lstStyle/>
                    <a:p>
                      <a:r>
                        <a:rPr sz="750" b="0">
                          <a:solidFill>
                            <a:srgbClr val="1F2A44"/>
                          </a:solidFill>
                          <a:latin typeface="Calibri"/>
                        </a:rPr>
                        <a:t>A. Battery contract</a:t>
                      </a:r>
                    </a:p>
                  </a:txBody>
                  <a:tcPr marL="54864" marR="54864" marT="27432" marB="27432" anchor="ctr">
                    <a:solidFill>
                      <a:srgbClr val="FFFFFF"/>
                    </a:solidFill>
                  </a:tcPr>
                </a:tc>
                <a:tc>
                  <a:txBody>
                    <a:bodyPr/>
                    <a:lstStyle/>
                    <a:p>
                      <a:r>
                        <a:rPr sz="750" b="0">
                          <a:solidFill>
                            <a:srgbClr val="1F2A44"/>
                          </a:solidFill>
                          <a:latin typeface="Calibri"/>
                        </a:rPr>
                        <a:t>Nomad fixed price $12.1M (12 Voyager units, 10-yr warranty $0.80M, spares, support, shipping, training) plus $1.13M escalation on the balance</a:t>
                      </a:r>
                    </a:p>
                  </a:txBody>
                  <a:tcPr marL="54864" marR="54864" marT="27432" marB="27432" anchor="ctr">
                    <a:solidFill>
                      <a:srgbClr val="FFFFFF"/>
                    </a:solidFill>
                  </a:tcPr>
                </a:tc>
                <a:tc>
                  <a:txBody>
                    <a:bodyPr/>
                    <a:lstStyle/>
                    <a:p>
                      <a:r>
                        <a:rPr sz="750" b="0">
                          <a:solidFill>
                            <a:srgbClr val="1F2A44"/>
                          </a:solidFill>
                          <a:latin typeface="Calibri"/>
                        </a:rPr>
                        <a:t>The battery. Price is fixed until Final Acceptance.</a:t>
                      </a:r>
                    </a:p>
                  </a:txBody>
                  <a:tcPr marL="54864" marR="54864" marT="27432" marB="27432" anchor="ctr">
                    <a:solidFill>
                      <a:srgbClr val="FFFFFF"/>
                    </a:solidFill>
                  </a:tcPr>
                </a:tc>
                <a:tc>
                  <a:txBody>
                    <a:bodyPr/>
                    <a:lstStyle/>
                    <a:p>
                      <a:r>
                        <a:rPr sz="750" b="0">
                          <a:solidFill>
                            <a:srgbClr val="1F2A44"/>
                          </a:solidFill>
                          <a:latin typeface="Calibri"/>
                        </a:rPr>
                        <a:t>Remove the escalation; align Attachment C-2 milestones to the January 2028 delivery; write the tariff and change-in-law clause into the change-order process; treat warranty years 3-10 as a service agreement if Accounting allows</a:t>
                      </a:r>
                    </a:p>
                  </a:txBody>
                  <a:tcPr marL="54864" marR="54864" marT="27432" marB="27432" anchor="ctr">
                    <a:solidFill>
                      <a:srgbClr val="FFFFFF"/>
                    </a:solidFill>
                  </a:tcPr>
                </a:tc>
                <a:tc>
                  <a:txBody>
                    <a:bodyPr/>
                    <a:lstStyle/>
                    <a:p>
                      <a:pPr algn="r"/>
                      <a:r>
                        <a:rPr sz="750" b="0">
                          <a:solidFill>
                            <a:srgbClr val="1F2A44"/>
                          </a:solidFill>
                          <a:latin typeface="Calibri"/>
                        </a:rPr>
                        <a:t>$1.1M</a:t>
                      </a:r>
                    </a:p>
                  </a:txBody>
                  <a:tcPr marL="54864" marR="54864" marT="27432" marB="27432" anchor="ctr">
                    <a:solidFill>
                      <a:srgbClr val="FFFFFF"/>
                    </a:solidFill>
                  </a:tcPr>
                </a:tc>
              </a:tr>
              <a:tr h="622935">
                <a:tc>
                  <a:txBody>
                    <a:bodyPr/>
                    <a:lstStyle/>
                    <a:p>
                      <a:r>
                        <a:rPr sz="750" b="0">
                          <a:solidFill>
                            <a:srgbClr val="1F2A44"/>
                          </a:solidFill>
                          <a:latin typeface="Calibri"/>
                        </a:rPr>
                        <a:t>B. Battery installation</a:t>
                      </a:r>
                    </a:p>
                  </a:txBody>
                  <a:tcPr marL="54864" marR="54864" marT="27432" marB="27432" anchor="ctr">
                    <a:solidFill>
                      <a:srgbClr val="F2F4F8"/>
                    </a:solidFill>
                  </a:tcPr>
                </a:tc>
                <a:tc>
                  <a:txBody>
                    <a:bodyPr/>
                    <a:lstStyle/>
                    <a:p>
                      <a:r>
                        <a:rPr sz="750" b="0">
                          <a:solidFill>
                            <a:srgbClr val="1F2A44"/>
                          </a:solidFill>
                          <a:latin typeface="Calibri"/>
                        </a:rPr>
                        <a:t>5,557 mh of install labor (25% of a 2023 site total), 12 pads, fire suppression $132K, GSU-to-battery conduit and cable</a:t>
                      </a:r>
                    </a:p>
                  </a:txBody>
                  <a:tcPr marL="54864" marR="54864" marT="27432" marB="27432" anchor="ctr">
                    <a:solidFill>
                      <a:srgbClr val="F2F4F8"/>
                    </a:solidFill>
                  </a:tcPr>
                </a:tc>
                <a:tc>
                  <a:txBody>
                    <a:bodyPr/>
                    <a:lstStyle/>
                    <a:p>
                      <a:r>
                        <a:rPr sz="750" b="0">
                          <a:solidFill>
                            <a:srgbClr val="1F2A44"/>
                          </a:solidFill>
                          <a:latin typeface="Calibri"/>
                        </a:rPr>
                        <a:t>Set, anchor and terminate 12 trailer-mounted units; Nomad supervises (two people, one day per container).</a:t>
                      </a:r>
                    </a:p>
                  </a:txBody>
                  <a:tcPr marL="54864" marR="54864" marT="27432" marB="27432" anchor="ctr">
                    <a:solidFill>
                      <a:srgbClr val="F2F4F8"/>
                    </a:solidFill>
                  </a:tcPr>
                </a:tc>
                <a:tc>
                  <a:txBody>
                    <a:bodyPr/>
                    <a:lstStyle/>
                    <a:p>
                      <a:r>
                        <a:rPr sz="750" b="0">
                          <a:solidFill>
                            <a:srgbClr val="1F2A44"/>
                          </a:solidFill>
                          <a:latin typeface="Calibri"/>
                        </a:rPr>
                        <a:t>Crew build-up at 200-250 mh per unit (2,400-3,000 mh); confirm whether the Voyager enclosure carries its own suppression before buying $132K of it twice</a:t>
                      </a:r>
                    </a:p>
                  </a:txBody>
                  <a:tcPr marL="54864" marR="54864" marT="27432" marB="27432" anchor="ctr">
                    <a:solidFill>
                      <a:srgbClr val="F2F4F8"/>
                    </a:solidFill>
                  </a:tcPr>
                </a:tc>
                <a:tc>
                  <a:txBody>
                    <a:bodyPr/>
                    <a:lstStyle/>
                    <a:p>
                      <a:pPr algn="r"/>
                      <a:r>
                        <a:rPr sz="750" b="0">
                          <a:solidFill>
                            <a:srgbClr val="1F2A44"/>
                          </a:solidFill>
                          <a:latin typeface="Calibri"/>
                        </a:rPr>
                        <a:t>$0.5 to 0.7M</a:t>
                      </a:r>
                    </a:p>
                  </a:txBody>
                  <a:tcPr marL="54864" marR="54864" marT="27432" marB="27432" anchor="ctr">
                    <a:solidFill>
                      <a:srgbClr val="F2F4F8"/>
                    </a:solidFill>
                  </a:tcPr>
                </a:tc>
              </a:tr>
              <a:tr h="622935">
                <a:tc>
                  <a:txBody>
                    <a:bodyPr/>
                    <a:lstStyle/>
                    <a:p>
                      <a:r>
                        <a:rPr sz="750" b="0">
                          <a:solidFill>
                            <a:srgbClr val="1F2A44"/>
                          </a:solidFill>
                          <a:latin typeface="Calibri"/>
                        </a:rPr>
                        <a:t>C. GSUs and auxiliaries</a:t>
                      </a:r>
                    </a:p>
                  </a:txBody>
                  <a:tcPr marL="54864" marR="54864" marT="27432" marB="27432" anchor="ctr">
                    <a:solidFill>
                      <a:srgbClr val="FFFFFF"/>
                    </a:solidFill>
                  </a:tcPr>
                </a:tc>
                <a:tc>
                  <a:txBody>
                    <a:bodyPr/>
                    <a:lstStyle/>
                    <a:p>
                      <a:r>
                        <a:rPr sz="750" b="0">
                          <a:solidFill>
                            <a:srgbClr val="1F2A44"/>
                          </a:solidFill>
                          <a:latin typeface="Calibri"/>
                        </a:rPr>
                        <a:t>4 x 3 MVA pad-mount GSUs $1,077K furnish (2023 bidder list + 3%/yr) and $363K install (2,098 mh = 524 per unit); comms $355K; AC/DC panels $137K</a:t>
                      </a:r>
                    </a:p>
                  </a:txBody>
                  <a:tcPr marL="54864" marR="54864" marT="27432" marB="27432" anchor="ctr">
                    <a:solidFill>
                      <a:srgbClr val="FFFFFF"/>
                    </a:solidFill>
                  </a:tcPr>
                </a:tc>
                <a:tc>
                  <a:txBody>
                    <a:bodyPr/>
                    <a:lstStyle/>
                    <a:p>
                      <a:r>
                        <a:rPr sz="750" b="0">
                          <a:solidFill>
                            <a:srgbClr val="1F2A44"/>
                          </a:solidFill>
                          <a:latin typeface="Calibri"/>
                        </a:rPr>
                        <a:t>Step 480 V to 13.8 kV for 10 MW. The count follows the topology: one GSU per feeder connection or one per unit.</a:t>
                      </a:r>
                    </a:p>
                  </a:txBody>
                  <a:tcPr marL="54864" marR="54864" marT="27432" marB="27432" anchor="ctr">
                    <a:solidFill>
                      <a:srgbClr val="FFFFFF"/>
                    </a:solidFill>
                  </a:tcPr>
                </a:tc>
                <a:tc>
                  <a:txBody>
                    <a:bodyPr/>
                    <a:lstStyle/>
                    <a:p>
                      <a:r>
                        <a:rPr sz="750" b="0">
                          <a:solidFill>
                            <a:srgbClr val="1F2A44"/>
                          </a:solidFill>
                          <a:latin typeface="Calibri"/>
                        </a:rPr>
                        <a:t>Settle the count in writing. The PM's 9 Sep email speaks of twelve GSUs; Rev 3 carries four; Haugland priced the larger count ($632K deduct item). Install at 524 mh per pad-mount is three to four times a normal set; re-quote the transformer with the 2026 lead time (29-70 weeks) in the schedule</a:t>
                      </a:r>
                    </a:p>
                  </a:txBody>
                  <a:tcPr marL="54864" marR="54864" marT="27432" marB="27432" anchor="ctr">
                    <a:solidFill>
                      <a:srgbClr val="FFFFFF"/>
                    </a:solidFill>
                  </a:tcPr>
                </a:tc>
                <a:tc>
                  <a:txBody>
                    <a:bodyPr/>
                    <a:lstStyle/>
                    <a:p>
                      <a:pPr algn="r"/>
                      <a:r>
                        <a:rPr sz="750" b="0">
                          <a:solidFill>
                            <a:srgbClr val="1F2A44"/>
                          </a:solidFill>
                          <a:latin typeface="Calibri"/>
                        </a:rPr>
                        <a:t>$0.2 to 0.2M</a:t>
                      </a:r>
                    </a:p>
                  </a:txBody>
                  <a:tcPr marL="54864" marR="54864" marT="27432" marB="27432" anchor="ctr">
                    <a:solidFill>
                      <a:srgbClr val="FFFFFF"/>
                    </a:solidFill>
                  </a:tcPr>
                </a:tc>
              </a:tr>
              <a:tr h="622935">
                <a:tc>
                  <a:txBody>
                    <a:bodyPr/>
                    <a:lstStyle/>
                    <a:p>
                      <a:r>
                        <a:rPr sz="750" b="0">
                          <a:solidFill>
                            <a:srgbClr val="1F2A44"/>
                          </a:solidFill>
                          <a:latin typeface="Calibri"/>
                        </a:rPr>
                        <a:t>C. GSUs (exposure)</a:t>
                      </a:r>
                    </a:p>
                  </a:txBody>
                  <a:tcPr marL="54864" marR="54864" marT="27432" marB="27432" anchor="ctr">
                    <a:solidFill>
                      <a:srgbClr val="FBECEC"/>
                    </a:solidFill>
                  </a:tcPr>
                </a:tc>
                <a:tc>
                  <a:txBody>
                    <a:bodyPr/>
                    <a:lstStyle/>
                    <a:p>
                      <a:r>
                        <a:rPr sz="750" b="0">
                          <a:solidFill>
                            <a:srgbClr val="1F2A44"/>
                          </a:solidFill>
                          <a:latin typeface="Calibri"/>
                        </a:rPr>
                        <a:t>Four GSUs</a:t>
                      </a:r>
                    </a:p>
                  </a:txBody>
                  <a:tcPr marL="54864" marR="54864" marT="27432" marB="27432" anchor="ctr">
                    <a:solidFill>
                      <a:srgbClr val="FBECEC"/>
                    </a:solidFill>
                  </a:tcPr>
                </a:tc>
                <a:tc>
                  <a:txBody>
                    <a:bodyPr/>
                    <a:lstStyle/>
                    <a:p>
                      <a:r>
                        <a:rPr sz="750" b="0">
                          <a:solidFill>
                            <a:srgbClr val="1F2A44"/>
                          </a:solidFill>
                          <a:latin typeface="Calibri"/>
                        </a:rPr>
                        <a:t>If the topology needs one GSU per Voyager unit, twelve</a:t>
                      </a:r>
                    </a:p>
                  </a:txBody>
                  <a:tcPr marL="54864" marR="54864" marT="27432" marB="27432" anchor="ctr">
                    <a:solidFill>
                      <a:srgbClr val="FBECEC"/>
                    </a:solidFill>
                  </a:tcPr>
                </a:tc>
                <a:tc>
                  <a:txBody>
                    <a:bodyPr/>
                    <a:lstStyle/>
                    <a:p>
                      <a:r>
                        <a:rPr sz="750" b="0">
                          <a:solidFill>
                            <a:srgbClr val="1F2A44"/>
                          </a:solidFill>
                          <a:latin typeface="Calibri"/>
                        </a:rPr>
                        <a:t>Eight more 1 MVA-class pad-mounts, foundations and cable</a:t>
                      </a:r>
                    </a:p>
                  </a:txBody>
                  <a:tcPr marL="54864" marR="54864" marT="27432" marB="27432" anchor="ctr">
                    <a:solidFill>
                      <a:srgbClr val="FBECEC"/>
                    </a:solidFill>
                  </a:tcPr>
                </a:tc>
                <a:tc>
                  <a:txBody>
                    <a:bodyPr/>
                    <a:lstStyle/>
                    <a:p>
                      <a:pPr algn="r"/>
                      <a:r>
                        <a:rPr sz="750" b="0">
                          <a:solidFill>
                            <a:srgbClr val="1F2A44"/>
                          </a:solidFill>
                          <a:latin typeface="Calibri"/>
                        </a:rPr>
                        <a:t>exposure $0.6 to 1.0M</a:t>
                      </a:r>
                    </a:p>
                  </a:txBody>
                  <a:tcPr marL="54864" marR="54864" marT="27432" marB="27432" anchor="ctr">
                    <a:solidFill>
                      <a:srgbClr val="FBECEC"/>
                    </a:solidFill>
                  </a:tcPr>
                </a:tc>
              </a:tr>
              <a:tr h="622935">
                <a:tc>
                  <a:txBody>
                    <a:bodyPr/>
                    <a:lstStyle/>
                    <a:p>
                      <a:r>
                        <a:rPr sz="750" b="0">
                          <a:solidFill>
                            <a:srgbClr val="1F2A44"/>
                          </a:solidFill>
                          <a:latin typeface="Calibri"/>
                        </a:rPr>
                        <a:t>D. Switching station</a:t>
                      </a:r>
                    </a:p>
                  </a:txBody>
                  <a:tcPr marL="54864" marR="54864" marT="27432" marB="27432" anchor="ctr">
                    <a:solidFill>
                      <a:srgbClr val="FFFFFF"/>
                    </a:solidFill>
                  </a:tcPr>
                </a:tc>
                <a:tc>
                  <a:txBody>
                    <a:bodyPr/>
                    <a:lstStyle/>
                    <a:p>
                      <a:r>
                        <a:rPr sz="750" b="0">
                          <a:solidFill>
                            <a:srgbClr val="1F2A44"/>
                          </a:solidFill>
                          <a:latin typeface="Calibri"/>
                        </a:rPr>
                        <a:t>4 Siemens breaker skids $1,327K furnish (Siemens +/-30% budgetary at $300K each incl. relays, cabinets, DC battery, PTs, disconnects); 8 disconnect switches $238K (1,040 mh); 4 metering transclosures $265K; lighting $313K (1,272 mh); duct bank, 15 kV cable, riser poles, SSVT, grounding</a:t>
                      </a:r>
                    </a:p>
                  </a:txBody>
                  <a:tcPr marL="54864" marR="54864" marT="27432" marB="27432" anchor="ctr">
                    <a:solidFill>
                      <a:srgbClr val="FFFFFF"/>
                    </a:solidFill>
                  </a:tcPr>
                </a:tc>
                <a:tc>
                  <a:txBody>
                    <a:bodyPr/>
                    <a:lstStyle/>
                    <a:p>
                      <a:r>
                        <a:rPr sz="750" b="0">
                          <a:solidFill>
                            <a:srgbClr val="1F2A44"/>
                          </a:solidFill>
                          <a:latin typeface="Calibri"/>
                        </a:rPr>
                        <a:t>Four feeder connections at 2.5 MW each because a 15 kV-class feeder takes about 9 MVA aggregate (National Grid MA limit; Eversource's not retrieved). Each connection needs a breaker, protection, metering and a tie.</a:t>
                      </a:r>
                    </a:p>
                  </a:txBody>
                  <a:tcPr marL="54864" marR="54864" marT="27432" marB="27432" anchor="ctr">
                    <a:solidFill>
                      <a:srgbClr val="FFFFFF"/>
                    </a:solidFill>
                  </a:tcPr>
                </a:tc>
                <a:tc>
                  <a:txBody>
                    <a:bodyPr/>
                    <a:lstStyle/>
                    <a:p>
                      <a:r>
                        <a:rPr sz="750" b="0">
                          <a:solidFill>
                            <a:srgbClr val="1F2A44"/>
                          </a:solidFill>
                          <a:latin typeface="Calibri"/>
                        </a:rPr>
                        <a:t>(1) The 8 disconnects and the PT cutouts are on the skids per the project team and are priced again as separate lines: $259K and 1,040 mh. (2) Lighting: 12 HPS luminaires and $200 a foot of direct-bury hookup on an unmanned one-acre pad; LED on the fence line at a third of the cost. (3) Hosting-capacity study: if two feeders can take 5 MW each, two skids, two GSUs and two metering sets go away (savings register B2).</a:t>
                      </a:r>
                    </a:p>
                  </a:txBody>
                  <a:tcPr marL="54864" marR="54864" marT="27432" marB="27432" anchor="ctr">
                    <a:solidFill>
                      <a:srgbClr val="FFFFFF"/>
                    </a:solidFill>
                  </a:tcPr>
                </a:tc>
                <a:tc>
                  <a:txBody>
                    <a:bodyPr/>
                    <a:lstStyle/>
                    <a:p>
                      <a:pPr algn="r"/>
                      <a:r>
                        <a:rPr sz="750" b="0">
                          <a:solidFill>
                            <a:srgbClr val="1F2A44"/>
                          </a:solidFill>
                          <a:latin typeface="Calibri"/>
                        </a:rPr>
                        <a:t>$0.4M</a:t>
                      </a:r>
                    </a:p>
                  </a:txBody>
                  <a:tcPr marL="54864" marR="54864" marT="27432" marB="27432" anchor="ctr">
                    <a:solidFill>
                      <a:srgbClr val="FFFFFF"/>
                    </a:solidFill>
                  </a:tcPr>
                </a:tc>
              </a:tr>
              <a:tr h="622935">
                <a:tc>
                  <a:txBody>
                    <a:bodyPr/>
                    <a:lstStyle/>
                    <a:p>
                      <a:r>
                        <a:rPr sz="750" b="0">
                          <a:solidFill>
                            <a:srgbClr val="1F2A44"/>
                          </a:solidFill>
                          <a:latin typeface="Calibri"/>
                        </a:rPr>
                        <a:t>E. Site and civil</a:t>
                      </a:r>
                    </a:p>
                  </a:txBody>
                  <a:tcPr marL="54864" marR="54864" marT="27432" marB="27432" anchor="ctr">
                    <a:solidFill>
                      <a:srgbClr val="F2F4F8"/>
                    </a:solidFill>
                  </a:tcPr>
                </a:tc>
                <a:tc>
                  <a:txBody>
                    <a:bodyPr/>
                    <a:lstStyle/>
                    <a:p>
                      <a:r>
                        <a:rPr sz="750" b="0">
                          <a:solidFill>
                            <a:srgbClr val="1F2A44"/>
                          </a:solidFill>
                          <a:latin typeface="Calibri"/>
                        </a:rPr>
                        <a:t>Cut and re-place 2,520 CY $456K (2,520 mh); 14-ft retaining wall 280 lf $470K; trap rock 4,900 sy $492K; gravel drive 760 lf $319K; 36 borings $361K; mob/demob $313K</a:t>
                      </a:r>
                    </a:p>
                  </a:txBody>
                  <a:tcPr marL="54864" marR="54864" marT="27432" marB="27432" anchor="ctr">
                    <a:solidFill>
                      <a:srgbClr val="F2F4F8"/>
                    </a:solidFill>
                  </a:tcPr>
                </a:tc>
                <a:tc>
                  <a:txBody>
                    <a:bodyPr/>
                    <a:lstStyle/>
                    <a:p>
                      <a:r>
                        <a:rPr sz="750" b="0">
                          <a:solidFill>
                            <a:srgbClr val="1F2A44"/>
                          </a:solidFill>
                          <a:latin typeface="Calibri"/>
                        </a:rPr>
                        <a:t>A stable, drained, accessible pad on a capped construction-debris landfill under a MassDEP post-closure permit; the wall, the platform depth and the cut volume are design outcomes of the geotech, not inputs.</a:t>
                      </a:r>
                    </a:p>
                  </a:txBody>
                  <a:tcPr marL="54864" marR="54864" marT="27432" marB="27432" anchor="ctr">
                    <a:solidFill>
                      <a:srgbClr val="F2F4F8"/>
                    </a:solidFill>
                  </a:tcPr>
                </a:tc>
                <a:tc>
                  <a:txBody>
                    <a:bodyPr/>
                    <a:lstStyle/>
                    <a:p>
                      <a:r>
                        <a:rPr sz="750" b="0">
                          <a:solidFill>
                            <a:srgbClr val="1F2A44"/>
                          </a:solidFill>
                          <a:latin typeface="Calibri"/>
                        </a:rPr>
                        <a:t>Unit rates run two to four times library norms (cut at $181/CY, surfacing $100/sy, drive $420/lf, borings $10K each) on placeholder quantities (2.5-ft platform). No basis is written for either. The reconciliation with Haugland decides which way this layer moves; do not book a deduct before the geotech.</a:t>
                      </a:r>
                    </a:p>
                  </a:txBody>
                  <a:tcPr marL="54864" marR="54864" marT="27432" marB="27432" anchor="ctr">
                    <a:solidFill>
                      <a:srgbClr val="F2F4F8"/>
                    </a:solidFill>
                  </a:tcPr>
                </a:tc>
                <a:tc>
                  <a:txBody>
                    <a:bodyPr/>
                    <a:lstStyle/>
                    <a:p>
                      <a:pPr algn="r"/>
                      <a:r>
                        <a:rPr sz="750" b="0">
                          <a:solidFill>
                            <a:srgbClr val="1F2A44"/>
                          </a:solidFill>
                          <a:latin typeface="Calibri"/>
                        </a:rPr>
                        <a:t>$0.3 to 0.8M</a:t>
                      </a:r>
                    </a:p>
                  </a:txBody>
                  <a:tcPr marL="54864" marR="54864" marT="27432" marB="27432" anchor="ctr">
                    <a:solidFill>
                      <a:srgbClr val="F2F4F8"/>
                    </a:solidFill>
                  </a:tcPr>
                </a:tc>
              </a:tr>
              <a:tr h="622935">
                <a:tc>
                  <a:txBody>
                    <a:bodyPr/>
                    <a:lstStyle/>
                    <a:p>
                      <a:r>
                        <a:rPr sz="750" b="0">
                          <a:solidFill>
                            <a:srgbClr val="1F2A44"/>
                          </a:solidFill>
                          <a:latin typeface="Calibri"/>
                        </a:rPr>
                        <a:t>E. Site (exposures)</a:t>
                      </a:r>
                    </a:p>
                  </a:txBody>
                  <a:tcPr marL="54864" marR="54864" marT="27432" marB="27432" anchor="ctr">
                    <a:solidFill>
                      <a:srgbClr val="FBECEC"/>
                    </a:solidFill>
                  </a:tcPr>
                </a:tc>
                <a:tc>
                  <a:txBody>
                    <a:bodyPr/>
                    <a:lstStyle/>
                    <a:p>
                      <a:r>
                        <a:rPr sz="750" b="0">
                          <a:solidFill>
                            <a:srgbClr val="1F2A44"/>
                          </a:solidFill>
                          <a:latin typeface="Calibri"/>
                        </a:rPr>
                        <a:t>No sound mitigation, no visual screening or faux facade, no police details beyond $12K of traffic control, no NFPA 855 hazard mitigation analysis line</a:t>
                      </a:r>
                    </a:p>
                  </a:txBody>
                  <a:tcPr marL="54864" marR="54864" marT="27432" marB="27432" anchor="ctr">
                    <a:solidFill>
                      <a:srgbClr val="FBECEC"/>
                    </a:solidFill>
                  </a:tcPr>
                </a:tc>
                <a:tc>
                  <a:txBody>
                    <a:bodyPr/>
                    <a:lstStyle/>
                    <a:p>
                      <a:r>
                        <a:rPr sz="750" b="0">
                          <a:solidFill>
                            <a:srgbClr val="1F2A44"/>
                          </a:solidFill>
                          <a:latin typeface="Calibri"/>
                        </a:rPr>
                        <a:t>Constructability review: visual screening 'likely required' and a sound study to come; Boston public-way work; NFPA 855 for a lithium system next to housing</a:t>
                      </a:r>
                    </a:p>
                  </a:txBody>
                  <a:tcPr marL="54864" marR="54864" marT="27432" marB="27432" anchor="ctr">
                    <a:solidFill>
                      <a:srgbClr val="FBECEC"/>
                    </a:solidFill>
                  </a:tcPr>
                </a:tc>
                <a:tc>
                  <a:txBody>
                    <a:bodyPr/>
                    <a:lstStyle/>
                    <a:p>
                      <a:r>
                        <a:rPr sz="750" b="0">
                          <a:solidFill>
                            <a:srgbClr val="1F2A44"/>
                          </a:solidFill>
                          <a:latin typeface="Calibri"/>
                        </a:rPr>
                        <a:t>E-23-373 carried $467K of sound mitigation; Rev 3 dropped it and the risk register does not carry it. Screening and a facade were deferred to 'vendor design'. Price them or register them.</a:t>
                      </a:r>
                    </a:p>
                  </a:txBody>
                  <a:tcPr marL="54864" marR="54864" marT="27432" marB="27432" anchor="ctr">
                    <a:solidFill>
                      <a:srgbClr val="FBECEC"/>
                    </a:solidFill>
                  </a:tcPr>
                </a:tc>
                <a:tc>
                  <a:txBody>
                    <a:bodyPr/>
                    <a:lstStyle/>
                    <a:p>
                      <a:pPr algn="r"/>
                      <a:r>
                        <a:rPr sz="750" b="0">
                          <a:solidFill>
                            <a:srgbClr val="1F2A44"/>
                          </a:solidFill>
                          <a:latin typeface="Calibri"/>
                        </a:rPr>
                        <a:t>exposure $0.6 to 1.2M</a:t>
                      </a:r>
                    </a:p>
                  </a:txBody>
                  <a:tcPr marL="54864" marR="54864" marT="27432" marB="27432" anchor="ctr">
                    <a:solidFill>
                      <a:srgbClr val="FBECEC"/>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WHAT THE FUNCTION REQUIRES AGAINST WHAT REV 3 CARRIES (2 OF 2), DIRECT DOLLARS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Scope challenge, layers F to M: the relay program, the hours carried from 2023, the siting budget and the loaders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31</a:t>
            </a:r>
          </a:p>
        </p:txBody>
      </p:sp>
      <p:graphicFrame>
        <p:nvGraphicFramePr>
          <p:cNvPr id="7" name="Table 6"/>
          <p:cNvGraphicFramePr>
            <a:graphicFrameLocks noGrp="1"/>
          </p:cNvGraphicFramePr>
          <p:nvPr/>
        </p:nvGraphicFramePr>
        <p:xfrm>
          <a:off x="548640" y="1325880"/>
          <a:ext cx="11064240" cy="4983480"/>
        </p:xfrm>
        <a:graphic>
          <a:graphicData uri="http://schemas.openxmlformats.org/drawingml/2006/table">
            <a:tbl>
              <a:tblPr firstRow="1" bandRow="1">
                <a:tableStyleId>{5C22544A-7EE6-4342-B048-85BDC9FD1C3A}</a:tableStyleId>
              </a:tblPr>
              <a:tblGrid>
                <a:gridCol w="1097280"/>
                <a:gridCol w="2834640"/>
                <a:gridCol w="2377440"/>
                <a:gridCol w="3840480"/>
                <a:gridCol w="914400"/>
              </a:tblGrid>
              <a:tr h="711925">
                <a:tc>
                  <a:txBody>
                    <a:bodyPr/>
                    <a:lstStyle/>
                    <a:p>
                      <a:r>
                        <a:rPr sz="750" b="1">
                          <a:solidFill>
                            <a:srgbClr val="FFFFFF"/>
                          </a:solidFill>
                          <a:latin typeface="Calibri"/>
                        </a:rPr>
                        <a:t>Layer</a:t>
                      </a:r>
                    </a:p>
                  </a:txBody>
                  <a:tcPr marL="54864" marR="54864" marT="27432" marB="27432">
                    <a:solidFill>
                      <a:srgbClr val="001E60"/>
                    </a:solidFill>
                  </a:tcPr>
                </a:tc>
                <a:tc>
                  <a:txBody>
                    <a:bodyPr/>
                    <a:lstStyle/>
                    <a:p>
                      <a:r>
                        <a:rPr sz="750" b="1">
                          <a:solidFill>
                            <a:srgbClr val="FFFFFF"/>
                          </a:solidFill>
                          <a:latin typeface="Calibri"/>
                        </a:rPr>
                        <a:t>Rev 3 carries</a:t>
                      </a:r>
                    </a:p>
                  </a:txBody>
                  <a:tcPr marL="54864" marR="54864" marT="27432" marB="27432">
                    <a:solidFill>
                      <a:srgbClr val="001E60"/>
                    </a:solidFill>
                  </a:tcPr>
                </a:tc>
                <a:tc>
                  <a:txBody>
                    <a:bodyPr/>
                    <a:lstStyle/>
                    <a:p>
                      <a:r>
                        <a:rPr sz="750" b="1">
                          <a:solidFill>
                            <a:srgbClr val="FFFFFF"/>
                          </a:solidFill>
                          <a:latin typeface="Calibri"/>
                        </a:rPr>
                        <a:t>The function requires</a:t>
                      </a:r>
                    </a:p>
                  </a:txBody>
                  <a:tcPr marL="54864" marR="54864" marT="27432" marB="27432">
                    <a:solidFill>
                      <a:srgbClr val="001E60"/>
                    </a:solidFill>
                  </a:tcPr>
                </a:tc>
                <a:tc>
                  <a:txBody>
                    <a:bodyPr/>
                    <a:lstStyle/>
                    <a:p>
                      <a:r>
                        <a:rPr sz="750" b="1">
                          <a:solidFill>
                            <a:srgbClr val="FFFFFF"/>
                          </a:solidFill>
                          <a:latin typeface="Calibri"/>
                        </a:rPr>
                        <a:t>Challenge</a:t>
                      </a:r>
                    </a:p>
                  </a:txBody>
                  <a:tcPr marL="54864" marR="54864" marT="27432" marB="27432">
                    <a:solidFill>
                      <a:srgbClr val="001E60"/>
                    </a:solidFill>
                  </a:tcPr>
                </a:tc>
                <a:tc>
                  <a:txBody>
                    <a:bodyPr/>
                    <a:lstStyle/>
                    <a:p>
                      <a:pPr algn="r"/>
                      <a:r>
                        <a:rPr sz="750" b="1">
                          <a:solidFill>
                            <a:srgbClr val="FFFFFF"/>
                          </a:solidFill>
                          <a:latin typeface="Calibri"/>
                        </a:rPr>
                        <a:t>Direct $</a:t>
                      </a:r>
                    </a:p>
                  </a:txBody>
                  <a:tcPr marL="54864" marR="54864" marT="27432" marB="27432">
                    <a:solidFill>
                      <a:srgbClr val="001E60"/>
                    </a:solidFill>
                  </a:tcPr>
                </a:tc>
              </a:tr>
              <a:tr h="711925">
                <a:tc>
                  <a:txBody>
                    <a:bodyPr/>
                    <a:lstStyle/>
                    <a:p>
                      <a:r>
                        <a:rPr sz="750" b="0">
                          <a:solidFill>
                            <a:srgbClr val="1F2A44"/>
                          </a:solidFill>
                          <a:latin typeface="Calibri"/>
                        </a:rPr>
                        <a:t>F. Station 496 feeder protection</a:t>
                      </a:r>
                    </a:p>
                  </a:txBody>
                  <a:tcPr marL="54864" marR="54864" marT="27432" marB="27432" anchor="ctr">
                    <a:solidFill>
                      <a:srgbClr val="FFFFFF"/>
                    </a:solidFill>
                  </a:tcPr>
                </a:tc>
                <a:tc>
                  <a:txBody>
                    <a:bodyPr/>
                    <a:lstStyle/>
                    <a:p>
                      <a:r>
                        <a:rPr sz="750" b="0">
                          <a:solidFill>
                            <a:srgbClr val="1F2A44"/>
                          </a:solidFill>
                          <a:latin typeface="Calibri"/>
                        </a:rPr>
                        <a:t>20 relays: hardware $91K; install 6,400 mh $1.23M; test 7,800 mh $1.81M; E&amp;S basis $1.46M; siting application $157K; AFUDC, contingency, risk</a:t>
                      </a:r>
                    </a:p>
                  </a:txBody>
                  <a:tcPr marL="54864" marR="54864" marT="27432" marB="27432" anchor="ctr">
                    <a:solidFill>
                      <a:srgbClr val="FFFFFF"/>
                    </a:solidFill>
                  </a:tcPr>
                </a:tc>
                <a:tc>
                  <a:txBody>
                    <a:bodyPr/>
                    <a:lstStyle/>
                    <a:p>
                      <a:r>
                        <a:rPr sz="750" b="0">
                          <a:solidFill>
                            <a:srgbClr val="1F2A44"/>
                          </a:solidFill>
                          <a:latin typeface="Calibri"/>
                        </a:rPr>
                        <a:t>Directional protection on the four feeders that will see reverse flow, and coordination at the source station. Whether all 20 relays, the four SEL-735 meters and a siting application are needed for relay work inside an existing fence is the question.</a:t>
                      </a:r>
                    </a:p>
                  </a:txBody>
                  <a:tcPr marL="54864" marR="54864" marT="27432" marB="27432" anchor="ctr">
                    <a:solidFill>
                      <a:srgbClr val="FFFFFF"/>
                    </a:solidFill>
                  </a:tcPr>
                </a:tc>
                <a:tc>
                  <a:txBody>
                    <a:bodyPr/>
                    <a:lstStyle/>
                    <a:p>
                      <a:r>
                        <a:rPr sz="750" b="0">
                          <a:solidFill>
                            <a:srgbClr val="1F2A44"/>
                          </a:solidFill>
                          <a:latin typeface="Calibri"/>
                        </a:rPr>
                        <a:t>$363K and 710 man-hours per relay. Benchmark against two recent EMA relay-replacement actuals; confirm the SEL-735 are protection; confirm what the $157K siting line is for; price the outage windows explicitly instead of inside the hours.</a:t>
                      </a:r>
                    </a:p>
                  </a:txBody>
                  <a:tcPr marL="54864" marR="54864" marT="27432" marB="27432" anchor="ctr">
                    <a:solidFill>
                      <a:srgbClr val="FFFFFF"/>
                    </a:solidFill>
                  </a:tcPr>
                </a:tc>
                <a:tc>
                  <a:txBody>
                    <a:bodyPr/>
                    <a:lstStyle/>
                    <a:p>
                      <a:pPr algn="r"/>
                      <a:r>
                        <a:rPr sz="750" b="0">
                          <a:solidFill>
                            <a:srgbClr val="1F2A44"/>
                          </a:solidFill>
                          <a:latin typeface="Calibri"/>
                        </a:rPr>
                        <a:t>$1.2 to 1.7M</a:t>
                      </a:r>
                    </a:p>
                  </a:txBody>
                  <a:tcPr marL="54864" marR="54864" marT="27432" marB="27432" anchor="ctr">
                    <a:solidFill>
                      <a:srgbClr val="FFFFFF"/>
                    </a:solidFill>
                  </a:tcPr>
                </a:tc>
              </a:tr>
              <a:tr h="711925">
                <a:tc>
                  <a:txBody>
                    <a:bodyPr/>
                    <a:lstStyle/>
                    <a:p>
                      <a:r>
                        <a:rPr sz="750" b="0">
                          <a:solidFill>
                            <a:srgbClr val="1F2A44"/>
                          </a:solidFill>
                          <a:latin typeface="Calibri"/>
                        </a:rPr>
                        <a:t>G. Testing and commissioning</a:t>
                      </a:r>
                    </a:p>
                  </a:txBody>
                  <a:tcPr marL="54864" marR="54864" marT="27432" marB="27432" anchor="ctr">
                    <a:solidFill>
                      <a:srgbClr val="F2F4F8"/>
                    </a:solidFill>
                  </a:tcPr>
                </a:tc>
                <a:tc>
                  <a:txBody>
                    <a:bodyPr/>
                    <a:lstStyle/>
                    <a:p>
                      <a:r>
                        <a:rPr sz="750" b="0">
                          <a:solidFill>
                            <a:srgbClr val="1F2A44"/>
                          </a:solidFill>
                          <a:latin typeface="Calibri"/>
                        </a:rPr>
                        <a:t>Field test 3,200 mh, LCE 1,600 mh, SCADA 1,650 mh, telecom 120 mh: $1.26M, hours carried from E-23-373</a:t>
                      </a:r>
                    </a:p>
                  </a:txBody>
                  <a:tcPr marL="54864" marR="54864" marT="27432" marB="27432" anchor="ctr">
                    <a:solidFill>
                      <a:srgbClr val="F2F4F8"/>
                    </a:solidFill>
                  </a:tcPr>
                </a:tc>
                <a:tc>
                  <a:txBody>
                    <a:bodyPr/>
                    <a:lstStyle/>
                    <a:p>
                      <a:r>
                        <a:rPr sz="750" b="0">
                          <a:solidFill>
                            <a:srgbClr val="1F2A44"/>
                          </a:solidFill>
                          <a:latin typeface="Calibri"/>
                        </a:rPr>
                        <a:t>Owner witness and acceptance testing; Nomad commissions its units (contract: $210K support, $246K vendor labor)</a:t>
                      </a:r>
                    </a:p>
                  </a:txBody>
                  <a:tcPr marL="54864" marR="54864" marT="27432" marB="27432" anchor="ctr">
                    <a:solidFill>
                      <a:srgbClr val="F2F4F8"/>
                    </a:solidFill>
                  </a:tcPr>
                </a:tc>
                <a:tc>
                  <a:txBody>
                    <a:bodyPr/>
                    <a:lstStyle/>
                    <a:p>
                      <a:r>
                        <a:rPr sz="750" b="0">
                          <a:solidFill>
                            <a:srgbClr val="1F2A44"/>
                          </a:solidFill>
                          <a:latin typeface="Calibri"/>
                        </a:rPr>
                        <a:t>Write the split into the test plan; the owner's hours were set in 2023 before the vendor's scope existed</a:t>
                      </a:r>
                    </a:p>
                  </a:txBody>
                  <a:tcPr marL="54864" marR="54864" marT="27432" marB="27432" anchor="ctr">
                    <a:solidFill>
                      <a:srgbClr val="F2F4F8"/>
                    </a:solidFill>
                  </a:tcPr>
                </a:tc>
                <a:tc>
                  <a:txBody>
                    <a:bodyPr/>
                    <a:lstStyle/>
                    <a:p>
                      <a:pPr algn="r"/>
                      <a:r>
                        <a:rPr sz="750" b="0">
                          <a:solidFill>
                            <a:srgbClr val="1F2A44"/>
                          </a:solidFill>
                          <a:latin typeface="Calibri"/>
                        </a:rPr>
                        <a:t>$0.1 to 0.3M</a:t>
                      </a:r>
                    </a:p>
                  </a:txBody>
                  <a:tcPr marL="54864" marR="54864" marT="27432" marB="27432" anchor="ctr">
                    <a:solidFill>
                      <a:srgbClr val="F2F4F8"/>
                    </a:solidFill>
                  </a:tcPr>
                </a:tc>
              </a:tr>
              <a:tr h="711925">
                <a:tc>
                  <a:txBody>
                    <a:bodyPr/>
                    <a:lstStyle/>
                    <a:p>
                      <a:r>
                        <a:rPr sz="750" b="0">
                          <a:solidFill>
                            <a:srgbClr val="1F2A44"/>
                          </a:solidFill>
                          <a:latin typeface="Calibri"/>
                        </a:rPr>
                        <a:t>H. Owner soft costs</a:t>
                      </a:r>
                    </a:p>
                  </a:txBody>
                  <a:tcPr marL="54864" marR="54864" marT="27432" marB="27432" anchor="ctr">
                    <a:solidFill>
                      <a:srgbClr val="FFFFFF"/>
                    </a:solidFill>
                  </a:tcPr>
                </a:tc>
                <a:tc>
                  <a:txBody>
                    <a:bodyPr/>
                    <a:lstStyle/>
                    <a:p>
                      <a:r>
                        <a:rPr sz="750" b="0">
                          <a:solidFill>
                            <a:srgbClr val="1F2A44"/>
                          </a:solidFill>
                          <a:latin typeface="Calibri"/>
                        </a:rPr>
                        <a:t>Siting external $1,052K plus internal and actuals; PM (contractor and Eversource, three lines plus actuals) $1.30M; CM $356K; engineering $501K contractor plus actuals; outreach, environmental, legal</a:t>
                      </a:r>
                    </a:p>
                  </a:txBody>
                  <a:tcPr marL="54864" marR="54864" marT="27432" marB="27432" anchor="ctr">
                    <a:solidFill>
                      <a:srgbClr val="FFFFFF"/>
                    </a:solidFill>
                  </a:tcPr>
                </a:tc>
                <a:tc>
                  <a:txBody>
                    <a:bodyPr/>
                    <a:lstStyle/>
                    <a:p>
                      <a:r>
                        <a:rPr sz="750" b="0">
                          <a:solidFill>
                            <a:srgbClr val="1F2A44"/>
                          </a:solidFill>
                          <a:latin typeface="Calibri"/>
                        </a:rPr>
                        <a:t>Article 80 Small Project Review and a ZBA conditional use permit; a PM and a CM for the construction window; 30%-to-IFC engineering</a:t>
                      </a:r>
                    </a:p>
                  </a:txBody>
                  <a:tcPr marL="54864" marR="54864" marT="27432" marB="27432" anchor="ctr">
                    <a:solidFill>
                      <a:srgbClr val="FFFFFF"/>
                    </a:solidFill>
                  </a:tcPr>
                </a:tc>
                <a:tc>
                  <a:txBody>
                    <a:bodyPr/>
                    <a:lstStyle/>
                    <a:p>
                      <a:r>
                        <a:rPr sz="750" b="0">
                          <a:solidFill>
                            <a:srgbClr val="1F2A44"/>
                          </a:solidFill>
                          <a:latin typeface="Calibri"/>
                        </a:rPr>
                        <a:t>Siting at $1,052K external is two to three times a typical Article 80 small-project budget; ask counsel for the task budget. PM hours are duration-driven: every month of siting slip adds about $0.4M across PM, AFUDC and indirects, so the float target on the ZBA chain is the lever, not the rate.</a:t>
                      </a:r>
                    </a:p>
                  </a:txBody>
                  <a:tcPr marL="54864" marR="54864" marT="27432" marB="27432" anchor="ctr">
                    <a:solidFill>
                      <a:srgbClr val="FFFFFF"/>
                    </a:solidFill>
                  </a:tcPr>
                </a:tc>
                <a:tc>
                  <a:txBody>
                    <a:bodyPr/>
                    <a:lstStyle/>
                    <a:p>
                      <a:pPr algn="r"/>
                      <a:r>
                        <a:rPr sz="750" b="0">
                          <a:solidFill>
                            <a:srgbClr val="1F2A44"/>
                          </a:solidFill>
                          <a:latin typeface="Calibri"/>
                        </a:rPr>
                        <a:t>$0.2 to 0.4M</a:t>
                      </a:r>
                    </a:p>
                  </a:txBody>
                  <a:tcPr marL="54864" marR="54864" marT="27432" marB="27432" anchor="ctr">
                    <a:solidFill>
                      <a:srgbClr val="FFFFFF"/>
                    </a:solidFill>
                  </a:tcPr>
                </a:tc>
              </a:tr>
              <a:tr h="711925">
                <a:tc>
                  <a:txBody>
                    <a:bodyPr/>
                    <a:lstStyle/>
                    <a:p>
                      <a:r>
                        <a:rPr sz="750" b="0">
                          <a:solidFill>
                            <a:srgbClr val="1F2A44"/>
                          </a:solidFill>
                          <a:latin typeface="Calibri"/>
                        </a:rPr>
                        <a:t>J. Risk register</a:t>
                      </a:r>
                    </a:p>
                  </a:txBody>
                  <a:tcPr marL="54864" marR="54864" marT="27432" marB="27432" anchor="ctr">
                    <a:solidFill>
                      <a:srgbClr val="F2F4F8"/>
                    </a:solidFill>
                  </a:tcPr>
                </a:tc>
                <a:tc>
                  <a:txBody>
                    <a:bodyPr/>
                    <a:lstStyle/>
                    <a:p>
                      <a:r>
                        <a:rPr sz="750" b="0">
                          <a:solidFill>
                            <a:srgbClr val="1F2A44"/>
                          </a:solidFill>
                          <a:latin typeface="Calibri"/>
                        </a:rPr>
                        <a:t>$5.3M Sta 360 + $0.77M Sta 496: material $1.0M, labor $0.8M, design changes $0.8M, UG obstructions $0.45M, environmental, P&amp;C and station engineering $0.3M each, soil, weather, outreach, siting, BAR deductibles</a:t>
                      </a:r>
                    </a:p>
                  </a:txBody>
                  <a:tcPr marL="54864" marR="54864" marT="27432" marB="27432" anchor="ctr">
                    <a:solidFill>
                      <a:srgbClr val="F2F4F8"/>
                    </a:solidFill>
                  </a:tcPr>
                </a:tc>
                <a:tc>
                  <a:txBody>
                    <a:bodyPr/>
                    <a:lstStyle/>
                    <a:p>
                      <a:r>
                        <a:rPr sz="750" b="0">
                          <a:solidFill>
                            <a:srgbClr val="1F2A44"/>
                          </a:solidFill>
                          <a:latin typeface="Calibri"/>
                        </a:rPr>
                        <a:t>Risks that the directs and contingency do not already fund</a:t>
                      </a:r>
                    </a:p>
                  </a:txBody>
                  <a:tcPr marL="54864" marR="54864" marT="27432" marB="27432" anchor="ctr">
                    <a:solidFill>
                      <a:srgbClr val="F2F4F8"/>
                    </a:solidFill>
                  </a:tcPr>
                </a:tc>
                <a:tc>
                  <a:txBody>
                    <a:bodyPr/>
                    <a:lstStyle/>
                    <a:p>
                      <a:r>
                        <a:rPr sz="750" b="0">
                          <a:solidFill>
                            <a:srgbClr val="1F2A44"/>
                          </a:solidFill>
                          <a:latin typeface="Calibri"/>
                        </a:rPr>
                        <a:t>Labor-cost and material-cost lines restate escalation (savings register A2); design-change lines overlap the 17.9% contingency; sound mitigation and screening are the risks that are missing</a:t>
                      </a:r>
                    </a:p>
                  </a:txBody>
                  <a:tcPr marL="54864" marR="54864" marT="27432" marB="27432" anchor="ctr">
                    <a:solidFill>
                      <a:srgbClr val="F2F4F8"/>
                    </a:solidFill>
                  </a:tcPr>
                </a:tc>
                <a:tc>
                  <a:txBody>
                    <a:bodyPr/>
                    <a:lstStyle/>
                    <a:p>
                      <a:pPr algn="r"/>
                      <a:r>
                        <a:rPr sz="750" b="0">
                          <a:solidFill>
                            <a:srgbClr val="1F2A44"/>
                          </a:solidFill>
                          <a:latin typeface="Calibri"/>
                        </a:rPr>
                        <a:t>$1.3 to 1.8M</a:t>
                      </a:r>
                    </a:p>
                  </a:txBody>
                  <a:tcPr marL="54864" marR="54864" marT="27432" marB="27432" anchor="ctr">
                    <a:solidFill>
                      <a:srgbClr val="F2F4F8"/>
                    </a:solidFill>
                  </a:tcPr>
                </a:tc>
              </a:tr>
              <a:tr h="711925">
                <a:tc>
                  <a:txBody>
                    <a:bodyPr/>
                    <a:lstStyle/>
                    <a:p>
                      <a:r>
                        <a:rPr sz="750" b="0">
                          <a:solidFill>
                            <a:srgbClr val="1F2A44"/>
                          </a:solidFill>
                          <a:latin typeface="Calibri"/>
                        </a:rPr>
                        <a:t>L. Indirects</a:t>
                      </a:r>
                    </a:p>
                  </a:txBody>
                  <a:tcPr marL="54864" marR="54864" marT="27432" marB="27432" anchor="ctr">
                    <a:solidFill>
                      <a:srgbClr val="FFFFFF"/>
                    </a:solidFill>
                  </a:tcPr>
                </a:tc>
                <a:tc>
                  <a:txBody>
                    <a:bodyPr/>
                    <a:lstStyle/>
                    <a:p>
                      <a:r>
                        <a:rPr sz="750" b="0">
                          <a:solidFill>
                            <a:srgbClr val="1F2A44"/>
                          </a:solidFill>
                          <a:latin typeface="Calibri"/>
                        </a:rPr>
                        <a:t>$8.06M: E&amp;S station basis $4.79M (16% of directs, applied to the vendor contract), general services, MDEC, vehicles, non-productive, AS&amp;E, payroll</a:t>
                      </a:r>
                    </a:p>
                  </a:txBody>
                  <a:tcPr marL="54864" marR="54864" marT="27432" marB="27432" anchor="ctr">
                    <a:solidFill>
                      <a:srgbClr val="FFFFFF"/>
                    </a:solidFill>
                  </a:tcPr>
                </a:tc>
                <a:tc>
                  <a:txBody>
                    <a:bodyPr/>
                    <a:lstStyle/>
                    <a:p>
                      <a:r>
                        <a:rPr sz="750" b="0">
                          <a:solidFill>
                            <a:srgbClr val="1F2A44"/>
                          </a:solidFill>
                          <a:latin typeface="Calibri"/>
                        </a:rPr>
                        <a:t>Template basis rates</a:t>
                      </a:r>
                    </a:p>
                  </a:txBody>
                  <a:tcPr marL="54864" marR="54864" marT="27432" marB="27432" anchor="ctr">
                    <a:solidFill>
                      <a:srgbClr val="FFFFFF"/>
                    </a:solidFill>
                  </a:tcPr>
                </a:tc>
                <a:tc>
                  <a:txBody>
                    <a:bodyPr/>
                    <a:lstStyle/>
                    <a:p>
                      <a:r>
                        <a:rPr sz="750" b="0">
                          <a:solidFill>
                            <a:srgbClr val="1F2A44"/>
                          </a:solidFill>
                          <a:latin typeface="Calibri"/>
                        </a:rPr>
                        <a:t>Whether the E&amp;S basis should load a vendor-furnished, vendor-commissioned contract is a policy question (savings register A4, up to $2.1M); it is the single largest line nobody on the project can change</a:t>
                      </a:r>
                    </a:p>
                  </a:txBody>
                  <a:tcPr marL="54864" marR="54864" marT="27432" marB="27432" anchor="ctr">
                    <a:solidFill>
                      <a:srgbClr val="FFFFFF"/>
                    </a:solidFill>
                  </a:tcPr>
                </a:tc>
                <a:tc>
                  <a:txBody>
                    <a:bodyPr/>
                    <a:lstStyle/>
                    <a:p>
                      <a:pPr algn="r"/>
                      <a:r>
                        <a:rPr sz="750" b="0">
                          <a:solidFill>
                            <a:srgbClr val="1F2A44"/>
                          </a:solidFill>
                          <a:latin typeface="Calibri"/>
                        </a:rPr>
                        <a:t>$1.0 to 2.1M</a:t>
                      </a:r>
                    </a:p>
                  </a:txBody>
                  <a:tcPr marL="54864" marR="54864" marT="27432" marB="27432" anchor="ctr">
                    <a:solidFill>
                      <a:srgbClr val="FFFFFF"/>
                    </a:solidFill>
                  </a:tcPr>
                </a:tc>
              </a:tr>
              <a:tr h="711930">
                <a:tc>
                  <a:txBody>
                    <a:bodyPr/>
                    <a:lstStyle/>
                    <a:p>
                      <a:r>
                        <a:rPr sz="750" b="0">
                          <a:solidFill>
                            <a:srgbClr val="1F2A44"/>
                          </a:solidFill>
                          <a:latin typeface="Calibri"/>
                        </a:rPr>
                        <a:t>M. AFUDC</a:t>
                      </a:r>
                    </a:p>
                  </a:txBody>
                  <a:tcPr marL="54864" marR="54864" marT="27432" marB="27432" anchor="ctr">
                    <a:solidFill>
                      <a:srgbClr val="F2F4F8"/>
                    </a:solidFill>
                  </a:tcPr>
                </a:tc>
                <a:tc>
                  <a:txBody>
                    <a:bodyPr/>
                    <a:lstStyle/>
                    <a:p>
                      <a:r>
                        <a:rPr sz="750" b="0">
                          <a:solidFill>
                            <a:srgbClr val="1F2A44"/>
                          </a:solidFill>
                          <a:latin typeface="Calibri"/>
                        </a:rPr>
                        <a:t>$5.0M over a seven-year development window</a:t>
                      </a:r>
                    </a:p>
                  </a:txBody>
                  <a:tcPr marL="54864" marR="54864" marT="27432" marB="27432" anchor="ctr">
                    <a:solidFill>
                      <a:srgbClr val="F2F4F8"/>
                    </a:solidFill>
                  </a:tcPr>
                </a:tc>
                <a:tc>
                  <a:txBody>
                    <a:bodyPr/>
                    <a:lstStyle/>
                    <a:p>
                      <a:r>
                        <a:rPr sz="750" b="0">
                          <a:solidFill>
                            <a:srgbClr val="1F2A44"/>
                          </a:solidFill>
                          <a:latin typeface="Calibri"/>
                        </a:rPr>
                        <a:t>Capitalized carrying cost on CWIP</a:t>
                      </a:r>
                    </a:p>
                  </a:txBody>
                  <a:tcPr marL="54864" marR="54864" marT="27432" marB="27432" anchor="ctr">
                    <a:solidFill>
                      <a:srgbClr val="F2F4F8"/>
                    </a:solidFill>
                  </a:tcPr>
                </a:tc>
                <a:tc>
                  <a:txBody>
                    <a:bodyPr/>
                    <a:lstStyle/>
                    <a:p>
                      <a:r>
                        <a:rPr sz="750" b="0">
                          <a:solidFill>
                            <a:srgbClr val="1F2A44"/>
                          </a:solidFill>
                          <a:latin typeface="Calibri"/>
                        </a:rPr>
                        <a:t>Pay the battery at delivery, not a year ahead (C3); protect the siting float; every month costs about $0.4M all-in</a:t>
                      </a:r>
                    </a:p>
                  </a:txBody>
                  <a:tcPr marL="54864" marR="54864" marT="27432" marB="27432" anchor="ctr">
                    <a:solidFill>
                      <a:srgbClr val="F2F4F8"/>
                    </a:solidFill>
                  </a:tcPr>
                </a:tc>
                <a:tc>
                  <a:txBody>
                    <a:bodyPr/>
                    <a:lstStyle/>
                    <a:p>
                      <a:pPr algn="r"/>
                      <a:r>
                        <a:rPr sz="750" b="0">
                          <a:solidFill>
                            <a:srgbClr val="1F2A44"/>
                          </a:solidFill>
                          <a:latin typeface="Calibri"/>
                        </a:rPr>
                        <a:t>$0.3 to 0.7M</a:t>
                      </a:r>
                    </a:p>
                  </a:txBody>
                  <a:tcPr marL="54864" marR="54864" marT="27432" marB="27432" anchor="ctr">
                    <a:solidFill>
                      <a:srgbClr val="F2F4F8"/>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COST CASES FROM THE SCOPE CHALLENGE, LOADED $M</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Three numbers: $57.2M estimated, $50.7 to 52.6M contained, $42.4 to 47.3M re-scoped; honest range $48.1 to 58.5M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32</a:t>
            </a:r>
          </a:p>
        </p:txBody>
      </p:sp>
      <p:graphicFrame>
        <p:nvGraphicFramePr>
          <p:cNvPr id="7" name="Chart 6"/>
          <p:cNvGraphicFramePr>
            <a:graphicFrameLocks noGrp="1"/>
          </p:cNvGraphicFramePr>
          <p:nvPr/>
        </p:nvGraphicFramePr>
        <p:xfrm>
          <a:off x="457200" y="1371600"/>
          <a:ext cx="6949440" cy="292608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548640" y="4434840"/>
          <a:ext cx="6858000" cy="1828800"/>
        </p:xfrm>
        <a:graphic>
          <a:graphicData uri="http://schemas.openxmlformats.org/drawingml/2006/table">
            <a:tbl>
              <a:tblPr firstRow="1" bandRow="1">
                <a:tableStyleId>{5C22544A-7EE6-4342-B048-85BDC9FD1C3A}</a:tableStyleId>
              </a:tblPr>
              <a:tblGrid>
                <a:gridCol w="3017520"/>
                <a:gridCol w="1371600"/>
                <a:gridCol w="2468880"/>
              </a:tblGrid>
              <a:tr h="365760">
                <a:tc>
                  <a:txBody>
                    <a:bodyPr/>
                    <a:lstStyle/>
                    <a:p>
                      <a:r>
                        <a:rPr sz="950" b="1">
                          <a:solidFill>
                            <a:srgbClr val="FFFFFF"/>
                          </a:solidFill>
                          <a:latin typeface="Calibri"/>
                        </a:rPr>
                        <a:t>Component</a:t>
                      </a:r>
                    </a:p>
                  </a:txBody>
                  <a:tcPr marL="54864" marR="54864" marT="27432" marB="27432">
                    <a:solidFill>
                      <a:srgbClr val="001E60"/>
                    </a:solidFill>
                  </a:tcPr>
                </a:tc>
                <a:tc>
                  <a:txBody>
                    <a:bodyPr/>
                    <a:lstStyle/>
                    <a:p>
                      <a:pPr algn="r"/>
                      <a:r>
                        <a:rPr sz="950" b="1">
                          <a:solidFill>
                            <a:srgbClr val="FFFFFF"/>
                          </a:solidFill>
                          <a:latin typeface="Calibri"/>
                        </a:rPr>
                        <a:t>Loaded $M</a:t>
                      </a:r>
                    </a:p>
                  </a:txBody>
                  <a:tcPr marL="54864" marR="54864" marT="27432" marB="27432">
                    <a:solidFill>
                      <a:srgbClr val="001E60"/>
                    </a:solidFill>
                  </a:tcPr>
                </a:tc>
                <a:tc>
                  <a:txBody>
                    <a:bodyPr/>
                    <a:lstStyle/>
                    <a:p>
                      <a:r>
                        <a:rPr sz="950" b="1">
                          <a:solidFill>
                            <a:srgbClr val="FFFFFF"/>
                          </a:solidFill>
                          <a:latin typeface="Calibri"/>
                        </a:rPr>
                        <a:t>Needs</a:t>
                      </a:r>
                    </a:p>
                  </a:txBody>
                  <a:tcPr marL="54864" marR="54864" marT="27432" marB="27432">
                    <a:solidFill>
                      <a:srgbClr val="001E60"/>
                    </a:solidFill>
                  </a:tcPr>
                </a:tc>
              </a:tr>
              <a:tr h="365760">
                <a:tc>
                  <a:txBody>
                    <a:bodyPr/>
                    <a:lstStyle/>
                    <a:p>
                      <a:r>
                        <a:rPr sz="950" b="0">
                          <a:solidFill>
                            <a:srgbClr val="1F2A44"/>
                          </a:solidFill>
                          <a:latin typeface="Calibri"/>
                        </a:rPr>
                        <a:t>Reductions in the register</a:t>
                      </a:r>
                    </a:p>
                  </a:txBody>
                  <a:tcPr marL="54864" marR="54864" marT="27432" marB="27432" anchor="ctr">
                    <a:solidFill>
                      <a:srgbClr val="FFFFFF"/>
                    </a:solidFill>
                  </a:tcPr>
                </a:tc>
                <a:tc>
                  <a:txBody>
                    <a:bodyPr/>
                    <a:lstStyle/>
                    <a:p>
                      <a:pPr algn="r"/>
                      <a:r>
                        <a:rPr sz="950" b="0">
                          <a:solidFill>
                            <a:srgbClr val="1F2A44"/>
                          </a:solidFill>
                          <a:latin typeface="Calibri"/>
                        </a:rPr>
                        <a:t>$8.5 to 12.9M</a:t>
                      </a:r>
                    </a:p>
                  </a:txBody>
                  <a:tcPr marL="54864" marR="54864" marT="27432" marB="27432" anchor="ctr">
                    <a:solidFill>
                      <a:srgbClr val="FFFFFF"/>
                    </a:solidFill>
                  </a:tcPr>
                </a:tc>
                <a:tc>
                  <a:txBody>
                    <a:bodyPr/>
                    <a:lstStyle/>
                    <a:p>
                      <a:r>
                        <a:rPr sz="950" b="0">
                          <a:solidFill>
                            <a:srgbClr val="1F2A44"/>
                          </a:solidFill>
                          <a:latin typeface="Calibri"/>
                        </a:rPr>
                        <a:t>decisions (A, J, L, M) and studies (B to H)</a:t>
                      </a:r>
                    </a:p>
                  </a:txBody>
                  <a:tcPr marL="54864" marR="54864" marT="27432" marB="27432" anchor="ctr">
                    <a:solidFill>
                      <a:srgbClr val="FFFFFF"/>
                    </a:solidFill>
                  </a:tcPr>
                </a:tc>
              </a:tr>
              <a:tr h="365760">
                <a:tc>
                  <a:txBody>
                    <a:bodyPr/>
                    <a:lstStyle/>
                    <a:p>
                      <a:r>
                        <a:rPr sz="950" b="0">
                          <a:solidFill>
                            <a:srgbClr val="1F2A44"/>
                          </a:solidFill>
                          <a:latin typeface="Calibri"/>
                        </a:rPr>
                        <a:t>Two-feeder topology (B2), counted once</a:t>
                      </a:r>
                    </a:p>
                  </a:txBody>
                  <a:tcPr marL="54864" marR="54864" marT="27432" marB="27432" anchor="ctr">
                    <a:solidFill>
                      <a:srgbClr val="F2F4F8"/>
                    </a:solidFill>
                  </a:tcPr>
                </a:tc>
                <a:tc>
                  <a:txBody>
                    <a:bodyPr/>
                    <a:lstStyle/>
                    <a:p>
                      <a:pPr algn="r"/>
                      <a:r>
                        <a:rPr sz="950" b="0">
                          <a:solidFill>
                            <a:srgbClr val="1F2A44"/>
                          </a:solidFill>
                          <a:latin typeface="Calibri"/>
                        </a:rPr>
                        <a:t>$1.4 to 1.9M</a:t>
                      </a:r>
                    </a:p>
                  </a:txBody>
                  <a:tcPr marL="54864" marR="54864" marT="27432" marB="27432" anchor="ctr">
                    <a:solidFill>
                      <a:srgbClr val="F2F4F8"/>
                    </a:solidFill>
                  </a:tcPr>
                </a:tc>
                <a:tc>
                  <a:txBody>
                    <a:bodyPr/>
                    <a:lstStyle/>
                    <a:p>
                      <a:r>
                        <a:rPr sz="950" b="0">
                          <a:solidFill>
                            <a:srgbClr val="1F2A44"/>
                          </a:solidFill>
                          <a:latin typeface="Calibri"/>
                        </a:rPr>
                        <a:t>hosting-capacity study</a:t>
                      </a:r>
                    </a:p>
                  </a:txBody>
                  <a:tcPr marL="54864" marR="54864" marT="27432" marB="27432" anchor="ctr">
                    <a:solidFill>
                      <a:srgbClr val="F2F4F8"/>
                    </a:solidFill>
                  </a:tcPr>
                </a:tc>
              </a:tr>
              <a:tr h="365760">
                <a:tc>
                  <a:txBody>
                    <a:bodyPr/>
                    <a:lstStyle/>
                    <a:p>
                      <a:r>
                        <a:rPr sz="950" b="0">
                          <a:solidFill>
                            <a:srgbClr val="1F2A44"/>
                          </a:solidFill>
                          <a:latin typeface="Calibri"/>
                        </a:rPr>
                        <a:t>Exposures not carried</a:t>
                      </a:r>
                    </a:p>
                  </a:txBody>
                  <a:tcPr marL="54864" marR="54864" marT="27432" marB="27432" anchor="ctr">
                    <a:solidFill>
                      <a:srgbClr val="FFFFFF"/>
                    </a:solidFill>
                  </a:tcPr>
                </a:tc>
                <a:tc>
                  <a:txBody>
                    <a:bodyPr/>
                    <a:lstStyle/>
                    <a:p>
                      <a:pPr algn="r"/>
                      <a:r>
                        <a:rPr sz="950" b="0">
                          <a:solidFill>
                            <a:srgbClr val="1F2A44"/>
                          </a:solidFill>
                          <a:latin typeface="Calibri"/>
                        </a:rPr>
                        <a:t>$1.7 to 3.2M</a:t>
                      </a:r>
                    </a:p>
                  </a:txBody>
                  <a:tcPr marL="54864" marR="54864" marT="27432" marB="27432" anchor="ctr">
                    <a:solidFill>
                      <a:srgbClr val="FFFFFF"/>
                    </a:solidFill>
                  </a:tcPr>
                </a:tc>
                <a:tc>
                  <a:txBody>
                    <a:bodyPr/>
                    <a:lstStyle/>
                    <a:p>
                      <a:r>
                        <a:rPr sz="950" b="0">
                          <a:solidFill>
                            <a:srgbClr val="1F2A44"/>
                          </a:solidFill>
                          <a:latin typeface="Calibri"/>
                        </a:rPr>
                        <a:t>sound, screening, details, NFPA 855, GSU count</a:t>
                      </a:r>
                    </a:p>
                  </a:txBody>
                  <a:tcPr marL="54864" marR="54864" marT="27432" marB="27432" anchor="ctr">
                    <a:solidFill>
                      <a:srgbClr val="FFFFFF"/>
                    </a:solidFill>
                  </a:tcPr>
                </a:tc>
              </a:tr>
              <a:tr h="365760">
                <a:tc>
                  <a:txBody>
                    <a:bodyPr/>
                    <a:lstStyle/>
                    <a:p>
                      <a:r>
                        <a:rPr sz="950" b="0">
                          <a:solidFill>
                            <a:srgbClr val="1F2A44"/>
                          </a:solidFill>
                          <a:latin typeface="Calibri"/>
                        </a:rPr>
                        <a:t>Haugland reconciliation</a:t>
                      </a:r>
                    </a:p>
                  </a:txBody>
                  <a:tcPr marL="54864" marR="54864" marT="27432" marB="27432" anchor="ctr">
                    <a:solidFill>
                      <a:srgbClr val="F2F4F8"/>
                    </a:solidFill>
                  </a:tcPr>
                </a:tc>
                <a:tc>
                  <a:txBody>
                    <a:bodyPr/>
                    <a:lstStyle/>
                    <a:p>
                      <a:pPr algn="r"/>
                      <a:r>
                        <a:rPr sz="950" b="0">
                          <a:solidFill>
                            <a:srgbClr val="1F2A44"/>
                          </a:solidFill>
                          <a:latin typeface="Calibri"/>
                        </a:rPr>
                        <a:t>+$4 to 8M direct</a:t>
                      </a:r>
                    </a:p>
                  </a:txBody>
                  <a:tcPr marL="54864" marR="54864" marT="27432" marB="27432" anchor="ctr">
                    <a:solidFill>
                      <a:srgbClr val="F2F4F8"/>
                    </a:solidFill>
                  </a:tcPr>
                </a:tc>
                <a:tc>
                  <a:txBody>
                    <a:bodyPr/>
                    <a:lstStyle/>
                    <a:p>
                      <a:r>
                        <a:rPr sz="950" b="0">
                          <a:solidFill>
                            <a:srgbClr val="1F2A44"/>
                          </a:solidFill>
                          <a:latin typeface="Calibri"/>
                        </a:rPr>
                        <a:t>signed scope map</a:t>
                      </a:r>
                    </a:p>
                  </a:txBody>
                  <a:tcPr marL="54864" marR="54864" marT="27432" marB="27432" anchor="ctr">
                    <a:solidFill>
                      <a:srgbClr val="F2F4F8"/>
                    </a:solidFill>
                  </a:tcPr>
                </a:tc>
              </a:tr>
            </a:tbl>
          </a:graphicData>
        </a:graphic>
      </p:graphicFrame>
      <p:sp>
        <p:nvSpPr>
          <p:cNvPr id="9" name="TextBox 8"/>
          <p:cNvSpPr txBox="1"/>
          <p:nvPr/>
        </p:nvSpPr>
        <p:spPr>
          <a:xfrm>
            <a:off x="7680960" y="1371600"/>
            <a:ext cx="4023360" cy="4937760"/>
          </a:xfrm>
          <a:prstGeom prst="rect">
            <a:avLst/>
          </a:prstGeom>
          <a:noFill/>
        </p:spPr>
        <p:txBody>
          <a:bodyPr wrap="square" lIns="45720">
            <a:spAutoFit/>
          </a:bodyPr>
          <a:lstStyle/>
          <a:p>
            <a:pPr>
              <a:lnSpc>
                <a:spcPct val="105000"/>
              </a:lnSpc>
              <a:spcAft>
                <a:spcPts val="500"/>
              </a:spcAft>
            </a:pPr>
            <a:r>
              <a:rPr sz="1050">
                <a:solidFill>
                  <a:srgbClr val="FFC72C"/>
                </a:solidFill>
                <a:latin typeface="Calibri"/>
              </a:rPr>
              <a:t>▪  </a:t>
            </a:r>
            <a:r>
              <a:rPr b="1" sz="1050">
                <a:solidFill>
                  <a:srgbClr val="1F2A44"/>
                </a:solidFill>
                <a:latin typeface="Calibri"/>
              </a:rPr>
              <a:t>Read it as a range of outcomes, not a menu. </a:t>
            </a:r>
            <a:r>
              <a:rPr sz="1050">
                <a:solidFill>
                  <a:srgbClr val="1F2A44"/>
                </a:solidFill>
                <a:latin typeface="Calibri"/>
              </a:rPr>
              <a:t>The contained number needs only decisions and is worth taking to the November PAF. The re-scoped number is a ceiling on reductions; nobody should present it until the geotech, the hosting-capacity study and the Haugland map have closed.</a:t>
            </a:r>
          </a:p>
          <a:p>
            <a:pPr>
              <a:lnSpc>
                <a:spcPct val="105000"/>
              </a:lnSpc>
              <a:spcAft>
                <a:spcPts val="500"/>
              </a:spcAft>
            </a:pPr>
            <a:r>
              <a:rPr sz="1050">
                <a:solidFill>
                  <a:srgbClr val="FFC72C"/>
                </a:solidFill>
                <a:latin typeface="Calibri"/>
              </a:rPr>
              <a:t>▪  </a:t>
            </a:r>
            <a:r>
              <a:rPr b="1" sz="1050">
                <a:solidFill>
                  <a:srgbClr val="1F2A44"/>
                </a:solidFill>
                <a:latin typeface="Calibri"/>
              </a:rPr>
              <a:t>What this says about the last-BESS question. </a:t>
            </a:r>
            <a:r>
              <a:rPr sz="1050">
                <a:solidFill>
                  <a:srgbClr val="1F2A44"/>
                </a:solidFill>
                <a:latin typeface="Calibri"/>
              </a:rPr>
              <a:t>Even fully re-scoped, the station, the platform and the siting case stay in the number: they are the price of this site, not of batteries. A 10 MW battery inside an existing station fence on a standard design would carry neither. If the company builds another, that is the specification.</a:t>
            </a:r>
          </a:p>
          <a:p>
            <a:pPr>
              <a:lnSpc>
                <a:spcPct val="105000"/>
              </a:lnSpc>
              <a:spcAft>
                <a:spcPts val="500"/>
              </a:spcAft>
            </a:pPr>
            <a:r>
              <a:rPr sz="1050">
                <a:solidFill>
                  <a:srgbClr val="FFC72C"/>
                </a:solidFill>
                <a:latin typeface="Calibri"/>
              </a:rPr>
              <a:t>▪  </a:t>
            </a:r>
            <a:r>
              <a:rPr b="1" sz="1050">
                <a:solidFill>
                  <a:srgbClr val="1F2A44"/>
                </a:solidFill>
                <a:latin typeface="Calibri"/>
              </a:rPr>
              <a:t>The ITC sits outside all four bars. </a:t>
            </a:r>
            <a:r>
              <a:rPr sz="1050">
                <a:solidFill>
                  <a:srgbClr val="1F2A44"/>
                </a:solidFill>
                <a:latin typeface="Calibri"/>
              </a:rPr>
              <a:t>$8.4 to 12.4M of revenue requirement, larger than any case's spread, and the FEOC answer from Nomad decides it.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SAVE, CONTAIN, REDUCE: WHAT HAPPENS BETWEEN NOW AND IFC</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Containment plan: five gates, a station-direct design-to-cost target of $1,250 per kWh, and a monthly number someone owns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33</a:t>
            </a:r>
          </a:p>
        </p:txBody>
      </p:sp>
      <p:graphicFrame>
        <p:nvGraphicFramePr>
          <p:cNvPr id="7" name="Table 6"/>
          <p:cNvGraphicFramePr>
            <a:graphicFrameLocks noGrp="1"/>
          </p:cNvGraphicFramePr>
          <p:nvPr/>
        </p:nvGraphicFramePr>
        <p:xfrm>
          <a:off x="548640" y="1325880"/>
          <a:ext cx="11064240" cy="4206240"/>
        </p:xfrm>
        <a:graphic>
          <a:graphicData uri="http://schemas.openxmlformats.org/drawingml/2006/table">
            <a:tbl>
              <a:tblPr firstRow="1" bandRow="1">
                <a:tableStyleId>{5C22544A-7EE6-4342-B048-85BDC9FD1C3A}</a:tableStyleId>
              </a:tblPr>
              <a:tblGrid>
                <a:gridCol w="1737360"/>
                <a:gridCol w="4937760"/>
                <a:gridCol w="1828800"/>
                <a:gridCol w="2560320"/>
              </a:tblGrid>
              <a:tr h="701040">
                <a:tc>
                  <a:txBody>
                    <a:bodyPr/>
                    <a:lstStyle/>
                    <a:p>
                      <a:r>
                        <a:rPr sz="950" b="1">
                          <a:solidFill>
                            <a:srgbClr val="FFFFFF"/>
                          </a:solidFill>
                          <a:latin typeface="Calibri"/>
                        </a:rPr>
                        <a:t>When</a:t>
                      </a:r>
                    </a:p>
                  </a:txBody>
                  <a:tcPr marL="54864" marR="54864" marT="27432" marB="27432">
                    <a:solidFill>
                      <a:srgbClr val="001E60"/>
                    </a:solidFill>
                  </a:tcPr>
                </a:tc>
                <a:tc>
                  <a:txBody>
                    <a:bodyPr/>
                    <a:lstStyle/>
                    <a:p>
                      <a:r>
                        <a:rPr sz="950" b="1">
                          <a:solidFill>
                            <a:srgbClr val="FFFFFF"/>
                          </a:solidFill>
                          <a:latin typeface="Calibri"/>
                        </a:rPr>
                        <a:t>What</a:t>
                      </a:r>
                    </a:p>
                  </a:txBody>
                  <a:tcPr marL="54864" marR="54864" marT="27432" marB="27432">
                    <a:solidFill>
                      <a:srgbClr val="001E60"/>
                    </a:solidFill>
                  </a:tcPr>
                </a:tc>
                <a:tc>
                  <a:txBody>
                    <a:bodyPr/>
                    <a:lstStyle/>
                    <a:p>
                      <a:r>
                        <a:rPr sz="950" b="1">
                          <a:solidFill>
                            <a:srgbClr val="FFFFFF"/>
                          </a:solidFill>
                          <a:latin typeface="Calibri"/>
                        </a:rPr>
                        <a:t>Who</a:t>
                      </a:r>
                    </a:p>
                  </a:txBody>
                  <a:tcPr marL="54864" marR="54864" marT="27432" marB="27432">
                    <a:solidFill>
                      <a:srgbClr val="001E60"/>
                    </a:solidFill>
                  </a:tcPr>
                </a:tc>
                <a:tc>
                  <a:txBody>
                    <a:bodyPr/>
                    <a:lstStyle/>
                    <a:p>
                      <a:r>
                        <a:rPr sz="950" b="1">
                          <a:solidFill>
                            <a:srgbClr val="FFFFFF"/>
                          </a:solidFill>
                          <a:latin typeface="Calibri"/>
                        </a:rPr>
                        <a:t>What it decides</a:t>
                      </a:r>
                    </a:p>
                  </a:txBody>
                  <a:tcPr marL="54864" marR="54864" marT="27432" marB="27432">
                    <a:solidFill>
                      <a:srgbClr val="001E60"/>
                    </a:solidFill>
                  </a:tcPr>
                </a:tc>
              </a:tr>
              <a:tr h="701040">
                <a:tc>
                  <a:txBody>
                    <a:bodyPr/>
                    <a:lstStyle/>
                    <a:p>
                      <a:r>
                        <a:rPr sz="950" b="0">
                          <a:solidFill>
                            <a:srgbClr val="1F2A44"/>
                          </a:solidFill>
                          <a:latin typeface="Calibri"/>
                        </a:rPr>
                        <a:t>Now to Nov 2026 PAF</a:t>
                      </a:r>
                    </a:p>
                  </a:txBody>
                  <a:tcPr marL="54864" marR="54864" marT="27432" marB="27432" anchor="ctr">
                    <a:solidFill>
                      <a:srgbClr val="FFFFFF"/>
                    </a:solidFill>
                  </a:tcPr>
                </a:tc>
                <a:tc>
                  <a:txBody>
                    <a:bodyPr/>
                    <a:lstStyle/>
                    <a:p>
                      <a:r>
                        <a:rPr sz="950" b="0">
                          <a:solidFill>
                            <a:srgbClr val="1F2A44"/>
                          </a:solidFill>
                          <a:latin typeface="Calibri"/>
                        </a:rPr>
                        <a:t>Decide A1 (battery escalation), re-word A2, get the Accounting ruling on the E&amp;S basis, strike the disconnect and PT lines that the skids already carry, price or register sound mitigation and screening, open the 48E memo with Tax</a:t>
                      </a:r>
                    </a:p>
                  </a:txBody>
                  <a:tcPr marL="54864" marR="54864" marT="27432" marB="27432" anchor="ctr">
                    <a:solidFill>
                      <a:srgbClr val="FFFFFF"/>
                    </a:solidFill>
                  </a:tcPr>
                </a:tc>
                <a:tc>
                  <a:txBody>
                    <a:bodyPr/>
                    <a:lstStyle/>
                    <a:p>
                      <a:r>
                        <a:rPr sz="950" b="0">
                          <a:solidFill>
                            <a:srgbClr val="1F2A44"/>
                          </a:solidFill>
                          <a:latin typeface="Calibri"/>
                        </a:rPr>
                        <a:t>Cost Estimating, PM, Accounting, Tax</a:t>
                      </a:r>
                    </a:p>
                  </a:txBody>
                  <a:tcPr marL="54864" marR="54864" marT="27432" marB="27432" anchor="ctr">
                    <a:solidFill>
                      <a:srgbClr val="FFFFFF"/>
                    </a:solidFill>
                  </a:tcPr>
                </a:tc>
                <a:tc>
                  <a:txBody>
                    <a:bodyPr/>
                    <a:lstStyle/>
                    <a:p>
                      <a:r>
                        <a:rPr sz="950" b="0">
                          <a:solidFill>
                            <a:srgbClr val="1F2A44"/>
                          </a:solidFill>
                          <a:latin typeface="Calibri"/>
                        </a:rPr>
                        <a:t>Estimate hygiene: about $3M to $5M loaded; the exposures added honestly</a:t>
                      </a:r>
                    </a:p>
                  </a:txBody>
                  <a:tcPr marL="54864" marR="54864" marT="27432" marB="27432" anchor="ctr">
                    <a:solidFill>
                      <a:srgbClr val="FFFFFF"/>
                    </a:solidFill>
                  </a:tcPr>
                </a:tc>
              </a:tr>
              <a:tr h="701040">
                <a:tc>
                  <a:txBody>
                    <a:bodyPr/>
                    <a:lstStyle/>
                    <a:p>
                      <a:r>
                        <a:rPr sz="950" b="0">
                          <a:solidFill>
                            <a:srgbClr val="1F2A44"/>
                          </a:solidFill>
                          <a:latin typeface="Calibri"/>
                        </a:rPr>
                        <a:t>Gate 1, design basis (Q1 2027)</a:t>
                      </a:r>
                    </a:p>
                  </a:txBody>
                  <a:tcPr marL="54864" marR="54864" marT="27432" marB="27432" anchor="ctr">
                    <a:solidFill>
                      <a:srgbClr val="F2F4F8"/>
                    </a:solidFill>
                  </a:tcPr>
                </a:tc>
                <a:tc>
                  <a:txBody>
                    <a:bodyPr/>
                    <a:lstStyle/>
                    <a:p>
                      <a:r>
                        <a:rPr sz="950" b="0">
                          <a:solidFill>
                            <a:srgbClr val="1F2A44"/>
                          </a:solidFill>
                          <a:latin typeface="Calibri"/>
                        </a:rPr>
                        <a:t>Geotech report, NFPA 855 hazard mitigation analysis, hosting-capacity study for two feeders, GSU count and topology in writing, Haugland-to-Rev 3 scope map signed</a:t>
                      </a:r>
                    </a:p>
                  </a:txBody>
                  <a:tcPr marL="54864" marR="54864" marT="27432" marB="27432" anchor="ctr">
                    <a:solidFill>
                      <a:srgbClr val="F2F4F8"/>
                    </a:solidFill>
                  </a:tcPr>
                </a:tc>
                <a:tc>
                  <a:txBody>
                    <a:bodyPr/>
                    <a:lstStyle/>
                    <a:p>
                      <a:r>
                        <a:rPr sz="950" b="0">
                          <a:solidFill>
                            <a:srgbClr val="1F2A44"/>
                          </a:solidFill>
                          <a:latin typeface="Calibri"/>
                        </a:rPr>
                        <a:t>Substation Eng., Civil, System Planning, HEG</a:t>
                      </a:r>
                    </a:p>
                  </a:txBody>
                  <a:tcPr marL="54864" marR="54864" marT="27432" marB="27432" anchor="ctr">
                    <a:solidFill>
                      <a:srgbClr val="F2F4F8"/>
                    </a:solidFill>
                  </a:tcPr>
                </a:tc>
                <a:tc>
                  <a:txBody>
                    <a:bodyPr/>
                    <a:lstStyle/>
                    <a:p>
                      <a:r>
                        <a:rPr sz="950" b="0">
                          <a:solidFill>
                            <a:srgbClr val="1F2A44"/>
                          </a:solidFill>
                          <a:latin typeface="Calibri"/>
                        </a:rPr>
                        <a:t>Decides the two-feeder case ($1.4M to $1.9M), the civil layer (either way) and the GSU exposure</a:t>
                      </a:r>
                    </a:p>
                  </a:txBody>
                  <a:tcPr marL="54864" marR="54864" marT="27432" marB="27432" anchor="ctr">
                    <a:solidFill>
                      <a:srgbClr val="F2F4F8"/>
                    </a:solidFill>
                  </a:tcPr>
                </a:tc>
              </a:tr>
              <a:tr h="701040">
                <a:tc>
                  <a:txBody>
                    <a:bodyPr/>
                    <a:lstStyle/>
                    <a:p>
                      <a:r>
                        <a:rPr sz="950" b="0">
                          <a:solidFill>
                            <a:srgbClr val="1F2A44"/>
                          </a:solidFill>
                          <a:latin typeface="Calibri"/>
                        </a:rPr>
                        <a:t>Gate 2, design-to-cost target (before IFC, mid-2027)</a:t>
                      </a:r>
                    </a:p>
                  </a:txBody>
                  <a:tcPr marL="54864" marR="54864" marT="27432" marB="27432" anchor="ctr">
                    <a:solidFill>
                      <a:srgbClr val="FFFFFF"/>
                    </a:solidFill>
                  </a:tcPr>
                </a:tc>
                <a:tc>
                  <a:txBody>
                    <a:bodyPr/>
                    <a:lstStyle/>
                    <a:p>
                      <a:r>
                        <a:rPr sz="950" b="0">
                          <a:solidFill>
                            <a:srgbClr val="1F2A44"/>
                          </a:solidFill>
                          <a:latin typeface="Calibri"/>
                        </a:rPr>
                        <a:t>Set a station-direct target of $1,250 per kWh ($25M direct, the reference-class 75th percentile) and a loaded target of $50M; monthly trend review against it; change control board with the CoE; no scope added without a funded source</a:t>
                      </a:r>
                    </a:p>
                  </a:txBody>
                  <a:tcPr marL="54864" marR="54864" marT="27432" marB="27432" anchor="ctr">
                    <a:solidFill>
                      <a:srgbClr val="FFFFFF"/>
                    </a:solidFill>
                  </a:tcPr>
                </a:tc>
                <a:tc>
                  <a:txBody>
                    <a:bodyPr/>
                    <a:lstStyle/>
                    <a:p>
                      <a:r>
                        <a:rPr sz="950" b="0">
                          <a:solidFill>
                            <a:srgbClr val="1F2A44"/>
                          </a:solidFill>
                          <a:latin typeface="Calibri"/>
                        </a:rPr>
                        <a:t>PM (accountable), Cost Estimating (trend), sponsor</a:t>
                      </a:r>
                    </a:p>
                  </a:txBody>
                  <a:tcPr marL="54864" marR="54864" marT="27432" marB="27432" anchor="ctr">
                    <a:solidFill>
                      <a:srgbClr val="FFFFFF"/>
                    </a:solidFill>
                  </a:tcPr>
                </a:tc>
                <a:tc>
                  <a:txBody>
                    <a:bodyPr/>
                    <a:lstStyle/>
                    <a:p>
                      <a:r>
                        <a:rPr sz="950" b="0">
                          <a:solidFill>
                            <a:srgbClr val="1F2A44"/>
                          </a:solidFill>
                          <a:latin typeface="Calibri"/>
                        </a:rPr>
                        <a:t>Turns the estimate into a managed number instead of a forecast</a:t>
                      </a:r>
                    </a:p>
                  </a:txBody>
                  <a:tcPr marL="54864" marR="54864" marT="27432" marB="27432" anchor="ctr">
                    <a:solidFill>
                      <a:srgbClr val="FFFFFF"/>
                    </a:solidFill>
                  </a:tcPr>
                </a:tc>
              </a:tr>
              <a:tr h="701040">
                <a:tc>
                  <a:txBody>
                    <a:bodyPr/>
                    <a:lstStyle/>
                    <a:p>
                      <a:r>
                        <a:rPr sz="950" b="0">
                          <a:solidFill>
                            <a:srgbClr val="1F2A44"/>
                          </a:solidFill>
                          <a:latin typeface="Calibri"/>
                        </a:rPr>
                        <a:t>Gate 3, commercial strategy (before construction pricing, Q3 2027)</a:t>
                      </a:r>
                    </a:p>
                  </a:txBody>
                  <a:tcPr marL="54864" marR="54864" marT="27432" marB="27432" anchor="ctr">
                    <a:solidFill>
                      <a:srgbClr val="F2F4F8"/>
                    </a:solidFill>
                  </a:tcPr>
                </a:tc>
                <a:tc>
                  <a:txBody>
                    <a:bodyPr/>
                    <a:lstStyle/>
                    <a:p>
                      <a:r>
                        <a:rPr sz="950" b="0">
                          <a:solidFill>
                            <a:srgbClr val="1F2A44"/>
                          </a:solidFill>
                          <a:latin typeface="Calibri"/>
                        </a:rPr>
                        <a:t>Competitive lump-sum pricing for station, civil and install (Haugland plus two), owner-furnished GSUs and skids on alliance pricing, Nomad milestones aligned to delivery, change-order cap, outage windows at 496 priced explicitly</a:t>
                      </a:r>
                    </a:p>
                  </a:txBody>
                  <a:tcPr marL="54864" marR="54864" marT="27432" marB="27432" anchor="ctr">
                    <a:solidFill>
                      <a:srgbClr val="F2F4F8"/>
                    </a:solidFill>
                  </a:tcPr>
                </a:tc>
                <a:tc>
                  <a:txBody>
                    <a:bodyPr/>
                    <a:lstStyle/>
                    <a:p>
                      <a:r>
                        <a:rPr sz="950" b="0">
                          <a:solidFill>
                            <a:srgbClr val="1F2A44"/>
                          </a:solidFill>
                          <a:latin typeface="Calibri"/>
                        </a:rPr>
                        <a:t>Sourcing, PM, Construction</a:t>
                      </a:r>
                    </a:p>
                  </a:txBody>
                  <a:tcPr marL="54864" marR="54864" marT="27432" marB="27432" anchor="ctr">
                    <a:solidFill>
                      <a:srgbClr val="F2F4F8"/>
                    </a:solidFill>
                  </a:tcPr>
                </a:tc>
                <a:tc>
                  <a:txBody>
                    <a:bodyPr/>
                    <a:lstStyle/>
                    <a:p>
                      <a:r>
                        <a:rPr sz="950" b="0">
                          <a:solidFill>
                            <a:srgbClr val="1F2A44"/>
                          </a:solidFill>
                          <a:latin typeface="Calibri"/>
                        </a:rPr>
                        <a:t>Converts unit-library construction into a bid; the red team's +25% construction stress test becomes a contract term</a:t>
                      </a:r>
                    </a:p>
                  </a:txBody>
                  <a:tcPr marL="54864" marR="54864" marT="27432" marB="27432" anchor="ctr">
                    <a:solidFill>
                      <a:srgbClr val="F2F4F8"/>
                    </a:solidFill>
                  </a:tcPr>
                </a:tc>
              </a:tr>
              <a:tr h="701040">
                <a:tc>
                  <a:txBody>
                    <a:bodyPr/>
                    <a:lstStyle/>
                    <a:p>
                      <a:r>
                        <a:rPr sz="950" b="0">
                          <a:solidFill>
                            <a:srgbClr val="1F2A44"/>
                          </a:solidFill>
                          <a:latin typeface="Calibri"/>
                        </a:rPr>
                        <a:t>Standing</a:t>
                      </a:r>
                    </a:p>
                  </a:txBody>
                  <a:tcPr marL="54864" marR="54864" marT="27432" marB="27432" anchor="ctr">
                    <a:solidFill>
                      <a:srgbClr val="FFFFFF"/>
                    </a:solidFill>
                  </a:tcPr>
                </a:tc>
                <a:tc>
                  <a:txBody>
                    <a:bodyPr/>
                    <a:lstStyle/>
                    <a:p>
                      <a:r>
                        <a:rPr sz="950" b="0">
                          <a:solidFill>
                            <a:srgbClr val="1F2A44"/>
                          </a:solidFill>
                          <a:latin typeface="Calibri"/>
                        </a:rPr>
                        <a:t>Monthly cost-containment report to the sponsor: station-direct $/kWh against target, forecast at completion, open scope questions, exposures register; the 48E position and the FEOC cell-origin answer tracked as milestones</a:t>
                      </a:r>
                    </a:p>
                  </a:txBody>
                  <a:tcPr marL="54864" marR="54864" marT="27432" marB="27432" anchor="ctr">
                    <a:solidFill>
                      <a:srgbClr val="FFFFFF"/>
                    </a:solidFill>
                  </a:tcPr>
                </a:tc>
                <a:tc>
                  <a:txBody>
                    <a:bodyPr/>
                    <a:lstStyle/>
                    <a:p>
                      <a:r>
                        <a:rPr sz="950" b="0">
                          <a:solidFill>
                            <a:srgbClr val="1F2A44"/>
                          </a:solidFill>
                          <a:latin typeface="Calibri"/>
                        </a:rPr>
                        <a:t>PM, CoE</a:t>
                      </a:r>
                    </a:p>
                  </a:txBody>
                  <a:tcPr marL="54864" marR="54864" marT="27432" marB="27432" anchor="ctr">
                    <a:solidFill>
                      <a:srgbClr val="FFFFFF"/>
                    </a:solidFill>
                  </a:tcPr>
                </a:tc>
                <a:tc>
                  <a:txBody>
                    <a:bodyPr/>
                    <a:lstStyle/>
                    <a:p>
                      <a:r>
                        <a:rPr sz="950" b="0">
                          <a:solidFill>
                            <a:srgbClr val="1F2A44"/>
                          </a:solidFill>
                          <a:latin typeface="Calibri"/>
                        </a:rPr>
                        <a:t>What leadership sees every month until in-service</a:t>
                      </a:r>
                    </a:p>
                  </a:txBody>
                  <a:tcPr marL="54864" marR="54864" marT="27432" marB="27432" anchor="ctr">
                    <a:solidFill>
                      <a:srgbClr val="FFFFFF"/>
                    </a:solidFill>
                  </a:tcPr>
                </a:tc>
              </a:tr>
            </a:tbl>
          </a:graphicData>
        </a:graphic>
      </p:graphicFrame>
      <p:sp>
        <p:nvSpPr>
          <p:cNvPr id="8" name="TextBox 7"/>
          <p:cNvSpPr txBox="1"/>
          <p:nvPr/>
        </p:nvSpPr>
        <p:spPr>
          <a:xfrm>
            <a:off x="548640" y="5623560"/>
            <a:ext cx="11064240" cy="777240"/>
          </a:xfrm>
          <a:prstGeom prst="rect">
            <a:avLst/>
          </a:prstGeom>
          <a:noFill/>
        </p:spPr>
        <p:txBody>
          <a:bodyPr wrap="square" lIns="45720">
            <a:spAutoFit/>
          </a:bodyPr>
          <a:lstStyle/>
          <a:p>
            <a:pPr>
              <a:lnSpc>
                <a:spcPct val="105000"/>
              </a:lnSpc>
              <a:spcAft>
                <a:spcPts val="300"/>
              </a:spcAft>
            </a:pPr>
            <a:r>
              <a:rPr sz="1050">
                <a:solidFill>
                  <a:srgbClr val="FFC72C"/>
                </a:solidFill>
                <a:latin typeface="Calibri"/>
              </a:rPr>
              <a:t>▪  </a:t>
            </a:r>
            <a:r>
              <a:rPr b="1" sz="1050">
                <a:solidFill>
                  <a:srgbClr val="1F2A44"/>
                </a:solidFill>
                <a:latin typeface="Calibri"/>
              </a:rPr>
              <a:t>The target is the discipline. </a:t>
            </a:r>
            <a:r>
              <a:rPr sz="1050">
                <a:solidFill>
                  <a:srgbClr val="1F2A44"/>
                </a:solidFill>
                <a:latin typeface="Calibri"/>
              </a:rPr>
              <a:t>$25M station-direct is the reference-class 75th percentile for a project this size; the estimate is at $29.7M. The gap is the scope challenge above, and the PM owns it from the November PAF onward, with the CoE reporting the trend monthly.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RANKED BY WHAT THE SIMULATION SAYS MOVES THE NUMBER, AND WHO CONTROLS IT</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Where to be aggressive: two things drive 72% of the variance, and neither is a line item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34</a:t>
            </a:r>
          </a:p>
        </p:txBody>
      </p:sp>
      <p:graphicFrame>
        <p:nvGraphicFramePr>
          <p:cNvPr id="7" name="Table 6"/>
          <p:cNvGraphicFramePr>
            <a:graphicFrameLocks noGrp="1"/>
          </p:cNvGraphicFramePr>
          <p:nvPr/>
        </p:nvGraphicFramePr>
        <p:xfrm>
          <a:off x="548640" y="1325880"/>
          <a:ext cx="11064240" cy="4572000"/>
        </p:xfrm>
        <a:graphic>
          <a:graphicData uri="http://schemas.openxmlformats.org/drawingml/2006/table">
            <a:tbl>
              <a:tblPr firstRow="1" bandRow="1">
                <a:tableStyleId>{5C22544A-7EE6-4342-B048-85BDC9FD1C3A}</a:tableStyleId>
              </a:tblPr>
              <a:tblGrid>
                <a:gridCol w="365760"/>
                <a:gridCol w="2743200"/>
                <a:gridCol w="5394960"/>
                <a:gridCol w="1737360"/>
                <a:gridCol w="822960"/>
              </a:tblGrid>
              <a:tr h="508000">
                <a:tc>
                  <a:txBody>
                    <a:bodyPr/>
                    <a:lstStyle/>
                    <a:p>
                      <a:r>
                        <a:rPr sz="950" b="1">
                          <a:solidFill>
                            <a:srgbClr val="FFFFFF"/>
                          </a:solidFill>
                          <a:latin typeface="Calibri"/>
                        </a:rPr>
                        <a:t>#</a:t>
                      </a:r>
                    </a:p>
                  </a:txBody>
                  <a:tcPr marL="54864" marR="54864" marT="27432" marB="27432">
                    <a:solidFill>
                      <a:srgbClr val="001E60"/>
                    </a:solidFill>
                  </a:tcPr>
                </a:tc>
                <a:tc>
                  <a:txBody>
                    <a:bodyPr/>
                    <a:lstStyle/>
                    <a:p>
                      <a:r>
                        <a:rPr sz="950" b="1">
                          <a:solidFill>
                            <a:srgbClr val="FFFFFF"/>
                          </a:solidFill>
                          <a:latin typeface="Calibri"/>
                        </a:rPr>
                        <a:t>Be aggressive on</a:t>
                      </a:r>
                    </a:p>
                  </a:txBody>
                  <a:tcPr marL="54864" marR="54864" marT="27432" marB="27432">
                    <a:solidFill>
                      <a:srgbClr val="001E60"/>
                    </a:solidFill>
                  </a:tcPr>
                </a:tc>
                <a:tc>
                  <a:txBody>
                    <a:bodyPr/>
                    <a:lstStyle/>
                    <a:p>
                      <a:r>
                        <a:rPr sz="950" b="1">
                          <a:solidFill>
                            <a:srgbClr val="FFFFFF"/>
                          </a:solidFill>
                          <a:latin typeface="Calibri"/>
                        </a:rPr>
                        <a:t>Why, from the simulation</a:t>
                      </a:r>
                    </a:p>
                  </a:txBody>
                  <a:tcPr marL="54864" marR="54864" marT="27432" marB="27432">
                    <a:solidFill>
                      <a:srgbClr val="001E60"/>
                    </a:solidFill>
                  </a:tcPr>
                </a:tc>
                <a:tc>
                  <a:txBody>
                    <a:bodyPr/>
                    <a:lstStyle/>
                    <a:p>
                      <a:r>
                        <a:rPr sz="950" b="1">
                          <a:solidFill>
                            <a:srgbClr val="FFFFFF"/>
                          </a:solidFill>
                          <a:latin typeface="Calibri"/>
                        </a:rPr>
                        <a:t>Owner</a:t>
                      </a:r>
                    </a:p>
                  </a:txBody>
                  <a:tcPr marL="54864" marR="54864" marT="27432" marB="27432">
                    <a:solidFill>
                      <a:srgbClr val="001E60"/>
                    </a:solidFill>
                  </a:tcPr>
                </a:tc>
                <a:tc>
                  <a:txBody>
                    <a:bodyPr/>
                    <a:lstStyle/>
                    <a:p>
                      <a:r>
                        <a:rPr sz="950" b="1">
                          <a:solidFill>
                            <a:srgbClr val="FFFFFF"/>
                          </a:solidFill>
                          <a:latin typeface="Calibri"/>
                        </a:rPr>
                        <a:t>By</a:t>
                      </a:r>
                    </a:p>
                  </a:txBody>
                  <a:tcPr marL="54864" marR="54864" marT="27432" marB="27432">
                    <a:solidFill>
                      <a:srgbClr val="001E60"/>
                    </a:solidFill>
                  </a:tcPr>
                </a:tc>
              </a:tr>
              <a:tr h="508000">
                <a:tc>
                  <a:txBody>
                    <a:bodyPr/>
                    <a:lstStyle/>
                    <a:p>
                      <a:r>
                        <a:rPr sz="950" b="0">
                          <a:solidFill>
                            <a:srgbClr val="1F2A44"/>
                          </a:solidFill>
                          <a:latin typeface="Calibri"/>
                        </a:rPr>
                        <a:t>1</a:t>
                      </a:r>
                    </a:p>
                  </a:txBody>
                  <a:tcPr marL="54864" marR="54864" marT="27432" marB="27432" anchor="ctr">
                    <a:solidFill>
                      <a:srgbClr val="FFFFFF"/>
                    </a:solidFill>
                  </a:tcPr>
                </a:tc>
                <a:tc>
                  <a:txBody>
                    <a:bodyPr/>
                    <a:lstStyle/>
                    <a:p>
                      <a:r>
                        <a:rPr sz="950" b="0">
                          <a:solidFill>
                            <a:srgbClr val="1F2A44"/>
                          </a:solidFill>
                          <a:latin typeface="Calibri"/>
                        </a:rPr>
                        <a:t>Close the Haugland reconciliation before the PAF</a:t>
                      </a:r>
                    </a:p>
                  </a:txBody>
                  <a:tcPr marL="54864" marR="54864" marT="27432" marB="27432" anchor="ctr">
                    <a:solidFill>
                      <a:srgbClr val="FFFFFF"/>
                    </a:solidFill>
                  </a:tcPr>
                </a:tc>
                <a:tc>
                  <a:txBody>
                    <a:bodyPr/>
                    <a:lstStyle/>
                    <a:p>
                      <a:r>
                        <a:rPr sz="950" b="0">
                          <a:solidFill>
                            <a:srgbClr val="1F2A44"/>
                          </a:solidFill>
                          <a:latin typeface="Calibri"/>
                        </a:rPr>
                        <a:t>Threat T1: 58% of the variance in the outcome. A signed scope map turns a +$3M to +$12M loaded exposure into a known number; until then every reduction below is gross of it.</a:t>
                      </a:r>
                    </a:p>
                  </a:txBody>
                  <a:tcPr marL="54864" marR="54864" marT="27432" marB="27432" anchor="ctr">
                    <a:solidFill>
                      <a:srgbClr val="FFFFFF"/>
                    </a:solidFill>
                  </a:tcPr>
                </a:tc>
                <a:tc>
                  <a:txBody>
                    <a:bodyPr/>
                    <a:lstStyle/>
                    <a:p>
                      <a:r>
                        <a:rPr sz="950" b="0">
                          <a:solidFill>
                            <a:srgbClr val="1F2A44"/>
                          </a:solidFill>
                          <a:latin typeface="Calibri"/>
                        </a:rPr>
                        <a:t>PM + Cost Estimating + HEG</a:t>
                      </a:r>
                    </a:p>
                  </a:txBody>
                  <a:tcPr marL="54864" marR="54864" marT="27432" marB="27432" anchor="ctr">
                    <a:solidFill>
                      <a:srgbClr val="FFFFFF"/>
                    </a:solidFill>
                  </a:tcPr>
                </a:tc>
                <a:tc>
                  <a:txBody>
                    <a:bodyPr/>
                    <a:lstStyle/>
                    <a:p>
                      <a:r>
                        <a:rPr sz="950" b="0">
                          <a:solidFill>
                            <a:srgbClr val="1F2A44"/>
                          </a:solidFill>
                          <a:latin typeface="Calibri"/>
                        </a:rPr>
                        <a:t>Nov 2026</a:t>
                      </a:r>
                    </a:p>
                  </a:txBody>
                  <a:tcPr marL="54864" marR="54864" marT="27432" marB="27432" anchor="ctr">
                    <a:solidFill>
                      <a:srgbClr val="FFFFFF"/>
                    </a:solidFill>
                  </a:tcPr>
                </a:tc>
              </a:tr>
              <a:tr h="508000">
                <a:tc>
                  <a:txBody>
                    <a:bodyPr/>
                    <a:lstStyle/>
                    <a:p>
                      <a:r>
                        <a:rPr sz="950" b="0">
                          <a:solidFill>
                            <a:srgbClr val="1F2A44"/>
                          </a:solidFill>
                          <a:latin typeface="Calibri"/>
                        </a:rPr>
                        <a:t>2</a:t>
                      </a:r>
                    </a:p>
                  </a:txBody>
                  <a:tcPr marL="54864" marR="54864" marT="27432" marB="27432" anchor="ctr">
                    <a:solidFill>
                      <a:srgbClr val="F2F4F8"/>
                    </a:solidFill>
                  </a:tcPr>
                </a:tc>
                <a:tc>
                  <a:txBody>
                    <a:bodyPr/>
                    <a:lstStyle/>
                    <a:p>
                      <a:r>
                        <a:rPr sz="950" b="0">
                          <a:solidFill>
                            <a:srgbClr val="1F2A44"/>
                          </a:solidFill>
                          <a:latin typeface="Calibri"/>
                        </a:rPr>
                        <a:t>Buy siting float</a:t>
                      </a:r>
                    </a:p>
                  </a:txBody>
                  <a:tcPr marL="54864" marR="54864" marT="27432" marB="27432" anchor="ctr">
                    <a:solidFill>
                      <a:srgbClr val="F2F4F8"/>
                    </a:solidFill>
                  </a:tcPr>
                </a:tc>
                <a:tc>
                  <a:txBody>
                    <a:bodyPr/>
                    <a:lstStyle/>
                    <a:p>
                      <a:r>
                        <a:rPr sz="950" b="0">
                          <a:solidFill>
                            <a:srgbClr val="1F2A44"/>
                          </a:solidFill>
                          <a:latin typeface="Calibri"/>
                        </a:rPr>
                        <a:t>Schedule: 14% of the variance; P50 +5 months, P80 +9 months, each month about $0.37M. File Article 80 early, set the ZBA hearing within 90 days, pre-brief the abutters on screening and sound.</a:t>
                      </a:r>
                    </a:p>
                  </a:txBody>
                  <a:tcPr marL="54864" marR="54864" marT="27432" marB="27432" anchor="ctr">
                    <a:solidFill>
                      <a:srgbClr val="F2F4F8"/>
                    </a:solidFill>
                  </a:tcPr>
                </a:tc>
                <a:tc>
                  <a:txBody>
                    <a:bodyPr/>
                    <a:lstStyle/>
                    <a:p>
                      <a:r>
                        <a:rPr sz="950" b="0">
                          <a:solidFill>
                            <a:srgbClr val="1F2A44"/>
                          </a:solidFill>
                          <a:latin typeface="Calibri"/>
                        </a:rPr>
                        <a:t>Siting + PM</a:t>
                      </a:r>
                    </a:p>
                  </a:txBody>
                  <a:tcPr marL="54864" marR="54864" marT="27432" marB="27432" anchor="ctr">
                    <a:solidFill>
                      <a:srgbClr val="F2F4F8"/>
                    </a:solidFill>
                  </a:tcPr>
                </a:tc>
                <a:tc>
                  <a:txBody>
                    <a:bodyPr/>
                    <a:lstStyle/>
                    <a:p>
                      <a:r>
                        <a:rPr sz="950" b="0">
                          <a:solidFill>
                            <a:srgbClr val="1F2A44"/>
                          </a:solidFill>
                          <a:latin typeface="Calibri"/>
                        </a:rPr>
                        <a:t>Q1 2027</a:t>
                      </a:r>
                    </a:p>
                  </a:txBody>
                  <a:tcPr marL="54864" marR="54864" marT="27432" marB="27432" anchor="ctr">
                    <a:solidFill>
                      <a:srgbClr val="F2F4F8"/>
                    </a:solidFill>
                  </a:tcPr>
                </a:tc>
              </a:tr>
              <a:tr h="508000">
                <a:tc>
                  <a:txBody>
                    <a:bodyPr/>
                    <a:lstStyle/>
                    <a:p>
                      <a:r>
                        <a:rPr sz="950" b="0">
                          <a:solidFill>
                            <a:srgbClr val="1F2A44"/>
                          </a:solidFill>
                          <a:latin typeface="Calibri"/>
                        </a:rPr>
                        <a:t>3</a:t>
                      </a:r>
                    </a:p>
                  </a:txBody>
                  <a:tcPr marL="54864" marR="54864" marT="27432" marB="27432" anchor="ctr">
                    <a:solidFill>
                      <a:srgbClr val="FFFFFF"/>
                    </a:solidFill>
                  </a:tcPr>
                </a:tc>
                <a:tc>
                  <a:txBody>
                    <a:bodyPr/>
                    <a:lstStyle/>
                    <a:p>
                      <a:r>
                        <a:rPr sz="950" b="0">
                          <a:solidFill>
                            <a:srgbClr val="1F2A44"/>
                          </a:solidFill>
                          <a:latin typeface="Calibri"/>
                        </a:rPr>
                        <a:t>Take the decision-only levers now</a:t>
                      </a:r>
                    </a:p>
                  </a:txBody>
                  <a:tcPr marL="54864" marR="54864" marT="27432" marB="27432" anchor="ctr">
                    <a:solidFill>
                      <a:srgbClr val="FFFFFF"/>
                    </a:solidFill>
                  </a:tcPr>
                </a:tc>
                <a:tc>
                  <a:txBody>
                    <a:bodyPr/>
                    <a:lstStyle/>
                    <a:p>
                      <a:r>
                        <a:rPr sz="950" b="0">
                          <a:solidFill>
                            <a:srgbClr val="1F2A44"/>
                          </a:solidFill>
                          <a:latin typeface="Calibri"/>
                        </a:rPr>
                        <a:t>A1 escalation ($1.3M expected), A2 risk wording ($1.1M), B5 disconnect double count ($0.3M), C3 AFUDC timing ($0.3M): about $3M expected, no study needed.</a:t>
                      </a:r>
                    </a:p>
                  </a:txBody>
                  <a:tcPr marL="54864" marR="54864" marT="27432" marB="27432" anchor="ctr">
                    <a:solidFill>
                      <a:srgbClr val="FFFFFF"/>
                    </a:solidFill>
                  </a:tcPr>
                </a:tc>
                <a:tc>
                  <a:txBody>
                    <a:bodyPr/>
                    <a:lstStyle/>
                    <a:p>
                      <a:r>
                        <a:rPr sz="950" b="0">
                          <a:solidFill>
                            <a:srgbClr val="1F2A44"/>
                          </a:solidFill>
                          <a:latin typeface="Calibri"/>
                        </a:rPr>
                        <a:t>Cost Estimating + Sourcing</a:t>
                      </a:r>
                    </a:p>
                  </a:txBody>
                  <a:tcPr marL="54864" marR="54864" marT="27432" marB="27432" anchor="ctr">
                    <a:solidFill>
                      <a:srgbClr val="FFFFFF"/>
                    </a:solidFill>
                  </a:tcPr>
                </a:tc>
                <a:tc>
                  <a:txBody>
                    <a:bodyPr/>
                    <a:lstStyle/>
                    <a:p>
                      <a:r>
                        <a:rPr sz="950" b="0">
                          <a:solidFill>
                            <a:srgbClr val="1F2A44"/>
                          </a:solidFill>
                          <a:latin typeface="Calibri"/>
                        </a:rPr>
                        <a:t>Nov 2026</a:t>
                      </a:r>
                    </a:p>
                  </a:txBody>
                  <a:tcPr marL="54864" marR="54864" marT="27432" marB="27432" anchor="ctr">
                    <a:solidFill>
                      <a:srgbClr val="FFFFFF"/>
                    </a:solidFill>
                  </a:tcPr>
                </a:tc>
              </a:tr>
              <a:tr h="508000">
                <a:tc>
                  <a:txBody>
                    <a:bodyPr/>
                    <a:lstStyle/>
                    <a:p>
                      <a:r>
                        <a:rPr sz="950" b="0">
                          <a:solidFill>
                            <a:srgbClr val="1F2A44"/>
                          </a:solidFill>
                          <a:latin typeface="Calibri"/>
                        </a:rPr>
                        <a:t>4</a:t>
                      </a:r>
                    </a:p>
                  </a:txBody>
                  <a:tcPr marL="54864" marR="54864" marT="27432" marB="27432" anchor="ctr">
                    <a:solidFill>
                      <a:srgbClr val="F2F4F8"/>
                    </a:solidFill>
                  </a:tcPr>
                </a:tc>
                <a:tc>
                  <a:txBody>
                    <a:bodyPr/>
                    <a:lstStyle/>
                    <a:p>
                      <a:r>
                        <a:rPr sz="950" b="0">
                          <a:solidFill>
                            <a:srgbClr val="1F2A44"/>
                          </a:solidFill>
                          <a:latin typeface="Calibri"/>
                        </a:rPr>
                        <a:t>Benchmark Station 496 and price its outage windows</a:t>
                      </a:r>
                    </a:p>
                  </a:txBody>
                  <a:tcPr marL="54864" marR="54864" marT="27432" marB="27432" anchor="ctr">
                    <a:solidFill>
                      <a:srgbClr val="F2F4F8"/>
                    </a:solidFill>
                  </a:tcPr>
                </a:tc>
                <a:tc>
                  <a:txBody>
                    <a:bodyPr/>
                    <a:lstStyle/>
                    <a:p>
                      <a:r>
                        <a:rPr sz="950" b="0">
                          <a:solidFill>
                            <a:srgbClr val="1F2A44"/>
                          </a:solidFill>
                          <a:latin typeface="Calibri"/>
                        </a:rPr>
                        <a:t>B1 ($0.7M expected) is the largest controllable estimate lever; accuracy on F is 6% of variance; T8 outage premiums are unpriced.</a:t>
                      </a:r>
                    </a:p>
                  </a:txBody>
                  <a:tcPr marL="54864" marR="54864" marT="27432" marB="27432" anchor="ctr">
                    <a:solidFill>
                      <a:srgbClr val="F2F4F8"/>
                    </a:solidFill>
                  </a:tcPr>
                </a:tc>
                <a:tc>
                  <a:txBody>
                    <a:bodyPr/>
                    <a:lstStyle/>
                    <a:p>
                      <a:r>
                        <a:rPr sz="950" b="0">
                          <a:solidFill>
                            <a:srgbClr val="1F2A44"/>
                          </a:solidFill>
                          <a:latin typeface="Calibri"/>
                        </a:rPr>
                        <a:t>P&amp;C Engineering + EMA</a:t>
                      </a:r>
                    </a:p>
                  </a:txBody>
                  <a:tcPr marL="54864" marR="54864" marT="27432" marB="27432" anchor="ctr">
                    <a:solidFill>
                      <a:srgbClr val="F2F4F8"/>
                    </a:solidFill>
                  </a:tcPr>
                </a:tc>
                <a:tc>
                  <a:txBody>
                    <a:bodyPr/>
                    <a:lstStyle/>
                    <a:p>
                      <a:r>
                        <a:rPr sz="950" b="0">
                          <a:solidFill>
                            <a:srgbClr val="1F2A44"/>
                          </a:solidFill>
                          <a:latin typeface="Calibri"/>
                        </a:rPr>
                        <a:t>Q1 2027</a:t>
                      </a:r>
                    </a:p>
                  </a:txBody>
                  <a:tcPr marL="54864" marR="54864" marT="27432" marB="27432" anchor="ctr">
                    <a:solidFill>
                      <a:srgbClr val="F2F4F8"/>
                    </a:solidFill>
                  </a:tcPr>
                </a:tc>
              </a:tr>
              <a:tr h="508000">
                <a:tc>
                  <a:txBody>
                    <a:bodyPr/>
                    <a:lstStyle/>
                    <a:p>
                      <a:r>
                        <a:rPr sz="950" b="0">
                          <a:solidFill>
                            <a:srgbClr val="1F2A44"/>
                          </a:solidFill>
                          <a:latin typeface="Calibri"/>
                        </a:rPr>
                        <a:t>5</a:t>
                      </a:r>
                    </a:p>
                  </a:txBody>
                  <a:tcPr marL="54864" marR="54864" marT="27432" marB="27432" anchor="ctr">
                    <a:solidFill>
                      <a:srgbClr val="FFFFFF"/>
                    </a:solidFill>
                  </a:tcPr>
                </a:tc>
                <a:tc>
                  <a:txBody>
                    <a:bodyPr/>
                    <a:lstStyle/>
                    <a:p>
                      <a:r>
                        <a:rPr sz="950" b="0">
                          <a:solidFill>
                            <a:srgbClr val="1F2A44"/>
                          </a:solidFill>
                          <a:latin typeface="Calibri"/>
                        </a:rPr>
                        <a:t>Settle the topology and the GSU count in one study</a:t>
                      </a:r>
                    </a:p>
                  </a:txBody>
                  <a:tcPr marL="54864" marR="54864" marT="27432" marB="27432" anchor="ctr">
                    <a:solidFill>
                      <a:srgbClr val="FFFFFF"/>
                    </a:solidFill>
                  </a:tcPr>
                </a:tc>
                <a:tc>
                  <a:txBody>
                    <a:bodyPr/>
                    <a:lstStyle/>
                    <a:p>
                      <a:r>
                        <a:rPr sz="950" b="0">
                          <a:solidFill>
                            <a:srgbClr val="1F2A44"/>
                          </a:solidFill>
                          <a:latin typeface="Calibri"/>
                        </a:rPr>
                        <a:t>B2 ($0.6M expected) and T6 ($0.4M expected threat) are the same question asked twice. Hosting capacity for two 5 MW feeders decides both.</a:t>
                      </a:r>
                    </a:p>
                  </a:txBody>
                  <a:tcPr marL="54864" marR="54864" marT="27432" marB="27432" anchor="ctr">
                    <a:solidFill>
                      <a:srgbClr val="FFFFFF"/>
                    </a:solidFill>
                  </a:tcPr>
                </a:tc>
                <a:tc>
                  <a:txBody>
                    <a:bodyPr/>
                    <a:lstStyle/>
                    <a:p>
                      <a:r>
                        <a:rPr sz="950" b="0">
                          <a:solidFill>
                            <a:srgbClr val="1F2A44"/>
                          </a:solidFill>
                          <a:latin typeface="Calibri"/>
                        </a:rPr>
                        <a:t>System Planning + Substation Eng.</a:t>
                      </a:r>
                    </a:p>
                  </a:txBody>
                  <a:tcPr marL="54864" marR="54864" marT="27432" marB="27432" anchor="ctr">
                    <a:solidFill>
                      <a:srgbClr val="FFFFFF"/>
                    </a:solidFill>
                  </a:tcPr>
                </a:tc>
                <a:tc>
                  <a:txBody>
                    <a:bodyPr/>
                    <a:lstStyle/>
                    <a:p>
                      <a:r>
                        <a:rPr sz="950" b="0">
                          <a:solidFill>
                            <a:srgbClr val="1F2A44"/>
                          </a:solidFill>
                          <a:latin typeface="Calibri"/>
                        </a:rPr>
                        <a:t>Gate 1</a:t>
                      </a:r>
                    </a:p>
                  </a:txBody>
                  <a:tcPr marL="54864" marR="54864" marT="27432" marB="27432" anchor="ctr">
                    <a:solidFill>
                      <a:srgbClr val="FFFFFF"/>
                    </a:solidFill>
                  </a:tcPr>
                </a:tc>
              </a:tr>
              <a:tr h="508000">
                <a:tc>
                  <a:txBody>
                    <a:bodyPr/>
                    <a:lstStyle/>
                    <a:p>
                      <a:r>
                        <a:rPr sz="950" b="0">
                          <a:solidFill>
                            <a:srgbClr val="1F2A44"/>
                          </a:solidFill>
                          <a:latin typeface="Calibri"/>
                        </a:rPr>
                        <a:t>6</a:t>
                      </a:r>
                    </a:p>
                  </a:txBody>
                  <a:tcPr marL="54864" marR="54864" marT="27432" marB="27432" anchor="ctr">
                    <a:solidFill>
                      <a:srgbClr val="F2F4F8"/>
                    </a:solidFill>
                  </a:tcPr>
                </a:tc>
                <a:tc>
                  <a:txBody>
                    <a:bodyPr/>
                    <a:lstStyle/>
                    <a:p>
                      <a:r>
                        <a:rPr sz="950" b="0">
                          <a:solidFill>
                            <a:srgbClr val="1F2A44"/>
                          </a:solidFill>
                          <a:latin typeface="Calibri"/>
                        </a:rPr>
                        <a:t>Hold the civil layer open until geotech</a:t>
                      </a:r>
                    </a:p>
                  </a:txBody>
                  <a:tcPr marL="54864" marR="54864" marT="27432" marB="27432" anchor="ctr">
                    <a:solidFill>
                      <a:srgbClr val="F2F4F8"/>
                    </a:solidFill>
                  </a:tcPr>
                </a:tc>
                <a:tc>
                  <a:txBody>
                    <a:bodyPr/>
                    <a:lstStyle/>
                    <a:p>
                      <a:r>
                        <a:rPr sz="950" b="0">
                          <a:solidFill>
                            <a:srgbClr val="1F2A44"/>
                          </a:solidFill>
                          <a:latin typeface="Calibri"/>
                        </a:rPr>
                        <a:t>Accuracy on E is 6% of variance and asymmetric (0.6x to 2.6x). B3 is worth $0.3M expected; the downside is three times that.</a:t>
                      </a:r>
                    </a:p>
                  </a:txBody>
                  <a:tcPr marL="54864" marR="54864" marT="27432" marB="27432" anchor="ctr">
                    <a:solidFill>
                      <a:srgbClr val="F2F4F8"/>
                    </a:solidFill>
                  </a:tcPr>
                </a:tc>
                <a:tc>
                  <a:txBody>
                    <a:bodyPr/>
                    <a:lstStyle/>
                    <a:p>
                      <a:r>
                        <a:rPr sz="950" b="0">
                          <a:solidFill>
                            <a:srgbClr val="1F2A44"/>
                          </a:solidFill>
                          <a:latin typeface="Calibri"/>
                        </a:rPr>
                        <a:t>Civil + Capital Projects Eng.</a:t>
                      </a:r>
                    </a:p>
                  </a:txBody>
                  <a:tcPr marL="54864" marR="54864" marT="27432" marB="27432" anchor="ctr">
                    <a:solidFill>
                      <a:srgbClr val="F2F4F8"/>
                    </a:solidFill>
                  </a:tcPr>
                </a:tc>
                <a:tc>
                  <a:txBody>
                    <a:bodyPr/>
                    <a:lstStyle/>
                    <a:p>
                      <a:r>
                        <a:rPr sz="950" b="0">
                          <a:solidFill>
                            <a:srgbClr val="1F2A44"/>
                          </a:solidFill>
                          <a:latin typeface="Calibri"/>
                        </a:rPr>
                        <a:t>Gate 1</a:t>
                      </a:r>
                    </a:p>
                  </a:txBody>
                  <a:tcPr marL="54864" marR="54864" marT="27432" marB="27432" anchor="ctr">
                    <a:solidFill>
                      <a:srgbClr val="F2F4F8"/>
                    </a:solidFill>
                  </a:tcPr>
                </a:tc>
              </a:tr>
              <a:tr h="508000">
                <a:tc>
                  <a:txBody>
                    <a:bodyPr/>
                    <a:lstStyle/>
                    <a:p>
                      <a:r>
                        <a:rPr sz="950" b="0">
                          <a:solidFill>
                            <a:srgbClr val="1F2A44"/>
                          </a:solidFill>
                          <a:latin typeface="Calibri"/>
                        </a:rPr>
                        <a:t>7</a:t>
                      </a:r>
                    </a:p>
                  </a:txBody>
                  <a:tcPr marL="54864" marR="54864" marT="27432" marB="27432" anchor="ctr">
                    <a:solidFill>
                      <a:srgbClr val="FFFFFF"/>
                    </a:solidFill>
                  </a:tcPr>
                </a:tc>
                <a:tc>
                  <a:txBody>
                    <a:bodyPr/>
                    <a:lstStyle/>
                    <a:p>
                      <a:r>
                        <a:rPr sz="950" b="0">
                          <a:solidFill>
                            <a:srgbClr val="1F2A44"/>
                          </a:solidFill>
                          <a:latin typeface="Calibri"/>
                        </a:rPr>
                        <a:t>Get the overhead-basis ruling</a:t>
                      </a:r>
                    </a:p>
                  </a:txBody>
                  <a:tcPr marL="54864" marR="54864" marT="27432" marB="27432" anchor="ctr">
                    <a:solidFill>
                      <a:srgbClr val="FFFFFF"/>
                    </a:solidFill>
                  </a:tcPr>
                </a:tc>
                <a:tc>
                  <a:txBody>
                    <a:bodyPr/>
                    <a:lstStyle/>
                    <a:p>
                      <a:r>
                        <a:rPr sz="950" b="0">
                          <a:solidFill>
                            <a:srgbClr val="1F2A44"/>
                          </a:solidFill>
                          <a:latin typeface="Calibri"/>
                        </a:rPr>
                        <a:t>A4 ($0.5M expected at 30% odds, $2.1M if granted) is the single largest line nobody on the project can change.</a:t>
                      </a:r>
                    </a:p>
                  </a:txBody>
                  <a:tcPr marL="54864" marR="54864" marT="27432" marB="27432" anchor="ctr">
                    <a:solidFill>
                      <a:srgbClr val="FFFFFF"/>
                    </a:solidFill>
                  </a:tcPr>
                </a:tc>
                <a:tc>
                  <a:txBody>
                    <a:bodyPr/>
                    <a:lstStyle/>
                    <a:p>
                      <a:r>
                        <a:rPr sz="950" b="0">
                          <a:solidFill>
                            <a:srgbClr val="1F2A44"/>
                          </a:solidFill>
                          <a:latin typeface="Calibri"/>
                        </a:rPr>
                        <a:t>Accounting</a:t>
                      </a:r>
                    </a:p>
                  </a:txBody>
                  <a:tcPr marL="54864" marR="54864" marT="27432" marB="27432" anchor="ctr">
                    <a:solidFill>
                      <a:srgbClr val="FFFFFF"/>
                    </a:solidFill>
                  </a:tcPr>
                </a:tc>
                <a:tc>
                  <a:txBody>
                    <a:bodyPr/>
                    <a:lstStyle/>
                    <a:p>
                      <a:r>
                        <a:rPr sz="950" b="0">
                          <a:solidFill>
                            <a:srgbClr val="1F2A44"/>
                          </a:solidFill>
                          <a:latin typeface="Calibri"/>
                        </a:rPr>
                        <a:t>Nov 2026</a:t>
                      </a:r>
                    </a:p>
                  </a:txBody>
                  <a:tcPr marL="54864" marR="54864" marT="27432" marB="27432" anchor="ctr">
                    <a:solidFill>
                      <a:srgbClr val="FFFFFF"/>
                    </a:solidFill>
                  </a:tcPr>
                </a:tc>
              </a:tr>
              <a:tr h="508000">
                <a:tc>
                  <a:txBody>
                    <a:bodyPr/>
                    <a:lstStyle/>
                    <a:p>
                      <a:r>
                        <a:rPr sz="950" b="0">
                          <a:solidFill>
                            <a:srgbClr val="1F2A44"/>
                          </a:solidFill>
                          <a:latin typeface="Calibri"/>
                        </a:rPr>
                        <a:t>8</a:t>
                      </a:r>
                    </a:p>
                  </a:txBody>
                  <a:tcPr marL="54864" marR="54864" marT="27432" marB="27432" anchor="ctr">
                    <a:solidFill>
                      <a:srgbClr val="F2F4F8"/>
                    </a:solidFill>
                  </a:tcPr>
                </a:tc>
                <a:tc>
                  <a:txBody>
                    <a:bodyPr/>
                    <a:lstStyle/>
                    <a:p>
                      <a:r>
                        <a:rPr sz="950" b="0">
                          <a:solidFill>
                            <a:srgbClr val="1F2A44"/>
                          </a:solidFill>
                          <a:latin typeface="Calibri"/>
                        </a:rPr>
                        <a:t>Price what is missing before someone else does</a:t>
                      </a:r>
                    </a:p>
                  </a:txBody>
                  <a:tcPr marL="54864" marR="54864" marT="27432" marB="27432" anchor="ctr">
                    <a:solidFill>
                      <a:srgbClr val="F2F4F8"/>
                    </a:solidFill>
                  </a:tcPr>
                </a:tc>
                <a:tc>
                  <a:txBody>
                    <a:bodyPr/>
                    <a:lstStyle/>
                    <a:p>
                      <a:r>
                        <a:rPr sz="950" b="0">
                          <a:solidFill>
                            <a:srgbClr val="1F2A44"/>
                          </a:solidFill>
                          <a:latin typeface="Calibri"/>
                        </a:rPr>
                        <a:t>T2 to T5 (sound, screening, police details, NFPA 855) are $1.1M expected together; carrying them is cheaper than defending their absence.</a:t>
                      </a:r>
                    </a:p>
                  </a:txBody>
                  <a:tcPr marL="54864" marR="54864" marT="27432" marB="27432" anchor="ctr">
                    <a:solidFill>
                      <a:srgbClr val="F2F4F8"/>
                    </a:solidFill>
                  </a:tcPr>
                </a:tc>
                <a:tc>
                  <a:txBody>
                    <a:bodyPr/>
                    <a:lstStyle/>
                    <a:p>
                      <a:r>
                        <a:rPr sz="950" b="0">
                          <a:solidFill>
                            <a:srgbClr val="1F2A44"/>
                          </a:solidFill>
                          <a:latin typeface="Calibri"/>
                        </a:rPr>
                        <a:t>Siting + Civil</a:t>
                      </a:r>
                    </a:p>
                  </a:txBody>
                  <a:tcPr marL="54864" marR="54864" marT="27432" marB="27432" anchor="ctr">
                    <a:solidFill>
                      <a:srgbClr val="F2F4F8"/>
                    </a:solidFill>
                  </a:tcPr>
                </a:tc>
                <a:tc>
                  <a:txBody>
                    <a:bodyPr/>
                    <a:lstStyle/>
                    <a:p>
                      <a:r>
                        <a:rPr sz="950" b="0">
                          <a:solidFill>
                            <a:srgbClr val="1F2A44"/>
                          </a:solidFill>
                          <a:latin typeface="Calibri"/>
                        </a:rPr>
                        <a:t>Nov 2026</a:t>
                      </a:r>
                    </a:p>
                  </a:txBody>
                  <a:tcPr marL="54864" marR="54864" marT="27432" marB="27432" anchor="ctr">
                    <a:solidFill>
                      <a:srgbClr val="F2F4F8"/>
                    </a:solidFill>
                  </a:tcPr>
                </a:tc>
              </a:tr>
            </a:tbl>
          </a:graphicData>
        </a:graphic>
      </p:graphicFrame>
      <p:sp>
        <p:nvSpPr>
          <p:cNvPr id="8" name="TextBox 7"/>
          <p:cNvSpPr txBox="1"/>
          <p:nvPr/>
        </p:nvSpPr>
        <p:spPr>
          <a:xfrm>
            <a:off x="548640" y="5989320"/>
            <a:ext cx="11064240" cy="365760"/>
          </a:xfrm>
          <a:prstGeom prst="rect">
            <a:avLst/>
          </a:prstGeom>
          <a:noFill/>
        </p:spPr>
        <p:txBody>
          <a:bodyPr wrap="square" lIns="45720" rIns="45720" tIns="27432" bIns="27432" anchor="t">
            <a:spAutoFit/>
          </a:bodyPr>
          <a:lstStyle/>
          <a:p>
            <a:pPr algn="l">
              <a:lnSpc>
                <a:spcPct val="105000"/>
              </a:lnSpc>
              <a:spcAft>
                <a:spcPts val="400"/>
              </a:spcAft>
            </a:pPr>
            <a:r>
              <a:rPr sz="900" b="0" i="0">
                <a:solidFill>
                  <a:srgbClr val="6B7280"/>
                </a:solidFill>
                <a:latin typeface="Calibri"/>
              </a:rPr>
              <a:t>Expected values are probability-weighted means from 20,000 trials (mc_scope_schedule.py); 'variance' is the Spearman contribution to the spread of the managed outcome. Reductions in the register total $10.0 to 14.6M loaded if every one lands; the simulation expects about $6.3M of it at the assessed odds.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20,000 TRIALS: LAYER ACCURACY, UNPRICED THREATS, LEVERS AT ODDS, SCHEDULE SLIP</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Monte Carlo on cost, scope and schedule: $61M if nothing is pursued, $54M if the levers are worked, $49M if every one lands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35</a:t>
            </a:r>
          </a:p>
        </p:txBody>
      </p:sp>
      <p:pic>
        <p:nvPicPr>
          <p:cNvPr id="7" name="Picture 6" descr="mc_scope_hist.png"/>
          <p:cNvPicPr>
            <a:picLocks noChangeAspect="1"/>
          </p:cNvPicPr>
          <p:nvPr/>
        </p:nvPicPr>
        <p:blipFill>
          <a:blip r:embed="rId2"/>
          <a:stretch>
            <a:fillRect/>
          </a:stretch>
        </p:blipFill>
        <p:spPr>
          <a:xfrm>
            <a:off x="457200" y="1325880"/>
            <a:ext cx="6309360" cy="3253264"/>
          </a:xfrm>
          <a:prstGeom prst="rect">
            <a:avLst/>
          </a:prstGeom>
        </p:spPr>
      </p:pic>
      <p:pic>
        <p:nvPicPr>
          <p:cNvPr id="8" name="Picture 7" descr="mc_scope_sched.png"/>
          <p:cNvPicPr>
            <a:picLocks noChangeAspect="1"/>
          </p:cNvPicPr>
          <p:nvPr/>
        </p:nvPicPr>
        <p:blipFill>
          <a:blip r:embed="rId3"/>
          <a:stretch>
            <a:fillRect/>
          </a:stretch>
        </p:blipFill>
        <p:spPr>
          <a:xfrm>
            <a:off x="457200" y="4572000"/>
            <a:ext cx="6309360" cy="1873091"/>
          </a:xfrm>
          <a:prstGeom prst="rect">
            <a:avLst/>
          </a:prstGeom>
        </p:spPr>
      </p:pic>
      <p:graphicFrame>
        <p:nvGraphicFramePr>
          <p:cNvPr id="9" name="Table 8"/>
          <p:cNvGraphicFramePr>
            <a:graphicFrameLocks noGrp="1"/>
          </p:cNvGraphicFramePr>
          <p:nvPr/>
        </p:nvGraphicFramePr>
        <p:xfrm>
          <a:off x="7040880" y="1371600"/>
          <a:ext cx="4389120" cy="2514600"/>
        </p:xfrm>
        <a:graphic>
          <a:graphicData uri="http://schemas.openxmlformats.org/drawingml/2006/table">
            <a:tbl>
              <a:tblPr firstRow="1" bandRow="1">
                <a:tableStyleId>{5C22544A-7EE6-4342-B048-85BDC9FD1C3A}</a:tableStyleId>
              </a:tblPr>
              <a:tblGrid>
                <a:gridCol w="1188720"/>
                <a:gridCol w="914400"/>
                <a:gridCol w="914400"/>
                <a:gridCol w="1371600"/>
              </a:tblGrid>
              <a:tr h="502920">
                <a:tc>
                  <a:txBody>
                    <a:bodyPr/>
                    <a:lstStyle/>
                    <a:p>
                      <a:r>
                        <a:rPr sz="1000" b="1">
                          <a:solidFill>
                            <a:srgbClr val="FFFFFF"/>
                          </a:solidFill>
                          <a:latin typeface="Calibri"/>
                        </a:rPr>
                        <a:t>Posture</a:t>
                      </a:r>
                    </a:p>
                  </a:txBody>
                  <a:tcPr marL="54864" marR="54864" marT="27432" marB="27432">
                    <a:solidFill>
                      <a:srgbClr val="001E60"/>
                    </a:solidFill>
                  </a:tcPr>
                </a:tc>
                <a:tc>
                  <a:txBody>
                    <a:bodyPr/>
                    <a:lstStyle/>
                    <a:p>
                      <a:pPr algn="r"/>
                      <a:r>
                        <a:rPr sz="1000" b="1">
                          <a:solidFill>
                            <a:srgbClr val="FFFFFF"/>
                          </a:solidFill>
                          <a:latin typeface="Calibri"/>
                        </a:rPr>
                        <a:t>P50</a:t>
                      </a:r>
                    </a:p>
                  </a:txBody>
                  <a:tcPr marL="54864" marR="54864" marT="27432" marB="27432">
                    <a:solidFill>
                      <a:srgbClr val="001E60"/>
                    </a:solidFill>
                  </a:tcPr>
                </a:tc>
                <a:tc>
                  <a:txBody>
                    <a:bodyPr/>
                    <a:lstStyle/>
                    <a:p>
                      <a:pPr algn="r"/>
                      <a:r>
                        <a:rPr sz="1000" b="1">
                          <a:solidFill>
                            <a:srgbClr val="FFFFFF"/>
                          </a:solidFill>
                          <a:latin typeface="Calibri"/>
                        </a:rPr>
                        <a:t>P80</a:t>
                      </a:r>
                    </a:p>
                  </a:txBody>
                  <a:tcPr marL="54864" marR="54864" marT="27432" marB="27432">
                    <a:solidFill>
                      <a:srgbClr val="001E60"/>
                    </a:solidFill>
                  </a:tcPr>
                </a:tc>
                <a:tc>
                  <a:txBody>
                    <a:bodyPr/>
                    <a:lstStyle/>
                    <a:p>
                      <a:pPr algn="r"/>
                      <a:r>
                        <a:rPr sz="1000" b="1">
                          <a:solidFill>
                            <a:srgbClr val="FFFFFF"/>
                          </a:solidFill>
                          <a:latin typeface="Calibri"/>
                        </a:rPr>
                        <a:t>P(over $57.2M)</a:t>
                      </a:r>
                    </a:p>
                  </a:txBody>
                  <a:tcPr marL="54864" marR="54864" marT="27432" marB="27432">
                    <a:solidFill>
                      <a:srgbClr val="001E60"/>
                    </a:solidFill>
                  </a:tcPr>
                </a:tc>
              </a:tr>
              <a:tr h="502920">
                <a:tc>
                  <a:txBody>
                    <a:bodyPr/>
                    <a:lstStyle/>
                    <a:p>
                      <a:r>
                        <a:rPr sz="1000" b="0">
                          <a:solidFill>
                            <a:srgbClr val="1F2A44"/>
                          </a:solidFill>
                          <a:latin typeface="Calibri"/>
                        </a:rPr>
                        <a:t>Status quo</a:t>
                      </a:r>
                    </a:p>
                  </a:txBody>
                  <a:tcPr marL="54864" marR="54864" marT="27432" marB="27432" anchor="ctr">
                    <a:solidFill>
                      <a:srgbClr val="FFFFFF"/>
                    </a:solidFill>
                  </a:tcPr>
                </a:tc>
                <a:tc>
                  <a:txBody>
                    <a:bodyPr/>
                    <a:lstStyle/>
                    <a:p>
                      <a:pPr algn="r"/>
                      <a:r>
                        <a:rPr sz="1000" b="0">
                          <a:solidFill>
                            <a:srgbClr val="1F2A44"/>
                          </a:solidFill>
                          <a:latin typeface="Calibri"/>
                        </a:rPr>
                        <a:t>$60.7M</a:t>
                      </a:r>
                    </a:p>
                  </a:txBody>
                  <a:tcPr marL="54864" marR="54864" marT="27432" marB="27432" anchor="ctr">
                    <a:solidFill>
                      <a:srgbClr val="FFFFFF"/>
                    </a:solidFill>
                  </a:tcPr>
                </a:tc>
                <a:tc>
                  <a:txBody>
                    <a:bodyPr/>
                    <a:lstStyle/>
                    <a:p>
                      <a:pPr algn="r"/>
                      <a:r>
                        <a:rPr sz="1000" b="0">
                          <a:solidFill>
                            <a:srgbClr val="1F2A44"/>
                          </a:solidFill>
                          <a:latin typeface="Calibri"/>
                        </a:rPr>
                        <a:t>$64.7M</a:t>
                      </a:r>
                    </a:p>
                  </a:txBody>
                  <a:tcPr marL="54864" marR="54864" marT="27432" marB="27432" anchor="ctr">
                    <a:solidFill>
                      <a:srgbClr val="FFFFFF"/>
                    </a:solidFill>
                  </a:tcPr>
                </a:tc>
                <a:tc>
                  <a:txBody>
                    <a:bodyPr/>
                    <a:lstStyle/>
                    <a:p>
                      <a:pPr algn="r"/>
                      <a:r>
                        <a:rPr sz="1000" b="0">
                          <a:solidFill>
                            <a:srgbClr val="1F2A44"/>
                          </a:solidFill>
                          <a:latin typeface="Calibri"/>
                        </a:rPr>
                        <a:t>71%</a:t>
                      </a:r>
                    </a:p>
                  </a:txBody>
                  <a:tcPr marL="54864" marR="54864" marT="27432" marB="27432" anchor="ctr">
                    <a:solidFill>
                      <a:srgbClr val="FFFFFF"/>
                    </a:solidFill>
                  </a:tcPr>
                </a:tc>
              </a:tr>
              <a:tr h="502920">
                <a:tc>
                  <a:txBody>
                    <a:bodyPr/>
                    <a:lstStyle/>
                    <a:p>
                      <a:r>
                        <a:rPr sz="1000" b="0">
                          <a:solidFill>
                            <a:srgbClr val="1F2A44"/>
                          </a:solidFill>
                          <a:latin typeface="Calibri"/>
                        </a:rPr>
                        <a:t>Managed</a:t>
                      </a:r>
                    </a:p>
                  </a:txBody>
                  <a:tcPr marL="54864" marR="54864" marT="27432" marB="27432" anchor="ctr">
                    <a:solidFill>
                      <a:srgbClr val="F2F4F8"/>
                    </a:solidFill>
                  </a:tcPr>
                </a:tc>
                <a:tc>
                  <a:txBody>
                    <a:bodyPr/>
                    <a:lstStyle/>
                    <a:p>
                      <a:pPr algn="r"/>
                      <a:r>
                        <a:rPr sz="1000" b="0">
                          <a:solidFill>
                            <a:srgbClr val="1F2A44"/>
                          </a:solidFill>
                          <a:latin typeface="Calibri"/>
                        </a:rPr>
                        <a:t>$54.3M</a:t>
                      </a:r>
                    </a:p>
                  </a:txBody>
                  <a:tcPr marL="54864" marR="54864" marT="27432" marB="27432" anchor="ctr">
                    <a:solidFill>
                      <a:srgbClr val="F2F4F8"/>
                    </a:solidFill>
                  </a:tcPr>
                </a:tc>
                <a:tc>
                  <a:txBody>
                    <a:bodyPr/>
                    <a:lstStyle/>
                    <a:p>
                      <a:pPr algn="r"/>
                      <a:r>
                        <a:rPr sz="1000" b="0">
                          <a:solidFill>
                            <a:srgbClr val="1F2A44"/>
                          </a:solidFill>
                          <a:latin typeface="Calibri"/>
                        </a:rPr>
                        <a:t>$58.6M</a:t>
                      </a:r>
                    </a:p>
                  </a:txBody>
                  <a:tcPr marL="54864" marR="54864" marT="27432" marB="27432" anchor="ctr">
                    <a:solidFill>
                      <a:srgbClr val="F2F4F8"/>
                    </a:solidFill>
                  </a:tcPr>
                </a:tc>
                <a:tc>
                  <a:txBody>
                    <a:bodyPr/>
                    <a:lstStyle/>
                    <a:p>
                      <a:pPr algn="r"/>
                      <a:r>
                        <a:rPr sz="1000" b="0">
                          <a:solidFill>
                            <a:srgbClr val="1F2A44"/>
                          </a:solidFill>
                          <a:latin typeface="Calibri"/>
                        </a:rPr>
                        <a:t>29%</a:t>
                      </a:r>
                    </a:p>
                  </a:txBody>
                  <a:tcPr marL="54864" marR="54864" marT="27432" marB="27432" anchor="ctr">
                    <a:solidFill>
                      <a:srgbClr val="F2F4F8"/>
                    </a:solidFill>
                  </a:tcPr>
                </a:tc>
              </a:tr>
              <a:tr h="502920">
                <a:tc>
                  <a:txBody>
                    <a:bodyPr/>
                    <a:lstStyle/>
                    <a:p>
                      <a:r>
                        <a:rPr sz="1000" b="0">
                          <a:solidFill>
                            <a:srgbClr val="1F2A44"/>
                          </a:solidFill>
                          <a:latin typeface="Calibri"/>
                        </a:rPr>
                        <a:t>Ceiling</a:t>
                      </a:r>
                    </a:p>
                  </a:txBody>
                  <a:tcPr marL="54864" marR="54864" marT="27432" marB="27432" anchor="ctr">
                    <a:solidFill>
                      <a:srgbClr val="FFFFFF"/>
                    </a:solidFill>
                  </a:tcPr>
                </a:tc>
                <a:tc>
                  <a:txBody>
                    <a:bodyPr/>
                    <a:lstStyle/>
                    <a:p>
                      <a:pPr algn="r"/>
                      <a:r>
                        <a:rPr sz="1000" b="0">
                          <a:solidFill>
                            <a:srgbClr val="1F2A44"/>
                          </a:solidFill>
                          <a:latin typeface="Calibri"/>
                        </a:rPr>
                        <a:t>$48.9M</a:t>
                      </a:r>
                    </a:p>
                  </a:txBody>
                  <a:tcPr marL="54864" marR="54864" marT="27432" marB="27432" anchor="ctr">
                    <a:solidFill>
                      <a:srgbClr val="FFFFFF"/>
                    </a:solidFill>
                  </a:tcPr>
                </a:tc>
                <a:tc>
                  <a:txBody>
                    <a:bodyPr/>
                    <a:lstStyle/>
                    <a:p>
                      <a:pPr algn="r"/>
                      <a:r>
                        <a:rPr sz="1000" b="0">
                          <a:solidFill>
                            <a:srgbClr val="1F2A44"/>
                          </a:solidFill>
                          <a:latin typeface="Calibri"/>
                        </a:rPr>
                        <a:t>$52.9M</a:t>
                      </a:r>
                    </a:p>
                  </a:txBody>
                  <a:tcPr marL="54864" marR="54864" marT="27432" marB="27432" anchor="ctr">
                    <a:solidFill>
                      <a:srgbClr val="FFFFFF"/>
                    </a:solidFill>
                  </a:tcPr>
                </a:tc>
                <a:tc>
                  <a:txBody>
                    <a:bodyPr/>
                    <a:lstStyle/>
                    <a:p>
                      <a:pPr algn="r"/>
                      <a:r>
                        <a:rPr sz="1000" b="0">
                          <a:solidFill>
                            <a:srgbClr val="1F2A44"/>
                          </a:solidFill>
                          <a:latin typeface="Calibri"/>
                        </a:rPr>
                        <a:t>4%</a:t>
                      </a:r>
                    </a:p>
                  </a:txBody>
                  <a:tcPr marL="54864" marR="54864" marT="27432" marB="27432" anchor="ctr">
                    <a:solidFill>
                      <a:srgbClr val="FFFFFF"/>
                    </a:solidFill>
                  </a:tcPr>
                </a:tc>
              </a:tr>
              <a:tr h="502920">
                <a:tc>
                  <a:txBody>
                    <a:bodyPr/>
                    <a:lstStyle/>
                    <a:p>
                      <a:r>
                        <a:rPr sz="1000" b="0">
                          <a:solidFill>
                            <a:srgbClr val="1F2A44"/>
                          </a:solidFill>
                          <a:latin typeface="Calibri"/>
                        </a:rPr>
                        <a:t>Schedule</a:t>
                      </a:r>
                    </a:p>
                  </a:txBody>
                  <a:tcPr marL="54864" marR="54864" marT="27432" marB="27432" anchor="ctr">
                    <a:solidFill>
                      <a:srgbClr val="F2F4F8"/>
                    </a:solidFill>
                  </a:tcPr>
                </a:tc>
                <a:tc>
                  <a:txBody>
                    <a:bodyPr/>
                    <a:lstStyle/>
                    <a:p>
                      <a:pPr algn="r"/>
                      <a:r>
                        <a:rPr sz="1000" b="0">
                          <a:solidFill>
                            <a:srgbClr val="1F2A44"/>
                          </a:solidFill>
                          <a:latin typeface="Calibri"/>
                        </a:rPr>
                        <a:t>+5 mo</a:t>
                      </a:r>
                    </a:p>
                  </a:txBody>
                  <a:tcPr marL="54864" marR="54864" marT="27432" marB="27432" anchor="ctr">
                    <a:solidFill>
                      <a:srgbClr val="F2F4F8"/>
                    </a:solidFill>
                  </a:tcPr>
                </a:tc>
                <a:tc>
                  <a:txBody>
                    <a:bodyPr/>
                    <a:lstStyle/>
                    <a:p>
                      <a:pPr algn="r"/>
                      <a:r>
                        <a:rPr sz="1000" b="0">
                          <a:solidFill>
                            <a:srgbClr val="1F2A44"/>
                          </a:solidFill>
                          <a:latin typeface="Calibri"/>
                        </a:rPr>
                        <a:t>+9 mo</a:t>
                      </a:r>
                    </a:p>
                  </a:txBody>
                  <a:tcPr marL="54864" marR="54864" marT="27432" marB="27432" anchor="ctr">
                    <a:solidFill>
                      <a:srgbClr val="F2F4F8"/>
                    </a:solidFill>
                  </a:tcPr>
                </a:tc>
                <a:tc>
                  <a:txBody>
                    <a:bodyPr/>
                    <a:lstStyle/>
                    <a:p>
                      <a:pPr algn="r"/>
                      <a:r>
                        <a:rPr sz="1000" b="0">
                          <a:solidFill>
                            <a:srgbClr val="1F2A44"/>
                          </a:solidFill>
                          <a:latin typeface="Calibri"/>
                        </a:rPr>
                        <a:t>39% over 6 mo</a:t>
                      </a:r>
                    </a:p>
                  </a:txBody>
                  <a:tcPr marL="54864" marR="54864" marT="27432" marB="27432" anchor="ctr">
                    <a:solidFill>
                      <a:srgbClr val="F2F4F8"/>
                    </a:solidFill>
                  </a:tcPr>
                </a:tc>
              </a:tr>
            </a:tbl>
          </a:graphicData>
        </a:graphic>
      </p:graphicFrame>
      <p:sp>
        <p:nvSpPr>
          <p:cNvPr id="10" name="TextBox 9"/>
          <p:cNvSpPr txBox="1"/>
          <p:nvPr/>
        </p:nvSpPr>
        <p:spPr>
          <a:xfrm>
            <a:off x="7040880" y="4023360"/>
            <a:ext cx="4663440" cy="2331720"/>
          </a:xfrm>
          <a:prstGeom prst="rect">
            <a:avLst/>
          </a:prstGeom>
          <a:noFill/>
        </p:spPr>
        <p:txBody>
          <a:bodyPr wrap="square" lIns="45720">
            <a:spAutoFit/>
          </a:bodyPr>
          <a:lstStyle/>
          <a:p>
            <a:pPr>
              <a:lnSpc>
                <a:spcPct val="105000"/>
              </a:lnSpc>
              <a:spcAft>
                <a:spcPts val="400"/>
              </a:spcAft>
            </a:pPr>
            <a:r>
              <a:rPr sz="1000">
                <a:solidFill>
                  <a:srgbClr val="FFC72C"/>
                </a:solidFill>
                <a:latin typeface="Calibri"/>
              </a:rPr>
              <a:t>▪  </a:t>
            </a:r>
            <a:r>
              <a:rPr b="1" sz="1000">
                <a:solidFill>
                  <a:srgbClr val="1F2A44"/>
                </a:solidFill>
                <a:latin typeface="Calibri"/>
              </a:rPr>
              <a:t>What the three postures mean. </a:t>
            </a:r>
            <a:r>
              <a:rPr sz="1000">
                <a:solidFill>
                  <a:srgbClr val="1F2A44"/>
                </a:solidFill>
                <a:latin typeface="Calibri"/>
              </a:rPr>
              <a:t>Status quo: the $57.2M holds in 29% of trials. Managed: 71%, with a 24% chance of landing under $50M. Ceiling: every lever lands; it is the floor of what is physically possible, not a plan.</a:t>
            </a:r>
          </a:p>
          <a:p>
            <a:pPr>
              <a:lnSpc>
                <a:spcPct val="105000"/>
              </a:lnSpc>
              <a:spcAft>
                <a:spcPts val="400"/>
              </a:spcAft>
            </a:pPr>
            <a:r>
              <a:rPr sz="1000">
                <a:solidFill>
                  <a:srgbClr val="FFC72C"/>
                </a:solidFill>
                <a:latin typeface="Calibri"/>
              </a:rPr>
              <a:t>▪  </a:t>
            </a:r>
            <a:r>
              <a:rPr b="1" sz="1000">
                <a:solidFill>
                  <a:srgbClr val="1F2A44"/>
                </a:solidFill>
                <a:latin typeface="Calibri"/>
              </a:rPr>
              <a:t>The reserve. </a:t>
            </a:r>
            <a:r>
              <a:rPr sz="1000">
                <a:solidFill>
                  <a:srgbClr val="1F2A44"/>
                </a:solidFill>
                <a:latin typeface="Calibri"/>
              </a:rPr>
              <a:t>The $7.6M of risk register and contingency is what these outcomes draw on. It covers the managed case at about P75 and the status quo at about P25.</a:t>
            </a:r>
          </a:p>
          <a:p>
            <a:pPr>
              <a:lnSpc>
                <a:spcPct val="105000"/>
              </a:lnSpc>
              <a:spcAft>
                <a:spcPts val="400"/>
              </a:spcAft>
            </a:pPr>
            <a:r>
              <a:rPr sz="1000">
                <a:solidFill>
                  <a:srgbClr val="FFC72C"/>
                </a:solidFill>
                <a:latin typeface="Calibri"/>
              </a:rPr>
              <a:t>▪  </a:t>
            </a:r>
            <a:r>
              <a:rPr b="1" sz="1000">
                <a:solidFill>
                  <a:srgbClr val="1F2A44"/>
                </a:solidFill>
                <a:latin typeface="Calibri"/>
              </a:rPr>
              <a:t>Schedule. </a:t>
            </a:r>
            <a:r>
              <a:rPr sz="1000">
                <a:solidFill>
                  <a:srgbClr val="1F2A44"/>
                </a:solidFill>
                <a:latin typeface="Calibri"/>
              </a:rPr>
              <a:t>Eight in ten trials slip; the median slip is 5 months and costs about $1.8M; an EFSB path (8%) adds 18 to 24 months.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TORNADO: P10 TO P90 EFFECT OF EACH DRIVER ON THE LOADED TOTAL, $M</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Tornado: the Haugland gap and the siting schedule are the risks; the levers are many, small and mostly ours to take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36</a:t>
            </a:r>
          </a:p>
        </p:txBody>
      </p:sp>
      <p:pic>
        <p:nvPicPr>
          <p:cNvPr id="7" name="Picture 6" descr="mc_scope_tornado.png"/>
          <p:cNvPicPr>
            <a:picLocks noChangeAspect="1"/>
          </p:cNvPicPr>
          <p:nvPr/>
        </p:nvPicPr>
        <p:blipFill>
          <a:blip r:embed="rId2"/>
          <a:stretch>
            <a:fillRect/>
          </a:stretch>
        </p:blipFill>
        <p:spPr>
          <a:xfrm>
            <a:off x="411480" y="1280160"/>
            <a:ext cx="7004957" cy="5029200"/>
          </a:xfrm>
          <a:prstGeom prst="rect">
            <a:avLst/>
          </a:prstGeom>
        </p:spPr>
      </p:pic>
      <p:sp>
        <p:nvSpPr>
          <p:cNvPr id="8" name="TextBox 7"/>
          <p:cNvSpPr txBox="1"/>
          <p:nvPr/>
        </p:nvSpPr>
        <p:spPr>
          <a:xfrm>
            <a:off x="7589520" y="1371600"/>
            <a:ext cx="4114800" cy="4937760"/>
          </a:xfrm>
          <a:prstGeom prst="rect">
            <a:avLst/>
          </a:prstGeom>
          <a:noFill/>
        </p:spPr>
        <p:txBody>
          <a:bodyPr wrap="square" lIns="45720">
            <a:spAutoFit/>
          </a:bodyPr>
          <a:lstStyle/>
          <a:p>
            <a:pPr>
              <a:lnSpc>
                <a:spcPct val="105000"/>
              </a:lnSpc>
              <a:spcAft>
                <a:spcPts val="500"/>
              </a:spcAft>
            </a:pPr>
            <a:r>
              <a:rPr sz="1050">
                <a:solidFill>
                  <a:srgbClr val="FFC72C"/>
                </a:solidFill>
                <a:latin typeface="Calibri"/>
              </a:rPr>
              <a:t>▪  </a:t>
            </a:r>
            <a:r>
              <a:rPr b="1" sz="1050">
                <a:solidFill>
                  <a:srgbClr val="1F2A44"/>
                </a:solidFill>
                <a:latin typeface="Calibri"/>
              </a:rPr>
              <a:t>Read the right side first. </a:t>
            </a:r>
            <a:r>
              <a:rPr sz="1050">
                <a:solidFill>
                  <a:srgbClr val="1F2A44"/>
                </a:solidFill>
                <a:latin typeface="Calibri"/>
              </a:rPr>
              <a:t>One threat, the Haugland reconciliation, reaches $9M at P90 and carries 58% of the variance. Schedule slip reaches $4.3M. The civil layer and Station 496 are the two accuracy ranges with real upside risk.</a:t>
            </a:r>
          </a:p>
          <a:p>
            <a:pPr>
              <a:lnSpc>
                <a:spcPct val="105000"/>
              </a:lnSpc>
              <a:spcAft>
                <a:spcPts val="500"/>
              </a:spcAft>
            </a:pPr>
            <a:r>
              <a:rPr sz="1050">
                <a:solidFill>
                  <a:srgbClr val="FFC72C"/>
                </a:solidFill>
                <a:latin typeface="Calibri"/>
              </a:rPr>
              <a:t>▪  </a:t>
            </a:r>
            <a:r>
              <a:rPr b="1" sz="1050">
                <a:solidFill>
                  <a:srgbClr val="1F2A44"/>
                </a:solidFill>
                <a:latin typeface="Calibri"/>
              </a:rPr>
              <a:t>The left side is a portfolio. </a:t>
            </a:r>
            <a:r>
              <a:rPr sz="1050">
                <a:solidFill>
                  <a:srgbClr val="1F2A44"/>
                </a:solidFill>
                <a:latin typeface="Calibri"/>
              </a:rPr>
              <a:t>No single lever exceeds $2M, but together they are worth about $6.3M at the odds assessed and $11.8M if every one lands. The four that need only a decision (A1, A2, B5, C3) are the surest.</a:t>
            </a:r>
          </a:p>
          <a:p>
            <a:pPr>
              <a:lnSpc>
                <a:spcPct val="105000"/>
              </a:lnSpc>
              <a:spcAft>
                <a:spcPts val="500"/>
              </a:spcAft>
            </a:pPr>
            <a:r>
              <a:rPr sz="1050">
                <a:solidFill>
                  <a:srgbClr val="FFC72C"/>
                </a:solidFill>
                <a:latin typeface="Calibri"/>
              </a:rPr>
              <a:t>▪  </a:t>
            </a:r>
            <a:r>
              <a:rPr b="1" sz="1050">
                <a:solidFill>
                  <a:srgbClr val="1F2A44"/>
                </a:solidFill>
                <a:latin typeface="Calibri"/>
              </a:rPr>
              <a:t>What this says about being aggressive. </a:t>
            </a:r>
            <a:r>
              <a:rPr sz="1050">
                <a:solidFill>
                  <a:srgbClr val="1F2A44"/>
                </a:solidFill>
                <a:latin typeface="Calibri"/>
              </a:rPr>
              <a:t>Aggression on the station lines buys $3M to $6M; aggression on the reconciliation and the siting calendar protects $8M to $13M. Do both, in that order.</a:t>
            </a:r>
          </a:p>
          <a:p>
            <a:pPr>
              <a:lnSpc>
                <a:spcPct val="105000"/>
              </a:lnSpc>
              <a:spcAft>
                <a:spcPts val="500"/>
              </a:spcAft>
            </a:pPr>
            <a:r>
              <a:rPr sz="1050">
                <a:solidFill>
                  <a:srgbClr val="FFC72C"/>
                </a:solidFill>
                <a:latin typeface="Calibri"/>
              </a:rPr>
              <a:t>▪  </a:t>
            </a:r>
            <a:r>
              <a:rPr b="1" sz="1050">
                <a:solidFill>
                  <a:srgbClr val="1F2A44"/>
                </a:solidFill>
                <a:latin typeface="Calibri"/>
              </a:rPr>
              <a:t>Not on the chart: </a:t>
            </a:r>
            <a:r>
              <a:rPr sz="1050">
                <a:solidFill>
                  <a:srgbClr val="1F2A44"/>
                </a:solidFill>
                <a:latin typeface="Calibri"/>
              </a:rPr>
              <a:t>the Section 48E credit ($8.4 to 12.4M), which is larger than everything on the left combined and sits in the revenue requirement.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RECONCILIATIONS AND DECISIONS, RED-TEAM RANKED</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must close before this number goes to EPAC as full funding</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37</a:t>
            </a:r>
          </a:p>
        </p:txBody>
      </p:sp>
      <p:graphicFrame>
        <p:nvGraphicFramePr>
          <p:cNvPr id="7" name="Table 6"/>
          <p:cNvGraphicFramePr>
            <a:graphicFrameLocks noGrp="1"/>
          </p:cNvGraphicFramePr>
          <p:nvPr/>
        </p:nvGraphicFramePr>
        <p:xfrm>
          <a:off x="548640" y="1325880"/>
          <a:ext cx="11064240" cy="4480560"/>
        </p:xfrm>
        <a:graphic>
          <a:graphicData uri="http://schemas.openxmlformats.org/drawingml/2006/table">
            <a:tbl>
              <a:tblPr firstRow="1" bandRow="1">
                <a:tableStyleId>{5C22544A-7EE6-4342-B048-85BDC9FD1C3A}</a:tableStyleId>
              </a:tblPr>
              <a:tblGrid>
                <a:gridCol w="6035040"/>
                <a:gridCol w="1188720"/>
                <a:gridCol w="2286000"/>
                <a:gridCol w="1554480"/>
              </a:tblGrid>
              <a:tr h="407323">
                <a:tc>
                  <a:txBody>
                    <a:bodyPr/>
                    <a:lstStyle/>
                    <a:p>
                      <a:r>
                        <a:rPr sz="1000" b="1">
                          <a:solidFill>
                            <a:srgbClr val="FFFFFF"/>
                          </a:solidFill>
                          <a:latin typeface="Calibri"/>
                        </a:rPr>
                        <a:t>Item</a:t>
                      </a:r>
                    </a:p>
                  </a:txBody>
                  <a:tcPr marL="54864" marR="54864" marT="27432" marB="27432">
                    <a:solidFill>
                      <a:srgbClr val="001E60"/>
                    </a:solidFill>
                  </a:tcPr>
                </a:tc>
                <a:tc>
                  <a:txBody>
                    <a:bodyPr/>
                    <a:lstStyle/>
                    <a:p>
                      <a:r>
                        <a:rPr sz="1000" b="1">
                          <a:solidFill>
                            <a:srgbClr val="FFFFFF"/>
                          </a:solidFill>
                          <a:latin typeface="Calibri"/>
                        </a:rPr>
                        <a:t>Type</a:t>
                      </a:r>
                    </a:p>
                  </a:txBody>
                  <a:tcPr marL="54864" marR="54864" marT="27432" marB="27432">
                    <a:solidFill>
                      <a:srgbClr val="001E60"/>
                    </a:solidFill>
                  </a:tcPr>
                </a:tc>
                <a:tc>
                  <a:txBody>
                    <a:bodyPr/>
                    <a:lstStyle/>
                    <a:p>
                      <a:r>
                        <a:rPr sz="1000" b="1">
                          <a:solidFill>
                            <a:srgbClr val="FFFFFF"/>
                          </a:solidFill>
                          <a:latin typeface="Calibri"/>
                        </a:rPr>
                        <a:t>Dollars at stake</a:t>
                      </a:r>
                    </a:p>
                  </a:txBody>
                  <a:tcPr marL="54864" marR="54864" marT="27432" marB="27432">
                    <a:solidFill>
                      <a:srgbClr val="001E60"/>
                    </a:solidFill>
                  </a:tcPr>
                </a:tc>
                <a:tc>
                  <a:txBody>
                    <a:bodyPr/>
                    <a:lstStyle/>
                    <a:p>
                      <a:r>
                        <a:rPr sz="1000" b="1">
                          <a:solidFill>
                            <a:srgbClr val="FFFFFF"/>
                          </a:solidFill>
                          <a:latin typeface="Calibri"/>
                        </a:rPr>
                        <a:t>Owner</a:t>
                      </a:r>
                    </a:p>
                  </a:txBody>
                  <a:tcPr marL="54864" marR="54864" marT="27432" marB="27432">
                    <a:solidFill>
                      <a:srgbClr val="001E60"/>
                    </a:solidFill>
                  </a:tcPr>
                </a:tc>
              </a:tr>
              <a:tr h="407323">
                <a:tc>
                  <a:txBody>
                    <a:bodyPr/>
                    <a:lstStyle/>
                    <a:p>
                      <a:r>
                        <a:rPr sz="1000" b="0">
                          <a:solidFill>
                            <a:srgbClr val="1F2A44"/>
                          </a:solidFill>
                          <a:latin typeface="Calibri"/>
                        </a:rPr>
                        <a:t>Reconcile Haugland Class 3 base ($19.2M, its scope) to Rev 3 layers B+D+E ($8.3M direct). Red team expects it to move the base up, not down.</a:t>
                      </a:r>
                    </a:p>
                  </a:txBody>
                  <a:tcPr marL="54864" marR="54864" marT="27432" marB="27432" anchor="ctr">
                    <a:solidFill>
                      <a:srgbClr val="FFFFFF"/>
                    </a:solidFill>
                  </a:tcPr>
                </a:tc>
                <a:tc>
                  <a:txBody>
                    <a:bodyPr/>
                    <a:lstStyle/>
                    <a:p>
                      <a:r>
                        <a:rPr sz="1000" b="0">
                          <a:solidFill>
                            <a:srgbClr val="1F2A44"/>
                          </a:solidFill>
                          <a:latin typeface="Calibri"/>
                        </a:rPr>
                        <a:t>Scope boundary</a:t>
                      </a:r>
                    </a:p>
                  </a:txBody>
                  <a:tcPr marL="54864" marR="54864" marT="27432" marB="27432" anchor="ctr">
                    <a:solidFill>
                      <a:srgbClr val="FFFFFF"/>
                    </a:solidFill>
                  </a:tcPr>
                </a:tc>
                <a:tc>
                  <a:txBody>
                    <a:bodyPr/>
                    <a:lstStyle/>
                    <a:p>
                      <a:r>
                        <a:rPr sz="1000" b="0">
                          <a:solidFill>
                            <a:srgbClr val="1F2A44"/>
                          </a:solidFill>
                          <a:latin typeface="Calibri"/>
                        </a:rPr>
                        <a:t>+$4M to +$8M direct if half the gap is 21334 scope</a:t>
                      </a:r>
                    </a:p>
                  </a:txBody>
                  <a:tcPr marL="54864" marR="54864" marT="27432" marB="27432" anchor="ctr">
                    <a:solidFill>
                      <a:srgbClr val="FFFFFF"/>
                    </a:solidFill>
                  </a:tcPr>
                </a:tc>
                <a:tc>
                  <a:txBody>
                    <a:bodyPr/>
                    <a:lstStyle/>
                    <a:p>
                      <a:r>
                        <a:rPr sz="1000" b="0">
                          <a:solidFill>
                            <a:srgbClr val="1F2A44"/>
                          </a:solidFill>
                          <a:latin typeface="Calibri"/>
                        </a:rPr>
                        <a:t>Cost Estimating + PM + HEG</a:t>
                      </a:r>
                    </a:p>
                  </a:txBody>
                  <a:tcPr marL="54864" marR="54864" marT="27432" marB="27432" anchor="ctr">
                    <a:solidFill>
                      <a:srgbClr val="FFFFFF"/>
                    </a:solidFill>
                  </a:tcPr>
                </a:tc>
              </a:tr>
              <a:tr h="407323">
                <a:tc>
                  <a:txBody>
                    <a:bodyPr/>
                    <a:lstStyle/>
                    <a:p>
                      <a:r>
                        <a:rPr sz="1000" b="0">
                          <a:solidFill>
                            <a:srgbClr val="1F2A44"/>
                          </a:solidFill>
                          <a:latin typeface="Calibri"/>
                        </a:rPr>
                        <a:t>Siting chain has no float: ZBA determination Feb 2028, construction start Feb 2028, ISD Dec 2028; EFSB fallback 18-24 mo</a:t>
                      </a:r>
                    </a:p>
                  </a:txBody>
                  <a:tcPr marL="54864" marR="54864" marT="27432" marB="27432" anchor="ctr">
                    <a:solidFill>
                      <a:srgbClr val="F2F4F8"/>
                    </a:solidFill>
                  </a:tcPr>
                </a:tc>
                <a:tc>
                  <a:txBody>
                    <a:bodyPr/>
                    <a:lstStyle/>
                    <a:p>
                      <a:r>
                        <a:rPr sz="1000" b="0">
                          <a:solidFill>
                            <a:srgbClr val="1F2A44"/>
                          </a:solidFill>
                          <a:latin typeface="Calibri"/>
                        </a:rPr>
                        <a:t>Schedule</a:t>
                      </a:r>
                    </a:p>
                  </a:txBody>
                  <a:tcPr marL="54864" marR="54864" marT="27432" marB="27432" anchor="ctr">
                    <a:solidFill>
                      <a:srgbClr val="F2F4F8"/>
                    </a:solidFill>
                  </a:tcPr>
                </a:tc>
                <a:tc>
                  <a:txBody>
                    <a:bodyPr/>
                    <a:lstStyle/>
                    <a:p>
                      <a:r>
                        <a:rPr sz="1000" b="0">
                          <a:solidFill>
                            <a:srgbClr val="1F2A44"/>
                          </a:solidFill>
                          <a:latin typeface="Calibri"/>
                        </a:rPr>
                        <a:t>~$5M per 12 months (AFUDC, escalation, PM, indirects)</a:t>
                      </a:r>
                    </a:p>
                  </a:txBody>
                  <a:tcPr marL="54864" marR="54864" marT="27432" marB="27432" anchor="ctr">
                    <a:solidFill>
                      <a:srgbClr val="F2F4F8"/>
                    </a:solidFill>
                  </a:tcPr>
                </a:tc>
                <a:tc>
                  <a:txBody>
                    <a:bodyPr/>
                    <a:lstStyle/>
                    <a:p>
                      <a:r>
                        <a:rPr sz="1000" b="0">
                          <a:solidFill>
                            <a:srgbClr val="1F2A44"/>
                          </a:solidFill>
                          <a:latin typeface="Calibri"/>
                        </a:rPr>
                        <a:t>Siting + PM</a:t>
                      </a:r>
                    </a:p>
                  </a:txBody>
                  <a:tcPr marL="54864" marR="54864" marT="27432" marB="27432" anchor="ctr">
                    <a:solidFill>
                      <a:srgbClr val="F2F4F8"/>
                    </a:solidFill>
                  </a:tcPr>
                </a:tc>
              </a:tr>
              <a:tr h="407323">
                <a:tc>
                  <a:txBody>
                    <a:bodyPr/>
                    <a:lstStyle/>
                    <a:p>
                      <a:r>
                        <a:rPr sz="1000" b="0">
                          <a:solidFill>
                            <a:srgbClr val="1F2A44"/>
                          </a:solidFill>
                          <a:latin typeface="Calibri"/>
                        </a:rPr>
                        <a:t>Present full funding at its real maturity: 30% engineering, no bid, placeholder platform = Class 4</a:t>
                      </a:r>
                    </a:p>
                  </a:txBody>
                  <a:tcPr marL="54864" marR="54864" marT="27432" marB="27432" anchor="ctr">
                    <a:solidFill>
                      <a:srgbClr val="FFFFFF"/>
                    </a:solidFill>
                  </a:tcPr>
                </a:tc>
                <a:tc>
                  <a:txBody>
                    <a:bodyPr/>
                    <a:lstStyle/>
                    <a:p>
                      <a:r>
                        <a:rPr sz="1000" b="0">
                          <a:solidFill>
                            <a:srgbClr val="1F2A44"/>
                          </a:solidFill>
                          <a:latin typeface="Calibri"/>
                        </a:rPr>
                        <a:t>Classification</a:t>
                      </a:r>
                    </a:p>
                  </a:txBody>
                  <a:tcPr marL="54864" marR="54864" marT="27432" marB="27432" anchor="ctr">
                    <a:solidFill>
                      <a:srgbClr val="FFFFFF"/>
                    </a:solidFill>
                  </a:tcPr>
                </a:tc>
                <a:tc>
                  <a:txBody>
                    <a:bodyPr/>
                    <a:lstStyle/>
                    <a:p>
                      <a:r>
                        <a:rPr sz="1000" b="0">
                          <a:solidFill>
                            <a:srgbClr val="1F2A44"/>
                          </a:solidFill>
                          <a:latin typeface="Calibri"/>
                        </a:rPr>
                        <a:t>Range is -25/+50% ($43M-$86M) until closed</a:t>
                      </a:r>
                    </a:p>
                  </a:txBody>
                  <a:tcPr marL="54864" marR="54864" marT="27432" marB="27432" anchor="ctr">
                    <a:solidFill>
                      <a:srgbClr val="FFFFFF"/>
                    </a:solidFill>
                  </a:tcPr>
                </a:tc>
                <a:tc>
                  <a:txBody>
                    <a:bodyPr/>
                    <a:lstStyle/>
                    <a:p>
                      <a:r>
                        <a:rPr sz="1000" b="0">
                          <a:solidFill>
                            <a:srgbClr val="1F2A44"/>
                          </a:solidFill>
                          <a:latin typeface="Calibri"/>
                        </a:rPr>
                        <a:t>Cost Estimating</a:t>
                      </a:r>
                    </a:p>
                  </a:txBody>
                  <a:tcPr marL="54864" marR="54864" marT="27432" marB="27432" anchor="ctr">
                    <a:solidFill>
                      <a:srgbClr val="FFFFFF"/>
                    </a:solidFill>
                  </a:tcPr>
                </a:tc>
              </a:tr>
              <a:tr h="407323">
                <a:tc>
                  <a:txBody>
                    <a:bodyPr/>
                    <a:lstStyle/>
                    <a:p>
                      <a:r>
                        <a:rPr sz="1000" b="0">
                          <a:solidFill>
                            <a:srgbClr val="1F2A44"/>
                          </a:solidFill>
                          <a:latin typeface="Calibri"/>
                        </a:rPr>
                        <a:t>Geotechnical investigation and NFPA 855 hazard mitigation analysis before civil freeze</a:t>
                      </a:r>
                    </a:p>
                  </a:txBody>
                  <a:tcPr marL="54864" marR="54864" marT="27432" marB="27432" anchor="ctr">
                    <a:solidFill>
                      <a:srgbClr val="F2F4F8"/>
                    </a:solidFill>
                  </a:tcPr>
                </a:tc>
                <a:tc>
                  <a:txBody>
                    <a:bodyPr/>
                    <a:lstStyle/>
                    <a:p>
                      <a:r>
                        <a:rPr sz="1000" b="0">
                          <a:solidFill>
                            <a:srgbClr val="1F2A44"/>
                          </a:solidFill>
                          <a:latin typeface="Calibri"/>
                        </a:rPr>
                        <a:t>Study</a:t>
                      </a:r>
                    </a:p>
                  </a:txBody>
                  <a:tcPr marL="54864" marR="54864" marT="27432" marB="27432" anchor="ctr">
                    <a:solidFill>
                      <a:srgbClr val="F2F4F8"/>
                    </a:solidFill>
                  </a:tcPr>
                </a:tc>
                <a:tc>
                  <a:txBody>
                    <a:bodyPr/>
                    <a:lstStyle/>
                    <a:p>
                      <a:r>
                        <a:rPr sz="1000" b="0">
                          <a:solidFill>
                            <a:srgbClr val="1F2A44"/>
                          </a:solidFill>
                          <a:latin typeface="Calibri"/>
                        </a:rPr>
                        <a:t>$1.0M of deducts vs $0.6M-$3.5M exposure</a:t>
                      </a:r>
                    </a:p>
                  </a:txBody>
                  <a:tcPr marL="54864" marR="54864" marT="27432" marB="27432" anchor="ctr">
                    <a:solidFill>
                      <a:srgbClr val="F2F4F8"/>
                    </a:solidFill>
                  </a:tcPr>
                </a:tc>
                <a:tc>
                  <a:txBody>
                    <a:bodyPr/>
                    <a:lstStyle/>
                    <a:p>
                      <a:r>
                        <a:rPr sz="1000" b="0">
                          <a:solidFill>
                            <a:srgbClr val="1F2A44"/>
                          </a:solidFill>
                          <a:latin typeface="Calibri"/>
                        </a:rPr>
                        <a:t>Civil + Capital Projects Eng.</a:t>
                      </a:r>
                    </a:p>
                  </a:txBody>
                  <a:tcPr marL="54864" marR="54864" marT="27432" marB="27432" anchor="ctr">
                    <a:solidFill>
                      <a:srgbClr val="F2F4F8"/>
                    </a:solidFill>
                  </a:tcPr>
                </a:tc>
              </a:tr>
              <a:tr h="407323">
                <a:tc>
                  <a:txBody>
                    <a:bodyPr/>
                    <a:lstStyle/>
                    <a:p>
                      <a:r>
                        <a:rPr sz="1000" b="0">
                          <a:solidFill>
                            <a:srgbClr val="1F2A44"/>
                          </a:solidFill>
                          <a:latin typeface="Calibri"/>
                        </a:rPr>
                        <a:t>Confirm four written design-basis items (retaining wall, basin, duct bank, GSU count)</a:t>
                      </a:r>
                    </a:p>
                  </a:txBody>
                  <a:tcPr marL="54864" marR="54864" marT="27432" marB="27432" anchor="ctr">
                    <a:solidFill>
                      <a:srgbClr val="FFFFFF"/>
                    </a:solidFill>
                  </a:tcPr>
                </a:tc>
                <a:tc>
                  <a:txBody>
                    <a:bodyPr/>
                    <a:lstStyle/>
                    <a:p>
                      <a:r>
                        <a:rPr sz="1000" b="0">
                          <a:solidFill>
                            <a:srgbClr val="1F2A44"/>
                          </a:solidFill>
                          <a:latin typeface="Calibri"/>
                        </a:rPr>
                        <a:t>Design confirmation</a:t>
                      </a:r>
                    </a:p>
                  </a:txBody>
                  <a:tcPr marL="54864" marR="54864" marT="27432" marB="27432" anchor="ctr">
                    <a:solidFill>
                      <a:srgbClr val="FFFFFF"/>
                    </a:solidFill>
                  </a:tcPr>
                </a:tc>
                <a:tc>
                  <a:txBody>
                    <a:bodyPr/>
                    <a:lstStyle/>
                    <a:p>
                      <a:r>
                        <a:rPr sz="1000" b="0">
                          <a:solidFill>
                            <a:srgbClr val="1F2A44"/>
                          </a:solidFill>
                          <a:latin typeface="Calibri"/>
                        </a:rPr>
                        <a:t>$1.47M HEG deduct ceiling (~$0.8M net of GSUs already at 4)</a:t>
                      </a:r>
                    </a:p>
                  </a:txBody>
                  <a:tcPr marL="54864" marR="54864" marT="27432" marB="27432" anchor="ctr">
                    <a:solidFill>
                      <a:srgbClr val="FFFFFF"/>
                    </a:solidFill>
                  </a:tcPr>
                </a:tc>
                <a:tc>
                  <a:txBody>
                    <a:bodyPr/>
                    <a:lstStyle/>
                    <a:p>
                      <a:r>
                        <a:rPr sz="1000" b="0">
                          <a:solidFill>
                            <a:srgbClr val="1F2A44"/>
                          </a:solidFill>
                          <a:latin typeface="Calibri"/>
                        </a:rPr>
                        <a:t>Substation Engineering</a:t>
                      </a:r>
                    </a:p>
                  </a:txBody>
                  <a:tcPr marL="54864" marR="54864" marT="27432" marB="27432" anchor="ctr">
                    <a:solidFill>
                      <a:srgbClr val="FFFFFF"/>
                    </a:solidFill>
                  </a:tcPr>
                </a:tc>
              </a:tr>
              <a:tr h="407323">
                <a:tc>
                  <a:txBody>
                    <a:bodyPr/>
                    <a:lstStyle/>
                    <a:p>
                      <a:r>
                        <a:rPr sz="1000" b="0">
                          <a:solidFill>
                            <a:srgbClr val="1F2A44"/>
                          </a:solidFill>
                          <a:latin typeface="Calibri"/>
                        </a:rPr>
                        <a:t>Escalation on the fixed-price battery balance; check Exhibit C for tariff / change-in-law pass-through</a:t>
                      </a:r>
                    </a:p>
                  </a:txBody>
                  <a:tcPr marL="54864" marR="54864" marT="27432" marB="27432" anchor="ctr">
                    <a:solidFill>
                      <a:srgbClr val="F2F4F8"/>
                    </a:solidFill>
                  </a:tcPr>
                </a:tc>
                <a:tc>
                  <a:txBody>
                    <a:bodyPr/>
                    <a:lstStyle/>
                    <a:p>
                      <a:r>
                        <a:rPr sz="1000" b="0">
                          <a:solidFill>
                            <a:srgbClr val="1F2A44"/>
                          </a:solidFill>
                          <a:latin typeface="Calibri"/>
                        </a:rPr>
                        <a:t>Decision</a:t>
                      </a:r>
                    </a:p>
                  </a:txBody>
                  <a:tcPr marL="54864" marR="54864" marT="27432" marB="27432" anchor="ctr">
                    <a:solidFill>
                      <a:srgbClr val="F2F4F8"/>
                    </a:solidFill>
                  </a:tcPr>
                </a:tc>
                <a:tc>
                  <a:txBody>
                    <a:bodyPr/>
                    <a:lstStyle/>
                    <a:p>
                      <a:r>
                        <a:rPr sz="1000" b="0">
                          <a:solidFill>
                            <a:srgbClr val="1F2A44"/>
                          </a:solidFill>
                          <a:latin typeface="Calibri"/>
                        </a:rPr>
                        <a:t>$1.13M</a:t>
                      </a:r>
                    </a:p>
                  </a:txBody>
                  <a:tcPr marL="54864" marR="54864" marT="27432" marB="27432" anchor="ctr">
                    <a:solidFill>
                      <a:srgbClr val="F2F4F8"/>
                    </a:solidFill>
                  </a:tcPr>
                </a:tc>
                <a:tc>
                  <a:txBody>
                    <a:bodyPr/>
                    <a:lstStyle/>
                    <a:p>
                      <a:r>
                        <a:rPr sz="1000" b="0">
                          <a:solidFill>
                            <a:srgbClr val="1F2A44"/>
                          </a:solidFill>
                          <a:latin typeface="Calibri"/>
                        </a:rPr>
                        <a:t>PM / Cost Estimating / Sourcing</a:t>
                      </a:r>
                    </a:p>
                  </a:txBody>
                  <a:tcPr marL="54864" marR="54864" marT="27432" marB="27432" anchor="ctr">
                    <a:solidFill>
                      <a:srgbClr val="F2F4F8"/>
                    </a:solidFill>
                  </a:tcPr>
                </a:tc>
              </a:tr>
              <a:tr h="407323">
                <a:tc>
                  <a:txBody>
                    <a:bodyPr/>
                    <a:lstStyle/>
                    <a:p>
                      <a:r>
                        <a:rPr sz="1000" b="0">
                          <a:solidFill>
                            <a:srgbClr val="1F2A44"/>
                          </a:solidFill>
                          <a:latin typeface="Calibri"/>
                        </a:rPr>
                        <a:t>Battery installation labor: replace 25%-of-16,801 mh with a crew build-up</a:t>
                      </a:r>
                    </a:p>
                  </a:txBody>
                  <a:tcPr marL="54864" marR="54864" marT="27432" marB="27432" anchor="ctr">
                    <a:solidFill>
                      <a:srgbClr val="FFFFFF"/>
                    </a:solidFill>
                  </a:tcPr>
                </a:tc>
                <a:tc>
                  <a:txBody>
                    <a:bodyPr/>
                    <a:lstStyle/>
                    <a:p>
                      <a:r>
                        <a:rPr sz="1000" b="0">
                          <a:solidFill>
                            <a:srgbClr val="1F2A44"/>
                          </a:solidFill>
                          <a:latin typeface="Calibri"/>
                        </a:rPr>
                        <a:t>Estimate</a:t>
                      </a:r>
                    </a:p>
                  </a:txBody>
                  <a:tcPr marL="54864" marR="54864" marT="27432" marB="27432" anchor="ctr">
                    <a:solidFill>
                      <a:srgbClr val="FFFFFF"/>
                    </a:solidFill>
                  </a:tcPr>
                </a:tc>
                <a:tc>
                  <a:txBody>
                    <a:bodyPr/>
                    <a:lstStyle/>
                    <a:p>
                      <a:r>
                        <a:rPr sz="1000" b="0">
                          <a:solidFill>
                            <a:srgbClr val="1F2A44"/>
                          </a:solidFill>
                          <a:latin typeface="Calibri"/>
                        </a:rPr>
                        <a:t>+/- $0.5M (Rev 2 used 50%)</a:t>
                      </a:r>
                    </a:p>
                  </a:txBody>
                  <a:tcPr marL="54864" marR="54864" marT="27432" marB="27432" anchor="ctr">
                    <a:solidFill>
                      <a:srgbClr val="FFFFFF"/>
                    </a:solidFill>
                  </a:tcPr>
                </a:tc>
                <a:tc>
                  <a:txBody>
                    <a:bodyPr/>
                    <a:lstStyle/>
                    <a:p>
                      <a:r>
                        <a:rPr sz="1000" b="0">
                          <a:solidFill>
                            <a:srgbClr val="1F2A44"/>
                          </a:solidFill>
                          <a:latin typeface="Calibri"/>
                        </a:rPr>
                        <a:t>Cost Estimating + Nomad + HEG</a:t>
                      </a:r>
                    </a:p>
                  </a:txBody>
                  <a:tcPr marL="54864" marR="54864" marT="27432" marB="27432" anchor="ctr">
                    <a:solidFill>
                      <a:srgbClr val="FFFFFF"/>
                    </a:solidFill>
                  </a:tcPr>
                </a:tc>
              </a:tr>
              <a:tr h="407323">
                <a:tc>
                  <a:txBody>
                    <a:bodyPr/>
                    <a:lstStyle/>
                    <a:p>
                      <a:r>
                        <a:rPr sz="1000" b="0">
                          <a:solidFill>
                            <a:srgbClr val="1F2A44"/>
                          </a:solidFill>
                          <a:latin typeface="Calibri"/>
                        </a:rPr>
                        <a:t>Station 496 at $363K per relay: compare to two recent EMA relay-replacement actuals; outage-window premium not priced</a:t>
                      </a:r>
                    </a:p>
                  </a:txBody>
                  <a:tcPr marL="54864" marR="54864" marT="27432" marB="27432" anchor="ctr">
                    <a:solidFill>
                      <a:srgbClr val="F2F4F8"/>
                    </a:solidFill>
                  </a:tcPr>
                </a:tc>
                <a:tc>
                  <a:txBody>
                    <a:bodyPr/>
                    <a:lstStyle/>
                    <a:p>
                      <a:r>
                        <a:rPr sz="1000" b="0">
                          <a:solidFill>
                            <a:srgbClr val="1F2A44"/>
                          </a:solidFill>
                          <a:latin typeface="Calibri"/>
                        </a:rPr>
                        <a:t>Benchmark</a:t>
                      </a:r>
                    </a:p>
                  </a:txBody>
                  <a:tcPr marL="54864" marR="54864" marT="27432" marB="27432" anchor="ctr">
                    <a:solidFill>
                      <a:srgbClr val="F2F4F8"/>
                    </a:solidFill>
                  </a:tcPr>
                </a:tc>
                <a:tc>
                  <a:txBody>
                    <a:bodyPr/>
                    <a:lstStyle/>
                    <a:p>
                      <a:r>
                        <a:rPr sz="1000" b="0">
                          <a:solidFill>
                            <a:srgbClr val="1F2A44"/>
                          </a:solidFill>
                          <a:latin typeface="Calibri"/>
                        </a:rPr>
                        <a:t>Unknown; $1.8M testing line</a:t>
                      </a:r>
                    </a:p>
                  </a:txBody>
                  <a:tcPr marL="54864" marR="54864" marT="27432" marB="27432" anchor="ctr">
                    <a:solidFill>
                      <a:srgbClr val="F2F4F8"/>
                    </a:solidFill>
                  </a:tcPr>
                </a:tc>
                <a:tc>
                  <a:txBody>
                    <a:bodyPr/>
                    <a:lstStyle/>
                    <a:p>
                      <a:r>
                        <a:rPr sz="1000" b="0">
                          <a:solidFill>
                            <a:srgbClr val="1F2A44"/>
                          </a:solidFill>
                          <a:latin typeface="Calibri"/>
                        </a:rPr>
                        <a:t>P&amp;C Engineering</a:t>
                      </a:r>
                    </a:p>
                  </a:txBody>
                  <a:tcPr marL="54864" marR="54864" marT="27432" marB="27432" anchor="ctr">
                    <a:solidFill>
                      <a:srgbClr val="F2F4F8"/>
                    </a:solidFill>
                  </a:tcPr>
                </a:tc>
              </a:tr>
              <a:tr h="407323">
                <a:tc>
                  <a:txBody>
                    <a:bodyPr/>
                    <a:lstStyle/>
                    <a:p>
                      <a:r>
                        <a:rPr sz="1000" b="0">
                          <a:solidFill>
                            <a:srgbClr val="1F2A44"/>
                          </a:solidFill>
                          <a:latin typeface="Calibri"/>
                        </a:rPr>
                        <a:t>Spot generation if the BESS misses Dec 2028 (SSF: 2-8 MW) was removed from scope; who carries it?</a:t>
                      </a:r>
                    </a:p>
                  </a:txBody>
                  <a:tcPr marL="54864" marR="54864" marT="27432" marB="27432" anchor="ctr">
                    <a:solidFill>
                      <a:srgbClr val="FFFFFF"/>
                    </a:solidFill>
                  </a:tcPr>
                </a:tc>
                <a:tc>
                  <a:txBody>
                    <a:bodyPr/>
                    <a:lstStyle/>
                    <a:p>
                      <a:r>
                        <a:rPr sz="1000" b="0">
                          <a:solidFill>
                            <a:srgbClr val="1F2A44"/>
                          </a:solidFill>
                          <a:latin typeface="Calibri"/>
                        </a:rPr>
                        <a:t>Scope / ownership</a:t>
                      </a:r>
                    </a:p>
                  </a:txBody>
                  <a:tcPr marL="54864" marR="54864" marT="27432" marB="27432" anchor="ctr">
                    <a:solidFill>
                      <a:srgbClr val="FFFFFF"/>
                    </a:solidFill>
                  </a:tcPr>
                </a:tc>
                <a:tc>
                  <a:txBody>
                    <a:bodyPr/>
                    <a:lstStyle/>
                    <a:p>
                      <a:r>
                        <a:rPr sz="1000" b="0">
                          <a:solidFill>
                            <a:srgbClr val="1F2A44"/>
                          </a:solidFill>
                          <a:latin typeface="Calibri"/>
                        </a:rPr>
                        <a:t>Not in project</a:t>
                      </a:r>
                    </a:p>
                  </a:txBody>
                  <a:tcPr marL="54864" marR="54864" marT="27432" marB="27432" anchor="ctr">
                    <a:solidFill>
                      <a:srgbClr val="FFFFFF"/>
                    </a:solidFill>
                  </a:tcPr>
                </a:tc>
                <a:tc>
                  <a:txBody>
                    <a:bodyPr/>
                    <a:lstStyle/>
                    <a:p>
                      <a:r>
                        <a:rPr sz="1000" b="0">
                          <a:solidFill>
                            <a:srgbClr val="1F2A44"/>
                          </a:solidFill>
                          <a:latin typeface="Calibri"/>
                        </a:rPr>
                        <a:t>System Planning</a:t>
                      </a:r>
                    </a:p>
                  </a:txBody>
                  <a:tcPr marL="54864" marR="54864" marT="27432" marB="27432" anchor="ctr">
                    <a:solidFill>
                      <a:srgbClr val="FFFFFF"/>
                    </a:solidFill>
                  </a:tcPr>
                </a:tc>
              </a:tr>
              <a:tr h="407330">
                <a:tc>
                  <a:txBody>
                    <a:bodyPr/>
                    <a:lstStyle/>
                    <a:p>
                      <a:r>
                        <a:rPr sz="1000" b="0">
                          <a:solidFill>
                            <a:srgbClr val="1F2A44"/>
                          </a:solidFill>
                          <a:latin typeface="Calibri"/>
                        </a:rPr>
                        <a:t>Re-base D-Line 24211 (2023 conceptual $4.8M; HEG take-off larger)</a:t>
                      </a:r>
                    </a:p>
                  </a:txBody>
                  <a:tcPr marL="54864" marR="54864" marT="27432" marB="27432" anchor="ctr">
                    <a:solidFill>
                      <a:srgbClr val="F2F4F8"/>
                    </a:solidFill>
                  </a:tcPr>
                </a:tc>
                <a:tc>
                  <a:txBody>
                    <a:bodyPr/>
                    <a:lstStyle/>
                    <a:p>
                      <a:r>
                        <a:rPr sz="1000" b="0">
                          <a:solidFill>
                            <a:srgbClr val="1F2A44"/>
                          </a:solidFill>
                          <a:latin typeface="Calibri"/>
                        </a:rPr>
                        <a:t>Estimate</a:t>
                      </a:r>
                    </a:p>
                  </a:txBody>
                  <a:tcPr marL="54864" marR="54864" marT="27432" marB="27432" anchor="ctr">
                    <a:solidFill>
                      <a:srgbClr val="F2F4F8"/>
                    </a:solidFill>
                  </a:tcPr>
                </a:tc>
                <a:tc>
                  <a:txBody>
                    <a:bodyPr/>
                    <a:lstStyle/>
                    <a:p>
                      <a:r>
                        <a:rPr sz="1000" b="0">
                          <a:solidFill>
                            <a:srgbClr val="1F2A44"/>
                          </a:solidFill>
                          <a:latin typeface="Calibri"/>
                        </a:rPr>
                        <a:t>Unknown</a:t>
                      </a:r>
                    </a:p>
                  </a:txBody>
                  <a:tcPr marL="54864" marR="54864" marT="27432" marB="27432" anchor="ctr">
                    <a:solidFill>
                      <a:srgbClr val="F2F4F8"/>
                    </a:solidFill>
                  </a:tcPr>
                </a:tc>
                <a:tc>
                  <a:txBody>
                    <a:bodyPr/>
                    <a:lstStyle/>
                    <a:p>
                      <a:r>
                        <a:rPr sz="1000" b="0">
                          <a:solidFill>
                            <a:srgbClr val="1F2A44"/>
                          </a:solidFill>
                          <a:latin typeface="Calibri"/>
                        </a:rPr>
                        <a:t>Distribution Engineering</a:t>
                      </a:r>
                    </a:p>
                  </a:txBody>
                  <a:tcPr marL="54864" marR="54864" marT="27432" marB="27432" anchor="ctr">
                    <a:solidFill>
                      <a:srgbClr val="F2F4F8"/>
                    </a:solidFill>
                  </a:tcPr>
                </a:tc>
              </a:tr>
            </a:tbl>
          </a:graphicData>
        </a:graphic>
      </p:graphicFrame>
      <p:sp>
        <p:nvSpPr>
          <p:cNvPr id="8" name="TextBox 7"/>
          <p:cNvSpPr txBox="1"/>
          <p:nvPr/>
        </p:nvSpPr>
        <p:spPr>
          <a:xfrm>
            <a:off x="548640" y="6053328"/>
            <a:ext cx="11064240" cy="320040"/>
          </a:xfrm>
          <a:prstGeom prst="rect">
            <a:avLst/>
          </a:prstGeom>
          <a:noFill/>
        </p:spPr>
        <p:txBody>
          <a:bodyPr wrap="square" lIns="45720" rIns="45720" tIns="27432" bIns="27432" anchor="t">
            <a:spAutoFit/>
          </a:bodyPr>
          <a:lstStyle/>
          <a:p>
            <a:pPr algn="l">
              <a:lnSpc>
                <a:spcPct val="105000"/>
              </a:lnSpc>
              <a:spcAft>
                <a:spcPts val="400"/>
              </a:spcAft>
            </a:pPr>
            <a:r>
              <a:rPr sz="1100" b="0" i="0">
                <a:solidFill>
                  <a:srgbClr val="6B7280"/>
                </a:solidFill>
                <a:latin typeface="Calibri"/>
              </a:rPr>
              <a:t>Defensible reductions (~$3M: battery escalation, design-basis confirmations, material risk sized on non-battery material) are conditional on the Haugland reconciliation closing first.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lIns="45720" rIns="45720" tIns="27432" bIns="27432" anchor="t">
            <a:spAutoFit/>
          </a:bodyPr>
          <a:lstStyle/>
          <a:p>
            <a:pPr algn="l">
              <a:lnSpc>
                <a:spcPct val="105000"/>
              </a:lnSpc>
              <a:spcAft>
                <a:spcPts val="400"/>
              </a:spcAft>
            </a:pPr>
            <a:r>
              <a:rPr sz="1200" b="1" i="0">
                <a:solidFill>
                  <a:srgbClr val="FFC72C"/>
                </a:solidFill>
                <a:latin typeface="Calibri"/>
              </a:rPr>
              <a:t>CONTRIBUTIONS</a:t>
            </a:r>
          </a:p>
        </p:txBody>
      </p:sp>
      <p:sp>
        <p:nvSpPr>
          <p:cNvPr id="4" name="TextBox 3"/>
          <p:cNvSpPr txBox="1"/>
          <p:nvPr/>
        </p:nvSpPr>
        <p:spPr>
          <a:xfrm>
            <a:off x="548640" y="640080"/>
            <a:ext cx="11064240" cy="914400"/>
          </a:xfrm>
          <a:prstGeom prst="rect">
            <a:avLst/>
          </a:prstGeom>
          <a:noFill/>
        </p:spPr>
        <p:txBody>
          <a:bodyPr wrap="square" lIns="45720" rIns="45720" tIns="27432" bIns="27432" anchor="t">
            <a:spAutoFit/>
          </a:bodyPr>
          <a:lstStyle/>
          <a:p>
            <a:pPr algn="l">
              <a:lnSpc>
                <a:spcPct val="105000"/>
              </a:lnSpc>
              <a:spcAft>
                <a:spcPts val="400"/>
              </a:spcAft>
            </a:pPr>
            <a:r>
              <a:rPr sz="3000" b="1" i="0">
                <a:solidFill>
                  <a:srgbClr val="FFFFFF"/>
                </a:solidFill>
                <a:latin typeface="Georgia"/>
              </a:rPr>
              <a:t>A $12 million battery is a $57 million project, and now every dollar between them has a name</a:t>
            </a:r>
          </a:p>
        </p:txBody>
      </p:sp>
      <p:sp>
        <p:nvSpPr>
          <p:cNvPr id="5" name="TextBox 4"/>
          <p:cNvSpPr txBox="1"/>
          <p:nvPr/>
        </p:nvSpPr>
        <p:spPr>
          <a:xfrm>
            <a:off x="548640" y="1737360"/>
            <a:ext cx="5577840" cy="4480560"/>
          </a:xfrm>
          <a:prstGeom prst="rect">
            <a:avLst/>
          </a:prstGeom>
          <a:noFill/>
        </p:spPr>
        <p:txBody>
          <a:bodyPr wrap="square" lIns="45720">
            <a:spAutoFit/>
          </a:bodyPr>
          <a:lstStyle/>
          <a:p>
            <a:pPr>
              <a:lnSpc>
                <a:spcPct val="105000"/>
              </a:lnSpc>
              <a:spcAft>
                <a:spcPts val="900"/>
              </a:spcAft>
            </a:pPr>
            <a:r>
              <a:rPr sz="1450">
                <a:solidFill>
                  <a:srgbClr val="FFC72C"/>
                </a:solidFill>
                <a:latin typeface="Calibri"/>
              </a:rPr>
              <a:t>▪  </a:t>
            </a:r>
            <a:r>
              <a:rPr b="1" sz="1450">
                <a:solidFill>
                  <a:srgbClr val="FFFFFF"/>
                </a:solidFill>
                <a:latin typeface="Calibri"/>
              </a:rPr>
              <a:t>Where the money sits. </a:t>
            </a:r>
            <a:r>
              <a:rPr sz="1450">
                <a:solidFill>
                  <a:srgbClr val="FFFFFF"/>
                </a:solidFill>
                <a:latin typeface="Calibri"/>
              </a:rPr>
              <a:t>292 lines in thirteen layers, reconciled to the penny: battery contract 21%, station and interconnection 32% loaded, owner scope 19%, loaders 41%.</a:t>
            </a:r>
          </a:p>
          <a:p>
            <a:pPr>
              <a:lnSpc>
                <a:spcPct val="105000"/>
              </a:lnSpc>
              <a:spcAft>
                <a:spcPts val="900"/>
              </a:spcAft>
            </a:pPr>
            <a:r>
              <a:rPr sz="1450">
                <a:solidFill>
                  <a:srgbClr val="FFC72C"/>
                </a:solidFill>
                <a:latin typeface="Calibri"/>
              </a:rPr>
              <a:t>▪  </a:t>
            </a:r>
            <a:r>
              <a:rPr b="1" sz="1450">
                <a:solidFill>
                  <a:srgbClr val="FFFFFF"/>
                </a:solidFill>
                <a:latin typeface="Calibri"/>
              </a:rPr>
              <a:t>Unit cost at every boundary. </a:t>
            </a:r>
            <a:r>
              <a:rPr sz="1450">
                <a:solidFill>
                  <a:srgbClr val="FFFFFF"/>
                </a:solidFill>
                <a:latin typeface="Calibri"/>
              </a:rPr>
              <a:t>$605/kWh vendor, $833 installed, $1,483 station direct, $2,862 project. Each benchmark read against the row that shares its definition.</a:t>
            </a:r>
          </a:p>
          <a:p>
            <a:pPr>
              <a:lnSpc>
                <a:spcPct val="105000"/>
              </a:lnSpc>
              <a:spcAft>
                <a:spcPts val="900"/>
              </a:spcAft>
            </a:pPr>
            <a:r>
              <a:rPr sz="1450">
                <a:solidFill>
                  <a:srgbClr val="FFC72C"/>
                </a:solidFill>
                <a:latin typeface="Calibri"/>
              </a:rPr>
              <a:t>▪  </a:t>
            </a:r>
            <a:r>
              <a:rPr b="1" sz="1450">
                <a:solidFill>
                  <a:srgbClr val="FFFFFF"/>
                </a:solidFill>
                <a:latin typeface="Calibri"/>
              </a:rPr>
              <a:t>How it changed. </a:t>
            </a:r>
            <a:r>
              <a:rPr sz="1450">
                <a:solidFill>
                  <a:srgbClr val="FFFFFF"/>
                </a:solidFill>
                <a:latin typeface="Calibri"/>
              </a:rPr>
              <a:t>The battery got cheaper; the project got real. $43.9M to $57.2M, five in-service dates, documented from the ESF revisions and the email record.</a:t>
            </a:r>
          </a:p>
          <a:p>
            <a:pPr>
              <a:lnSpc>
                <a:spcPct val="105000"/>
              </a:lnSpc>
              <a:spcAft>
                <a:spcPts val="900"/>
              </a:spcAft>
            </a:pPr>
            <a:r>
              <a:rPr sz="1450">
                <a:solidFill>
                  <a:srgbClr val="FFC72C"/>
                </a:solidFill>
                <a:latin typeface="Calibri"/>
              </a:rPr>
              <a:t>▪  </a:t>
            </a:r>
            <a:r>
              <a:rPr b="1" sz="1450">
                <a:solidFill>
                  <a:srgbClr val="FFFFFF"/>
                </a:solidFill>
                <a:latin typeface="Calibri"/>
              </a:rPr>
              <a:t>Can it be defended. </a:t>
            </a:r>
            <a:r>
              <a:rPr sz="1450">
                <a:solidFill>
                  <a:srgbClr val="FFFFFF"/>
                </a:solidFill>
                <a:latin typeface="Calibri"/>
              </a:rPr>
              <a:t>Against 35 public projects at or below 100 MWh the station-direct cost is at the 77% percentile and the approval level above every member; a regression on 53 projects brackets a 2028 build at $571 to $1,640/kWh; six price curves re-base the class within a tenth of each other. Three kill shots, seven stress tests, a pre-mortem, ten reconciliations.</a:t>
            </a:r>
          </a:p>
        </p:txBody>
      </p:sp>
      <p:sp>
        <p:nvSpPr>
          <p:cNvPr id="6" name="Rectangle 5"/>
          <p:cNvSpPr/>
          <p:nvPr/>
        </p:nvSpPr>
        <p:spPr>
          <a:xfrm>
            <a:off x="6400800" y="1737360"/>
            <a:ext cx="5257800" cy="4480560"/>
          </a:xfrm>
          <a:prstGeom prst="rect">
            <a:avLst/>
          </a:prstGeom>
          <a:solidFill>
            <a:srgbClr val="0B2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0" y="1874519"/>
            <a:ext cx="4937760" cy="36576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FFC72C"/>
                </a:solidFill>
                <a:latin typeface="Georgia"/>
              </a:rPr>
              <a:t>Decisions requested</a:t>
            </a:r>
          </a:p>
        </p:txBody>
      </p:sp>
      <p:sp>
        <p:nvSpPr>
          <p:cNvPr id="8" name="TextBox 7"/>
          <p:cNvSpPr txBox="1"/>
          <p:nvPr/>
        </p:nvSpPr>
        <p:spPr>
          <a:xfrm>
            <a:off x="6583680" y="2286000"/>
            <a:ext cx="4937760" cy="3840480"/>
          </a:xfrm>
          <a:prstGeom prst="rect">
            <a:avLst/>
          </a:prstGeom>
          <a:noFill/>
        </p:spPr>
        <p:txBody>
          <a:bodyPr wrap="square" lIns="45720">
            <a:spAutoFit/>
          </a:bodyPr>
          <a:lstStyle/>
          <a:p>
            <a:pPr>
              <a:lnSpc>
                <a:spcPct val="105000"/>
              </a:lnSpc>
              <a:spcAft>
                <a:spcPts val="700"/>
              </a:spcAft>
            </a:pPr>
            <a:r>
              <a:rPr sz="1350">
                <a:solidFill>
                  <a:srgbClr val="FFC72C"/>
                </a:solidFill>
                <a:latin typeface="Calibri"/>
              </a:rPr>
              <a:t>▪  </a:t>
            </a:r>
            <a:r>
              <a:rPr sz="1350">
                <a:solidFill>
                  <a:srgbClr val="FFFFFF"/>
                </a:solidFill>
                <a:latin typeface="Calibri"/>
              </a:rPr>
              <a:t>Adopt the layered view (battery, station, interconnection, owner scope, loaders) as the standard presentation of this project, internally and to regulators.</a:t>
            </a:r>
          </a:p>
          <a:p>
            <a:pPr>
              <a:lnSpc>
                <a:spcPct val="105000"/>
              </a:lnSpc>
              <a:spcAft>
                <a:spcPts val="700"/>
              </a:spcAft>
            </a:pPr>
            <a:r>
              <a:rPr sz="1350">
                <a:solidFill>
                  <a:srgbClr val="FFC72C"/>
                </a:solidFill>
                <a:latin typeface="Calibri"/>
              </a:rPr>
              <a:t>▪  </a:t>
            </a:r>
            <a:r>
              <a:rPr sz="1350">
                <a:solidFill>
                  <a:srgbClr val="FFFFFF"/>
                </a:solidFill>
                <a:latin typeface="Calibri"/>
              </a:rPr>
              <a:t>Make the Haugland-to-Rev 3 reconciliation, the geotech and the hazard mitigation analysis preconditions of the November PAF; present at Class 4 until they close.</a:t>
            </a:r>
          </a:p>
          <a:p>
            <a:pPr>
              <a:lnSpc>
                <a:spcPct val="105000"/>
              </a:lnSpc>
              <a:spcAft>
                <a:spcPts val="700"/>
              </a:spcAft>
            </a:pPr>
            <a:r>
              <a:rPr sz="1350">
                <a:solidFill>
                  <a:srgbClr val="FFC72C"/>
                </a:solidFill>
                <a:latin typeface="Calibri"/>
              </a:rPr>
              <a:t>▪  </a:t>
            </a:r>
            <a:r>
              <a:rPr sz="1350">
                <a:solidFill>
                  <a:srgbClr val="FFFFFF"/>
                </a:solidFill>
                <a:latin typeface="Calibri"/>
              </a:rPr>
              <a:t>Assign owners to the siting-chain float and the five early-warning indicators.</a:t>
            </a:r>
          </a:p>
          <a:p>
            <a:pPr>
              <a:lnSpc>
                <a:spcPct val="105000"/>
              </a:lnSpc>
              <a:spcAft>
                <a:spcPts val="700"/>
              </a:spcAft>
            </a:pPr>
            <a:r>
              <a:rPr sz="1350">
                <a:solidFill>
                  <a:srgbClr val="FFC72C"/>
                </a:solidFill>
                <a:latin typeface="Calibri"/>
              </a:rPr>
              <a:t>▪  </a:t>
            </a:r>
            <a:r>
              <a:rPr sz="1350">
                <a:solidFill>
                  <a:srgbClr val="FFFFFF"/>
                </a:solidFill>
                <a:latin typeface="Calibri"/>
              </a:rPr>
              <a:t>Open the Section 48E credit question with Tax now: eligible basis, the FEOC test on the Voyager cells, and the normalization election.</a:t>
            </a:r>
          </a:p>
          <a:p>
            <a:pPr>
              <a:lnSpc>
                <a:spcPct val="105000"/>
              </a:lnSpc>
              <a:spcAft>
                <a:spcPts val="700"/>
              </a:spcAft>
            </a:pPr>
            <a:r>
              <a:rPr sz="1350">
                <a:solidFill>
                  <a:srgbClr val="FFC72C"/>
                </a:solidFill>
                <a:latin typeface="Calibri"/>
              </a:rPr>
              <a:t>▪  </a:t>
            </a:r>
            <a:r>
              <a:rPr sz="1350">
                <a:solidFill>
                  <a:srgbClr val="FFFFFF"/>
                </a:solidFill>
                <a:latin typeface="Calibri"/>
              </a:rPr>
              <a:t>Adopt the containment plan: a $1,250 per kWh station-direct target at IFC, five gates with owners, competitive lump-sum pricing of the station and civil scope, and a monthly cost-containment report.</a:t>
            </a:r>
          </a:p>
        </p:txBody>
      </p:sp>
      <p:sp>
        <p:nvSpPr>
          <p:cNvPr id="9" name="TextBox 8"/>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C9D1E0"/>
                </a:solidFill>
                <a:latin typeface="Calibri"/>
              </a:rPr>
              <a:t>EstimatingCoE | Eversource Energy | Stewards of Affordability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APPENDIX A. REFERENCE CLASS (PUBLIC DISCLOSURES, NOMINAL $/KWH)</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35 built projects at or below 100 MWh, utility- and developer-owned: where Hyde Park sits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38</a:t>
            </a:r>
          </a:p>
        </p:txBody>
      </p:sp>
      <p:pic>
        <p:nvPicPr>
          <p:cNvPr id="7" name="Picture 6" descr="stats_refclass.png"/>
          <p:cNvPicPr>
            <a:picLocks noChangeAspect="1"/>
          </p:cNvPicPr>
          <p:nvPr/>
        </p:nvPicPr>
        <p:blipFill>
          <a:blip r:embed="rId2"/>
          <a:stretch>
            <a:fillRect/>
          </a:stretch>
        </p:blipFill>
        <p:spPr>
          <a:xfrm>
            <a:off x="457200" y="1371600"/>
            <a:ext cx="6820747" cy="4846320"/>
          </a:xfrm>
          <a:prstGeom prst="rect">
            <a:avLst/>
          </a:prstGeom>
        </p:spPr>
      </p:pic>
      <p:sp>
        <p:nvSpPr>
          <p:cNvPr id="8" name="TextBox 7"/>
          <p:cNvSpPr txBox="1"/>
          <p:nvPr/>
        </p:nvSpPr>
        <p:spPr>
          <a:xfrm>
            <a:off x="7863840" y="1417320"/>
            <a:ext cx="3840480" cy="4846320"/>
          </a:xfrm>
          <a:prstGeom prst="rect">
            <a:avLst/>
          </a:prstGeom>
          <a:noFill/>
        </p:spPr>
        <p:txBody>
          <a:bodyPr wrap="square" lIns="45720">
            <a:spAutoFit/>
          </a:bodyPr>
          <a:lstStyle/>
          <a:p>
            <a:pPr>
              <a:lnSpc>
                <a:spcPct val="105000"/>
              </a:lnSpc>
              <a:spcAft>
                <a:spcPts val="300"/>
              </a:spcAft>
            </a:pPr>
            <a:r>
              <a:rPr sz="1000">
                <a:solidFill>
                  <a:srgbClr val="FFC72C"/>
                </a:solidFill>
                <a:latin typeface="Calibri"/>
              </a:rPr>
              <a:t>▪  </a:t>
            </a:r>
            <a:r>
              <a:rPr b="1" sz="1000">
                <a:solidFill>
                  <a:srgbClr val="1F2A44"/>
                </a:solidFill>
                <a:latin typeface="Calibri"/>
              </a:rPr>
              <a:t>Median </a:t>
            </a:r>
            <a:r>
              <a:rPr sz="1000">
                <a:solidFill>
                  <a:srgbClr val="1F2A44"/>
                </a:solidFill>
                <a:latin typeface="Calibri"/>
              </a:rPr>
              <a:t>$750/kWh; interquartile $556 to $1,275. Utility-owned subclass (25): median $1,235.</a:t>
            </a:r>
          </a:p>
          <a:p>
            <a:pPr>
              <a:lnSpc>
                <a:spcPct val="105000"/>
              </a:lnSpc>
              <a:spcAft>
                <a:spcPts val="300"/>
              </a:spcAft>
            </a:pPr>
            <a:r>
              <a:rPr sz="1000">
                <a:solidFill>
                  <a:srgbClr val="FFC72C"/>
                </a:solidFill>
                <a:latin typeface="Calibri"/>
              </a:rPr>
              <a:t>▪  </a:t>
            </a:r>
            <a:r>
              <a:rPr b="1" sz="1000">
                <a:solidFill>
                  <a:srgbClr val="1F2A44"/>
                </a:solidFill>
                <a:latin typeface="Calibri"/>
              </a:rPr>
              <a:t>Hyde Park battery installed, $833: </a:t>
            </a:r>
            <a:r>
              <a:rPr sz="1000">
                <a:solidFill>
                  <a:srgbClr val="1F2A44"/>
                </a:solidFill>
                <a:latin typeface="Calibri"/>
              </a:rPr>
              <a:t>57% percentile.</a:t>
            </a:r>
          </a:p>
          <a:p>
            <a:pPr>
              <a:lnSpc>
                <a:spcPct val="105000"/>
              </a:lnSpc>
              <a:spcAft>
                <a:spcPts val="300"/>
              </a:spcAft>
            </a:pPr>
            <a:r>
              <a:rPr sz="1000">
                <a:solidFill>
                  <a:srgbClr val="FFC72C"/>
                </a:solidFill>
                <a:latin typeface="Calibri"/>
              </a:rPr>
              <a:t>▪  </a:t>
            </a:r>
            <a:r>
              <a:rPr b="1" sz="1000">
                <a:solidFill>
                  <a:srgbClr val="1F2A44"/>
                </a:solidFill>
                <a:latin typeface="Calibri"/>
              </a:rPr>
              <a:t>Station complete, direct, $1,483: </a:t>
            </a:r>
            <a:r>
              <a:rPr sz="1000">
                <a:solidFill>
                  <a:srgbClr val="1F2A44"/>
                </a:solidFill>
                <a:latin typeface="Calibri"/>
              </a:rPr>
              <a:t>77% percentile (68% in the utility subclass), beside Fairhaven ($1,659 actual, 2023), Chateaugay ($1,490, 2023) and Provincetown ($1,289 actual, 2022).</a:t>
            </a:r>
          </a:p>
          <a:p>
            <a:pPr>
              <a:lnSpc>
                <a:spcPct val="105000"/>
              </a:lnSpc>
              <a:spcAft>
                <a:spcPts val="300"/>
              </a:spcAft>
            </a:pPr>
            <a:r>
              <a:rPr sz="1000">
                <a:solidFill>
                  <a:srgbClr val="FFC72C"/>
                </a:solidFill>
                <a:latin typeface="Calibri"/>
              </a:rPr>
              <a:t>▪  </a:t>
            </a:r>
            <a:r>
              <a:rPr b="1" sz="1000">
                <a:solidFill>
                  <a:srgbClr val="1F2A44"/>
                </a:solidFill>
                <a:latin typeface="Calibri"/>
              </a:rPr>
              <a:t>Approval level, $2,862: </a:t>
            </a:r>
            <a:r>
              <a:rPr sz="1000">
                <a:solidFill>
                  <a:srgbClr val="1F2A44"/>
                </a:solidFill>
                <a:latin typeface="Calibri"/>
              </a:rPr>
              <a:t>above every member. The loaders ($23.7M) and the two interconnection scopes are what the comparables do not carry.</a:t>
            </a:r>
          </a:p>
          <a:p>
            <a:pPr>
              <a:lnSpc>
                <a:spcPct val="105000"/>
              </a:lnSpc>
              <a:spcAft>
                <a:spcPts val="300"/>
              </a:spcAft>
            </a:pPr>
            <a:r>
              <a:rPr sz="1000">
                <a:solidFill>
                  <a:srgbClr val="FFC72C"/>
                </a:solidFill>
                <a:latin typeface="Calibri"/>
              </a:rPr>
              <a:t>▪  </a:t>
            </a:r>
            <a:r>
              <a:rPr b="1" sz="1000">
                <a:solidFill>
                  <a:srgbClr val="1F2A44"/>
                </a:solidFill>
                <a:latin typeface="Calibri"/>
              </a:rPr>
              <a:t>Re-based to 2026 dollars (slides 12 and 14 to 18): </a:t>
            </a:r>
            <a:r>
              <a:rPr sz="1000">
                <a:solidFill>
                  <a:srgbClr val="1F2A44"/>
                </a:solidFill>
                <a:latin typeface="Calibri"/>
              </a:rPr>
              <a:t>median $742 at the installed index, $816 to $737 across 30 to 50% anchor battery share (2024 basis, back-cast to each project's year).</a:t>
            </a:r>
          </a:p>
          <a:p>
            <a:pPr>
              <a:lnSpc>
                <a:spcPct val="105000"/>
              </a:lnSpc>
              <a:spcAft>
                <a:spcPts val="300"/>
              </a:spcAft>
            </a:pPr>
            <a:r>
              <a:rPr sz="1000">
                <a:solidFill>
                  <a:srgbClr val="FFC72C"/>
                </a:solidFill>
                <a:latin typeface="Calibri"/>
              </a:rPr>
              <a:t>▪  </a:t>
            </a:r>
            <a:r>
              <a:rPr b="1" sz="1000">
                <a:solidFill>
                  <a:srgbClr val="1F2A44"/>
                </a:solidFill>
                <a:latin typeface="Calibri"/>
              </a:rPr>
              <a:t>Built projects only (5 Oct 2026). </a:t>
            </a:r>
            <a:r>
              <a:rPr sz="1000">
                <a:solidFill>
                  <a:srgbClr val="1F2A44"/>
                </a:solidFill>
                <a:latin typeface="Calibri"/>
              </a:rPr>
              <a:t>Status of every dataset row verified; 27 rows that were planned, under development, under construction or cancelled are excluded from the class and the regression. 14 members carry a final or actual cost (median $756); the others are contract, budget or announcement figures for projects that were built.</a:t>
            </a:r>
          </a:p>
          <a:p>
            <a:pPr>
              <a:lnSpc>
                <a:spcPct val="105000"/>
              </a:lnSpc>
              <a:spcAft>
                <a:spcPts val="300"/>
              </a:spcAft>
            </a:pPr>
            <a:r>
              <a:rPr sz="1000">
                <a:solidFill>
                  <a:srgbClr val="FFC72C"/>
                </a:solidFill>
                <a:latin typeface="Calibri"/>
              </a:rPr>
              <a:t>▪  </a:t>
            </a:r>
            <a:r>
              <a:rPr b="1" sz="1000">
                <a:solidFill>
                  <a:srgbClr val="1F2A44"/>
                </a:solidFill>
                <a:latin typeface="Calibri"/>
              </a:rPr>
              <a:t>Caveat: </a:t>
            </a:r>
            <a:r>
              <a:rPr sz="1000">
                <a:solidFill>
                  <a:srgbClr val="1F2A44"/>
                </a:solidFill>
                <a:latin typeface="Calibri"/>
              </a:rPr>
              <a:t>figures from regulator, IDA, EIA and utility documents, verified by status audit; developer-owned members carry developer overhead and profit but no utility indirects or AFUDC; incentives are not netted.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APPENDIX B. REGRESSION ON 53 PUBLIC PROJECTS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Size and duration explain half the spread in public costs; Hyde Park's direct cost is high-normal</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39</a:t>
            </a:r>
          </a:p>
        </p:txBody>
      </p:sp>
      <p:pic>
        <p:nvPicPr>
          <p:cNvPr id="7" name="Picture 6" descr="stats_scatter.png"/>
          <p:cNvPicPr>
            <a:picLocks noChangeAspect="1"/>
          </p:cNvPicPr>
          <p:nvPr/>
        </p:nvPicPr>
        <p:blipFill>
          <a:blip r:embed="rId2"/>
          <a:stretch>
            <a:fillRect/>
          </a:stretch>
        </p:blipFill>
        <p:spPr>
          <a:xfrm>
            <a:off x="457200" y="1371600"/>
            <a:ext cx="7223760" cy="4182177"/>
          </a:xfrm>
          <a:prstGeom prst="rect">
            <a:avLst/>
          </a:prstGeom>
        </p:spPr>
      </p:pic>
      <p:graphicFrame>
        <p:nvGraphicFramePr>
          <p:cNvPr id="8" name="Table 7"/>
          <p:cNvGraphicFramePr>
            <a:graphicFrameLocks noGrp="1"/>
          </p:cNvGraphicFramePr>
          <p:nvPr/>
        </p:nvGraphicFramePr>
        <p:xfrm>
          <a:off x="7863840" y="1417320"/>
          <a:ext cx="3840480" cy="2103120"/>
        </p:xfrm>
        <a:graphic>
          <a:graphicData uri="http://schemas.openxmlformats.org/drawingml/2006/table">
            <a:tbl>
              <a:tblPr firstRow="1" bandRow="1">
                <a:tableStyleId>{5C22544A-7EE6-4342-B048-85BDC9FD1C3A}</a:tableStyleId>
              </a:tblPr>
              <a:tblGrid>
                <a:gridCol w="1645920"/>
                <a:gridCol w="1188720"/>
                <a:gridCol w="1005840"/>
              </a:tblGrid>
              <a:tr h="420624">
                <a:tc>
                  <a:txBody>
                    <a:bodyPr/>
                    <a:lstStyle/>
                    <a:p>
                      <a:r>
                        <a:rPr sz="1100" b="1">
                          <a:solidFill>
                            <a:srgbClr val="FFFFFF"/>
                          </a:solidFill>
                          <a:latin typeface="Calibri"/>
                        </a:rPr>
                        <a:t>Term</a:t>
                      </a:r>
                    </a:p>
                  </a:txBody>
                  <a:tcPr marL="54864" marR="54864" marT="27432" marB="27432">
                    <a:solidFill>
                      <a:srgbClr val="001E60"/>
                    </a:solidFill>
                  </a:tcPr>
                </a:tc>
                <a:tc>
                  <a:txBody>
                    <a:bodyPr/>
                    <a:lstStyle/>
                    <a:p>
                      <a:pPr algn="r"/>
                      <a:r>
                        <a:rPr sz="1100" b="1">
                          <a:solidFill>
                            <a:srgbClr val="FFFFFF"/>
                          </a:solidFill>
                          <a:latin typeface="Calibri"/>
                        </a:rPr>
                        <a:t>Coefficient</a:t>
                      </a:r>
                    </a:p>
                  </a:txBody>
                  <a:tcPr marL="54864" marR="54864" marT="27432" marB="27432">
                    <a:solidFill>
                      <a:srgbClr val="001E60"/>
                    </a:solidFill>
                  </a:tcPr>
                </a:tc>
                <a:tc>
                  <a:txBody>
                    <a:bodyPr/>
                    <a:lstStyle/>
                    <a:p>
                      <a:pPr algn="r"/>
                      <a:r>
                        <a:rPr sz="1100" b="1">
                          <a:solidFill>
                            <a:srgbClr val="FFFFFF"/>
                          </a:solidFill>
                          <a:latin typeface="Calibri"/>
                        </a:rPr>
                        <a:t>p</a:t>
                      </a:r>
                    </a:p>
                  </a:txBody>
                  <a:tcPr marL="54864" marR="54864" marT="27432" marB="27432">
                    <a:solidFill>
                      <a:srgbClr val="001E60"/>
                    </a:solidFill>
                  </a:tcPr>
                </a:tc>
              </a:tr>
              <a:tr h="420624">
                <a:tc>
                  <a:txBody>
                    <a:bodyPr/>
                    <a:lstStyle/>
                    <a:p>
                      <a:r>
                        <a:rPr sz="1100" b="0">
                          <a:solidFill>
                            <a:srgbClr val="1F2A44"/>
                          </a:solidFill>
                          <a:latin typeface="Calibri"/>
                        </a:rPr>
                        <a:t>Size (ln MWh)</a:t>
                      </a:r>
                    </a:p>
                  </a:txBody>
                  <a:tcPr marL="54864" marR="54864" marT="27432" marB="27432" anchor="ctr">
                    <a:solidFill>
                      <a:srgbClr val="FFFFFF"/>
                    </a:solidFill>
                  </a:tcPr>
                </a:tc>
                <a:tc>
                  <a:txBody>
                    <a:bodyPr/>
                    <a:lstStyle/>
                    <a:p>
                      <a:pPr algn="r"/>
                      <a:r>
                        <a:rPr sz="1100" b="0">
                          <a:solidFill>
                            <a:srgbClr val="1F2A44"/>
                          </a:solidFill>
                          <a:latin typeface="Calibri"/>
                        </a:rPr>
                        <a:t>-0.18</a:t>
                      </a:r>
                    </a:p>
                  </a:txBody>
                  <a:tcPr marL="54864" marR="54864" marT="27432" marB="27432" anchor="ctr">
                    <a:solidFill>
                      <a:srgbClr val="FFFFFF"/>
                    </a:solidFill>
                  </a:tcPr>
                </a:tc>
                <a:tc>
                  <a:txBody>
                    <a:bodyPr/>
                    <a:lstStyle/>
                    <a:p>
                      <a:pPr algn="r"/>
                      <a:r>
                        <a:rPr sz="1100" b="0">
                          <a:solidFill>
                            <a:srgbClr val="1F2A44"/>
                          </a:solidFill>
                          <a:latin typeface="Calibri"/>
                        </a:rPr>
                        <a:t>0.000</a:t>
                      </a:r>
                    </a:p>
                  </a:txBody>
                  <a:tcPr marL="54864" marR="54864" marT="27432" marB="27432" anchor="ctr">
                    <a:solidFill>
                      <a:srgbClr val="FFFFFF"/>
                    </a:solidFill>
                  </a:tcPr>
                </a:tc>
              </a:tr>
              <a:tr h="420624">
                <a:tc>
                  <a:txBody>
                    <a:bodyPr/>
                    <a:lstStyle/>
                    <a:p>
                      <a:r>
                        <a:rPr sz="1100" b="0">
                          <a:solidFill>
                            <a:srgbClr val="1F2A44"/>
                          </a:solidFill>
                          <a:latin typeface="Calibri"/>
                        </a:rPr>
                        <a:t>Duration (ln h)</a:t>
                      </a:r>
                    </a:p>
                  </a:txBody>
                  <a:tcPr marL="54864" marR="54864" marT="27432" marB="27432" anchor="ctr">
                    <a:solidFill>
                      <a:srgbClr val="F2F4F8"/>
                    </a:solidFill>
                  </a:tcPr>
                </a:tc>
                <a:tc>
                  <a:txBody>
                    <a:bodyPr/>
                    <a:lstStyle/>
                    <a:p>
                      <a:pPr algn="r"/>
                      <a:r>
                        <a:rPr sz="1100" b="0">
                          <a:solidFill>
                            <a:srgbClr val="1F2A44"/>
                          </a:solidFill>
                          <a:latin typeface="Calibri"/>
                        </a:rPr>
                        <a:t>-0.34</a:t>
                      </a:r>
                    </a:p>
                  </a:txBody>
                  <a:tcPr marL="54864" marR="54864" marT="27432" marB="27432" anchor="ctr">
                    <a:solidFill>
                      <a:srgbClr val="F2F4F8"/>
                    </a:solidFill>
                  </a:tcPr>
                </a:tc>
                <a:tc>
                  <a:txBody>
                    <a:bodyPr/>
                    <a:lstStyle/>
                    <a:p>
                      <a:pPr algn="r"/>
                      <a:r>
                        <a:rPr sz="1100" b="0">
                          <a:solidFill>
                            <a:srgbClr val="1F2A44"/>
                          </a:solidFill>
                          <a:latin typeface="Calibri"/>
                        </a:rPr>
                        <a:t>0.003</a:t>
                      </a:r>
                    </a:p>
                  </a:txBody>
                  <a:tcPr marL="54864" marR="54864" marT="27432" marB="27432" anchor="ctr">
                    <a:solidFill>
                      <a:srgbClr val="F2F4F8"/>
                    </a:solidFill>
                  </a:tcPr>
                </a:tc>
              </a:tr>
              <a:tr h="420624">
                <a:tc>
                  <a:txBody>
                    <a:bodyPr/>
                    <a:lstStyle/>
                    <a:p>
                      <a:r>
                        <a:rPr sz="1100" b="0">
                          <a:solidFill>
                            <a:srgbClr val="1F2A44"/>
                          </a:solidFill>
                          <a:latin typeface="Calibri"/>
                        </a:rPr>
                        <a:t>Year</a:t>
                      </a:r>
                    </a:p>
                  </a:txBody>
                  <a:tcPr marL="54864" marR="54864" marT="27432" marB="27432" anchor="ctr">
                    <a:solidFill>
                      <a:srgbClr val="FFFFFF"/>
                    </a:solidFill>
                  </a:tcPr>
                </a:tc>
                <a:tc>
                  <a:txBody>
                    <a:bodyPr/>
                    <a:lstStyle/>
                    <a:p>
                      <a:pPr algn="r"/>
                      <a:r>
                        <a:rPr sz="1100" b="0">
                          <a:solidFill>
                            <a:srgbClr val="1F2A44"/>
                          </a:solidFill>
                          <a:latin typeface="Calibri"/>
                        </a:rPr>
                        <a:t>+0.017</a:t>
                      </a:r>
                    </a:p>
                  </a:txBody>
                  <a:tcPr marL="54864" marR="54864" marT="27432" marB="27432" anchor="ctr">
                    <a:solidFill>
                      <a:srgbClr val="FFFFFF"/>
                    </a:solidFill>
                  </a:tcPr>
                </a:tc>
                <a:tc>
                  <a:txBody>
                    <a:bodyPr/>
                    <a:lstStyle/>
                    <a:p>
                      <a:pPr algn="r"/>
                      <a:r>
                        <a:rPr sz="1100" b="0">
                          <a:solidFill>
                            <a:srgbClr val="1F2A44"/>
                          </a:solidFill>
                          <a:latin typeface="Calibri"/>
                        </a:rPr>
                        <a:t>0.55</a:t>
                      </a:r>
                    </a:p>
                  </a:txBody>
                  <a:tcPr marL="54864" marR="54864" marT="27432" marB="27432" anchor="ctr">
                    <a:solidFill>
                      <a:srgbClr val="FFFFFF"/>
                    </a:solidFill>
                  </a:tcPr>
                </a:tc>
              </a:tr>
              <a:tr h="420624">
                <a:tc>
                  <a:txBody>
                    <a:bodyPr/>
                    <a:lstStyle/>
                    <a:p>
                      <a:r>
                        <a:rPr sz="1100" b="0">
                          <a:solidFill>
                            <a:srgbClr val="1F2A44"/>
                          </a:solidFill>
                          <a:latin typeface="Calibri"/>
                        </a:rPr>
                        <a:t>R-squared</a:t>
                      </a:r>
                    </a:p>
                  </a:txBody>
                  <a:tcPr marL="54864" marR="54864" marT="27432" marB="27432" anchor="ctr">
                    <a:solidFill>
                      <a:srgbClr val="F2F4F8"/>
                    </a:solidFill>
                  </a:tcPr>
                </a:tc>
                <a:tc>
                  <a:txBody>
                    <a:bodyPr/>
                    <a:lstStyle/>
                    <a:p>
                      <a:pPr algn="r"/>
                      <a:r>
                        <a:rPr sz="1100" b="0">
                          <a:solidFill>
                            <a:srgbClr val="1F2A44"/>
                          </a:solidFill>
                          <a:latin typeface="Calibri"/>
                        </a:rPr>
                        <a:t>0.62</a:t>
                      </a:r>
                    </a:p>
                  </a:txBody>
                  <a:tcPr marL="54864" marR="54864" marT="27432" marB="27432" anchor="ctr">
                    <a:solidFill>
                      <a:srgbClr val="F2F4F8"/>
                    </a:solidFill>
                  </a:tcPr>
                </a:tc>
                <a:tc>
                  <a:txBody>
                    <a:bodyPr/>
                    <a:lstStyle/>
                    <a:p>
                      <a:pPr algn="r"/>
                      <a:r>
                        <a:rPr sz="1100" b="0">
                          <a:solidFill>
                            <a:srgbClr val="1F2A44"/>
                          </a:solidFill>
                          <a:latin typeface="Calibri"/>
                        </a:rPr>
                        <a:t>n = 53</a:t>
                      </a:r>
                    </a:p>
                  </a:txBody>
                  <a:tcPr marL="54864" marR="54864" marT="27432" marB="27432" anchor="ctr">
                    <a:solidFill>
                      <a:srgbClr val="F2F4F8"/>
                    </a:solidFill>
                  </a:tcPr>
                </a:tc>
              </a:tr>
            </a:tbl>
          </a:graphicData>
        </a:graphic>
      </p:graphicFrame>
      <p:sp>
        <p:nvSpPr>
          <p:cNvPr id="9" name="TextBox 8"/>
          <p:cNvSpPr txBox="1"/>
          <p:nvPr/>
        </p:nvSpPr>
        <p:spPr>
          <a:xfrm>
            <a:off x="7863840" y="3703320"/>
            <a:ext cx="3840480" cy="2560320"/>
          </a:xfrm>
          <a:prstGeom prst="rect">
            <a:avLst/>
          </a:prstGeom>
          <a:noFill/>
        </p:spPr>
        <p:txBody>
          <a:bodyPr wrap="square" lIns="45720">
            <a:spAutoFit/>
          </a:bodyPr>
          <a:lstStyle/>
          <a:p>
            <a:pPr>
              <a:lnSpc>
                <a:spcPct val="105000"/>
              </a:lnSpc>
              <a:spcAft>
                <a:spcPts val="500"/>
              </a:spcAft>
            </a:pPr>
            <a:r>
              <a:rPr sz="1200">
                <a:solidFill>
                  <a:srgbClr val="FFC72C"/>
                </a:solidFill>
                <a:latin typeface="Calibri"/>
              </a:rPr>
              <a:t>▪  </a:t>
            </a:r>
            <a:r>
              <a:rPr b="1" sz="1200">
                <a:solidFill>
                  <a:srgbClr val="1F2A44"/>
                </a:solidFill>
                <a:latin typeface="Calibri"/>
              </a:rPr>
              <a:t>20 MWh, 2-h, 2028 prediction: </a:t>
            </a:r>
            <a:r>
              <a:rPr sz="1200">
                <a:solidFill>
                  <a:srgbClr val="1F2A44"/>
                </a:solidFill>
                <a:latin typeface="Calibri"/>
              </a:rPr>
              <a:t>$968/kWh, 80% interval $571 to $1,640.</a:t>
            </a:r>
          </a:p>
          <a:p>
            <a:pPr>
              <a:lnSpc>
                <a:spcPct val="105000"/>
              </a:lnSpc>
              <a:spcAft>
                <a:spcPts val="500"/>
              </a:spcAft>
            </a:pPr>
            <a:r>
              <a:rPr sz="1200">
                <a:solidFill>
                  <a:srgbClr val="FFC72C"/>
                </a:solidFill>
                <a:latin typeface="Calibri"/>
              </a:rPr>
              <a:t>▪  </a:t>
            </a:r>
            <a:r>
              <a:rPr b="1" sz="1200">
                <a:solidFill>
                  <a:srgbClr val="1F2A44"/>
                </a:solidFill>
                <a:latin typeface="Calibri"/>
              </a:rPr>
              <a:t>Hyde Park percentiles: </a:t>
            </a:r>
            <a:r>
              <a:rPr sz="1200">
                <a:solidFill>
                  <a:srgbClr val="1F2A44"/>
                </a:solidFill>
                <a:latin typeface="Calibri"/>
              </a:rPr>
              <a:t>contract 13%, installed 36%, station direct 85%, approval 100%.</a:t>
            </a:r>
          </a:p>
          <a:p>
            <a:pPr>
              <a:lnSpc>
                <a:spcPct val="105000"/>
              </a:lnSpc>
              <a:spcAft>
                <a:spcPts val="500"/>
              </a:spcAft>
            </a:pPr>
            <a:r>
              <a:rPr sz="1200">
                <a:solidFill>
                  <a:srgbClr val="FFC72C"/>
                </a:solidFill>
                <a:latin typeface="Calibri"/>
              </a:rPr>
              <a:t>▪  </a:t>
            </a:r>
            <a:r>
              <a:rPr b="1" sz="1200">
                <a:solidFill>
                  <a:srgbClr val="1F2A44"/>
                </a:solidFill>
                <a:latin typeface="Calibri"/>
              </a:rPr>
              <a:t>Use as a bracket, not a price. </a:t>
            </a:r>
            <a:r>
              <a:rPr sz="1200">
                <a:solidFill>
                  <a:srgbClr val="1F2A44"/>
                </a:solidFill>
                <a:latin typeface="Calibri"/>
              </a:rPr>
              <a:t>Residual spread is a factor of 1.4. In the fuller model utility ownership adds 26% at the same size, duration and year (p 0.01); region is not significant.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APPENDIX C. ELEMENT-LEVEL SIMULATION, 20,000 TRIALS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Monte Carlo on the layers: reserve covers the modeled ranges, thin against history</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40</a:t>
            </a:r>
          </a:p>
        </p:txBody>
      </p:sp>
      <p:pic>
        <p:nvPicPr>
          <p:cNvPr id="7" name="Picture 6" descr="mc_hist.png"/>
          <p:cNvPicPr>
            <a:picLocks noChangeAspect="1"/>
          </p:cNvPicPr>
          <p:nvPr/>
        </p:nvPicPr>
        <p:blipFill>
          <a:blip r:embed="rId2"/>
          <a:stretch>
            <a:fillRect/>
          </a:stretch>
        </p:blipFill>
        <p:spPr>
          <a:xfrm>
            <a:off x="457200" y="1371600"/>
            <a:ext cx="5852160" cy="2618072"/>
          </a:xfrm>
          <a:prstGeom prst="rect">
            <a:avLst/>
          </a:prstGeom>
        </p:spPr>
      </p:pic>
      <p:pic>
        <p:nvPicPr>
          <p:cNvPr id="8" name="Picture 7" descr="mc_tornado.png"/>
          <p:cNvPicPr>
            <a:picLocks noChangeAspect="1"/>
          </p:cNvPicPr>
          <p:nvPr/>
        </p:nvPicPr>
        <p:blipFill>
          <a:blip r:embed="rId3"/>
          <a:stretch>
            <a:fillRect/>
          </a:stretch>
        </p:blipFill>
        <p:spPr>
          <a:xfrm>
            <a:off x="457200" y="4069080"/>
            <a:ext cx="5852160" cy="2310063"/>
          </a:xfrm>
          <a:prstGeom prst="rect">
            <a:avLst/>
          </a:prstGeom>
        </p:spPr>
      </p:pic>
      <p:graphicFrame>
        <p:nvGraphicFramePr>
          <p:cNvPr id="9" name="Table 8"/>
          <p:cNvGraphicFramePr>
            <a:graphicFrameLocks noGrp="1"/>
          </p:cNvGraphicFramePr>
          <p:nvPr/>
        </p:nvGraphicFramePr>
        <p:xfrm>
          <a:off x="6583680" y="1417320"/>
          <a:ext cx="5120640" cy="2377440"/>
        </p:xfrm>
        <a:graphic>
          <a:graphicData uri="http://schemas.openxmlformats.org/drawingml/2006/table">
            <a:tbl>
              <a:tblPr firstRow="1" bandRow="1">
                <a:tableStyleId>{5C22544A-7EE6-4342-B048-85BDC9FD1C3A}</a:tableStyleId>
              </a:tblPr>
              <a:tblGrid>
                <a:gridCol w="2377440"/>
                <a:gridCol w="1371600"/>
                <a:gridCol w="1371600"/>
              </a:tblGrid>
              <a:tr h="396240">
                <a:tc>
                  <a:txBody>
                    <a:bodyPr/>
                    <a:lstStyle/>
                    <a:p>
                      <a:r>
                        <a:rPr sz="1200" b="1">
                          <a:solidFill>
                            <a:srgbClr val="FFFFFF"/>
                          </a:solidFill>
                          <a:latin typeface="Calibri"/>
                        </a:rPr>
                        <a:t/>
                      </a:r>
                    </a:p>
                  </a:txBody>
                  <a:tcPr marL="54864" marR="54864" marT="27432" marB="27432">
                    <a:solidFill>
                      <a:srgbClr val="001E60"/>
                    </a:solidFill>
                  </a:tcPr>
                </a:tc>
                <a:tc>
                  <a:txBody>
                    <a:bodyPr/>
                    <a:lstStyle/>
                    <a:p>
                      <a:pPr algn="r"/>
                      <a:r>
                        <a:rPr sz="1200" b="1">
                          <a:solidFill>
                            <a:srgbClr val="FFFFFF"/>
                          </a:solidFill>
                          <a:latin typeface="Calibri"/>
                        </a:rPr>
                        <a:t>Base ranges</a:t>
                      </a:r>
                    </a:p>
                  </a:txBody>
                  <a:tcPr marL="54864" marR="54864" marT="27432" marB="27432">
                    <a:solidFill>
                      <a:srgbClr val="001E60"/>
                    </a:solidFill>
                  </a:tcPr>
                </a:tc>
                <a:tc>
                  <a:txBody>
                    <a:bodyPr/>
                    <a:lstStyle/>
                    <a:p>
                      <a:pPr algn="r"/>
                      <a:r>
                        <a:rPr sz="1200" b="1">
                          <a:solidFill>
                            <a:srgbClr val="FFFFFF"/>
                          </a:solidFill>
                          <a:latin typeface="Calibri"/>
                        </a:rPr>
                        <a:t>Wide ranges</a:t>
                      </a:r>
                    </a:p>
                  </a:txBody>
                  <a:tcPr marL="54864" marR="54864" marT="27432" marB="27432">
                    <a:solidFill>
                      <a:srgbClr val="001E60"/>
                    </a:solidFill>
                  </a:tcPr>
                </a:tc>
              </a:tr>
              <a:tr h="396240">
                <a:tc>
                  <a:txBody>
                    <a:bodyPr/>
                    <a:lstStyle/>
                    <a:p>
                      <a:r>
                        <a:rPr sz="1200" b="0">
                          <a:solidFill>
                            <a:srgbClr val="1F2A44"/>
                          </a:solidFill>
                          <a:latin typeface="Calibri"/>
                        </a:rPr>
                        <a:t>P50 total</a:t>
                      </a:r>
                    </a:p>
                  </a:txBody>
                  <a:tcPr marL="54864" marR="54864" marT="27432" marB="27432" anchor="ctr">
                    <a:solidFill>
                      <a:srgbClr val="FFFFFF"/>
                    </a:solidFill>
                  </a:tcPr>
                </a:tc>
                <a:tc>
                  <a:txBody>
                    <a:bodyPr/>
                    <a:lstStyle/>
                    <a:p>
                      <a:pPr algn="r"/>
                      <a:r>
                        <a:rPr sz="1200" b="0">
                          <a:solidFill>
                            <a:srgbClr val="1F2A44"/>
                          </a:solidFill>
                          <a:latin typeface="Calibri"/>
                        </a:rPr>
                        <a:t>$51.3M</a:t>
                      </a:r>
                    </a:p>
                  </a:txBody>
                  <a:tcPr marL="54864" marR="54864" marT="27432" marB="27432" anchor="ctr">
                    <a:solidFill>
                      <a:srgbClr val="FFFFFF"/>
                    </a:solidFill>
                  </a:tcPr>
                </a:tc>
                <a:tc>
                  <a:txBody>
                    <a:bodyPr/>
                    <a:lstStyle/>
                    <a:p>
                      <a:pPr algn="r"/>
                      <a:r>
                        <a:rPr sz="1200" b="0">
                          <a:solidFill>
                            <a:srgbClr val="1F2A44"/>
                          </a:solidFill>
                          <a:latin typeface="Calibri"/>
                        </a:rPr>
                        <a:t>$53.4M</a:t>
                      </a:r>
                    </a:p>
                  </a:txBody>
                  <a:tcPr marL="54864" marR="54864" marT="27432" marB="27432" anchor="ctr">
                    <a:solidFill>
                      <a:srgbClr val="FFFFFF"/>
                    </a:solidFill>
                  </a:tcPr>
                </a:tc>
              </a:tr>
              <a:tr h="396240">
                <a:tc>
                  <a:txBody>
                    <a:bodyPr/>
                    <a:lstStyle/>
                    <a:p>
                      <a:r>
                        <a:rPr sz="1200" b="0">
                          <a:solidFill>
                            <a:srgbClr val="1F2A44"/>
                          </a:solidFill>
                          <a:latin typeface="Calibri"/>
                        </a:rPr>
                        <a:t>P80 total</a:t>
                      </a:r>
                    </a:p>
                  </a:txBody>
                  <a:tcPr marL="54864" marR="54864" marT="27432" marB="27432" anchor="ctr">
                    <a:solidFill>
                      <a:srgbClr val="F2F4F8"/>
                    </a:solidFill>
                  </a:tcPr>
                </a:tc>
                <a:tc>
                  <a:txBody>
                    <a:bodyPr/>
                    <a:lstStyle/>
                    <a:p>
                      <a:pPr algn="r"/>
                      <a:r>
                        <a:rPr sz="1200" b="0">
                          <a:solidFill>
                            <a:srgbClr val="1F2A44"/>
                          </a:solidFill>
                          <a:latin typeface="Calibri"/>
                        </a:rPr>
                        <a:t>$53.0M</a:t>
                      </a:r>
                    </a:p>
                  </a:txBody>
                  <a:tcPr marL="54864" marR="54864" marT="27432" marB="27432" anchor="ctr">
                    <a:solidFill>
                      <a:srgbClr val="F2F4F8"/>
                    </a:solidFill>
                  </a:tcPr>
                </a:tc>
                <a:tc>
                  <a:txBody>
                    <a:bodyPr/>
                    <a:lstStyle/>
                    <a:p>
                      <a:pPr algn="r"/>
                      <a:r>
                        <a:rPr sz="1200" b="0">
                          <a:solidFill>
                            <a:srgbClr val="1F2A44"/>
                          </a:solidFill>
                          <a:latin typeface="Calibri"/>
                        </a:rPr>
                        <a:t>$55.9M</a:t>
                      </a:r>
                    </a:p>
                  </a:txBody>
                  <a:tcPr marL="54864" marR="54864" marT="27432" marB="27432" anchor="ctr">
                    <a:solidFill>
                      <a:srgbClr val="F2F4F8"/>
                    </a:solidFill>
                  </a:tcPr>
                </a:tc>
              </a:tr>
              <a:tr h="396240">
                <a:tc>
                  <a:txBody>
                    <a:bodyPr/>
                    <a:lstStyle/>
                    <a:p>
                      <a:r>
                        <a:rPr sz="1200" b="0">
                          <a:solidFill>
                            <a:srgbClr val="1F2A44"/>
                          </a:solidFill>
                          <a:latin typeface="Calibri"/>
                        </a:rPr>
                        <a:t>Reserve to reach P80</a:t>
                      </a:r>
                    </a:p>
                  </a:txBody>
                  <a:tcPr marL="54864" marR="54864" marT="27432" marB="27432" anchor="ctr">
                    <a:solidFill>
                      <a:srgbClr val="FFFFFF"/>
                    </a:solidFill>
                  </a:tcPr>
                </a:tc>
                <a:tc>
                  <a:txBody>
                    <a:bodyPr/>
                    <a:lstStyle/>
                    <a:p>
                      <a:pPr algn="r"/>
                      <a:r>
                        <a:rPr sz="1200" b="0">
                          <a:solidFill>
                            <a:srgbClr val="1F2A44"/>
                          </a:solidFill>
                          <a:latin typeface="Calibri"/>
                        </a:rPr>
                        <a:t>$3.4M</a:t>
                      </a:r>
                    </a:p>
                  </a:txBody>
                  <a:tcPr marL="54864" marR="54864" marT="27432" marB="27432" anchor="ctr">
                    <a:solidFill>
                      <a:srgbClr val="FFFFFF"/>
                    </a:solidFill>
                  </a:tcPr>
                </a:tc>
                <a:tc>
                  <a:txBody>
                    <a:bodyPr/>
                    <a:lstStyle/>
                    <a:p>
                      <a:pPr algn="r"/>
                      <a:r>
                        <a:rPr sz="1200" b="0">
                          <a:solidFill>
                            <a:srgbClr val="1F2A44"/>
                          </a:solidFill>
                          <a:latin typeface="Calibri"/>
                        </a:rPr>
                        <a:t>$6.2M</a:t>
                      </a:r>
                    </a:p>
                  </a:txBody>
                  <a:tcPr marL="54864" marR="54864" marT="27432" marB="27432" anchor="ctr">
                    <a:solidFill>
                      <a:srgbClr val="FFFFFF"/>
                    </a:solidFill>
                  </a:tcPr>
                </a:tc>
              </a:tr>
              <a:tr h="396240">
                <a:tc>
                  <a:txBody>
                    <a:bodyPr/>
                    <a:lstStyle/>
                    <a:p>
                      <a:r>
                        <a:rPr sz="1200" b="0">
                          <a:solidFill>
                            <a:srgbClr val="1F2A44"/>
                          </a:solidFill>
                          <a:latin typeface="Calibri"/>
                        </a:rPr>
                        <a:t>Carried risk + contingency</a:t>
                      </a:r>
                    </a:p>
                  </a:txBody>
                  <a:tcPr marL="54864" marR="54864" marT="27432" marB="27432" anchor="ctr">
                    <a:solidFill>
                      <a:srgbClr val="F2F4F8"/>
                    </a:solidFill>
                  </a:tcPr>
                </a:tc>
                <a:tc>
                  <a:txBody>
                    <a:bodyPr/>
                    <a:lstStyle/>
                    <a:p>
                      <a:pPr algn="r"/>
                      <a:r>
                        <a:rPr sz="1200" b="0">
                          <a:solidFill>
                            <a:srgbClr val="1F2A44"/>
                          </a:solidFill>
                          <a:latin typeface="Calibri"/>
                        </a:rPr>
                        <a:t>$7.6M</a:t>
                      </a:r>
                    </a:p>
                  </a:txBody>
                  <a:tcPr marL="54864" marR="54864" marT="27432" marB="27432" anchor="ctr">
                    <a:solidFill>
                      <a:srgbClr val="F2F4F8"/>
                    </a:solidFill>
                  </a:tcPr>
                </a:tc>
                <a:tc>
                  <a:txBody>
                    <a:bodyPr/>
                    <a:lstStyle/>
                    <a:p>
                      <a:pPr algn="r"/>
                      <a:r>
                        <a:rPr sz="1200" b="0">
                          <a:solidFill>
                            <a:srgbClr val="1F2A44"/>
                          </a:solidFill>
                          <a:latin typeface="Calibri"/>
                        </a:rPr>
                        <a:t>$7.6M</a:t>
                      </a:r>
                    </a:p>
                  </a:txBody>
                  <a:tcPr marL="54864" marR="54864" marT="27432" marB="27432" anchor="ctr">
                    <a:solidFill>
                      <a:srgbClr val="F2F4F8"/>
                    </a:solidFill>
                  </a:tcPr>
                </a:tc>
              </a:tr>
              <a:tr h="396240">
                <a:tc>
                  <a:txBody>
                    <a:bodyPr/>
                    <a:lstStyle/>
                    <a:p>
                      <a:r>
                        <a:rPr sz="1200" b="0">
                          <a:solidFill>
                            <a:srgbClr val="1F2A44"/>
                          </a:solidFill>
                          <a:latin typeface="Calibri"/>
                        </a:rPr>
                        <a:t>P(total &gt; $57.2M)</a:t>
                      </a:r>
                    </a:p>
                  </a:txBody>
                  <a:tcPr marL="54864" marR="54864" marT="27432" marB="27432" anchor="ctr">
                    <a:solidFill>
                      <a:srgbClr val="FFFFFF"/>
                    </a:solidFill>
                  </a:tcPr>
                </a:tc>
                <a:tc>
                  <a:txBody>
                    <a:bodyPr/>
                    <a:lstStyle/>
                    <a:p>
                      <a:pPr algn="r"/>
                      <a:r>
                        <a:rPr sz="1200" b="0">
                          <a:solidFill>
                            <a:srgbClr val="1F2A44"/>
                          </a:solidFill>
                          <a:latin typeface="Calibri"/>
                        </a:rPr>
                        <a:t>0%</a:t>
                      </a:r>
                    </a:p>
                  </a:txBody>
                  <a:tcPr marL="54864" marR="54864" marT="27432" marB="27432" anchor="ctr">
                    <a:solidFill>
                      <a:srgbClr val="FFFFFF"/>
                    </a:solidFill>
                  </a:tcPr>
                </a:tc>
                <a:tc>
                  <a:txBody>
                    <a:bodyPr/>
                    <a:lstStyle/>
                    <a:p>
                      <a:pPr algn="r"/>
                      <a:r>
                        <a:rPr sz="1200" b="0">
                          <a:solidFill>
                            <a:srgbClr val="1F2A44"/>
                          </a:solidFill>
                          <a:latin typeface="Calibri"/>
                        </a:rPr>
                        <a:t>10%</a:t>
                      </a:r>
                    </a:p>
                  </a:txBody>
                  <a:tcPr marL="54864" marR="54864" marT="27432" marB="27432" anchor="ctr">
                    <a:solidFill>
                      <a:srgbClr val="FFFFFF"/>
                    </a:solidFill>
                  </a:tcPr>
                </a:tc>
              </a:tr>
            </a:tbl>
          </a:graphicData>
        </a:graphic>
      </p:graphicFrame>
      <p:sp>
        <p:nvSpPr>
          <p:cNvPr id="10" name="TextBox 9"/>
          <p:cNvSpPr txBox="1"/>
          <p:nvPr/>
        </p:nvSpPr>
        <p:spPr>
          <a:xfrm>
            <a:off x="6583680" y="3977639"/>
            <a:ext cx="5120640" cy="2286000"/>
          </a:xfrm>
          <a:prstGeom prst="rect">
            <a:avLst/>
          </a:prstGeom>
          <a:noFill/>
        </p:spPr>
        <p:txBody>
          <a:bodyPr wrap="square" lIns="45720">
            <a:spAutoFit/>
          </a:bodyPr>
          <a:lstStyle/>
          <a:p>
            <a:pPr>
              <a:lnSpc>
                <a:spcPct val="105000"/>
              </a:lnSpc>
              <a:spcAft>
                <a:spcPts val="500"/>
              </a:spcAft>
            </a:pPr>
            <a:r>
              <a:rPr sz="1200">
                <a:solidFill>
                  <a:srgbClr val="FFC72C"/>
                </a:solidFill>
                <a:latin typeface="Calibri"/>
              </a:rPr>
              <a:t>▪  </a:t>
            </a:r>
            <a:r>
              <a:rPr b="1" sz="1200">
                <a:solidFill>
                  <a:srgbClr val="1F2A44"/>
                </a:solidFill>
                <a:latin typeface="Calibri"/>
              </a:rPr>
              <a:t>Distributions </a:t>
            </a:r>
            <a:r>
              <a:rPr sz="1200">
                <a:solidFill>
                  <a:srgbClr val="1F2A44"/>
                </a:solidFill>
                <a:latin typeface="Calibri"/>
              </a:rPr>
              <a:t>are PERT ranges on each of the nine Station 360 layers plus Station 496, indirects and AFUDC; risk register and contingency are not stacked on top (they fund the same outcomes).</a:t>
            </a:r>
          </a:p>
          <a:p>
            <a:pPr>
              <a:lnSpc>
                <a:spcPct val="105000"/>
              </a:lnSpc>
              <a:spcAft>
                <a:spcPts val="500"/>
              </a:spcAft>
            </a:pPr>
            <a:r>
              <a:rPr sz="1200">
                <a:solidFill>
                  <a:srgbClr val="FFC72C"/>
                </a:solidFill>
                <a:latin typeface="Calibri"/>
              </a:rPr>
              <a:t>▪  </a:t>
            </a:r>
            <a:r>
              <a:rPr b="1" sz="1200">
                <a:solidFill>
                  <a:srgbClr val="1F2A44"/>
                </a:solidFill>
                <a:latin typeface="Calibri"/>
              </a:rPr>
              <a:t>Estimate-to-actual uplift on comparables: </a:t>
            </a:r>
            <a:r>
              <a:rPr sz="1200">
                <a:solidFill>
                  <a:srgbClr val="1F2A44"/>
                </a:solidFill>
                <a:latin typeface="Calibri"/>
              </a:rPr>
              <a:t>Fairhaven +64%, Provincetown +9 to +40%, Waena +37%, Regina +31%, Hyde Park Sep cycle +21%. Median about +31%; Rev 3 carries 17.9%.</a:t>
            </a:r>
          </a:p>
          <a:p>
            <a:pPr>
              <a:lnSpc>
                <a:spcPct val="105000"/>
              </a:lnSpc>
              <a:spcAft>
                <a:spcPts val="500"/>
              </a:spcAft>
            </a:pPr>
            <a:r>
              <a:rPr sz="1200">
                <a:solidFill>
                  <a:srgbClr val="FFC72C"/>
                </a:solidFill>
                <a:latin typeface="Calibri"/>
              </a:rPr>
              <a:t>▪  </a:t>
            </a:r>
            <a:r>
              <a:rPr b="1" sz="1200">
                <a:solidFill>
                  <a:srgbClr val="1F2A44"/>
                </a:solidFill>
                <a:latin typeface="Calibri"/>
              </a:rPr>
              <a:t>Next step: </a:t>
            </a:r>
            <a:r>
              <a:rPr sz="1200">
                <a:solidFill>
                  <a:srgbClr val="1F2A44"/>
                </a:solidFill>
                <a:latin typeface="Calibri"/>
              </a:rPr>
              <a:t>replace these ranges with the project team's in a two-hour range-estimating session (AACE 41R-08) before full funding.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
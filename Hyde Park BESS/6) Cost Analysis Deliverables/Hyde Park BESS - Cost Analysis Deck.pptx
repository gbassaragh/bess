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9" r:id="rId31"/>
    <p:sldId id="280" r:id="rId32"/>
    <p:sldId id="281" r:id="rId33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</c:v>
                </c:pt>
                <c:pt idx="1">
                  <c:v>12.99</c:v>
                </c:pt>
                <c:pt idx="2">
                  <c:v>14.72</c:v>
                </c:pt>
                <c:pt idx="3">
                  <c:v>16.66</c:v>
                </c:pt>
                <c:pt idx="4">
                  <c:v>20.5</c:v>
                </c:pt>
                <c:pt idx="5">
                  <c:v>23.19</c:v>
                </c:pt>
                <c:pt idx="6">
                  <c:v>30.45</c:v>
                </c:pt>
                <c:pt idx="7">
                  <c:v>31.71</c:v>
                </c:pt>
                <c:pt idx="8">
                  <c:v>36.13</c:v>
                </c:pt>
                <c:pt idx="9">
                  <c:v>36.92</c:v>
                </c:pt>
                <c:pt idx="10">
                  <c:v>42.22</c:v>
                </c:pt>
                <c:pt idx="11">
                  <c:v>44.5</c:v>
                </c:pt>
                <c:pt idx="12">
                  <c:v>52.57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Layer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2A8A8C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6E1F2E"/>
              </a:solidFill>
            </c:spPr>
          </c:dPt>
          <c:dPt>
            <c:idx val="10"/>
            <c:spPr>
              <a:solidFill>
                <a:srgbClr val="6E1F2E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cat>
            <c:strRef>
              <c:f>Sheet1!$A$2:$A$14</c:f>
              <c:strCache>
                <c:ptCount val="13"/>
                <c:pt idx="0">
                  <c:v>A Battery contract
$13.0M</c:v>
                </c:pt>
                <c:pt idx="1">
                  <c:v>B Battery install
$1.7M</c:v>
                </c:pt>
                <c:pt idx="2">
                  <c:v>C Battery BOP (GSU, EMS)
$1.9M</c:v>
                </c:pt>
                <c:pt idx="3">
                  <c:v>D Sta 360 switching
$3.8M</c:v>
                </c:pt>
                <c:pt idx="4">
                  <c:v>E Site &amp; civil
$2.7M</c:v>
                </c:pt>
                <c:pt idx="5">
                  <c:v>F Sta 496 protection
$7.3M</c:v>
                </c:pt>
                <c:pt idx="6">
                  <c:v>G Testing
$1.3M</c:v>
                </c:pt>
                <c:pt idx="7">
                  <c:v>H Owner soft costs
$4.4M</c:v>
                </c:pt>
                <c:pt idx="8">
                  <c:v>I Taxes, CWIP, BAR
$0.8M</c:v>
                </c:pt>
                <c:pt idx="9">
                  <c:v>J Risk
$5.3M</c:v>
                </c:pt>
                <c:pt idx="10">
                  <c:v>K Contingency
$2.3M</c:v>
                </c:pt>
                <c:pt idx="11">
                  <c:v>L Indirects
$8.1M</c:v>
                </c:pt>
                <c:pt idx="12">
                  <c:v>M AFUDC
$4.7M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12.99</c:v>
                </c:pt>
                <c:pt idx="1">
                  <c:v>1.73</c:v>
                </c:pt>
                <c:pt idx="2">
                  <c:v>1.93</c:v>
                </c:pt>
                <c:pt idx="3">
                  <c:v>3.85</c:v>
                </c:pt>
                <c:pt idx="4">
                  <c:v>2.69</c:v>
                </c:pt>
                <c:pt idx="5">
                  <c:v>7.25</c:v>
                </c:pt>
                <c:pt idx="6">
                  <c:v>1.26</c:v>
                </c:pt>
                <c:pt idx="7">
                  <c:v>4.42</c:v>
                </c:pt>
                <c:pt idx="8">
                  <c:v>0.79</c:v>
                </c:pt>
                <c:pt idx="9">
                  <c:v>5.3</c:v>
                </c:pt>
                <c:pt idx="10">
                  <c:v>2.28</c:v>
                </c:pt>
                <c:pt idx="11">
                  <c:v>8.06</c:v>
                </c:pt>
                <c:pt idx="12">
                  <c:v>4.68</c:v>
                </c:pt>
              </c:numCache>
            </c:numRef>
          </c:val>
        </c:ser>
        <c:gapWidth val="4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spPr>
            <a:solidFill>
              <a:srgbClr val="001E60"/>
            </a:solidFill>
          </c:spPr>
          <c:dPt>
            <c:idx val="0"/>
            <c:spPr>
              <a:solidFill>
                <a:srgbClr val="FFC72C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6E1F2E"/>
              </a:solidFill>
            </c:spPr>
          </c:dPt>
          <c:dPt>
            <c:idx val="6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Vendor contract</c:v>
                </c:pt>
                <c:pt idx="1">
                  <c:v>Battery as carried (contract + escalation)</c:v>
                </c:pt>
                <c:pt idx="2">
                  <c:v>Battery installed (A+B+C)</c:v>
                </c:pt>
                <c:pt idx="3">
                  <c:v>Station complete, direct (no loaders)</c:v>
                </c:pt>
                <c:pt idx="4">
                  <c:v>Station 360 approval level</c:v>
                </c:pt>
                <c:pt idx="5">
                  <c:v>Project 21334 (Sta 360 + 496)</c:v>
                </c:pt>
                <c:pt idx="6">
                  <c:v>All-in incl. D-Line memo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605</c:v>
                </c:pt>
                <c:pt idx="1">
                  <c:v>650</c:v>
                </c:pt>
                <c:pt idx="2">
                  <c:v>833</c:v>
                </c:pt>
                <c:pt idx="3">
                  <c:v>1483</c:v>
                </c:pt>
                <c:pt idx="4">
                  <c:v>2500</c:v>
                </c:pt>
                <c:pt idx="5">
                  <c:v>2862</c:v>
                </c:pt>
                <c:pt idx="6">
                  <c:v>3102</c:v>
                </c:pt>
              </c:numCache>
            </c:numRef>
          </c:val>
        </c:ser>
        <c:gapWidth val="4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9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Loaded $M</c:v>
                </c:pt>
              </c:strCache>
            </c:strRef>
          </c:tx>
          <c:dPt>
            <c:idx val="0"/>
            <c:spPr>
              <a:solidFill>
                <a:srgbClr val="2A8A8C"/>
              </a:solidFill>
            </c:spPr>
          </c:dPt>
          <c:dPt>
            <c:idx val="1"/>
            <c:spPr>
              <a:solidFill>
                <a:srgbClr val="2A8A8C"/>
              </a:solidFill>
            </c:spPr>
          </c:dPt>
          <c:dPt>
            <c:idx val="2"/>
            <c:spPr>
              <a:solidFill>
                <a:srgbClr val="2A8A8C"/>
              </a:solidFill>
            </c:spPr>
          </c:dPt>
          <c:dPt>
            <c:idx val="3"/>
            <c:spPr>
              <a:solidFill>
                <a:srgbClr val="C9D1E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Station 360 switching facilities (D)</c:v>
                </c:pt>
                <c:pt idx="1">
                  <c:v>Site development on landfill (E)</c:v>
                </c:pt>
                <c:pt idx="2">
                  <c:v>Station 496 protection (F)</c:v>
                </c:pt>
                <c:pt idx="3">
                  <c:v>D-Line 24211 (memo)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6.48</c:v>
                </c:pt>
                <c:pt idx="1">
                  <c:v>4.53</c:v>
                </c:pt>
                <c:pt idx="2">
                  <c:v>7.25</c:v>
                </c:pt>
                <c:pt idx="3">
                  <c:v>4.79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6E1F2E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1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Risk register</c:v>
                </c:pt>
                <c:pt idx="1">
                  <c:v>Contingency</c:v>
                </c:pt>
                <c:pt idx="2">
                  <c:v>Indirects / overheads</c:v>
                </c:pt>
                <c:pt idx="3">
                  <c:v>AFUDC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6.07</c:v>
                </c:pt>
                <c:pt idx="1">
                  <c:v>2.62</c:v>
                </c:pt>
                <c:pt idx="2">
                  <c:v>9.99</c:v>
                </c:pt>
                <c:pt idx="3">
                  <c:v>5.01</c:v>
                </c:pt>
              </c:numCache>
            </c:numRef>
          </c:val>
        </c:ser>
      </c:pieChart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Pt>
            <c:idx val="8"/>
            <c:spPr>
              <a:solidFill>
                <a:srgbClr val="001E60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FFC72C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Pt>
            <c:idx val="13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BNEF pack, stationary (2025)</c:v>
                </c:pt>
                <c:pt idx="1">
                  <c:v>Anza distribution-scale AC, delivered (Q1 2026)</c:v>
                </c:pt>
                <c:pt idx="2">
                  <c:v>BNEF US turnkey system (2025)</c:v>
                </c:pt>
                <c:pt idx="3">
                  <c:v>NREL all-in, 4-h 60 MW (2024)</c:v>
                </c:pt>
                <c:pt idx="4">
                  <c:v>EIA/S&amp;L overnight, 4-h 150 MW (2023$)</c:v>
                </c:pt>
                <c:pt idx="5">
                  <c:v>LBNL empirical all-in, 2024 hybrids</c:v>
                </c:pt>
                <c:pt idx="6">
                  <c:v>HECO Waena 40 MW/160 MWh, utility-owned</c:v>
                </c:pt>
                <c:pt idx="7">
                  <c:v>NV Energy Reid Gardner 2-h, utility-owned</c:v>
                </c:pt>
                <c:pt idx="8">
                  <c:v>Eversource Provincetown 1.5-h, final (2022)</c:v>
                </c:pt>
                <c:pt idx="9">
                  <c:v>Hyde Park: Nomad equipment only</c:v>
                </c:pt>
                <c:pt idx="10">
                  <c:v>Hyde Park: vendor contract</c:v>
                </c:pt>
                <c:pt idx="11">
                  <c:v>Hyde Park: battery installed (A+B+C)</c:v>
                </c:pt>
                <c:pt idx="12">
                  <c:v>Hyde Park: station complete, direct</c:v>
                </c:pt>
                <c:pt idx="13">
                  <c:v>Hyde Park: project 21334 approval level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70</c:v>
                </c:pt>
                <c:pt idx="1">
                  <c:v>203</c:v>
                </c:pt>
                <c:pt idx="2">
                  <c:v>219</c:v>
                </c:pt>
                <c:pt idx="3">
                  <c:v>334</c:v>
                </c:pt>
                <c:pt idx="4">
                  <c:v>436</c:v>
                </c:pt>
                <c:pt idx="5">
                  <c:v>458</c:v>
                </c:pt>
                <c:pt idx="6">
                  <c:v>513</c:v>
                </c:pt>
                <c:pt idx="7">
                  <c:v>584</c:v>
                </c:pt>
                <c:pt idx="8">
                  <c:v>1289</c:v>
                </c:pt>
                <c:pt idx="9">
                  <c:v>532</c:v>
                </c:pt>
                <c:pt idx="10">
                  <c:v>605</c:v>
                </c:pt>
                <c:pt idx="11">
                  <c:v>833</c:v>
                </c:pt>
                <c:pt idx="12">
                  <c:v>1483</c:v>
                </c:pt>
                <c:pt idx="13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577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_</c:v>
                </c:pt>
              </c:strCache>
            </c:strRef>
          </c:tx>
          <c:spPr>
            <a:ln w="25400">
              <a:noFill/>
            </a:ln>
          </c:spPr>
          <c:marker>
            <c:symbol val="none"/>
          </c:marker>
          <c:xVal>
            <c:numRef>
              <c:f>Sheet1!$A$2:$A$7</c:f>
              <c:numCache>
                <c:formatCode>General</c:formatCode>
                <c:ptCount val="6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</c:numCache>
            </c:numRef>
          </c:xVal>
          <c:yVal>
            <c:numRef>
              <c:f>Sheet1!$B$2:$B$7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Sheet1!$B$9</c:f>
              <c:strCache>
                <c:ptCount val="1"/>
                <c:pt idx="0">
                  <c:v>EIA reported all-in, utility-scale</c:v>
                </c:pt>
              </c:strCache>
            </c:strRef>
          </c:tx>
          <c:spPr>
            <a:ln w="25400">
              <a:solidFill>
                <a:srgbClr val="1F2A44"/>
              </a:solidFill>
            </a:ln>
          </c:spPr>
          <c:marker>
            <c:symbol val="circle"/>
            <c:size val="7"/>
            <c:spPr>
              <a:solidFill>
                <a:srgbClr val="FFFFFF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Sheet1!$A$10:$A$12</c:f>
              <c:numCache>
                <c:formatCode>General</c:formatCode>
                <c:ptCount val="3"/>
                <c:pt idx="0">
                  <c:v>2015</c:v>
                </c:pt>
                <c:pt idx="1">
                  <c:v>2017</c:v>
                </c:pt>
                <c:pt idx="2">
                  <c:v>2018</c:v>
                </c:pt>
              </c:numCache>
            </c:numRef>
          </c:xVal>
          <c:yVal>
            <c:numRef>
              <c:f>Sheet1!$B$10:$B$12</c:f>
              <c:numCache>
                <c:formatCode>General</c:formatCode>
                <c:ptCount val="3"/>
                <c:pt idx="0">
                  <c:v>2152</c:v>
                </c:pt>
                <c:pt idx="1">
                  <c:v>834</c:v>
                </c:pt>
                <c:pt idx="2">
                  <c:v>625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Sheet1!$B$14</c:f>
              <c:strCache>
                <c:ptCount val="1"/>
                <c:pt idx="0">
                  <c:v>BNEF turnkey system, global avg, 4-h</c:v>
                </c:pt>
              </c:strCache>
            </c:strRef>
          </c:tx>
          <c:spPr>
            <a:ln w="25400">
              <a:solidFill>
                <a:srgbClr val="001E60"/>
              </a:solidFill>
            </a:ln>
          </c:spPr>
          <c:marker>
            <c:symbol val="circle"/>
            <c:size val="7"/>
            <c:spPr>
              <a:solidFill>
                <a:srgbClr val="1F2A44"/>
              </a:solidFill>
              <a:ln>
                <a:solidFill>
                  <a:srgbClr val="1F2A44"/>
                </a:solidFill>
              </a:ln>
            </c:spPr>
          </c:marker>
          <c:xVal>
            <c:numRef>
              <c:f>Sheet1!$A$15:$A$18</c:f>
              <c:numCache>
                <c:formatCode>General</c:formatCode>
                <c:ptCount val="4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</c:numCache>
            </c:numRef>
          </c:xVal>
          <c:yVal>
            <c:numRef>
              <c:f>Sheet1!$B$15:$B$18</c:f>
              <c:numCache>
                <c:formatCode>General</c:formatCode>
                <c:ptCount val="4"/>
                <c:pt idx="0">
                  <c:v>324</c:v>
                </c:pt>
                <c:pt idx="1">
                  <c:v>263</c:v>
                </c:pt>
                <c:pt idx="2">
                  <c:v>165</c:v>
                </c:pt>
                <c:pt idx="3">
                  <c:v>117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Sheet1!$B$20</c:f>
              <c:strCache>
                <c:ptCount val="1"/>
                <c:pt idx="0">
                  <c:v>BNEF turnkey system, United States, 4-h</c:v>
                </c:pt>
              </c:strCache>
            </c:strRef>
          </c:tx>
          <c:spPr>
            <a:ln w="25400">
              <a:solidFill>
                <a:srgbClr val="2A8A8C"/>
              </a:solidFill>
            </a:ln>
          </c:spPr>
          <c:marker>
            <c:symbol val="circle"/>
            <c:size val="7"/>
            <c:spPr>
              <a:solidFill>
                <a:srgbClr val="001E60"/>
              </a:solidFill>
              <a:ln>
                <a:solidFill>
                  <a:srgbClr val="001E60"/>
                </a:solidFill>
              </a:ln>
            </c:spPr>
          </c:marker>
          <c:xVal>
            <c:numRef>
              <c:f>Sheet1!$A$21:$A$22</c:f>
              <c:numCache>
                <c:formatCode>General</c:formatCode>
                <c:ptCount val="2"/>
                <c:pt idx="0">
                  <c:v>2024</c:v>
                </c:pt>
                <c:pt idx="1">
                  <c:v>2025</c:v>
                </c:pt>
              </c:numCache>
            </c:numRef>
          </c:xVal>
          <c:yVal>
            <c:numRef>
              <c:f>Sheet1!$B$21:$B$22</c:f>
              <c:numCache>
                <c:formatCode>General</c:formatCode>
                <c:ptCount val="2"/>
                <c:pt idx="0">
                  <c:v>236</c:v>
                </c:pt>
                <c:pt idx="1">
                  <c:v>219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Sheet1!$B$24</c:f>
              <c:strCache>
                <c:ptCount val="1"/>
                <c:pt idx="0">
                  <c:v>NREL bottom-up all-in, 4-h 60 MW</c:v>
                </c:pt>
              </c:strCache>
            </c:strRef>
          </c:tx>
          <c:spPr>
            <a:ln w="25400">
              <a:solidFill>
                <a:srgbClr val="6B7280"/>
              </a:solidFill>
              <a:prstDash val="dash"/>
            </a:ln>
          </c:spPr>
          <c:marker>
            <c:symbol val="circle"/>
            <c:size val="7"/>
            <c:spPr>
              <a:solidFill>
                <a:srgbClr val="2A8A8C"/>
              </a:solidFill>
              <a:ln>
                <a:solidFill>
                  <a:srgbClr val="2A8A8C"/>
                </a:solidFill>
              </a:ln>
            </c:spPr>
          </c:marker>
          <c:xVal>
            <c:numRef>
              <c:f>Sheet1!$A$25:$A$27</c:f>
              <c:numCache>
                <c:formatCode>General</c:formatCode>
                <c:ptCount val="3"/>
                <c:pt idx="0">
                  <c:v>2024</c:v>
                </c:pt>
                <c:pt idx="1">
                  <c:v>2028</c:v>
                </c:pt>
                <c:pt idx="2">
                  <c:v>2035</c:v>
                </c:pt>
              </c:numCache>
            </c:numRef>
          </c:xVal>
          <c:yVal>
            <c:numRef>
              <c:f>Sheet1!$B$25:$B$27</c:f>
              <c:numCache>
                <c:formatCode>General</c:formatCode>
                <c:ptCount val="3"/>
                <c:pt idx="0">
                  <c:v>334</c:v>
                </c:pt>
                <c:pt idx="1">
                  <c:v>302</c:v>
                </c:pt>
                <c:pt idx="2">
                  <c:v>247</c:v>
                </c:pt>
              </c:numCache>
            </c:numRef>
          </c:yVal>
          <c:smooth val="0"/>
        </c:ser>
        <c:ser>
          <c:idx val="5"/>
          <c:order val="5"/>
          <c:tx>
            <c:strRef>
              <c:f>Sheet1!$B$29</c:f>
              <c:strCache>
                <c:ptCount val="1"/>
                <c:pt idx="0">
                  <c:v>Hyde Park 2023 indicative bids (range)</c:v>
                </c:pt>
              </c:strCache>
            </c:strRef>
          </c:tx>
          <c:spPr>
            <a:ln w="44450">
              <a:solidFill>
                <a:srgbClr val="6E1F2E"/>
              </a:solidFill>
            </a:ln>
          </c:spPr>
          <c:marker>
            <c:symbol val="dash"/>
            <c:size val="12"/>
            <c:spPr>
              <a:solidFill>
                <a:srgbClr val="6B7280"/>
              </a:solidFill>
              <a:ln>
                <a:solidFill>
                  <a:srgbClr val="6B7280"/>
                </a:solidFill>
              </a:ln>
            </c:spPr>
          </c:marker>
          <c:xVal>
            <c:numRef>
              <c:f>Sheet1!$A$30:$A$31</c:f>
              <c:numCache>
                <c:formatCode>General</c:formatCode>
                <c:ptCount val="2"/>
                <c:pt idx="0">
                  <c:v>2023.5</c:v>
                </c:pt>
                <c:pt idx="1">
                  <c:v>2023.5</c:v>
                </c:pt>
              </c:numCache>
            </c:numRef>
          </c:xVal>
          <c:yVal>
            <c:numRef>
              <c:f>Sheet1!$B$30:$B$31</c:f>
              <c:numCache>
                <c:formatCode>General</c:formatCode>
                <c:ptCount val="2"/>
                <c:pt idx="0">
                  <c:v>479</c:v>
                </c:pt>
                <c:pt idx="1">
                  <c:v>911</c:v>
                </c:pt>
              </c:numCache>
            </c:numRef>
          </c:yVal>
          <c:smooth val="0"/>
        </c:ser>
        <c:ser>
          <c:idx val="6"/>
          <c:order val="6"/>
          <c:tx>
            <c:strRef>
              <c:f>Sheet1!$B$33</c:f>
              <c:strCache>
                <c:ptCount val="1"/>
                <c:pt idx="0">
                  <c:v>Hyde Park 2026 (equipment, contract, as carried, installed)</c:v>
                </c:pt>
              </c:strCache>
            </c:strRef>
          </c:tx>
          <c:spPr>
            <a:ln w="25400">
              <a:noFill/>
            </a:ln>
          </c:spPr>
          <c:marker>
            <c:symbol val="diamond"/>
            <c:size val="11"/>
            <c:spPr>
              <a:solidFill>
                <a:srgbClr val="6E1F2E"/>
              </a:solidFill>
              <a:ln>
                <a:solidFill>
                  <a:srgbClr val="001E60"/>
                </a:solidFill>
              </a:ln>
            </c:spPr>
          </c:marker>
          <c:dLbls>
            <c:dLbl>
              <c:idx val="0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$532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$605</a:t>
                    </a:r>
                  </a:p>
                </c:rich>
              </c:tx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$650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900" b="1">
                        <a:solidFill>
                          <a:srgbClr val="001E60"/>
                        </a:solidFill>
                      </a:rPr>
                      <a:t>$833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xVal>
            <c:numRef>
              <c:f>Sheet1!$A$34:$A$37</c:f>
              <c:numCache>
                <c:formatCode>General</c:formatCode>
                <c:ptCount val="4"/>
                <c:pt idx="0">
                  <c:v>2026.2</c:v>
                </c:pt>
                <c:pt idx="1">
                  <c:v>2026.2</c:v>
                </c:pt>
                <c:pt idx="2">
                  <c:v>2026.75</c:v>
                </c:pt>
                <c:pt idx="3">
                  <c:v>2026.75</c:v>
                </c:pt>
              </c:numCache>
            </c:numRef>
          </c:xVal>
          <c:yVal>
            <c:numRef>
              <c:f>Sheet1!$B$34:$B$37</c:f>
              <c:numCache>
                <c:formatCode>General</c:formatCode>
                <c:ptCount val="4"/>
                <c:pt idx="0">
                  <c:v>532</c:v>
                </c:pt>
                <c:pt idx="1">
                  <c:v>605</c:v>
                </c:pt>
                <c:pt idx="2">
                  <c:v>650</c:v>
                </c:pt>
                <c:pt idx="3">
                  <c:v>833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2029.0"/>
          <c:min val="2014.5"/>
        </c:scaling>
        <c:delete val="0"/>
        <c:axPos val="b"/>
        <c:numFmt formatCode="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9643912"/>
        <c:crosses val="autoZero"/>
        <c:crossBetween val="midCat"/>
        <c:majorUnit val="2.0"/>
      </c:valAx>
      <c:valAx>
        <c:axId val="-2129643912"/>
        <c:scaling>
          <c:logBase val="10"/>
          <c:orientation val="minMax"/>
          <c:max val="3000.0"/>
          <c:min val="100.0"/>
        </c:scaling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50"/>
            </a:pPr>
          </a:p>
        </c:txPr>
        <c:crossAx val="-2128940872"/>
        <c:crosses val="autoZero"/>
        <c:crossBetween val="midCat"/>
      </c:valAx>
    </c:plotArea>
    <c:legend>
      <c:legendPos val="b"/>
      <c:legendEntry>
        <c:idx val="0"/>
        <c:delete val="1"/>
      </c:legendEntry>
      <c:layout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Nominal, year reported</c:v>
                </c:pt>
              </c:strCache>
            </c:strRef>
          </c:tx>
          <c:spPr>
            <a:solidFill>
              <a:srgbClr val="C9D1E0"/>
            </a:solidFill>
          </c:spPr>
          <c:dPt>
            <c:idx val="13"/>
            <c:spPr>
              <a:solidFill>
                <a:srgbClr val="FFC72C"/>
              </a:solidFill>
            </c:spPr>
          </c:dPt>
          <c:dPt>
            <c:idx val="14"/>
            <c:spPr>
              <a:solidFill>
                <a:srgbClr val="6E1F2E"/>
              </a:solidFill>
            </c:spPr>
          </c:dPt>
          <c:cat>
            <c:strRef>
              <c:f>Sheet1!$A$2:$A$16</c:f>
              <c:strCache>
                <c:ptCount val="15"/>
                <c:pt idx="0">
                  <c:v>Martha's Vineyard BESS Phase 2 (2019)</c:v>
                </c:pt>
                <c:pt idx="1">
                  <c:v>Pomona (Ladentown) BESS (2021)</c:v>
                </c:pt>
                <c:pt idx="2">
                  <c:v>Sterling MLD Chocksett Road BE (2016)</c:v>
                </c:pt>
                <c:pt idx="3">
                  <c:v>Martha's Vineyard BESS Phase 1 (2019)</c:v>
                </c:pt>
                <c:pt idx="4">
                  <c:v>Chugach BESS (Southcentral Pow (2024)</c:v>
                </c:pt>
                <c:pt idx="5">
                  <c:v>Kingsbery Community Solar + St (2016)</c:v>
                </c:pt>
                <c:pt idx="6">
                  <c:v>Stafford Hill Solar + Storage  (2015)</c:v>
                </c:pt>
                <c:pt idx="7">
                  <c:v>Ozone Park BESS (2019)</c:v>
                </c:pt>
                <c:pt idx="8">
                  <c:v>Harding Street BESS (2016)</c:v>
                </c:pt>
                <c:pt idx="9">
                  <c:v>Outer Cape (Provincetown) BESS (2022)</c:v>
                </c:pt>
                <c:pt idx="10">
                  <c:v>Fairhaven BESS (2023)</c:v>
                </c:pt>
                <c:pt idx="11">
                  <c:v>Glacier BESS (2016)</c:v>
                </c:pt>
                <c:pt idx="12">
                  <c:v>Dalrymple ESCRI BESS [AUSTRALI (2018)</c:v>
                </c:pt>
                <c:pt idx="13">
                  <c:v>Hyde Park installed (A+B+C)</c:v>
                </c:pt>
                <c:pt idx="14">
                  <c:v>Hyde Park station complete, direct</c:v>
                </c:pt>
              </c:strCache>
            </c: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438</c:v>
                </c:pt>
                <c:pt idx="1">
                  <c:v>617</c:v>
                </c:pt>
                <c:pt idx="2">
                  <c:v>692</c:v>
                </c:pt>
                <c:pt idx="3">
                  <c:v>750</c:v>
                </c:pt>
                <c:pt idx="4">
                  <c:v>812</c:v>
                </c:pt>
                <c:pt idx="5">
                  <c:v>1000</c:v>
                </c:pt>
                <c:pt idx="6">
                  <c:v>1235</c:v>
                </c:pt>
                <c:pt idx="7">
                  <c:v>1250</c:v>
                </c:pt>
                <c:pt idx="8">
                  <c:v>1250</c:v>
                </c:pt>
                <c:pt idx="9">
                  <c:v>1289</c:v>
                </c:pt>
                <c:pt idx="10">
                  <c:v>1659</c:v>
                </c:pt>
                <c:pt idx="11">
                  <c:v>2545</c:v>
                </c:pt>
                <c:pt idx="12">
                  <c:v>2775</c:v>
                </c:pt>
                <c:pt idx="13">
                  <c:v>833</c:v>
                </c:pt>
                <c:pt idx="14">
                  <c:v>1483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dollars (installed index, 40% battery share)</c:v>
                </c:pt>
              </c:strCache>
            </c:strRef>
          </c:tx>
          <c:spPr>
            <a:solidFill>
              <a:srgbClr val="001E60"/>
            </a:solidFill>
          </c:spPr>
          <c:dPt>
            <c:idx val="13"/>
            <c:spPr>
              <a:solidFill>
                <a:srgbClr val="FFC72C"/>
              </a:solidFill>
            </c:spPr>
          </c:dPt>
          <c:dPt>
            <c:idx val="14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85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Sheet1!$A$2:$A$16</c:f>
              <c:strCache>
                <c:ptCount val="15"/>
                <c:pt idx="0">
                  <c:v>Martha's Vineyard BESS Phase 2 (2019)</c:v>
                </c:pt>
                <c:pt idx="1">
                  <c:v>Pomona (Ladentown) BESS (2021)</c:v>
                </c:pt>
                <c:pt idx="2">
                  <c:v>Sterling MLD Chocksett Road BE (2016)</c:v>
                </c:pt>
                <c:pt idx="3">
                  <c:v>Martha's Vineyard BESS Phase 1 (2019)</c:v>
                </c:pt>
                <c:pt idx="4">
                  <c:v>Chugach BESS (Southcentral Pow (2024)</c:v>
                </c:pt>
                <c:pt idx="5">
                  <c:v>Kingsbery Community Solar + St (2016)</c:v>
                </c:pt>
                <c:pt idx="6">
                  <c:v>Stafford Hill Solar + Storage  (2015)</c:v>
                </c:pt>
                <c:pt idx="7">
                  <c:v>Ozone Park BESS (2019)</c:v>
                </c:pt>
                <c:pt idx="8">
                  <c:v>Harding Street BESS (2016)</c:v>
                </c:pt>
                <c:pt idx="9">
                  <c:v>Outer Cape (Provincetown) BESS (2022)</c:v>
                </c:pt>
                <c:pt idx="10">
                  <c:v>Fairhaven BESS (2023)</c:v>
                </c:pt>
                <c:pt idx="11">
                  <c:v>Glacier BESS (2016)</c:v>
                </c:pt>
                <c:pt idx="12">
                  <c:v>Dalrymple ESCRI BESS [AUSTRALI (2018)</c:v>
                </c:pt>
                <c:pt idx="13">
                  <c:v>Hyde Park installed (A+B+C)</c:v>
                </c:pt>
                <c:pt idx="14">
                  <c:v>Hyde Park station complete, direct</c:v>
                </c:pt>
              </c:strCache>
            </c:strRef>
          </c:cat>
          <c:val>
            <c:numRef>
              <c:f>Sheet1!$C$2:$C$16</c:f>
              <c:numCache>
                <c:formatCode>General</c:formatCode>
                <c:ptCount val="15"/>
                <c:pt idx="0">
                  <c:v>468</c:v>
                </c:pt>
                <c:pt idx="1">
                  <c:v>648</c:v>
                </c:pt>
                <c:pt idx="2">
                  <c:v>671</c:v>
                </c:pt>
                <c:pt idx="3">
                  <c:v>803</c:v>
                </c:pt>
                <c:pt idx="4">
                  <c:v>847</c:v>
                </c:pt>
                <c:pt idx="5">
                  <c:v>969</c:v>
                </c:pt>
                <c:pt idx="6">
                  <c:v>1187</c:v>
                </c:pt>
                <c:pt idx="7">
                  <c:v>1338</c:v>
                </c:pt>
                <c:pt idx="8">
                  <c:v>1211</c:v>
                </c:pt>
                <c:pt idx="9">
                  <c:v>1348</c:v>
                </c:pt>
                <c:pt idx="10">
                  <c:v>1729</c:v>
                </c:pt>
                <c:pt idx="11">
                  <c:v>2467</c:v>
                </c:pt>
                <c:pt idx="12">
                  <c:v>3006</c:v>
                </c:pt>
                <c:pt idx="13">
                  <c:v>833</c:v>
                </c:pt>
                <c:pt idx="14">
                  <c:v>1483</c:v>
                </c:pt>
              </c:numCache>
            </c:numRef>
          </c:val>
        </c:ser>
        <c:gapWidth val="35"/>
        <c:overlap val="-1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85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50">
              <a:latin typeface="Calibri"/>
            </a:defRPr>
          </a:pPr>
        </a:p>
      </c:txPr>
    </c:legend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001E60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2A8A8C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2A8A8C"/>
              </a:solidFill>
            </c:spPr>
          </c:dPt>
          <c:dPt>
            <c:idx val="8"/>
            <c:spPr>
              <a:solidFill>
                <a:srgbClr val="2A8A8C"/>
              </a:solidFill>
            </c:spPr>
          </c:dPt>
          <c:dPt>
            <c:idx val="9"/>
            <c:spPr>
              <a:solidFill>
                <a:srgbClr val="FFC72C"/>
              </a:solidFill>
            </c:spPr>
          </c:dPt>
          <c:dPt>
            <c:idx val="10"/>
            <c:spPr>
              <a:solidFill>
                <a:srgbClr val="FFC72C"/>
              </a:solidFill>
            </c:spPr>
          </c:dPt>
          <c:dPt>
            <c:idx val="11"/>
            <c:spPr>
              <a:solidFill>
                <a:srgbClr val="6E1F2E"/>
              </a:solidFill>
            </c:spPr>
          </c:dPt>
          <c:dPt>
            <c:idx val="12"/>
            <c:spPr>
              <a:solidFill>
                <a:srgbClr val="6E1F2E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NYSERDA retail avg, 2020-21 installs</c:v>
                </c:pt>
                <c:pt idx="1">
                  <c:v>NYSERDA retail avg, 2022-23 installs</c:v>
                </c:pt>
                <c:pt idx="2">
                  <c:v>Elevate, Victory Blvd SI, 15 MW / 60 MWh (2025)</c:v>
                </c:pt>
                <c:pt idx="3">
                  <c:v>O&amp;R Pomona, 3 MW / 12 MWh, utility (2021)</c:v>
                </c:pt>
                <c:pt idx="4">
                  <c:v>Soltage Maspeth, 5 MW / 20 MWh* (2025)</c:v>
                </c:pt>
                <c:pt idx="5">
                  <c:v>NineDot 28-site portfolio, financing floor (2026-27)</c:v>
                </c:pt>
                <c:pt idx="6">
                  <c:v>NineDot Arthur Kill Rd, 9.8 MW / 39 MWh (2025)</c:v>
                </c:pt>
                <c:pt idx="7">
                  <c:v>Con Ed Ozone Park, 1.5 MW / 12 MWh, utility (2019)</c:v>
                </c:pt>
                <c:pt idx="8">
                  <c:v>NYPA Chateaugay, 20 MW / 20 MWh, utility (2023)</c:v>
                </c:pt>
                <c:pt idx="9">
                  <c:v>Hyde Park: vendor contract</c:v>
                </c:pt>
                <c:pt idx="10">
                  <c:v>Hyde Park: battery installed (A+B+C)</c:v>
                </c:pt>
                <c:pt idx="11">
                  <c:v>Hyde Park: station complete, direct</c:v>
                </c:pt>
                <c:pt idx="12">
                  <c:v>Hyde Park: project 21334 approval level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464</c:v>
                </c:pt>
                <c:pt idx="1">
                  <c:v>567</c:v>
                </c:pt>
                <c:pt idx="2">
                  <c:v>524</c:v>
                </c:pt>
                <c:pt idx="3">
                  <c:v>617</c:v>
                </c:pt>
                <c:pt idx="4">
                  <c:v>805</c:v>
                </c:pt>
                <c:pt idx="5">
                  <c:v>872</c:v>
                </c:pt>
                <c:pt idx="6">
                  <c:v>1110</c:v>
                </c:pt>
                <c:pt idx="7">
                  <c:v>1250</c:v>
                </c:pt>
                <c:pt idx="8">
                  <c:v>1490</c:v>
                </c:pt>
                <c:pt idx="9">
                  <c:v>605</c:v>
                </c:pt>
                <c:pt idx="10">
                  <c:v>833</c:v>
                </c:pt>
                <c:pt idx="11">
                  <c:v>1483</c:v>
                </c:pt>
                <c:pt idx="12">
                  <c:v>2862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60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5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$M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FFC72C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001E60"/>
              </a:solidFill>
            </c:spPr>
          </c:dPt>
          <c:dPt>
            <c:idx val="4"/>
            <c:spPr>
              <a:solidFill>
                <a:srgbClr val="FFC72C"/>
              </a:solidFill>
            </c:spPr>
          </c:dPt>
          <c:dPt>
            <c:idx val="5"/>
            <c:spPr>
              <a:solidFill>
                <a:srgbClr val="001E60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Pt>
            <c:idx val="7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Jun 2021
IFR</c:v>
                </c:pt>
                <c:pt idx="1">
                  <c:v>Jul 2023
Vendor indicative
(Company 3, turnkey)</c:v>
                </c:pt>
                <c:pt idx="2">
                  <c:v>Dec 2023
E-23-373
conceptual</c:v>
                </c:pt>
                <c:pt idx="3">
                  <c:v>Feb 2024
SSF incl.
D-Line</c:v>
                </c:pt>
                <c:pt idx="4">
                  <c:v>Mar 2026
Nomad
contract</c:v>
                </c:pt>
                <c:pt idx="5">
                  <c:v>Aug 2026
Rev 0</c:v>
                </c:pt>
                <c:pt idx="6">
                  <c:v>Sep 2026
Rev 2</c:v>
                </c:pt>
                <c:pt idx="7">
                  <c:v>Sep 2026
Rev 3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0.2</c:v>
                </c:pt>
                <c:pt idx="1">
                  <c:v>18.2</c:v>
                </c:pt>
                <c:pt idx="2">
                  <c:v>43.9</c:v>
                </c:pt>
                <c:pt idx="3">
                  <c:v>49.2</c:v>
                </c:pt>
                <c:pt idx="4">
                  <c:v>12.1</c:v>
                </c:pt>
                <c:pt idx="5">
                  <c:v>47.2</c:v>
                </c:pt>
                <c:pt idx="6">
                  <c:v>63.6</c:v>
                </c:pt>
                <c:pt idx="7">
                  <c:v>57.2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2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E-23-373 (Dec 2023)</c:v>
                </c:pt>
              </c:strCache>
            </c:strRef>
          </c:tx>
          <c:spPr>
            <a:solidFill>
              <a:srgbClr val="C9D1E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13.76</c:v>
                </c:pt>
                <c:pt idx="1">
                  <c:v>6.92</c:v>
                </c:pt>
                <c:pt idx="2">
                  <c:v>1.06</c:v>
                </c:pt>
                <c:pt idx="3">
                  <c:v>0.79</c:v>
                </c:pt>
                <c:pt idx="4">
                  <c:v>0.84</c:v>
                </c:pt>
                <c:pt idx="5">
                  <c:v>1.04</c:v>
                </c:pt>
                <c:pt idx="6">
                  <c:v>0.93</c:v>
                </c:pt>
                <c:pt idx="7">
                  <c:v>3.95</c:v>
                </c:pt>
                <c:pt idx="8">
                  <c:v>1.81</c:v>
                </c:pt>
                <c:pt idx="9">
                  <c:v>9.52</c:v>
                </c:pt>
                <c:pt idx="10">
                  <c:v>3.3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Rev 3 (Sep 2026)</c:v>
                </c:pt>
              </c:strCache>
            </c:strRef>
          </c:tx>
          <c:spPr>
            <a:solidFill>
              <a:srgbClr val="001E60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Sheet1!$A$2:$A$12</c:f>
              <c:strCache>
                <c:ptCount val="11"/>
                <c:pt idx="0">
                  <c:v>Materials</c:v>
                </c:pt>
                <c:pt idx="1">
                  <c:v>Construction</c:v>
                </c:pt>
                <c:pt idx="2">
                  <c:v>Testing</c:v>
                </c:pt>
                <c:pt idx="3">
                  <c:v>Engineering</c:v>
                </c:pt>
                <c:pt idx="4">
                  <c:v>Siting + Env + Outreach</c:v>
                </c:pt>
                <c:pt idx="5">
                  <c:v>PMT</c:v>
                </c:pt>
                <c:pt idx="6">
                  <c:v>Other</c:v>
                </c:pt>
                <c:pt idx="7">
                  <c:v>Risks</c:v>
                </c:pt>
                <c:pt idx="8">
                  <c:v>Contingency</c:v>
                </c:pt>
                <c:pt idx="9">
                  <c:v>Indirects</c:v>
                </c:pt>
                <c:pt idx="10">
                  <c:v>AFUDC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16.68</c:v>
                </c:pt>
                <c:pt idx="1">
                  <c:v>8.05</c:v>
                </c:pt>
                <c:pt idx="2">
                  <c:v>3.08</c:v>
                </c:pt>
                <c:pt idx="3">
                  <c:v>0.96</c:v>
                </c:pt>
                <c:pt idx="4">
                  <c:v>1.91</c:v>
                </c:pt>
                <c:pt idx="5">
                  <c:v>1.89</c:v>
                </c:pt>
                <c:pt idx="6">
                  <c:v>0.99</c:v>
                </c:pt>
                <c:pt idx="7">
                  <c:v>6.07</c:v>
                </c:pt>
                <c:pt idx="8">
                  <c:v>2.62</c:v>
                </c:pt>
                <c:pt idx="9">
                  <c:v>9.99</c:v>
                </c:pt>
                <c:pt idx="10">
                  <c:v>5.01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C9D1E0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>
              <a:latin typeface="Calibri"/>
            </a:defRPr>
          </a:pPr>
        </a:p>
      </c:txPr>
    </c:legend>
    <c:dispBlanksAs val="gap"/>
  </c:chart>
  <c:txPr>
    <a:bodyPr/>
    <a:lstStyle/>
    <a:p>
      <a:pPr>
        <a:defRPr sz="11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47.2</c:v>
                </c:pt>
                <c:pt idx="2">
                  <c:v>0</c:v>
                </c:pt>
                <c:pt idx="3">
                  <c:v>51.9</c:v>
                </c:pt>
                <c:pt idx="4">
                  <c:v>0</c:v>
                </c:pt>
                <c:pt idx="5">
                  <c:v>57.2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</c:v>
                </c:pt>
              </c:strCache>
            </c:strRef>
          </c:tx>
          <c:dPt>
            <c:idx val="0"/>
            <c:spPr>
              <a:solidFill>
                <a:srgbClr val="001E60"/>
              </a:solidFill>
            </c:spPr>
          </c:dPt>
          <c:dPt>
            <c:idx val="1"/>
            <c:spPr>
              <a:solidFill>
                <a:srgbClr val="6E1F2E"/>
              </a:solidFill>
            </c:spPr>
          </c:dPt>
          <c:dPt>
            <c:idx val="2"/>
            <c:spPr>
              <a:solidFill>
                <a:srgbClr val="001E6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001E60"/>
              </a:solidFill>
            </c:spPr>
          </c:dPt>
          <c:dPt>
            <c:idx val="5"/>
            <c:spPr>
              <a:solidFill>
                <a:srgbClr val="2A8A8C"/>
              </a:solidFill>
            </c:spPr>
          </c:dPt>
          <c:dPt>
            <c:idx val="6"/>
            <c:spPr>
              <a:solidFill>
                <a:srgbClr val="001E60"/>
              </a:solidFill>
            </c:spPr>
          </c:dPt>
          <c:dLbls>
            <c:numFmt formatCode="&quot;$&quot;0.0&quot;M&quot;" sourceLinked="0"/>
            <c:txPr>
              <a:bodyPr/>
              <a:lstStyle/>
              <a:p>
                <a:pPr>
                  <a:defRPr sz="1000" b="1">
                    <a:solidFill>
                      <a:srgbClr val="FFFFFF"/>
                    </a:solidFill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Rev 0
26 Aug</c:v>
                </c:pt>
                <c:pt idx="1">
                  <c:v>Battery to
project team
value</c:v>
                </c:pt>
                <c:pt idx="2">
                  <c:v>Rev 1
1 Sep</c:v>
                </c:pt>
                <c:pt idx="3">
                  <c:v>Battery to
contract +
relays + eng</c:v>
                </c:pt>
                <c:pt idx="4">
                  <c:v>Rev 2
10 Sep</c:v>
                </c:pt>
                <c:pt idx="5">
                  <c:v>Relays -1.5,
SSVT, eng
re-base</c:v>
                </c:pt>
                <c:pt idx="6">
                  <c:v>Rev 3
24 Sep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47.2</c:v>
                </c:pt>
                <c:pt idx="1">
                  <c:v>4.7</c:v>
                </c:pt>
                <c:pt idx="2">
                  <c:v>51.9</c:v>
                </c:pt>
                <c:pt idx="3">
                  <c:v>11.8</c:v>
                </c:pt>
                <c:pt idx="4">
                  <c:v>63.6</c:v>
                </c:pt>
                <c:pt idx="5">
                  <c:v>6.4</c:v>
                </c:pt>
                <c:pt idx="6">
                  <c:v>57.2</c:v>
                </c:pt>
              </c:numCache>
            </c:numRef>
          </c:val>
        </c:ser>
        <c:gapWidth val="35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7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$/kWh</c:v>
                </c:pt>
              </c:strCache>
            </c:strRef>
          </c:tx>
          <c:dPt>
            <c:idx val="0"/>
            <c:spPr>
              <a:solidFill>
                <a:srgbClr val="C9D1E0"/>
              </a:solidFill>
            </c:spPr>
          </c:dPt>
          <c:dPt>
            <c:idx val="1"/>
            <c:spPr>
              <a:solidFill>
                <a:srgbClr val="C9D1E0"/>
              </a:solidFill>
            </c:spPr>
          </c:dPt>
          <c:dPt>
            <c:idx val="2"/>
            <c:spPr>
              <a:solidFill>
                <a:srgbClr val="C9D1E0"/>
              </a:solidFill>
            </c:spPr>
          </c:dPt>
          <c:dPt>
            <c:idx val="3"/>
            <c:spPr>
              <a:solidFill>
                <a:srgbClr val="6E1F2E"/>
              </a:solidFill>
            </c:spPr>
          </c:dPt>
          <c:dPt>
            <c:idx val="4"/>
            <c:spPr>
              <a:solidFill>
                <a:srgbClr val="C9D1E0"/>
              </a:solidFill>
            </c:spPr>
          </c:dPt>
          <c:dPt>
            <c:idx val="5"/>
            <c:spPr>
              <a:solidFill>
                <a:srgbClr val="C9D1E0"/>
              </a:solidFill>
            </c:spPr>
          </c:dPt>
          <c:dPt>
            <c:idx val="6"/>
            <c:spPr>
              <a:solidFill>
                <a:srgbClr val="FFC72C"/>
              </a:solidFill>
            </c:spPr>
          </c:dPt>
          <c:dLbls>
            <c:numFmt formatCode="&quot;$&quot;#,##0" sourceLinked="0"/>
            <c:txPr>
              <a:bodyPr/>
              <a:lstStyle/>
              <a:p>
                <a:pPr>
                  <a:defRPr sz="1000" b="1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Company 1</c:v>
                </c:pt>
                <c:pt idx="1">
                  <c:v>Company 2 (Opt 1)</c:v>
                </c:pt>
                <c:pt idx="2">
                  <c:v>Company 2 (Opt 2)</c:v>
                </c:pt>
                <c:pt idx="3">
                  <c:v>Company 3</c:v>
                </c:pt>
                <c:pt idx="4">
                  <c:v>Company 4</c:v>
                </c:pt>
                <c:pt idx="5">
                  <c:v>Company 5</c:v>
                </c:pt>
                <c:pt idx="6">
                  <c:v>Nomad contract
Mar 2026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578</c:v>
                </c:pt>
                <c:pt idx="1">
                  <c:v>527</c:v>
                </c:pt>
                <c:pt idx="2">
                  <c:v>479</c:v>
                </c:pt>
                <c:pt idx="3">
                  <c:v>911</c:v>
                </c:pt>
                <c:pt idx="4">
                  <c:v>574</c:v>
                </c:pt>
                <c:pt idx="5">
                  <c:v>696</c:v>
                </c:pt>
                <c:pt idx="6">
                  <c:v>605</c:v>
                </c:pt>
              </c:numCache>
            </c:numRef>
          </c:val>
        </c:ser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D1E0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5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1F2A44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on the promise, not a joke. The one sentence the audience should be able to repeat afterwards: the battery is 21 percent of the project, and the other 79 percent is what it takes to put a battery on a landfill in Boston and connect it to four feeders safely.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numbers. Vendor contract, approval level, share. Everything after this slide is proof. CORE PATH for a 25-minute slot: slides 1, 2, 3, 6, 4, 7, 8, 9, 10, 12, 15, 19, 22, 26. Everything else is reachable from the 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vendor is not wrong. Their number is a real number for what they sell. It is simply not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left to right. The battery contract is the first bar. Everything to its right is the utility's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loaded view is the honest comparison basis. When someone quotes an all-in industry $/kWh, it already carries developer overhead and financing; ours carries indirects and AFUDC.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that ends the argument. The multiple between the vendor line and the approval level is 4.7x, and each step between them is a named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facilities that make a battery a grid asset. A vendor's job ends at the container terminals.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AFUDC is the cost of a seven-year development window. Every month of siting delay adds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Benchmarks were retrieved from search-index excerpts of the primary sources because the sandbox proxy blocked direct downloads; each row carries a confidence tag and a URL. Before this slide is used externally, pull the NREL ATB 2025 workbook 2-h values, the Lazard v11 capex input table and the PNNL 10 MW rows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'is there a battery curve': yes, and the Nomad price lands on it. The curve is for four-hour, 60 to 150 MW systems in real dollars; our system is two-hour and 10 MW in nominal dollars, which is why the raw comparison looks unfavorable and the adjusted one does not. Sources: EIA Today in Energy #45596 (2015-2018 $/kWh); BNEF Energy Storage System Cost Surveys 2022-2025 (bnef.com/insights/30443, 33081, 35543, 38229); NREL Cole et al. 2025 Update (NREL/TP-6A40-93281); Anza and ESS News for the 2026 tariff and lithium moves. Duration factor from NREL's cost structure; size factor from the Appendix B regression.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'escalation to be included': it is, at $2.95M on the ESF Overview tab (Sta 360 $2,622,100; Sta 496 $326,100), inside the directs at the template rates. The slide shows what it is applied to, which part of it is contestable ($1.13M on the fixed-price battery balance), and what the comparison looks like once both sides are in the same dollar year. The ex-escalation column removes the station escalation from the direct boundaries; the allocation of the non-battery escalation to B+C is pro rata to direct cost and approximate. The 2028 benchmark column compounds each published figure at 3% from its dollar year; the 2-h and 10 MW adjustment is the same one used on the curve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'are the filing numbers adjusted to 2026': they were not; now they are, five ways. Model: cost_2026 = cost x [ s x I(2026)/I(y) + (1 - s) x 1.035^(2026 - y) ], s = 0.40 battery share, I = the battery index named in the row. Battery share sensitivity at the installed index: 30% gives $1,341, 50% gives $1,033; Hyde Park's station-direct percentile stays at 77% in both. The 2018-to-2026 ratios: pack 0.61, installed all-in 0.73, LCOS 1.02. Sources: EIA Today in Energy #45596; LBNL Utility-Scale Solar 2025; BNEF pack and ESS cost surveys; Lazard LCOS v5.0 to 2026; construction escalation is a 3.5%/yr ENR-class proxy. Workbook tab '2026$ Adjustment' carries the formulas.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the review comment that New York has built many more of these (NineDot Energy). Sources: NYCIDA public hearing notices and inducement resolutions (edc.nyc, Mar-Apr 2024) for the Arthur Kill Road, Victory Boulevard and Maspeth project costs; NineDot and Natixis releases (Feb 2026) for the 28-project financing; NYSERDA 6 GW Energy Storage Roadmap (Dec 2022) for the retail program averages; Utility Dive and the NY-BEST/NYSEIA filing in Case 24-E-0621 for the interconnection figures; existing dataset rows for Pomona, Ozone Park and Chateaugay. The NY cohort is 2021-2027 dollars and is not re-based (2025 to 2026 at the installed index is +2%). Developer-owned rows carry developer overhead and profit but not utility indirects or AFUDC. The three NYCIDA-costed rows (Arthur Kill Road, Victory Boulevard, Maspeth) were added to the regression dataset on 2 Oct 2026 (n = 29, Appendix B); the financing floor and the NYSERDA averages are not project costs and were not. The size elasticity is unchanged at -0.17 and the prediction for 20 MWh / 2-h / 2028 moved from $1,116 to $1,114/kWh with a narrower 80% interval ($652 to $1,903).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None of these six is optional and none of them is the battery.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story is not that batteries got expensive. The battery got cheaper. The project got more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Materials up 2.9, testing up 2.0, siting up 1.4, risk up 2.1, AFUDC up 1.7. Those five are 10.1 of the 13.3.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walk is in the email record. It matters because the full-funding placeholder of $43.9M was never touched between December 2023 and August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lesson from 2023: a low bid with exclusions is not a low project. The lesson from 2026: the vendor price is defensible. It is the boundary that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Steelman first: the battery is contracted, every dollar has a name, the direct cost is inside the reference class. These three are what an outside reviewer will find if we do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combination case is the one to plan against. It is not exotic: it is the HEG gap plus one missed siting season.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indicators, none of them expensive to watch. Three of them have no owner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Ranked by the red team. The first two items are the ones that can move the number by more than the whole reserve; the rest are hygiene.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Mirror the open. Leave this slide up for questions. Do not add a Questions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5156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A $12 million battery. A $57 million project.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46120"/>
            <a:ext cx="1051560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2000" b="0" i="0">
                <a:solidFill>
                  <a:srgbClr val="C9D1E0"/>
                </a:solidFill>
                <a:latin typeface="Calibri"/>
              </a:rPr>
              <a:t>Hyde Park BESS (Project 21334): where the cost of a utility-owned, distribution-connected battery storage station actually sits, and how it compares to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400" b="0" i="0">
                <a:solidFill>
                  <a:srgbClr val="FFC72C"/>
                </a:solidFill>
                <a:latin typeface="Calibri"/>
              </a:rPr>
              <a:t>Cost Estimating Center of Excellence  |  Estimate basis: ESF Total Rev 3, 24 Sep 2026  |  29 Sep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532120"/>
            <a:ext cx="10515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C9D1E0"/>
                </a:solidFill>
                <a:latin typeface="Calibri"/>
              </a:rPr>
              <a:t>Internal. Contains vendor-confidential pricing.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THE PROMISE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By the end of this deck you can answer one question in one breath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900" b="0" i="0">
                <a:solidFill>
                  <a:srgbClr val="1F2A44"/>
                </a:solidFill>
                <a:latin typeface="Calibri"/>
              </a:rPr>
              <a:t>“Why is a $12 million battery a $57 million project?”  Because a vendor prices the battery. We build the station, the site, the feeder protection and the siting case, and we carry the risk and the cost of money.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$12.1M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Vendor fixed-price contract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Nomad cover agreement, 10 Mar 2026. 12 Voyager LFP units, PCS, BMS, fire protection, 10-yr warranty. $605/kWh, $1,211/kW.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6E1F2E"/>
                </a:solidFill>
                <a:latin typeface="Georgia"/>
              </a:rPr>
              <a:t>$57.2M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Project 21334 approval level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3128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ESF Total Rev 3. Station 360 $50.0M plus Station 496 protection $7.3M. $2,862/kWh, $5,725/kW. Conceptual, -25%/+50%.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468880"/>
            <a:ext cx="3566160" cy="21945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0456" y="2578608"/>
            <a:ext cx="32918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001E60"/>
                </a:solidFill>
                <a:latin typeface="Georgia"/>
              </a:rPr>
              <a:t>21%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0456" y="3264408"/>
            <a:ext cx="32918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Battery share of the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0456" y="3648456"/>
            <a:ext cx="3291840" cy="969263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Add the D-Line circuit extension (24211, $4.8M conceptual) and the share drops to 20%. Four dollars of every five are not the battery.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37760"/>
            <a:ext cx="110642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001E60"/>
                </a:solidFill>
                <a:latin typeface="Calibri"/>
              </a:rPr>
              <a:t>Three sections: </a:t>
            </a:r>
            <a:r>
              <a:rPr sz="1600" b="0" i="0">
                <a:solidFill>
                  <a:srgbClr val="1F2A44"/>
                </a:solidFill>
                <a:latin typeface="Calibri"/>
              </a:rPr>
              <a:t>where the money sits (thirteen layers, unit costs, benchmarks); how the cost changed (2021 to today); can the number be defended (red team, stress tests, what must close).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TWO FRAMINGS OF THE SAME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a vendor quote contains, and what it leaves for the utility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63640" y="1417320"/>
            <a:ext cx="5394960" cy="475488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001E60"/>
                </a:solidFill>
                <a:latin typeface="Georgia"/>
              </a:rPr>
              <a:t>Inside the $12.1M Nomad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12 containerized LFP units, 10 MW / 20 MWh, 12 MVA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Inverters (PCS), BMS, HVAC, fire detection and suppression inside the container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Spares $125K, shipping $90K, remote support $210K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10-year warranty; years 3-7 extension $798K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Field assembly supervision, commissioning, training: $246K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sz="1500">
                <a:solidFill>
                  <a:srgbClr val="1F2A44"/>
                </a:solidFill>
                <a:latin typeface="Calibri"/>
              </a:rPr>
              <a:t>Fixed until Final Acceptance; LDs capped at 10%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08760"/>
            <a:ext cx="50292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1" i="0">
                <a:solidFill>
                  <a:srgbClr val="6E1F2E"/>
                </a:solidFill>
                <a:latin typeface="Georgia"/>
              </a:rPr>
              <a:t>Outside it: $45.1M, 79% of the project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2011680"/>
            <a:ext cx="5120640" cy="41148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360, </a:t>
            </a:r>
            <a:r>
              <a:rPr sz="1500">
                <a:solidFill>
                  <a:srgbClr val="1F2A44"/>
                </a:solidFill>
                <a:latin typeface="Calibri"/>
              </a:rPr>
              <a:t>$3.8M direct: four 15 kV breaker skids, GSUs, SSVT, metering, cable, duct bank, ground grid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Site, </a:t>
            </a:r>
            <a:r>
              <a:rPr sz="1500">
                <a:solidFill>
                  <a:srgbClr val="1F2A44"/>
                </a:solidFill>
                <a:latin typeface="Calibri"/>
              </a:rPr>
              <a:t>$2.7M direct: a 200 ft x 200 ft platform on a closed landfill, access road, retaining wall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496, </a:t>
            </a:r>
            <a:r>
              <a:rPr sz="1500">
                <a:solidFill>
                  <a:srgbClr val="1F2A44"/>
                </a:solidFill>
                <a:latin typeface="Calibri"/>
              </a:rPr>
              <a:t>$7.3M: 20 relays, transfer trip, RTU work so four feeders can accept 2.5 MW each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Owner scope, </a:t>
            </a:r>
            <a:r>
              <a:rPr sz="1500">
                <a:solidFill>
                  <a:srgbClr val="1F2A44"/>
                </a:solidFill>
                <a:latin typeface="Calibri"/>
              </a:rPr>
              <a:t>$10.1M: install labor, GSUs, EMS, testing, engineering, Article 80 siting, outreach, PM, taxes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500">
                <a:solidFill>
                  <a:srgbClr val="FFC72C"/>
                </a:solidFill>
                <a:latin typeface="Calibri"/>
              </a:rPr>
              <a:t>▪  </a:t>
            </a:r>
            <a:r>
              <a:rPr b="1" sz="1500">
                <a:solidFill>
                  <a:srgbClr val="1F2A44"/>
                </a:solidFill>
                <a:latin typeface="Calibri"/>
              </a:rPr>
              <a:t>Station 360 risk, contingency, indirects, AFUDC, </a:t>
            </a:r>
            <a:r>
              <a:rPr sz="1500">
                <a:solidFill>
                  <a:srgbClr val="1F2A44"/>
                </a:solidFill>
                <a:latin typeface="Calibri"/>
              </a:rPr>
              <a:t>$20.3M: 35% of the total (Station 496 carries its own inside its $7.3M)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COST LAYER EXTRACTION, ESF TOTAL REV 3 (DIRECTS, 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layers between the battery contract and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112471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80760"/>
            <a:ext cx="109728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Gold = battery contract as carried in Rev 3 ($12.1M contract plus $1.1M escalation on the unpaid balance; see slide 18). Teal = station, site and feeder protection. Burgundy = risk, contingency, indirects, AFUDC. Total $57.2M.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LOADED VIEW, FACTOR 1.685 ON STATION 360 DIRECTS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Where the $57.2M sits when risk, contingency, indirects and AFUDC are spread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41732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75120"/>
                <a:gridCol w="1828800"/>
                <a:gridCol w="1463040"/>
                <a:gridCol w="1097280"/>
              </a:tblGrid>
              <a:tr h="39901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Direct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Loaded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Share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supply contract (Nomad)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$13.0M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&amp; integration (owner scope)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Battery balance-of-plant (GSUs, EMS/comms, aux power)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360 13.8 kV switching &amp; interconnection facilities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$3.8M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$6.5M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Site development &amp; civil (former landfill site)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$2.7M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Station 496 feeder protection upgrades (interconnection)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Testing &amp; commissioning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Owner soft costs (engineering, siting, environmental, outreach, PM, land)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$4.4M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$7.4M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13%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901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Taxes, CWIP, builders-risk insurance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$0.8M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F2A44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90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Total, project 21334 (directs incl. $20.3M of loaders J-M)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$57.2M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2A44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0" i="0">
                <a:solidFill>
                  <a:srgbClr val="1F2A44"/>
                </a:solidFill>
                <a:latin typeface="Calibri"/>
              </a:rPr>
              <a:t>Battery-related layers A+B+C loaded: $28.1M (49%). Station, site and feeder interconnection D+E+F loaded: $18.3M (32%). Owner soft costs, testing and taxes: $10.9M.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UNIT COST AT EACH BOUNDARY, 20 MWH / 10 MW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same project is $605/kWh or $2,862/kWh depending on where you draw the 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635240" y="1417320"/>
          <a:ext cx="40233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822960"/>
                <a:gridCol w="822960"/>
                <a:gridCol w="82296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x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$1,211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1.0x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$1,666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1.4x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 360 approval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$4,999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$2,500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Project 21334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$2,862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4.7x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Incl. D-Line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$6,204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$3,102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5.1x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635240" y="4846320"/>
            <a:ext cx="4023360" cy="1371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A benchmark is only meaningful against the row that matches its definition. Pack and DC-block prices belong beside the top bar; NREL and EIA installed costs beside 'battery installed' or 'station complete'; nothing published includes a utility's own indirects and AFUDC.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WHAT IT TAKES TO PUT 10 MW ON FOUR 13.8 KV FEEDERS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Station and interconnection: $18.3M loaded, none of it in a vendor quote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58521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4480560"/>
            <a:ext cx="274320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246888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$18.3M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38928"/>
            <a:ext cx="246888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Loaded, in 21334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522976"/>
            <a:ext cx="246888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32% of the approval level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4480560"/>
            <a:ext cx="2880360" cy="173736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4590288"/>
            <a:ext cx="2606040" cy="8229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200" b="1" i="0">
                <a:solidFill>
                  <a:srgbClr val="001E60"/>
                </a:solidFill>
                <a:latin typeface="Georgia"/>
              </a:rPr>
              <a:t>$23.1M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5138928"/>
            <a:ext cx="26060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1F2A44"/>
                </a:solidFill>
                <a:latin typeface="Calibri"/>
              </a:rPr>
              <a:t>Incl. D-Line memo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5522976"/>
            <a:ext cx="2606040" cy="649224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37% of the all-in 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417320"/>
            <a:ext cx="512064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Four Siemens SDV7 breaker skids at $300K each </a:t>
            </a:r>
            <a:r>
              <a:rPr sz="1300">
                <a:solidFill>
                  <a:srgbClr val="1F2A44"/>
                </a:solidFill>
                <a:latin typeface="Calibri"/>
              </a:rPr>
              <a:t>(relays, PTs, DC battery, cabinet on the skid), disconnects, four metering transclosures, station service, riser poles, 15 kV cable and 1,240 ft of duct bank.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Station 496: </a:t>
            </a:r>
            <a:r>
              <a:rPr sz="1300">
                <a:solidFill>
                  <a:srgbClr val="1F2A44"/>
                </a:solidFill>
                <a:latin typeface="Calibri"/>
              </a:rPr>
              <a:t>20 SEL relays replacing SEL-551 and REF610 units on four feeders, RTU and RTAC points, transfer trip over dark fiber; $1.8M of that is testing.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Site: </a:t>
            </a:r>
            <a:r>
              <a:rPr sz="1300">
                <a:solidFill>
                  <a:srgbClr val="1F2A44"/>
                </a:solidFill>
                <a:latin typeface="Calibri"/>
              </a:rPr>
              <a:t>2.5 acres cleared, 760 ft road, 2,520 CY cut, imported fill, 14 ft retaining wall, ground grid, fence, lighting; Haugland's platform take-off is larger than ours and is unreconciled.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D-Line (24211): </a:t>
            </a:r>
            <a:r>
              <a:rPr sz="1300">
                <a:solidFill>
                  <a:srgbClr val="1F2A44"/>
                </a:solidFill>
                <a:latin typeface="Calibri"/>
              </a:rPr>
              <a:t>5,465 ft feeder extension, three manholes, 16,395 ft of 3-700 cable; $4.8M is a 2023 conceptual figure.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LOADERS ON PROJECT 21334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Risk, contingency, indirects and AFUDC are 41% of the approval level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475488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0" y="1417320"/>
          <a:ext cx="6172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1600200"/>
              </a:tblGrid>
              <a:tr h="3556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Station 360 risk 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$K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 cost, tariffs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Design / scope change orders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Labor cost, shortage, overtime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800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Unforeseen UG obstructions (landfill)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Environmental (DEP, landfill closure docs)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Soil contamination remediation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Station and P&amp;C engineering changes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560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Weather, siting delay, outreach, BAR deductibles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1,050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4754880"/>
            <a:ext cx="6172200" cy="1463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Risk plus contingency is 17.9% of the approval level before loaders, inside the 15-18% lead-review guidance. Indirects at 17.4% and AFUDC at 8.8% follow the EMA station template on a spend curve that runs from July 2021 to December 2028. Haugland's Attachment 4-F carries overlapping exposures (geotech $0.6M-$3.5M, fault-study equipment change $0.25M-$1.8M) that have not been reconciled with this register.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BENCHMARKS VS HYDE PARK BOUNDARIES, $/KWH NOMINAL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 is at market; the project is above it for reasons benchmarks exclude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06640" y="1417320"/>
            <a:ext cx="42976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Battery at market. </a:t>
            </a:r>
            <a:r>
              <a:rPr sz="1300">
                <a:solidFill>
                  <a:srgbClr val="1F2A44"/>
                </a:solidFill>
                <a:latin typeface="Calibri"/>
              </a:rPr>
              <a:t>Nomad's $532/kWh equipment price sits between BNEF's US turnkey ($219, 4-h, 100 MW class) and the disclosed utility-owned projects ($513-584). For a 12-unit, 2-h, FEOC-era order in New England that is a fair price.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Installed battery (A+B+C) at $833/kWh </a:t>
            </a:r>
            <a:r>
              <a:rPr sz="1300">
                <a:solidFill>
                  <a:srgbClr val="1F2A44"/>
                </a:solidFill>
                <a:latin typeface="Calibri"/>
              </a:rPr>
              <a:t>is above every national all-in index because those indices are four-hour and 60-150 MW. NREL's own cost structure (pack $/kWh x hours + BOS $/kW) puts a 2-h system at roughly 1.3-1.5x the 4-h $/kWh.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The project at $2,862/kWh </a:t>
            </a:r>
            <a:r>
              <a:rPr sz="1300">
                <a:solidFill>
                  <a:srgbClr val="1F2A44"/>
                </a:solidFill>
                <a:latin typeface="Calibri"/>
              </a:rPr>
              <a:t>is not a battery benchmark at all. It carries a switching station, feeder protection at Station 496, a landfill platform, Article 80 siting, indirects and AFUDC. The closest published analogue is Provincetown at $1,289/kWh (2022 dollars, no separate station, existing site).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No published index includes a utility's indirects or AFUDC. </a:t>
            </a:r>
            <a:r>
              <a:rPr sz="1300">
                <a:solidFill>
                  <a:srgbClr val="1F2A44"/>
                </a:solidFill>
                <a:latin typeface="Calibri"/>
              </a:rPr>
              <a:t>Strip J-M and Hyde Park is $1,483/kWh direct; strip the station and site layers D and E as well and it is $1,156/kWh.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INDUSTRY CURVE 2015-2028 VS HYDE PARK, $/KWH, LOG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Battery installed-cost curve: the Nomad price sits on it once duration and size are adjusted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040880" cy="4526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80960" y="1417320"/>
            <a:ext cx="4023360" cy="4572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curve is a 4-h, 60-150 MW, real-dollar curve. </a:t>
            </a:r>
            <a:r>
              <a:rPr sz="1200">
                <a:solidFill>
                  <a:srgbClr val="1F2A44"/>
                </a:solidFill>
                <a:latin typeface="Calibri"/>
              </a:rPr>
              <a:t>EIA's reported all-in fell from $2,152 (2015) to $625 (2018); BNEF turnkey from $324 (2022) to $117 global and $219 US (2025); NREL's 4-h bottom-up base is $334 (2024), $247 by 2035.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is 2-h, 10 MW, nominal. </a:t>
            </a:r>
            <a:r>
              <a:rPr sz="1200">
                <a:solidFill>
                  <a:srgbClr val="1F2A44"/>
                </a:solidFill>
                <a:latin typeface="Calibri"/>
              </a:rPr>
              <a:t>NREL's structure puts a 2-h system at 1.3-1.5x the 4-h $/kWh; the size elasticity in Appendix B adds 1.5x at 20 MWh. Adjusted US turnkey: $440-$505. Nomad equipment: $532.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Install is the layer the curve never shows. </a:t>
            </a:r>
            <a:r>
              <a:rPr sz="1200">
                <a:solidFill>
                  <a:srgbClr val="1F2A44"/>
                </a:solidFill>
                <a:latin typeface="Calibri"/>
              </a:rPr>
              <a:t>Owner-scope installation, integration and balance of plant (B+C) add $183/kWh to the $650 battery line: $833 installed. BNEF's install sits inside a developer's EPC; ours is Eversource scope at New England rates.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The 2026 turn. </a:t>
            </a:r>
            <a:r>
              <a:rPr sz="1200">
                <a:solidFill>
                  <a:srgbClr val="1F2A44"/>
                </a:solidFill>
                <a:latin typeface="Calibri"/>
              </a:rPr>
              <a:t>Lithium carbonate roughly doubled year on year by August 2026 and tariffs lifted delivered US prices. The March 2026 fixed price sits below where a 2027 re-procurement would land.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943600"/>
            <a:ext cx="6949440" cy="4572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50" b="0" i="0">
                <a:solidFill>
                  <a:srgbClr val="6B7280"/>
                </a:solidFill>
                <a:latin typeface="Calibri"/>
              </a:rPr>
              <a:t>Plotted as published: EIA-860 nominal; BNEF real survey-year; NREL 2024$ (2028 interpolated between the 2024 base and the 2035 mid case). 2023 bar = five indicative bids, $479-$911/kWh, differing scopes. Retrieved from search excerpts; verify before external use.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ESCALATION BASIS AND THE COMMON-DOLLAR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Escalation is already in the number: $2.9M at template rates, $1.1M of it on a fixed price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Where the escalation sits (Rev 3, included in the directs)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737360"/>
          <a:ext cx="54864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731520"/>
                <a:gridCol w="640080"/>
              </a:tblGrid>
              <a:tr h="42976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Escalation in the approval level (Sta 360 $2,622K + Sta 496 $326K)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$2,948K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$147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the Nomad balance, which Exhibit C fixes until Final Acceptance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$1,130K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$57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 station, site, feeder protection, testing and owner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$1,818K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$91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Spend curve it is applied to: actuals $5.2M, 2026 $13.5M, 2027 $12.5M, 2028 $26.1M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023360"/>
            <a:ext cx="54864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00" b="1" i="0">
                <a:solidFill>
                  <a:srgbClr val="001E60"/>
                </a:solidFill>
                <a:latin typeface="Calibri"/>
              </a:rPr>
              <a:t>Same comparison, same dollars (per kWh)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389120"/>
          <a:ext cx="548640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777240"/>
                <a:gridCol w="1005840"/>
                <a:gridCol w="2286000"/>
              </a:tblGrid>
              <a:tr h="356616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Boundary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Ex-escalation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Benchmark brought to 2028 at 3%/yr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Vendor contract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$605 (fixed)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BNEF US turnkey $219 (2025) = $239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as carried (A)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$650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$593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4-h $334 (2024$) = $376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Battery installed (A+B+C)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$833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~$756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NREL adjusted to 2-h, 10 MW: $750-$870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6616"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$1,483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$1,352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1F2A44"/>
                          </a:solidFill>
                          <a:latin typeface="Calibri"/>
                        </a:rPr>
                        <a:t>EIA/S&amp;L $436 (2023$) = $505; LBNL $458 = $516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09360" y="1371600"/>
            <a:ext cx="539496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Rates. </a:t>
            </a:r>
            <a:r>
              <a:rPr sz="1150">
                <a:solidFill>
                  <a:srgbClr val="1F2A44"/>
                </a:solidFill>
                <a:latin typeface="Calibri"/>
              </a:rPr>
              <a:t>ESF template escalation, about 3% a year, on the 2026-2028 spend curve. $2.9M is 5.1% of the approval level and 7.4% of directs. Benchmarks are 2023-2025 dollars; Rev 3 is 2026-2028 nominal, so one side must move before they are compared.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Decision pending. </a:t>
            </a:r>
            <a:r>
              <a:rPr sz="1150">
                <a:solidFill>
                  <a:srgbClr val="1F2A44"/>
                </a:solidFill>
                <a:latin typeface="Calibri"/>
              </a:rPr>
              <a:t>$1.13M sits on a price the contract fixes. Remove it or move it to the risk register with a stated rationale (open item, slide 22).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Brought to the same year, the installed battery is on the index. </a:t>
            </a:r>
            <a:r>
              <a:rPr sz="1150">
                <a:solidFill>
                  <a:srgbClr val="1F2A44"/>
                </a:solidFill>
                <a:latin typeface="Calibri"/>
              </a:rPr>
              <a:t>NREL's $334 is $376 in 2028 dollars and $750-$870 after the 2-h and 10 MW adjustments; Hyde Park installed is $833.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What 3% does not cover. </a:t>
            </a:r>
            <a:r>
              <a:rPr sz="1150">
                <a:solidFill>
                  <a:srgbClr val="1F2A44"/>
                </a:solidFill>
                <a:latin typeface="Calibri"/>
              </a:rPr>
              <a:t>Lithium carbonate and tariffs moved faster than 3% in 2026. The battery is fixed by contract, so the exposure is the $3.7M of non-battery material and the labor lines. The $1.0M tariff item in the risk register is sized on total material, battery included.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Schedule. </a:t>
            </a:r>
            <a:r>
              <a:rPr sz="1150">
                <a:solidFill>
                  <a:srgbClr val="1F2A44"/>
                </a:solidFill>
                <a:latin typeface="Calibri"/>
              </a:rPr>
              <a:t>Twelve months of slip adds about $1.2M of escalation on the $38.6M scheduled for 2027-2028, before AFUDC, PM and indirects (about $5M in total).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50">
                <a:solidFill>
                  <a:srgbClr val="FFC72C"/>
                </a:solidFill>
                <a:latin typeface="Calibri"/>
              </a:rPr>
              <a:t>▪  </a:t>
            </a:r>
            <a:r>
              <a:rPr b="1" sz="1150">
                <a:solidFill>
                  <a:srgbClr val="1F2A44"/>
                </a:solidFill>
                <a:latin typeface="Calibri"/>
              </a:rPr>
              <a:t>Ex-escalation values </a:t>
            </a:r>
            <a:r>
              <a:rPr sz="1150">
                <a:solidFill>
                  <a:srgbClr val="1F2A44"/>
                </a:solidFill>
                <a:latin typeface="Calibri"/>
              </a:rPr>
              <a:t>strip the station's $131/kWh from the direct boundaries; the B+C share (~$20/kWh) is allocated pro rata and is approximate.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THIRTEEN UTILITY-OWNED COMPARABLES, NOMINAL VS 2026$, $/KWH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Re-based to 2026 dollars, the reference class moves 4% and Hyde Park's place in it does not move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8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005840"/>
                <a:gridCol w="1005840"/>
              </a:tblGrid>
              <a:tr h="359228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Battery index used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Median $/kWh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HP station direct pct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Nominal, as published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$1,235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Installed all-in (EIA, LBNL)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$1,187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BNEF pack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$1,225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77%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BNEF turnkey 4-h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$1,074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9228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Lazard LCOS midpoint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$1,466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92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Construction index only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$1,480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54%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4023360"/>
            <a:ext cx="411480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FC72C"/>
                </a:solidFill>
                <a:latin typeface="Calibri"/>
              </a:rPr>
              <a:t>▪  </a:t>
            </a:r>
            <a:r>
              <a:rPr b="1" sz="1100">
                <a:solidFill>
                  <a:srgbClr val="1F2A44"/>
                </a:solidFill>
                <a:latin typeface="Calibri"/>
              </a:rPr>
              <a:t>Batteries fell; everything else rose. </a:t>
            </a:r>
            <a:r>
              <a:rPr sz="1100">
                <a:solidFill>
                  <a:srgbClr val="1F2A44"/>
                </a:solidFill>
                <a:latin typeface="Calibri"/>
              </a:rPr>
              <a:t>Packs are 1.6x cheaper than in 2018 (3.4x since 2015). Installed systems fell 1.4x. Station, civil, labor and interconnection rose about 30% over the same years.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FC72C"/>
                </a:solidFill>
                <a:latin typeface="Calibri"/>
              </a:rPr>
              <a:t>▪  </a:t>
            </a:r>
            <a:r>
              <a:rPr b="1" sz="1100">
                <a:solidFill>
                  <a:srgbClr val="1F2A44"/>
                </a:solidFill>
                <a:latin typeface="Calibri"/>
              </a:rPr>
              <a:t>The battery is 40% of a comparable, not 100%. </a:t>
            </a:r>
            <a:r>
              <a:rPr sz="1100">
                <a:solidFill>
                  <a:srgbClr val="1F2A44"/>
                </a:solidFill>
                <a:latin typeface="Calibri"/>
              </a:rPr>
              <a:t>Deflate that share and escalate the rest: every member moves by -5% to +9%. Deflating the whole project at the battery rate (the challenge as posed) gives $575, and is the vendor framing applied backward.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100">
                <a:solidFill>
                  <a:srgbClr val="FFC72C"/>
                </a:solidFill>
                <a:latin typeface="Calibri"/>
              </a:rPr>
              <a:t>▪  </a:t>
            </a:r>
            <a:r>
              <a:rPr b="1" sz="1100">
                <a:solidFill>
                  <a:srgbClr val="1F2A44"/>
                </a:solidFill>
                <a:latin typeface="Calibri"/>
              </a:rPr>
              <a:t>Under Lazard's LCOS, the comparables get dearer, </a:t>
            </a:r>
            <a:r>
              <a:rPr sz="1100">
                <a:solidFill>
                  <a:srgbClr val="1F2A44"/>
                </a:solidFill>
                <a:latin typeface="Calibri"/>
              </a:rPr>
              <a:t>because LCOS is up 31% since 2020.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NEW YORK DISTRIBUTION-SCALE COHORT VS HYDE PARK, $/KWH NOMINAL (2021-2027 DOLLARS)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New York is building the same thing: distribution-connected, 2025, $524 to $1,110 per kWh before any utility station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572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8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05840"/>
              </a:tblGrid>
              <a:tr h="2743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Per kW of power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$/kW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Arthur Kill Rd (NYCIDA budget)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$4,427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NineDot portfolio financing (floor)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$3,476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Soltage Maspeth (NYCIDA)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$3,221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Elevate Victory Blvd (NYCIDA)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$2,096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station complete, direct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$2,967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Hyde Park approval level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$5,725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589520" y="3429000"/>
            <a:ext cx="4114800" cy="283464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NineDot: </a:t>
            </a:r>
            <a:r>
              <a:rPr sz="1050">
                <a:solidFill>
                  <a:srgbClr val="1F2A44"/>
                </a:solidFill>
                <a:latin typeface="Calibri"/>
              </a:rPr>
              <a:t>11 projects at 6 NYC sites, 39 MW operating (Sep 2026); 28 more financed at $431M for 494 MWh. Developer-owned 4-h sites on leased lots, VDER revenue, NYSERDA incentive, ITC; no utility station, no landfill, no siting case.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Their own filed budget for Arthur Kill Road is $1,110/kWh and $4,427/kW, </a:t>
            </a:r>
            <a:r>
              <a:rPr sz="1050">
                <a:solidFill>
                  <a:srgbClr val="1F2A44"/>
                </a:solidFill>
                <a:latin typeface="Calibri"/>
              </a:rPr>
              <a:t>inside Hyde Park's installed-to-station band on $/kWh at twice the duration.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Interconnection is the cost no index carries: </a:t>
            </a:r>
            <a:r>
              <a:rPr sz="1050">
                <a:solidFill>
                  <a:srgbClr val="1F2A44"/>
                </a:solidFill>
                <a:latin typeface="Calibri"/>
              </a:rPr>
              <a:t>Con Edison's two-part test added about $21M of upgrades per project on 34 projects (161 MW), per the NY-BEST and NYSEIA filing of 11 Mar 2026. Hyde Park's Station 496 scope is $7.3M.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sz="1050">
                <a:solidFill>
                  <a:srgbClr val="FFC72C"/>
                </a:solidFill>
                <a:latin typeface="Calibri"/>
              </a:rPr>
              <a:t>▪  </a:t>
            </a:r>
            <a:r>
              <a:rPr b="1" sz="1050">
                <a:solidFill>
                  <a:srgbClr val="1F2A44"/>
                </a:solidFill>
                <a:latin typeface="Calibri"/>
              </a:rPr>
              <a:t>*Soltage duration assumed 4-h; </a:t>
            </a:r>
            <a:r>
              <a:rPr sz="1050">
                <a:solidFill>
                  <a:srgbClr val="1F2A44"/>
                </a:solidFill>
                <a:latin typeface="Calibri"/>
              </a:rPr>
              <a:t>incentives and ITC not netted from any row.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1 · WHERE THE MONEY SITS   |   WHY A SMALL URBAN UTILITY-OWNED PROJECT SITS ABOVE THE INDEX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Six things about Hyde Park that a 100 MW greenfield benchmark never has to pay for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Size.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10 MW / 20 MWh. A switching station, a siting case and a commissioning team cost about the same at 10 MW as at 100 MW; per kWh they are ten times heavier.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417320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417320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508760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Duration.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Two hours. Fixed $/kW items (PCS, breakers, GSUs, interconnection) are spread over half the MWh of a four-hour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Site.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 closed construction-debris landfill in Boston: DEP post-closure use permit, cap protection, 36 borings, imported platform fill, 14 ft retaining wall, unknown obstructions ($450K risk).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990088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990088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3081528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Interconnection.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Four feeder tie-ins at 13.8 kV, each with its own breaker skid, plus relay replacement and transfer trip at Station 496 ($7.3M) and a 5,465 ft circuit extension (24211).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Siting and outreach.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Article 80 Small Project Review, Zoning Board of Appeal, outside counsel, an EJ community, a neighborhood concerned about open land and views: $1.5M plus $0.5M in the risk register.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4562856"/>
            <a:ext cx="544068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4562856"/>
            <a:ext cx="82296" cy="146304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4654296"/>
            <a:ext cx="512064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Calibri"/>
              </a:rPr>
              <a:t>Utility accounting. </a:t>
            </a:r>
            <a:r>
              <a:rPr sz="1350" b="0" i="0">
                <a:solidFill>
                  <a:srgbClr val="1F2A44"/>
                </a:solidFill>
                <a:latin typeface="Calibri"/>
              </a:rPr>
              <a:t>Corporate indirects ($10.0M) and AFUDC over a seven-year development window ($5.0M) are real costs to customers that a developer's turnkey price never shows.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COST HISTORY, 2021 TO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Five years, five in-service dates, and an estimate that moved from $44M to $57M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15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58952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0" y="1417320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In-service date drift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229600" y="1783080"/>
          <a:ext cx="347472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920240"/>
              </a:tblGrid>
              <a:tr h="350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As of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Planned ISD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Q3 2025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Apr 2027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Feb 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Sep 2027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Jan 2026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Aug 2028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Jun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Dec 2028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229600" y="4069080"/>
            <a:ext cx="3474720" cy="21945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6B7280"/>
                </a:solidFill>
                <a:latin typeface="Calibri"/>
              </a:rPr>
              <a:t>Gold bars are vendor prices for the battery scope only. Navy bars are full project estimates. The battery price fell from $18.2M turnkey-indicative (2023, incl. civil) to $12.1M contracted (2026); the project rose $13.3M in the same window. The 2023 conceptual carried a placeholder that was never re-based until August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PAF CATEGORY COMPARISON, PROJECT 21334 ($M)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changed between the December 2023 conceptual and Rev 3: $43.9M to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768096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21040" y="1417320"/>
            <a:ext cx="33832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Largest movements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321040" y="1783080"/>
          <a:ext cx="338328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280160"/>
              </a:tblGrid>
              <a:tr h="3886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Delta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Risks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Testing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+$2.0M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AFUDC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+$1.7M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Construction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Siting + Env + Outreach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+$1.1M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PMT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+$0.9M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321040" y="5029200"/>
            <a:ext cx="3383280" cy="12801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Calibri"/>
              </a:rPr>
              <a:t>Materials: contracted battery replaces 2023 indicative pricing, plus breaker skids and GSUs. Testing and siting: Station 496 scope and Article 80 were not in E-23-373. AFUDC: a 20-month later ISD on a larger base.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REVISION WALK, 26 AUG TO 24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Four revisions in five weeks: how the September estimate settled at $57.2M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0 carried the battery at about $6M </a:t>
            </a:r>
            <a:r>
              <a:rPr sz="1350">
                <a:solidFill>
                  <a:srgbClr val="1F2A44"/>
                </a:solidFill>
                <a:latin typeface="Calibri"/>
              </a:rPr>
              <a:t>from the 2023 indicative sheet. The PM: 'we know the BESS system itself is 12.'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2 reset it to the cover agreement, escalated to $13.1M, </a:t>
            </a:r>
            <a:r>
              <a:rPr sz="1350">
                <a:solidFill>
                  <a:srgbClr val="1F2A44"/>
                </a:solidFill>
                <a:latin typeface="Calibri"/>
              </a:rPr>
              <a:t>and carried $1.5M of 'relays for batteries' from a 2023 bidder that priced its own switchgear.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Rev 3 removed the relays </a:t>
            </a:r>
            <a:r>
              <a:rPr sz="1350">
                <a:solidFill>
                  <a:srgbClr val="1F2A44"/>
                </a:solidFill>
                <a:latin typeface="Calibri"/>
              </a:rPr>
              <a:t>(P&amp;C Engineering: included in the $300K Siemens skid), cut three SSVTs to one, and re-based engineering to $501K to go plus actuals.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b="1" sz="1350">
                <a:solidFill>
                  <a:srgbClr val="1F2A44"/>
                </a:solidFill>
                <a:latin typeface="Calibri"/>
              </a:rPr>
              <a:t>Net: </a:t>
            </a:r>
            <a:r>
              <a:rPr sz="1350">
                <a:solidFill>
                  <a:srgbClr val="1F2A44"/>
                </a:solidFill>
                <a:latin typeface="Calibri"/>
              </a:rPr>
              <a:t>+$10.0M from Rev 0, of which $7.0M is the battery line catching up to the contract.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2 · HOW THE COST CHANGED   |   BATTERY SCOPE PRICE POINTS ($/KWH AT 20 MWH)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The battery: a $9.6M to $18.2M spread in 2023, a $12.1M fixed price in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949440" cy="4846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589520" y="1417320"/>
            <a:ext cx="411480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July 2023, five bidders, 10 MW / 20 MWh: </a:t>
            </a:r>
            <a:r>
              <a:rPr sz="1300">
                <a:solidFill>
                  <a:srgbClr val="1F2A44"/>
                </a:solidFill>
                <a:latin typeface="Calibri"/>
              </a:rPr>
              <a:t>$9.6M to $18.2M. Every bidder excluded interconnection, permits beyond local, below-grade risk, sound walls or spares.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Company 3 ($18.2M, burgundy) </a:t>
            </a:r>
            <a:r>
              <a:rPr sz="1300">
                <a:solidFill>
                  <a:srgbClr val="1F2A44"/>
                </a:solidFill>
                <a:latin typeface="Calibri"/>
              </a:rPr>
              <a:t>became the E-23-373 basis because it alone priced turnkey civil ($4.56M) and installation.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March 2026 contract, $12.1M (gold): </a:t>
            </a:r>
            <a:r>
              <a:rPr sz="1300">
                <a:solidFill>
                  <a:srgbClr val="1F2A44"/>
                </a:solidFill>
                <a:latin typeface="Calibri"/>
              </a:rPr>
              <a:t>supply only, with supervision. Civil, install, GSUs, station and interconnection moved to Eversource scope.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Equipment-only inside the contract: </a:t>
            </a:r>
            <a:r>
              <a:rPr sz="1300">
                <a:solidFill>
                  <a:srgbClr val="1F2A44"/>
                </a:solidFill>
                <a:latin typeface="Calibri"/>
              </a:rPr>
              <a:t>$10.64M, $532/kWh, in line with published 2025-26 turnkey system indices (slides 9-10).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300">
                <a:solidFill>
                  <a:srgbClr val="FFC72C"/>
                </a:solidFill>
                <a:latin typeface="Calibri"/>
              </a:rPr>
              <a:t>▪  </a:t>
            </a:r>
            <a:r>
              <a:rPr b="1" sz="1300">
                <a:solidFill>
                  <a:srgbClr val="1F2A44"/>
                </a:solidFill>
                <a:latin typeface="Calibri"/>
              </a:rPr>
              <a:t>Rev 3 adds $1.13M of escalation </a:t>
            </a:r>
            <a:r>
              <a:rPr sz="1300">
                <a:solidFill>
                  <a:srgbClr val="1F2A44"/>
                </a:solidFill>
                <a:latin typeface="Calibri"/>
              </a:rPr>
              <a:t>to a price the contract fixes until Final Acceptance.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INDEPENDENT CHALLENGE, 29 SEP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Three assumptions that, if wrong, move the number more than the reserve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17320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490472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1. Construction may be low, not high.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90472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Rev 3 layers B+D+E are $8.3M direct. Haugland's Class 3 base for overlapping scope is $19.2M with a $2.9M deduct ceiling. Nobody has mapped one to the other.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490472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 signed HEG-to-Rev 3 scope map before the PAF is drafted.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990088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990088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063240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2. Siting is binary and carries no float.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063240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ZBA determination, construction start and container delivery all land in Q1 2028 for a Dec 2028 ISD. Denial means an EFSB exemption at 18-24 months. The estimate carries $250K for siting delay.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063240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Article 80 filing date, ZBA calendar, P6 float on the siting chain.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562856"/>
            <a:ext cx="11064240" cy="146304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4562856"/>
            <a:ext cx="82296" cy="1463040"/>
          </a:xfrm>
          <a:prstGeom prst="rect">
            <a:avLst/>
          </a:prstGeom>
          <a:solidFill>
            <a:srgbClr val="6E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636008"/>
            <a:ext cx="365760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6E1F2E"/>
                </a:solidFill>
                <a:latin typeface="Georgia"/>
              </a:rPr>
              <a:t>3. The number is Class 4 wearing Class 3 clothes.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636008"/>
            <a:ext cx="47548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1F2A44"/>
                </a:solidFill>
                <a:latin typeface="Calibri"/>
              </a:rPr>
              <a:t>30% engineering, unit-library construction with no bid, install labor as a percentage of a 2023 total, a 2.5 ft platform placeholder. EPAC will hear $57.2M as a planning number.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4636008"/>
            <a:ext cx="2240280" cy="13258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001E60"/>
                </a:solidFill>
                <a:latin typeface="Calibri"/>
              </a:rPr>
              <a:t>Settles it: geotech, HMA, HEG map, crew build-up; then reclassify with a -15/+25% range.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QUANTIFIED DOWNSIDE, LOADED AT 1.685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Stress tests on our own numbers, and what history says about small utility batteries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71600"/>
          <a:ext cx="69494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371600"/>
                <a:gridCol w="914400"/>
                <a:gridCol w="1371600"/>
              </a:tblGrid>
              <a:tr h="4800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Loaded cost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Date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Covered by $7.6M reserve?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Construction unit costs +25% on B+D+E+G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+$4.0M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at midpoint of the gap (+$5M direct)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+$8.4M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Schedule +12 months (siting or long-lead)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~+$5M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EFSB zoning exemption path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~+$8M to +$10M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Contractor bids +20% over estimate labor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+$2.1M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Yes, alone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Combination: HEG midpoint + 12-month slip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~+$13M (to ~$70M)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+12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Battery change orders at the LD cap (10%)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+$1.2M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303520"/>
            <a:ext cx="69494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Calibri"/>
              </a:rPr>
              <a:t>Untestable from the package: tariff or change-in-law pass-through on the Nomad price (Exhibit C terms), the AFUDC rate (assumed ~7% on CWIP), Station 496 outage premium (1.35 to 1.70 factor on affected hours), FEOC / ITC effect on net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371600"/>
            <a:ext cx="393192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Base rate: approved to actual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772400" y="1783080"/>
          <a:ext cx="39319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188720"/>
              </a:tblGrid>
              <a:tr h="326571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Project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Uplift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BGE Fairhaven 2.5 MW/9.7 MWh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+64%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HECO Waena 40 MW/160 MWh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+37%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SaskPower Regina 20 MW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Eversource Provincetown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+9% to +40%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Dec 2023 to Sep 2026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2657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Hyde Park, Rev 0 to Rev 3 (5 wks)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+21%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772400" y="4206240"/>
            <a:ext cx="3931920" cy="21031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1F2A44"/>
                </a:solidFill>
                <a:latin typeface="Calibri"/>
              </a:rPr>
              <a:t>Rev 3 carries 17.9% risk plus contingency. The exception case for beating the base rate rests on three anchors: a fixed battery price, a Siemens price on the skids, and Haugland engaged pre-construction. Together they cover about a third of the cost. The other two thirds have no such anchor.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RED TEAM: FAILURE NARRATIVE AND EARLY-WARNING INDICATORS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Pre-mortem: June 2031, $74M, fifteen months late. What happened?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371600"/>
            <a:ext cx="5760720" cy="4846320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554480"/>
            <a:ext cx="5394960" cy="45720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1">
                <a:solidFill>
                  <a:srgbClr val="1F2A44"/>
                </a:solidFill>
                <a:latin typeface="Calibri"/>
              </a:rPr>
              <a:t>The ZBA conditioned approval on a smaller footprint and new screening; the civil package went back through Haugland in the winter of 2028. Spring 2027 borings found debris deeper than the 2014 closure set showed; the platform went from 2.5 ft of fill to piles, and the reconciliation that had never been done was done as a change order. Nomad's twelve containers arrived on time in January 2028 and sat in a rented yard for nine months. Station 496 cutovers needed night outages priced at straight time. AFUDC alone added $4M. The PAF had said Conceptual, -25/+50%. Everyone remembered $57M.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371600"/>
            <a:ext cx="512064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500" b="1" i="0">
                <a:solidFill>
                  <a:srgbClr val="001E60"/>
                </a:solidFill>
                <a:latin typeface="Georgia"/>
              </a:rPr>
              <a:t>Early-warning indicators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0" y="1783080"/>
          <a:ext cx="51206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</a:tblGrid>
              <a:tr h="746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Indicator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Caught today?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Geotech report not issued by IFC-civil design freeze (mid-2027)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no P6 gate ties IFC to it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ZBA hearing date not set within 90 days of Article 80 filing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No: siting carries hours, not milestones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HEG reconciliation not closed before the PAF is drafted (Nov 2026)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Only if the CoE makes it a precondition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Nomad final-drawings milestone (13 Jul 2026) slipped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Partly: payments tracked, not downstream effect on GSU spec and civil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Station 496 outage plan not issued before construction pricing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3 · CAN THE NUMBER BE DEFENDED   |   RECONCILIATIONS AND DECISIONS, RED-TEAM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What must close before this number goes to EPAC as full funding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325880"/>
          <a:ext cx="1106424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1188720"/>
                <a:gridCol w="2286000"/>
                <a:gridCol w="1554480"/>
              </a:tblGrid>
              <a:tr h="407323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Dollars at stake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Reconcile Haugland Class 3 base ($19.2M, its scope) to Rev 3 layers B+D+E ($8.3M direct). Red team expects it to move the base up, not down.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boundary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+$4M to +$8M direct if half the gap is 21334 scope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PM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chain has no float: ZBA determination Feb 2028, construction start Feb 2028, ISD Dec 2028; EFSB fallback 18-24 mo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Schedule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~$5M per 12 months (AFUDC, escalation, PM, indirects)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Siting + PM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Present full funding at its real maturity: 30% engineering, no bid, placeholder platform = Class 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Classification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Range is -25/+50% ($43M-$86M) until closed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Geotechnical investigation and NFPA 855 hazard mitigation analysis before civil freeze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Study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$1.0M of deducts vs $0.6M-$3.5M exposure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Civil + Capital Projects Eng.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Confirm four written design-basis items (retaining wall, basin, duct bank, GSU count)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Design confirmation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$1.47M HEG deduct ceiling (~$0.8M net of GSUs already at 4)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Substation Engineering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Escalation on the fixed-price battery balance; check Exhibit C for tariff / change-in-law pass-through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Decision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$1.13M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PM / Cost Estimating / Sourcing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Battery installation labor: replace 25%-of-16,801 mh with a crew build-up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+/- $0.5M (Rev 2 used 50%)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Cost Estimating + Nomad + HEG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Station 496 at $363K per relay: compare to two recent EMA relay-replacement actuals; outage-window premium not priced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Unknown; $1.8M testing line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P&amp;C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Spot generation if the BESS misses Dec 2028 (SSF: 2-8 MW) was removed from scope; who carries it?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Scope / ownership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Not in project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System Planning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Re-base D-Line 24211 (2023 conceptual $4.8M; HEG take-off larger)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Estimate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Unknown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F2A44"/>
                          </a:solidFill>
                          <a:latin typeface="Calibri"/>
                        </a:rPr>
                        <a:t>Distribution Engineering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053328"/>
            <a:ext cx="1106424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Calibri"/>
              </a:rPr>
              <a:t>Defensible reductions (~$3M: battery escalation, design-basis confirmations, material risk sized on non-battery material) are conditional on the Haugland reconciliation closing first.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1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9144000" cy="3200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00" b="1" i="0">
                <a:solidFill>
                  <a:srgbClr val="FFC72C"/>
                </a:solidFill>
                <a:latin typeface="Calibri"/>
              </a:rPr>
              <a:t>CONTRIBUTIONS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064240" cy="9144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Georgia"/>
              </a:rPr>
              <a:t>A $12 million battery is a $57 million project, and now every dollar between them has a 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577840" cy="448056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Where the money sits. </a:t>
            </a:r>
            <a:r>
              <a:rPr sz="1450">
                <a:solidFill>
                  <a:srgbClr val="FFFFFF"/>
                </a:solidFill>
                <a:latin typeface="Calibri"/>
              </a:rPr>
              <a:t>292 lines in thirteen layers, reconciled to the penny: battery contract 21%, station and interconnection 32% loaded, owner scope 19%, loaders 41%.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Unit cost at every boundary. </a:t>
            </a:r>
            <a:r>
              <a:rPr sz="1450">
                <a:solidFill>
                  <a:srgbClr val="FFFFFF"/>
                </a:solidFill>
                <a:latin typeface="Calibri"/>
              </a:rPr>
              <a:t>$605/kWh vendor, $833 installed, $1,483 station direct, $2,862 project. Each benchmark read against the row that shares its definition.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How it changed. </a:t>
            </a:r>
            <a:r>
              <a:rPr sz="1450">
                <a:solidFill>
                  <a:srgbClr val="FFFFFF"/>
                </a:solidFill>
                <a:latin typeface="Calibri"/>
              </a:rPr>
              <a:t>The battery got cheaper; the project got real. $43.9M to $57.2M, five in-service dates, documented from the ESF revisions and the email record.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450">
                <a:solidFill>
                  <a:srgbClr val="FFC72C"/>
                </a:solidFill>
                <a:latin typeface="Calibri"/>
              </a:rPr>
              <a:t>▪  </a:t>
            </a:r>
            <a:r>
              <a:rPr b="1" sz="1450">
                <a:solidFill>
                  <a:srgbClr val="FFFFFF"/>
                </a:solidFill>
                <a:latin typeface="Calibri"/>
              </a:rPr>
              <a:t>Can it be defended. </a:t>
            </a:r>
            <a:r>
              <a:rPr sz="1450">
                <a:solidFill>
                  <a:srgbClr val="FFFFFF"/>
                </a:solidFill>
                <a:latin typeface="Calibri"/>
              </a:rPr>
              <a:t>Inside the reference class on direct cost; three kill shots, seven stress tests, a pre-mortem, and ten reconciliations with owners and dollars.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737360"/>
            <a:ext cx="5257800" cy="4480560"/>
          </a:xfrm>
          <a:prstGeom prst="rect">
            <a:avLst/>
          </a:prstGeom>
          <a:solidFill>
            <a:srgbClr val="0B2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874519"/>
            <a:ext cx="493776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600" b="1" i="0">
                <a:solidFill>
                  <a:srgbClr val="FFC72C"/>
                </a:solidFill>
                <a:latin typeface="Georgia"/>
              </a:rPr>
              <a:t>Decisions requested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286000"/>
            <a:ext cx="4937760" cy="384048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Adopt the layered view (battery, station, interconnection, owner scope, loaders) as the standard presentation of this project, internally and to regulators.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Make the Haugland-to-Rev 3 reconciliation, the geotech and the hazard mitigation analysis preconditions of the November PAF; present at Class 4 until they close.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350">
                <a:solidFill>
                  <a:srgbClr val="FFC72C"/>
                </a:solidFill>
                <a:latin typeface="Calibri"/>
              </a:rPr>
              <a:t>▪  </a:t>
            </a:r>
            <a:r>
              <a:rPr sz="1350">
                <a:solidFill>
                  <a:srgbClr val="FFFFFF"/>
                </a:solidFill>
                <a:latin typeface="Calibri"/>
              </a:rPr>
              <a:t>Assign owners to the siting-chain float and the five early-warning indicators.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C9D1E0"/>
                </a:solidFill>
                <a:latin typeface="Calibri"/>
              </a:rPr>
              <a:t>EstimatingCoE | Eversource Energy | Stewards of Affordability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A. REFERENCE CLASS (PUBLIC DISCLOSURES, NOMINAL $/KWH)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Thirteen utility-owned projects at or below 100 MWh: where Hyde Park sits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pic>
        <p:nvPicPr>
          <p:cNvPr id="7" name="Picture 6" descr="stats_refcl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7223760" cy="247128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863840" y="1417320"/>
            <a:ext cx="3840480" cy="4846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Median </a:t>
            </a:r>
            <a:r>
              <a:rPr sz="1250">
                <a:solidFill>
                  <a:srgbClr val="1F2A44"/>
                </a:solidFill>
                <a:latin typeface="Calibri"/>
              </a:rPr>
              <a:t>$1,235/kWh; interquartile $750 to $1,289.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Hyde Park battery installed, $833: </a:t>
            </a:r>
            <a:r>
              <a:rPr sz="1250">
                <a:solidFill>
                  <a:srgbClr val="1F2A44"/>
                </a:solidFill>
                <a:latin typeface="Calibri"/>
              </a:rPr>
              <a:t>38% percentile.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Station complete, direct, $1,483: </a:t>
            </a:r>
            <a:r>
              <a:rPr sz="1250">
                <a:solidFill>
                  <a:srgbClr val="1F2A44"/>
                </a:solidFill>
                <a:latin typeface="Calibri"/>
              </a:rPr>
              <a:t>77% percentile, beside Fairhaven ($1,659 actual, 2023), Chateaugay ($1,490, 2023) and Provincetown ($1,289, 2022).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Approval level, $2,862: </a:t>
            </a:r>
            <a:r>
              <a:rPr sz="1250">
                <a:solidFill>
                  <a:srgbClr val="1F2A44"/>
                </a:solidFill>
                <a:latin typeface="Calibri"/>
              </a:rPr>
              <a:t>above every member. The loaders ($23.7M) and the two interconnection scopes are what the comparables do not carry.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Re-based to 2026 dollars (slide 12): </a:t>
            </a:r>
            <a:r>
              <a:rPr sz="1250">
                <a:solidFill>
                  <a:srgbClr val="1F2A44"/>
                </a:solidFill>
                <a:latin typeface="Calibri"/>
              </a:rPr>
              <a:t>median $1,187 at the installed index, $1,033 to $1,341 across 30 to 50% battery share; the station-direct percentile stays at 77%.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50">
                <a:solidFill>
                  <a:srgbClr val="FFC72C"/>
                </a:solidFill>
                <a:latin typeface="Calibri"/>
              </a:rPr>
              <a:t>▪  </a:t>
            </a:r>
            <a:r>
              <a:rPr b="1" sz="1250">
                <a:solidFill>
                  <a:srgbClr val="1F2A44"/>
                </a:solidFill>
                <a:latin typeface="Calibri"/>
              </a:rPr>
              <a:t>Caveat: </a:t>
            </a:r>
            <a:r>
              <a:rPr sz="1250">
                <a:solidFill>
                  <a:srgbClr val="1F2A44"/>
                </a:solidFill>
                <a:latin typeface="Calibri"/>
              </a:rPr>
              <a:t>figures retrieved from search excerpts of regulator and utility documents; verify at source before external use.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B. REGRESSION ON 29 PUBLIC PROJECTS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Size and duration explain two thirds of the spread in public costs; Hyde Park's direct cost is high-normal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pic>
        <p:nvPicPr>
          <p:cNvPr id="7" name="Picture 6" descr="stats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223760" cy="4182177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863840" y="1417320"/>
          <a:ext cx="38404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188720"/>
                <a:gridCol w="1005840"/>
              </a:tblGrid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Coefficient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Size (ln MWh)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-0.17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Duration (ln h)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-0.29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0.012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+0.015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R-squared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0.63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1F2A44"/>
                          </a:solidFill>
                          <a:latin typeface="Calibri"/>
                        </a:rPr>
                        <a:t>n = 29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863840" y="3703320"/>
            <a:ext cx="3840480" cy="256032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20 MWh, 2-h, 2028 prediction: </a:t>
            </a:r>
            <a:r>
              <a:rPr sz="1200">
                <a:solidFill>
                  <a:srgbClr val="1F2A44"/>
                </a:solidFill>
                <a:latin typeface="Calibri"/>
              </a:rPr>
              <a:t>$1,114/kWh, 80% interval $652 to $1,903.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Hyde Park percentiles: </a:t>
            </a:r>
            <a:r>
              <a:rPr sz="1200">
                <a:solidFill>
                  <a:srgbClr val="1F2A44"/>
                </a:solidFill>
                <a:latin typeface="Calibri"/>
              </a:rPr>
              <a:t>contract 7%, installed 24%, station direct 75%, approval 99%.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Use as a bracket, not a price. </a:t>
            </a:r>
            <a:r>
              <a:rPr sz="1200">
                <a:solidFill>
                  <a:srgbClr val="1F2A44"/>
                </a:solidFill>
                <a:latin typeface="Calibri"/>
              </a:rPr>
              <a:t>Residual spread is a factor of 1.4; ownership and region terms are not significant at this 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106424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00" b="1" i="0">
                <a:solidFill>
                  <a:srgbClr val="6E1F2E"/>
                </a:solidFill>
                <a:latin typeface="Calibri"/>
              </a:rPr>
              <a:t>APPENDIX C. ELEMENT-LEVEL SIMULATION, 20,000 TRIALS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"/>
            <a:ext cx="11064240" cy="8686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300" b="1" i="0">
                <a:solidFill>
                  <a:srgbClr val="001E60"/>
                </a:solidFill>
                <a:latin typeface="Georgia"/>
              </a:rPr>
              <a:t>Monte Carlo on the layers: reserve covers the modeled ranges, thin against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EstimatingCoE | Eversource Energy | Stewards of Affordability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19088"/>
            <a:ext cx="685800" cy="2743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r">
              <a:lnSpc>
                <a:spcPct val="105000"/>
              </a:lnSpc>
              <a:spcAft>
                <a:spcPts val="400"/>
              </a:spcAft>
            </a:pPr>
            <a:r>
              <a:rPr sz="1000" b="0" i="0">
                <a:solidFill>
                  <a:srgbClr val="6B7280"/>
                </a:solidFill>
                <a:latin typeface="Calibri"/>
              </a:rPr>
              <a:t>25</a:t>
            </a:r>
          </a:p>
        </p:txBody>
      </p:sp>
      <p:pic>
        <p:nvPicPr>
          <p:cNvPr id="7" name="Picture 6" descr="mc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5852160" cy="2618072"/>
          </a:xfrm>
          <a:prstGeom prst="rect">
            <a:avLst/>
          </a:prstGeom>
        </p:spPr>
      </p:pic>
      <p:pic>
        <p:nvPicPr>
          <p:cNvPr id="8" name="Picture 7" descr="mc_torn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069080"/>
            <a:ext cx="5852160" cy="2310063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583680" y="1417320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Base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Wide ranges</a:t>
                      </a:r>
                    </a:p>
                  </a:txBody>
                  <a:tcPr marL="54864" marR="54864" marT="27432" marB="27432">
                    <a:solidFill>
                      <a:srgbClr val="001E60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P50 total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$51.3M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P80 total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$53.0M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$55.9M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Reserve to reach P80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$3.4M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$6.2M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Carried risk + contingency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$7.6M</a:t>
                      </a:r>
                    </a:p>
                  </a:txBody>
                  <a:tcPr marL="54864" marR="54864" marT="27432" marB="27432" anchor="ctr">
                    <a:solidFill>
                      <a:srgbClr val="F2F4F8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P(total &gt; $57.2M)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1F2A44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583680" y="3977639"/>
            <a:ext cx="5120640" cy="2286000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Distributions </a:t>
            </a:r>
            <a:r>
              <a:rPr sz="1200">
                <a:solidFill>
                  <a:srgbClr val="1F2A44"/>
                </a:solidFill>
                <a:latin typeface="Calibri"/>
              </a:rPr>
              <a:t>are PERT ranges on each of the nine Station 360 layers plus Station 496, indirects and AFUDC; risk register and contingency are not stacked on top (they fund the same outcomes).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Estimate-to-actual uplift on comparables: </a:t>
            </a:r>
            <a:r>
              <a:rPr sz="1200">
                <a:solidFill>
                  <a:srgbClr val="1F2A44"/>
                </a:solidFill>
                <a:latin typeface="Calibri"/>
              </a:rPr>
              <a:t>Fairhaven +64%, Provincetown +9 to +40%, Waena +37%, Regina +31%, Hyde Park Sep cycle +21%. Median about +31%; Rev 3 carries 17.9%.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200">
                <a:solidFill>
                  <a:srgbClr val="FFC72C"/>
                </a:solidFill>
                <a:latin typeface="Calibri"/>
              </a:rPr>
              <a:t>▪  </a:t>
            </a:r>
            <a:r>
              <a:rPr b="1" sz="1200">
                <a:solidFill>
                  <a:srgbClr val="1F2A44"/>
                </a:solidFill>
                <a:latin typeface="Calibri"/>
              </a:rPr>
              <a:t>Next step: </a:t>
            </a:r>
            <a:r>
              <a:rPr sz="1200">
                <a:solidFill>
                  <a:srgbClr val="1F2A44"/>
                </a:solidFill>
                <a:latin typeface="Calibri"/>
              </a:rPr>
              <a:t>replace these ranges with the project team's in a two-hour range-estimating session (AACE 41R-08) before full funding.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
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5" r:id="rId27"/>
    <p:sldId id="276" r:id="rId28"/>
    <p:sldId id="277" r:id="rId29"/>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the battery is the only part a vendor prices. The station, the site, the feeder protection, the siting case, the risk and the cost of money are ours.</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2801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001E60"/>
                </a:solidFill>
                <a:latin typeface="Calibri"/>
              </a:rPr>
              <a:t>What this deck contributes: </a:t>
            </a:r>
            <a:r>
              <a:rPr sz="1600" b="0" i="0">
                <a:solidFill>
                  <a:srgbClr val="1F2A44"/>
                </a:solidFill>
                <a:latin typeface="Calibri"/>
              </a:rPr>
              <a:t>a line-by-line extraction of the Rev 3 estimate into thirteen cost layers, unit costs at every boundary a benchmark could be quoted at, the cost history from the 2021 IFR to today, and the reconciliations that must close before full funding.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12).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LOADED VIEW: EVERY LAYER CARRIES ITS SHARE OF THE LOADERS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the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COST HISTORY, 2021 TO 2026 (APPROVAL-LEVEL ESTIMATES AND VENDOR PRICE POINTS)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itself: a $9.6M-$18.2M indicative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 7).</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facilities: $18.3M loaded, and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RECONCILIATIONS AND DECISIONS, WITH THE DOLLARS AT STAKE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INDEPENDENT CHALLENGE, 29 SEP 2026 (ESTIMATE-RED-TEAM METHOD)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Red team: 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RED TEAM: QUANTIFIED DOWNSIDE, LOADED AT THE 1.685 STATION 360 FACTOR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the package's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RED TEAM: FAILURE NARRATIVE AND THE EARLY-WARNING INDICATORS THAT WOULD HAVE CAUGHT IT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it is June 2031, the project finished at $74M and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63040"/>
            <a:ext cx="5394960" cy="466344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hearing in late 2027 drew the abutters who had raised open-land and traffic concerns since 2024; approval was conditioned on a redesigned screening plan and a smaller footprint, which sent the civil package back through Haugland in the winter of 2028. Borings, finally drilled in spring 2027, found debris deeper than the 2014 closure set showed, and the platform went from 2.5 ft of fill to a piled solution; the HEG reconciliation that had never been done was done as a change order. Nomad's twelve containers arrived on schedule in January 2028 and sat in a rented yard for nine months with the support clock running. Station 496 cutovers needed night outage windows priced at straight time. AFUDC alone added $4M. The full-funding PAF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800"/>
              </a:spcAft>
            </a:pPr>
            <a:r>
              <a:rPr sz="1450">
                <a:solidFill>
                  <a:srgbClr val="FFC72C"/>
                </a:solidFill>
                <a:latin typeface="Calibri"/>
              </a:rPr>
              <a:t>▪  </a:t>
            </a:r>
            <a:r>
              <a:rPr b="1" sz="1450">
                <a:solidFill>
                  <a:srgbClr val="FFFFFF"/>
                </a:solidFill>
                <a:latin typeface="Calibri"/>
              </a:rPr>
              <a:t>Cost layer extraction. </a:t>
            </a:r>
            <a:r>
              <a:rPr sz="1450">
                <a:solidFill>
                  <a:srgbClr val="FFFFFF"/>
                </a:solidFill>
                <a:latin typeface="Calibri"/>
              </a:rPr>
              <a:t>292 Rev 3 line items in thirteen layers, reconciled to the penny. Direct shares: battery contract 23%, battery install and balance of plant 6%, station and interconnection 24%, owner scope 11%, Station 360 loaders 35%.</a:t>
            </a:r>
          </a:p>
          <a:p>
            <a:pPr>
              <a:lnSpc>
                <a:spcPct val="105000"/>
              </a:lnSpc>
              <a:spcAft>
                <a:spcPts val="800"/>
              </a:spcAft>
            </a:pPr>
            <a:r>
              <a:rPr sz="1450">
                <a:solidFill>
                  <a:srgbClr val="FFC72C"/>
                </a:solidFill>
                <a:latin typeface="Calibri"/>
              </a:rPr>
              <a:t>▪  </a:t>
            </a:r>
            <a:r>
              <a:rPr b="1" sz="1450">
                <a:solidFill>
                  <a:srgbClr val="FFFFFF"/>
                </a:solidFill>
                <a:latin typeface="Calibri"/>
              </a:rPr>
              <a:t>Unit costs at every boundary. </a:t>
            </a:r>
            <a:r>
              <a:rPr sz="1450">
                <a:solidFill>
                  <a:srgbClr val="FFFFFF"/>
                </a:solidFill>
                <a:latin typeface="Calibri"/>
              </a:rPr>
              <a:t>$605/kWh vendor, $833 installed, $2,500 Station 360, $2,862 project, $3,102 all-in. Benchmarks compared against the row that matches their definition.</a:t>
            </a:r>
          </a:p>
          <a:p>
            <a:pPr>
              <a:lnSpc>
                <a:spcPct val="105000"/>
              </a:lnSpc>
              <a:spcAft>
                <a:spcPts val="800"/>
              </a:spcAft>
            </a:pPr>
            <a:r>
              <a:rPr sz="1450">
                <a:solidFill>
                  <a:srgbClr val="FFC72C"/>
                </a:solidFill>
                <a:latin typeface="Calibri"/>
              </a:rPr>
              <a:t>▪  </a:t>
            </a:r>
            <a:r>
              <a:rPr b="1" sz="1450">
                <a:solidFill>
                  <a:srgbClr val="FFFFFF"/>
                </a:solidFill>
                <a:latin typeface="Calibri"/>
              </a:rPr>
              <a:t>Cost history. </a:t>
            </a:r>
            <a:r>
              <a:rPr sz="1450">
                <a:solidFill>
                  <a:srgbClr val="FFFFFF"/>
                </a:solidFill>
                <a:latin typeface="Calibri"/>
              </a:rPr>
              <a:t>2021 IFR to Rev 3, with the ISD drift and the five-week September walk documented from the ESF revisions and email record.</a:t>
            </a:r>
          </a:p>
          <a:p>
            <a:pPr>
              <a:lnSpc>
                <a:spcPct val="105000"/>
              </a:lnSpc>
              <a:spcAft>
                <a:spcPts val="800"/>
              </a:spcAft>
            </a:pPr>
            <a:r>
              <a:rPr sz="1450">
                <a:solidFill>
                  <a:srgbClr val="FFC72C"/>
                </a:solidFill>
                <a:latin typeface="Calibri"/>
              </a:rPr>
              <a:t>▪  </a:t>
            </a:r>
            <a:r>
              <a:rPr b="1" sz="1450">
                <a:solidFill>
                  <a:srgbClr val="FFFFFF"/>
                </a:solidFill>
                <a:latin typeface="Calibri"/>
              </a:rPr>
              <a:t>Red team and open-item register. </a:t>
            </a:r>
            <a:r>
              <a:rPr sz="1450">
                <a:solidFill>
                  <a:srgbClr val="FFFFFF"/>
                </a:solidFill>
                <a:latin typeface="Calibri"/>
              </a:rPr>
              <a:t>Three kill shots, seven stress tests, a pre-mortem with five early-warning indicators, and ten reconciliations with owners and dollars.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as the standard way this project is presented internally and to regulators: battery, station, interconnection, owner scope, loaders.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a precondition of the full-funding PAF; it is the one item that can move the base by more than the reserve.</a:t>
            </a:r>
          </a:p>
          <a:p>
            <a:pPr>
              <a:lnSpc>
                <a:spcPct val="105000"/>
              </a:lnSpc>
              <a:spcAft>
                <a:spcPts val="700"/>
              </a:spcAft>
            </a:pPr>
            <a:r>
              <a:rPr sz="1350">
                <a:solidFill>
                  <a:srgbClr val="FFC72C"/>
                </a:solidFill>
                <a:latin typeface="Calibri"/>
              </a:rPr>
              <a:t>▪  </a:t>
            </a:r>
            <a:r>
              <a:rPr sz="1350">
                <a:solidFill>
                  <a:srgbClr val="FFFFFF"/>
                </a:solidFill>
                <a:latin typeface="Calibri"/>
              </a:rPr>
              <a:t>Present November at its real maturity (Class 4, -25/+50%) unless geotech, HMA and the HEG map close first.</a:t>
            </a:r>
          </a:p>
          <a:p>
            <a:pPr>
              <a:lnSpc>
                <a:spcPct val="105000"/>
              </a:lnSpc>
              <a:spcAft>
                <a:spcPts val="700"/>
              </a:spcAft>
            </a:pPr>
            <a:r>
              <a:rPr sz="1350">
                <a:solidFill>
                  <a:srgbClr val="FFC72C"/>
                </a:solidFill>
                <a:latin typeface="Calibri"/>
              </a:rPr>
              <a:t>▪  </a:t>
            </a:r>
            <a:r>
              <a:rPr sz="1350">
                <a:solidFill>
                  <a:srgbClr val="FFFFFF"/>
                </a:solidFill>
                <a:latin typeface="Calibri"/>
              </a:rPr>
              <a:t>Put a float target on the siting chain and assign owners to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Decide the escalation treatment on the fixed-price battery balance; retire the $43.9M placeholder.</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utility-owned projects at or below 100 MWh: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pic>
        <p:nvPicPr>
          <p:cNvPr id="7" name="Picture 6" descr="stats_refclass.png"/>
          <p:cNvPicPr>
            <a:picLocks noChangeAspect="1"/>
          </p:cNvPicPr>
          <p:nvPr/>
        </p:nvPicPr>
        <p:blipFill>
          <a:blip r:embed="rId2"/>
          <a:stretch>
            <a:fillRect/>
          </a:stretch>
        </p:blipFill>
        <p:spPr>
          <a:xfrm>
            <a:off x="457200" y="1417320"/>
            <a:ext cx="7223760" cy="2471286"/>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600"/>
              </a:spcAft>
            </a:pPr>
            <a:r>
              <a:rPr sz="1250">
                <a:solidFill>
                  <a:srgbClr val="FFC72C"/>
                </a:solidFill>
                <a:latin typeface="Calibri"/>
              </a:rPr>
              <a:t>▪  </a:t>
            </a:r>
            <a:r>
              <a:rPr b="1" sz="1250">
                <a:solidFill>
                  <a:srgbClr val="1F2A44"/>
                </a:solidFill>
                <a:latin typeface="Calibri"/>
              </a:rPr>
              <a:t>Median </a:t>
            </a:r>
            <a:r>
              <a:rPr sz="1250">
                <a:solidFill>
                  <a:srgbClr val="1F2A44"/>
                </a:solidFill>
                <a:latin typeface="Calibri"/>
              </a:rPr>
              <a:t>$1,235/kWh; interquartile $750 to $1,289.</a:t>
            </a:r>
          </a:p>
          <a:p>
            <a:pPr>
              <a:lnSpc>
                <a:spcPct val="105000"/>
              </a:lnSpc>
              <a:spcAft>
                <a:spcPts val="600"/>
              </a:spcAft>
            </a:pPr>
            <a:r>
              <a:rPr sz="1250">
                <a:solidFill>
                  <a:srgbClr val="FFC72C"/>
                </a:solidFill>
                <a:latin typeface="Calibri"/>
              </a:rPr>
              <a:t>▪  </a:t>
            </a:r>
            <a:r>
              <a:rPr b="1" sz="1250">
                <a:solidFill>
                  <a:srgbClr val="1F2A44"/>
                </a:solidFill>
                <a:latin typeface="Calibri"/>
              </a:rPr>
              <a:t>Hyde Park battery installed, $833: </a:t>
            </a:r>
            <a:r>
              <a:rPr sz="1250">
                <a:solidFill>
                  <a:srgbClr val="1F2A44"/>
                </a:solidFill>
                <a:latin typeface="Calibri"/>
              </a:rPr>
              <a:t>38% percentile.</a:t>
            </a:r>
          </a:p>
          <a:p>
            <a:pPr>
              <a:lnSpc>
                <a:spcPct val="105000"/>
              </a:lnSpc>
              <a:spcAft>
                <a:spcPts val="600"/>
              </a:spcAft>
            </a:pPr>
            <a:r>
              <a:rPr sz="1250">
                <a:solidFill>
                  <a:srgbClr val="FFC72C"/>
                </a:solidFill>
                <a:latin typeface="Calibri"/>
              </a:rPr>
              <a:t>▪  </a:t>
            </a:r>
            <a:r>
              <a:rPr b="1" sz="1250">
                <a:solidFill>
                  <a:srgbClr val="1F2A44"/>
                </a:solidFill>
                <a:latin typeface="Calibri"/>
              </a:rPr>
              <a:t>Station complete, direct, $1,483: </a:t>
            </a:r>
            <a:r>
              <a:rPr sz="1250">
                <a:solidFill>
                  <a:srgbClr val="1F2A44"/>
                </a:solidFill>
                <a:latin typeface="Calibri"/>
              </a:rPr>
              <a:t>77% percentile, beside Fairhaven ($1,659 actual, 2023), Chateaugay ($1,490, 2023) and Provincetown ($1,289, 2022).</a:t>
            </a:r>
          </a:p>
          <a:p>
            <a:pPr>
              <a:lnSpc>
                <a:spcPct val="105000"/>
              </a:lnSpc>
              <a:spcAft>
                <a:spcPts val="600"/>
              </a:spcAft>
            </a:pPr>
            <a:r>
              <a:rPr sz="1250">
                <a:solidFill>
                  <a:srgbClr val="FFC72C"/>
                </a:solidFill>
                <a:latin typeface="Calibri"/>
              </a:rPr>
              <a:t>▪  </a:t>
            </a:r>
            <a:r>
              <a:rPr b="1" sz="1250">
                <a:solidFill>
                  <a:srgbClr val="1F2A44"/>
                </a:solidFill>
                <a:latin typeface="Calibri"/>
              </a:rPr>
              <a:t>Approval level, $2,862: </a:t>
            </a:r>
            <a:r>
              <a:rPr sz="1250">
                <a:solidFill>
                  <a:srgbClr val="1F2A44"/>
                </a:solidFill>
                <a:latin typeface="Calibri"/>
              </a:rPr>
              <a:t>above every member. The loaders ($23.7M) and the two interconnection scopes are what the comparables do not carry.</a:t>
            </a:r>
          </a:p>
          <a:p>
            <a:pPr>
              <a:lnSpc>
                <a:spcPct val="105000"/>
              </a:lnSpc>
              <a:spcAft>
                <a:spcPts val="600"/>
              </a:spcAft>
            </a:pPr>
            <a:r>
              <a:rPr sz="1250">
                <a:solidFill>
                  <a:srgbClr val="FFC72C"/>
                </a:solidFill>
                <a:latin typeface="Calibri"/>
              </a:rPr>
              <a:t>▪  </a:t>
            </a:r>
            <a:r>
              <a:rPr b="1" sz="1250">
                <a:solidFill>
                  <a:srgbClr val="1F2A44"/>
                </a:solidFill>
                <a:latin typeface="Calibri"/>
              </a:rPr>
              <a:t>Caveat: </a:t>
            </a:r>
            <a:r>
              <a:rPr sz="1250">
                <a:solidFill>
                  <a:srgbClr val="1F2A44"/>
                </a:solidFill>
                <a:latin typeface="Calibri"/>
              </a:rPr>
              <a:t>figures retrieved from search excerpts of regulator and utility documents; verify at source before external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26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two thirds of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-0.17</a:t>
                      </a:r>
                    </a:p>
                  </a:txBody>
                  <a:tcPr marL="54864" marR="54864" marT="27432" marB="27432" anchor="ctr">
                    <a:solidFill>
                      <a:srgbClr val="FFFFFF"/>
                    </a:solidFill>
                  </a:tcPr>
                </a:tc>
                <a:tc>
                  <a:txBody>
                    <a:bodyPr/>
                    <a:lstStyle/>
                    <a:p>
                      <a:pPr algn="r"/>
                      <a:r>
                        <a:rPr sz="1100" b="0">
                          <a:solidFill>
                            <a:srgbClr val="1F2A44"/>
                          </a:solidFill>
                          <a:latin typeface="Calibri"/>
                        </a:rPr>
                        <a:t>0.012</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-0.29</a:t>
                      </a:r>
                    </a:p>
                  </a:txBody>
                  <a:tcPr marL="54864" marR="54864" marT="27432" marB="27432" anchor="ctr">
                    <a:solidFill>
                      <a:srgbClr val="F2F4F8"/>
                    </a:solidFill>
                  </a:tcPr>
                </a:tc>
                <a:tc>
                  <a:txBody>
                    <a:bodyPr/>
                    <a:lstStyle/>
                    <a:p>
                      <a:pPr algn="r"/>
                      <a:r>
                        <a:rPr sz="1100" b="0">
                          <a:solidFill>
                            <a:srgbClr val="1F2A44"/>
                          </a:solidFill>
                          <a:latin typeface="Calibri"/>
                        </a:rPr>
                        <a:t>0.016</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+0.015</a:t>
                      </a:r>
                    </a:p>
                  </a:txBody>
                  <a:tcPr marL="54864" marR="54864" marT="27432" marB="27432" anchor="ctr">
                    <a:solidFill>
                      <a:srgbClr val="FFFFFF"/>
                    </a:solidFill>
                  </a:tcPr>
                </a:tc>
                <a:tc>
                  <a:txBody>
                    <a:bodyPr/>
                    <a:lstStyle/>
                    <a:p>
                      <a:pPr algn="r"/>
                      <a:r>
                        <a:rPr sz="1100" b="0">
                          <a:solidFill>
                            <a:srgbClr val="1F2A44"/>
                          </a:solidFill>
                          <a:latin typeface="Calibri"/>
                        </a:rPr>
                        <a:t>0.68</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0.65</a:t>
                      </a:r>
                    </a:p>
                  </a:txBody>
                  <a:tcPr marL="54864" marR="54864" marT="27432" marB="27432" anchor="ctr">
                    <a:solidFill>
                      <a:srgbClr val="F2F4F8"/>
                    </a:solidFill>
                  </a:tcPr>
                </a:tc>
                <a:tc>
                  <a:txBody>
                    <a:bodyPr/>
                    <a:lstStyle/>
                    <a:p>
                      <a:pPr algn="r"/>
                      <a:r>
                        <a:rPr sz="1100" b="0">
                          <a:solidFill>
                            <a:srgbClr val="1F2A44"/>
                          </a:solidFill>
                          <a:latin typeface="Calibri"/>
                        </a:rPr>
                        <a:t>n = 26</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$1,116/kWh, 80% interval $611 to $2,037.</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10%, installed 27%, station direct 73%, approval 98%.</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ownership and region terms are not significant at this 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05840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the reserve covers the element ranges but is thin against outside history; the risk is in the ground and the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